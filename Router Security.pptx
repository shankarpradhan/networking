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9" r:id="rId2"/>
    <p:sldId id="260" r:id="rId3"/>
    <p:sldId id="261" r:id="rId4"/>
    <p:sldId id="262" r:id="rId5"/>
  </p:sldIdLst>
  <p:sldSz cx="7199313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57" userDrawn="1">
          <p15:clr>
            <a:srgbClr val="A4A3A4"/>
          </p15:clr>
        </p15:guide>
        <p15:guide id="2" pos="22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A8A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75" d="100"/>
          <a:sy n="75" d="100"/>
        </p:scale>
        <p:origin x="2078" y="43"/>
      </p:cViewPr>
      <p:guideLst>
        <p:guide orient="horz" pos="2857"/>
        <p:guide pos="22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472842"/>
            <a:ext cx="6119416" cy="3133172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4726842"/>
            <a:ext cx="5399485" cy="2172804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5023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2659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243638"/>
            <a:ext cx="6209407" cy="3743557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022610"/>
            <a:ext cx="6209407" cy="1968648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608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395710"/>
            <a:ext cx="3059708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395710"/>
            <a:ext cx="3059708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1431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479144"/>
            <a:ext cx="6209407" cy="17394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206137"/>
            <a:ext cx="3045646" cy="108119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287331"/>
            <a:ext cx="3045646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206137"/>
            <a:ext cx="3060646" cy="1081194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287331"/>
            <a:ext cx="3060646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164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5742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4657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599969"/>
            <a:ext cx="2321966" cy="2099892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295769"/>
            <a:ext cx="3644652" cy="6395505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699862"/>
            <a:ext cx="2321966" cy="5001827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2789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599969"/>
            <a:ext cx="2321966" cy="2099892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295769"/>
            <a:ext cx="3644652" cy="6395505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699862"/>
            <a:ext cx="2321966" cy="5001827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064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7250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479142"/>
            <a:ext cx="1552352" cy="762669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479142"/>
            <a:ext cx="4567064" cy="762669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5211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479144"/>
            <a:ext cx="6209407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395710"/>
            <a:ext cx="6209407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341240"/>
            <a:ext cx="1619845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0C5F4-D6A3-40FD-8209-B4822E359ED0}" type="datetimeFigureOut">
              <a:rPr lang="en-IN" smtClean="0"/>
              <a:t>28-08-2025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341240"/>
            <a:ext cx="2429768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341240"/>
            <a:ext cx="1619845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50B939-9A58-4DBA-AC72-5707A1A1694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372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alphaModFix amt="24000"/>
            <a:lum/>
          </a:blip>
          <a:srcRect/>
          <a:stretch>
            <a:fillRect l="-16000" r="-1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0F625-E66C-4834-ADC9-42888342B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17D46-18A6-9ABD-BABF-5D3DA33320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1"/>
            <a:ext cx="7199312" cy="729205"/>
          </a:xfrm>
          <a:solidFill>
            <a:schemeClr val="accent1"/>
          </a:solidFill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Castellar" panose="020A0402060406010301" pitchFamily="18" charset="0"/>
              </a:rPr>
              <a:t>Router Security</a:t>
            </a:r>
            <a:endParaRPr lang="en-IN" sz="4000" b="1" dirty="0">
              <a:solidFill>
                <a:schemeClr val="bg1"/>
              </a:solidFill>
              <a:latin typeface="Castellar" panose="020A0402060406010301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E8B7C-3338-BF7C-A5F0-F8106EF637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79" y="729206"/>
            <a:ext cx="7118034" cy="8270332"/>
          </a:xfrm>
        </p:spPr>
        <p:txBody>
          <a:bodyPr>
            <a:normAutofit/>
          </a:bodyPr>
          <a:lstStyle/>
          <a:p>
            <a:pPr algn="l"/>
            <a:r>
              <a:rPr lang="en-US" sz="2400" b="1" dirty="0"/>
              <a:t>1. Standard ACL (can’t specify dest, port, protocol)</a:t>
            </a:r>
            <a:br>
              <a:rPr lang="en-US" sz="2400" b="1" dirty="0"/>
            </a:br>
            <a:r>
              <a:rPr lang="en-US" sz="2400" b="1" dirty="0"/>
              <a:t>    </a:t>
            </a:r>
            <a:r>
              <a:rPr lang="en-US" sz="2000" dirty="0"/>
              <a:t>Restrict access from 10.1.1.2 to R3, ensuring other traffic  </a:t>
            </a:r>
            <a:br>
              <a:rPr lang="en-US" sz="2000" dirty="0"/>
            </a:br>
            <a:r>
              <a:rPr lang="en-US" sz="2000" dirty="0"/>
              <a:t>     remains unaffected.   </a:t>
            </a:r>
            <a:br>
              <a:rPr lang="en-US" sz="2000" dirty="0"/>
            </a:br>
            <a:r>
              <a:rPr lang="en-US" sz="2000" dirty="0"/>
              <a:t>    (Remember: always apply at the destination interface)</a:t>
            </a:r>
          </a:p>
          <a:p>
            <a:pPr algn="l"/>
            <a:r>
              <a:rPr lang="en-US" sz="2000" b="1" dirty="0"/>
              <a:t>     </a:t>
            </a:r>
          </a:p>
          <a:p>
            <a:pPr algn="l"/>
            <a:endParaRPr lang="en-US" sz="20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r>
              <a:rPr lang="en-US" sz="1600" b="1" dirty="0"/>
              <a:t>                                                             </a:t>
            </a:r>
          </a:p>
          <a:p>
            <a:pPr algn="l"/>
            <a:r>
              <a:rPr lang="en-US" sz="1600" b="1" dirty="0"/>
              <a:t>      </a:t>
            </a:r>
          </a:p>
          <a:p>
            <a:pPr algn="l"/>
            <a:endParaRPr lang="en-US" sz="1600" b="1" dirty="0"/>
          </a:p>
          <a:p>
            <a:pPr algn="l"/>
            <a:r>
              <a:rPr lang="en-US" sz="1600" b="1" dirty="0"/>
              <a:t>      </a:t>
            </a:r>
            <a:r>
              <a:rPr lang="en-US" sz="1800" b="1" dirty="0"/>
              <a:t>!! Create Standard ACL (1-99  ||  1300-1999) </a:t>
            </a:r>
          </a:p>
          <a:p>
            <a:pPr algn="l">
              <a:lnSpc>
                <a:spcPct val="100000"/>
              </a:lnSpc>
              <a:spcBef>
                <a:spcPts val="20"/>
              </a:spcBef>
            </a:pPr>
            <a:r>
              <a:rPr lang="en-US" sz="1800" dirty="0"/>
              <a:t>      host          --      access-list &lt;</a:t>
            </a:r>
            <a:r>
              <a:rPr lang="en-US" sz="1800" dirty="0" err="1"/>
              <a:t>acl</a:t>
            </a:r>
            <a:r>
              <a:rPr lang="en-US" sz="1800" dirty="0"/>
              <a:t>-no&gt; &lt;deny / accept&gt; host &lt;</a:t>
            </a:r>
            <a:r>
              <a:rPr lang="en-US" sz="1800" dirty="0" err="1"/>
              <a:t>ip</a:t>
            </a:r>
            <a:r>
              <a:rPr lang="en-US" sz="1800" dirty="0"/>
              <a:t>&gt;</a:t>
            </a:r>
            <a:br>
              <a:rPr lang="en-US" sz="1800" dirty="0"/>
            </a:br>
            <a:r>
              <a:rPr lang="en-US" sz="1800" dirty="0"/>
              <a:t>      network   --      access-list &lt;</a:t>
            </a:r>
            <a:r>
              <a:rPr lang="en-US" sz="1800" dirty="0" err="1"/>
              <a:t>acl</a:t>
            </a:r>
            <a:r>
              <a:rPr lang="en-US" sz="1800" dirty="0"/>
              <a:t>-no&gt; &lt;deny / accept&gt; &lt;network-address&gt;      </a:t>
            </a:r>
            <a:br>
              <a:rPr lang="en-US" sz="1800" dirty="0"/>
            </a:br>
            <a:r>
              <a:rPr lang="en-US" sz="1800" dirty="0"/>
              <a:t>      </a:t>
            </a:r>
            <a:br>
              <a:rPr lang="en-US" sz="1800" b="1" dirty="0"/>
            </a:br>
            <a:r>
              <a:rPr lang="en-US" sz="1800" b="1" dirty="0"/>
              <a:t>      !! Other traffic will either be denied or allowed</a:t>
            </a:r>
            <a:br>
              <a:rPr lang="en-US" sz="1800" b="1" dirty="0"/>
            </a:br>
            <a:r>
              <a:rPr lang="en-US" sz="1800" b="1" dirty="0"/>
              <a:t>      </a:t>
            </a:r>
            <a:r>
              <a:rPr lang="en-US" sz="1800" dirty="0"/>
              <a:t>access-list &lt;</a:t>
            </a:r>
            <a:r>
              <a:rPr lang="en-US" sz="1800" dirty="0" err="1"/>
              <a:t>acl</a:t>
            </a:r>
            <a:r>
              <a:rPr lang="en-US" sz="1800" dirty="0"/>
              <a:t>-no&gt; &lt;permit/deny&gt; any</a:t>
            </a:r>
            <a:br>
              <a:rPr lang="en-US" sz="1800" b="1" dirty="0"/>
            </a:br>
            <a:r>
              <a:rPr lang="en-US" sz="1800" b="1" dirty="0"/>
              <a:t>   </a:t>
            </a:r>
          </a:p>
          <a:p>
            <a:pPr algn="l">
              <a:lnSpc>
                <a:spcPct val="100000"/>
              </a:lnSpc>
              <a:spcBef>
                <a:spcPts val="20"/>
              </a:spcBef>
            </a:pPr>
            <a:r>
              <a:rPr lang="en-US" sz="1800" b="1" dirty="0"/>
              <a:t>      !!  Apply ACL</a:t>
            </a:r>
            <a:br>
              <a:rPr lang="en-US" sz="1800" b="1" dirty="0"/>
            </a:br>
            <a:r>
              <a:rPr lang="en-US" sz="1800" b="1" dirty="0"/>
              <a:t>      i</a:t>
            </a:r>
            <a:r>
              <a:rPr lang="en-US" sz="1800" dirty="0"/>
              <a:t>nt &lt;ethernet-type&gt; &lt;interface-no&gt;</a:t>
            </a:r>
            <a:br>
              <a:rPr lang="en-US" sz="1800" b="1" dirty="0"/>
            </a:br>
            <a:r>
              <a:rPr lang="en-US" sz="1800" b="1" dirty="0"/>
              <a:t>           </a:t>
            </a:r>
            <a:r>
              <a:rPr lang="en-US" sz="1800" dirty="0" err="1"/>
              <a:t>ip</a:t>
            </a:r>
            <a:r>
              <a:rPr lang="en-US" sz="1800" dirty="0"/>
              <a:t> access-group &lt;</a:t>
            </a:r>
            <a:r>
              <a:rPr lang="en-US" sz="1800" dirty="0" err="1"/>
              <a:t>acl</a:t>
            </a:r>
            <a:r>
              <a:rPr lang="en-US" sz="1800" dirty="0"/>
              <a:t>-no&gt;  &lt;in / out&gt;        </a:t>
            </a:r>
            <a:endParaRPr lang="en-IN" sz="2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4F7EE0-2D62-D594-CB6A-93299A32E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87" y="2442695"/>
            <a:ext cx="6036091" cy="27748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E4F5B0-6FA4-67B3-B0F0-5C42CC4DC719}"/>
              </a:ext>
            </a:extLst>
          </p:cNvPr>
          <p:cNvSpPr txBox="1"/>
          <p:nvPr/>
        </p:nvSpPr>
        <p:spPr>
          <a:xfrm>
            <a:off x="5423632" y="4679706"/>
            <a:ext cx="6945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/>
              <a:t>O(n)</a:t>
            </a:r>
          </a:p>
        </p:txBody>
      </p:sp>
    </p:spTree>
    <p:extLst>
      <p:ext uri="{BB962C8B-B14F-4D97-AF65-F5344CB8AC3E}">
        <p14:creationId xmlns:p14="http://schemas.microsoft.com/office/powerpoint/2010/main" val="3173541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alphaModFix amt="24000"/>
            <a:lum/>
          </a:blip>
          <a:srcRect/>
          <a:stretch>
            <a:fillRect l="-16000" r="-1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CB8F4E-B1A2-D81B-E860-9374C9DFA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96BEA5B-ED1E-C630-686E-1F9D630F2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88900"/>
            <a:ext cx="7199313" cy="8910638"/>
          </a:xfrm>
        </p:spPr>
        <p:txBody>
          <a:bodyPr>
            <a:normAutofit fontScale="62500" lnSpcReduction="20000"/>
          </a:bodyPr>
          <a:lstStyle/>
          <a:p>
            <a:pPr algn="l">
              <a:lnSpc>
                <a:spcPct val="120000"/>
              </a:lnSpc>
            </a:pPr>
            <a:r>
              <a:rPr lang="en-US" sz="3100" b="1" dirty="0"/>
              <a:t>2. Extended ACL (can specify dest, port, protocol)</a:t>
            </a:r>
            <a:br>
              <a:rPr lang="en-US" sz="3100" b="1" dirty="0"/>
            </a:br>
            <a:r>
              <a:rPr lang="en-US" sz="3100" b="1" dirty="0"/>
              <a:t>    </a:t>
            </a:r>
            <a:r>
              <a:rPr lang="en-US" sz="3100" dirty="0"/>
              <a:t>It should be applied on the router closest to the </a:t>
            </a:r>
            <a:br>
              <a:rPr lang="en-US" sz="3100" dirty="0"/>
            </a:br>
            <a:r>
              <a:rPr lang="en-US" sz="3100" dirty="0"/>
              <a:t>    device, in order to avoid unnecessary forwarding </a:t>
            </a:r>
            <a:br>
              <a:rPr lang="en-US" sz="3100" dirty="0"/>
            </a:br>
            <a:r>
              <a:rPr lang="en-US" sz="3100" dirty="0"/>
              <a:t>    decisions on other routers</a:t>
            </a:r>
            <a:r>
              <a:rPr lang="en-US" sz="3100" b="1" dirty="0"/>
              <a:t>.    </a:t>
            </a:r>
            <a:br>
              <a:rPr lang="en-US" sz="3100" b="1" dirty="0"/>
            </a:br>
            <a:r>
              <a:rPr lang="en-US" sz="3100" b="1" dirty="0"/>
              <a:t>    </a:t>
            </a:r>
            <a:r>
              <a:rPr lang="en-US" sz="3100" dirty="0"/>
              <a:t>task: </a:t>
            </a:r>
            <a:r>
              <a:rPr lang="en-US" sz="3600" b="1" dirty="0"/>
              <a:t> </a:t>
            </a:r>
            <a:r>
              <a:rPr lang="en-US" sz="3100" dirty="0"/>
              <a:t>Restrict access from 10.1.1.2 to 10.23.23.3</a:t>
            </a:r>
            <a:br>
              <a:rPr lang="en-US" sz="3100" dirty="0"/>
            </a:br>
            <a:r>
              <a:rPr lang="en-US" sz="3100" dirty="0"/>
              <a:t>              Restrict only telnet access from 10.1.1.1 to  10.23.23.3</a:t>
            </a:r>
            <a:br>
              <a:rPr lang="en-US" sz="2400" dirty="0"/>
            </a:br>
            <a:r>
              <a:rPr lang="en-US" sz="2400" dirty="0"/>
              <a:t>    </a:t>
            </a:r>
          </a:p>
          <a:p>
            <a:pPr algn="l">
              <a:lnSpc>
                <a:spcPct val="120000"/>
              </a:lnSpc>
            </a:pPr>
            <a:endParaRPr lang="en-US" sz="2400" dirty="0"/>
          </a:p>
          <a:p>
            <a:pPr algn="l">
              <a:lnSpc>
                <a:spcPct val="120000"/>
              </a:lnSpc>
            </a:pPr>
            <a:endParaRPr lang="en-US" sz="2400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r>
              <a:rPr lang="en-US" sz="2400" b="1" dirty="0"/>
              <a:t> </a:t>
            </a:r>
            <a:r>
              <a:rPr lang="en-US" sz="3200" b="1" dirty="0"/>
              <a:t>!! Create Extended ACL (100-199  ||  1300-1999) </a:t>
            </a:r>
            <a:br>
              <a:rPr lang="en-US" sz="3200" dirty="0"/>
            </a:br>
            <a:r>
              <a:rPr lang="en-US" sz="3200" dirty="0"/>
              <a:t>      access-list &lt;</a:t>
            </a:r>
            <a:r>
              <a:rPr lang="en-US" sz="3200" dirty="0" err="1"/>
              <a:t>acl</a:t>
            </a:r>
            <a:r>
              <a:rPr lang="en-US" sz="3200" dirty="0"/>
              <a:t>-no&gt; &lt;protocol&gt; &lt;src-host&gt; &lt;address&gt; </a:t>
            </a:r>
            <a:br>
              <a:rPr lang="en-US" sz="3200" dirty="0"/>
            </a:br>
            <a:r>
              <a:rPr lang="en-US" sz="3200" dirty="0"/>
              <a:t>      &lt;</a:t>
            </a:r>
            <a:r>
              <a:rPr lang="en-US" sz="3200" dirty="0" err="1"/>
              <a:t>dst</a:t>
            </a:r>
            <a:r>
              <a:rPr lang="en-US" sz="3200" dirty="0"/>
              <a:t>-host&gt;&lt;address&gt; eq &lt;port-no&gt;</a:t>
            </a:r>
            <a:br>
              <a:rPr lang="en-US" sz="3200" dirty="0"/>
            </a:br>
            <a:br>
              <a:rPr lang="en-US" sz="3200" b="1" dirty="0"/>
            </a:br>
            <a:r>
              <a:rPr lang="en-US" sz="3200" b="1" dirty="0"/>
              <a:t> !! Other traffic will either be denied or allowed</a:t>
            </a:r>
            <a:br>
              <a:rPr lang="en-US" sz="3200" b="1" dirty="0"/>
            </a:br>
            <a:r>
              <a:rPr lang="en-US" sz="3200" b="1" dirty="0"/>
              <a:t>  </a:t>
            </a:r>
            <a:r>
              <a:rPr lang="en-US" sz="3200" dirty="0"/>
              <a:t>access-list &lt;</a:t>
            </a:r>
            <a:r>
              <a:rPr lang="en-US" sz="3200" dirty="0" err="1"/>
              <a:t>acl</a:t>
            </a:r>
            <a:r>
              <a:rPr lang="en-US" sz="3200" dirty="0"/>
              <a:t>-no&gt; &lt;permit/deny&gt; </a:t>
            </a:r>
            <a:r>
              <a:rPr lang="en-US" sz="3200" dirty="0" err="1"/>
              <a:t>ip</a:t>
            </a:r>
            <a:r>
              <a:rPr lang="en-US" sz="3200" dirty="0"/>
              <a:t> any </a:t>
            </a:r>
            <a:r>
              <a:rPr lang="en-US" sz="3200" dirty="0" err="1"/>
              <a:t>any</a:t>
            </a:r>
            <a:br>
              <a:rPr lang="en-US" sz="3200" b="1" dirty="0"/>
            </a:br>
            <a:r>
              <a:rPr lang="en-US" sz="3200" b="1" dirty="0"/>
              <a:t>   </a:t>
            </a:r>
          </a:p>
          <a:p>
            <a:pPr algn="l">
              <a:lnSpc>
                <a:spcPct val="100000"/>
              </a:lnSpc>
              <a:spcBef>
                <a:spcPts val="20"/>
              </a:spcBef>
            </a:pPr>
            <a:r>
              <a:rPr lang="en-US" sz="3200" b="1" dirty="0"/>
              <a:t> !!  Apply ACL</a:t>
            </a:r>
            <a:br>
              <a:rPr lang="en-US" sz="3200" b="1" dirty="0"/>
            </a:br>
            <a:r>
              <a:rPr lang="en-US" sz="3200" b="1" dirty="0"/>
              <a:t>  i</a:t>
            </a:r>
            <a:r>
              <a:rPr lang="en-US" sz="3200" dirty="0"/>
              <a:t>nt &lt;ethernet-type&gt; &lt;interface-no&gt;</a:t>
            </a:r>
            <a:br>
              <a:rPr lang="en-US" sz="3200" b="1" dirty="0"/>
            </a:br>
            <a:r>
              <a:rPr lang="en-US" sz="3200" b="1" dirty="0"/>
              <a:t>      </a:t>
            </a:r>
            <a:r>
              <a:rPr lang="en-US" sz="3200" dirty="0" err="1"/>
              <a:t>ip</a:t>
            </a:r>
            <a:r>
              <a:rPr lang="en-US" sz="3200" dirty="0"/>
              <a:t> access-group &lt;</a:t>
            </a:r>
            <a:r>
              <a:rPr lang="en-US" sz="3200" dirty="0" err="1"/>
              <a:t>acl</a:t>
            </a:r>
            <a:r>
              <a:rPr lang="en-US" sz="3200" dirty="0"/>
              <a:t>-no&gt;  &lt;in / out&gt;        </a:t>
            </a:r>
            <a:endParaRPr lang="en-IN" sz="5100" dirty="0"/>
          </a:p>
          <a:p>
            <a:pPr algn="l"/>
            <a:endParaRPr lang="en-US" sz="2400" b="1" dirty="0"/>
          </a:p>
          <a:p>
            <a:pPr algn="l"/>
            <a:endParaRPr lang="en-US" sz="2400" b="1" dirty="0"/>
          </a:p>
          <a:p>
            <a:pPr algn="l"/>
            <a:r>
              <a:rPr lang="en-US" sz="1600" b="1" dirty="0"/>
              <a:t>                                        </a:t>
            </a:r>
            <a:endParaRPr lang="en-IN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8B8425-C977-2EE1-E0D8-F12588622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25" y="2196659"/>
            <a:ext cx="6493449" cy="281238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B918E7-38F3-DBFE-6CD0-A4CC9E35EA56}"/>
              </a:ext>
            </a:extLst>
          </p:cNvPr>
          <p:cNvSpPr txBox="1"/>
          <p:nvPr/>
        </p:nvSpPr>
        <p:spPr>
          <a:xfrm>
            <a:off x="5867376" y="4130437"/>
            <a:ext cx="711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O(1)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8354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alphaModFix amt="24000"/>
            <a:lum/>
          </a:blip>
          <a:srcRect/>
          <a:stretch>
            <a:fillRect l="-16000" r="-1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294D1-59BA-034B-1A45-4F4EEEFAA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12B1AE8-5404-DE9B-36FA-782ED3DDE7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88900"/>
            <a:ext cx="7199313" cy="8910638"/>
          </a:xfrm>
        </p:spPr>
        <p:txBody>
          <a:bodyPr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 dirty="0"/>
              <a:t>3. Infrastructure ACL </a:t>
            </a:r>
            <a:br>
              <a:rPr lang="en-US" sz="1900" b="1" dirty="0"/>
            </a:br>
            <a:r>
              <a:rPr lang="en-US" sz="1900" b="1" dirty="0"/>
              <a:t> </a:t>
            </a:r>
            <a:r>
              <a:rPr lang="en-US" sz="1900" dirty="0"/>
              <a:t>An Infrastructure ACL (</a:t>
            </a:r>
            <a:r>
              <a:rPr lang="en-US" sz="1900" dirty="0" err="1"/>
              <a:t>iACL</a:t>
            </a:r>
            <a:r>
              <a:rPr lang="en-US" sz="1900" dirty="0"/>
              <a:t>) is a special type of Access Control List that is applied to protect the network devices themselves, not just the traffic passing through them.    (test: deny ICMP fragment)</a:t>
            </a:r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>
              <a:lnSpc>
                <a:spcPct val="120000"/>
              </a:lnSpc>
            </a:pPr>
            <a:endParaRPr lang="en-US" sz="1900" b="1" dirty="0"/>
          </a:p>
          <a:p>
            <a:pPr algn="l"/>
            <a:r>
              <a:rPr lang="en-US" sz="1900" b="1" dirty="0"/>
              <a:t> !! Create Extended ACL (100-199  ||  1300-1999) </a:t>
            </a:r>
          </a:p>
          <a:p>
            <a:pPr algn="l">
              <a:lnSpc>
                <a:spcPct val="100000"/>
              </a:lnSpc>
              <a:spcBef>
                <a:spcPts val="20"/>
              </a:spcBef>
            </a:pPr>
            <a:r>
              <a:rPr lang="en-US" sz="2000" dirty="0"/>
              <a:t> </a:t>
            </a:r>
            <a:r>
              <a:rPr lang="en-US" sz="2000" dirty="0" err="1"/>
              <a:t>ip</a:t>
            </a:r>
            <a:r>
              <a:rPr lang="en-US" sz="2000" dirty="0"/>
              <a:t> access-list extended &lt;NAME / NO&gt;</a:t>
            </a:r>
            <a:br>
              <a:rPr lang="en-US" sz="2000" dirty="0"/>
            </a:br>
            <a:r>
              <a:rPr lang="en-US" sz="2000" dirty="0"/>
              <a:t>      deny &lt;protocol&gt;any </a:t>
            </a:r>
            <a:r>
              <a:rPr lang="en-US" sz="2000" dirty="0" err="1"/>
              <a:t>any</a:t>
            </a:r>
            <a:r>
              <a:rPr lang="en-US" sz="2000" dirty="0"/>
              <a:t> fragments </a:t>
            </a:r>
            <a:br>
              <a:rPr lang="en-US" sz="2000" dirty="0"/>
            </a:br>
            <a:r>
              <a:rPr lang="en-US" sz="2000" dirty="0"/>
              <a:t>      permit </a:t>
            </a:r>
            <a:r>
              <a:rPr lang="en-US" sz="2000" dirty="0" err="1"/>
              <a:t>ip</a:t>
            </a:r>
            <a:r>
              <a:rPr lang="en-US" sz="2000" dirty="0"/>
              <a:t> any </a:t>
            </a:r>
            <a:r>
              <a:rPr lang="en-US" sz="2000" dirty="0" err="1"/>
              <a:t>any</a:t>
            </a:r>
            <a:br>
              <a:rPr lang="en-US" sz="2000" dirty="0"/>
            </a:br>
            <a:r>
              <a:rPr lang="en-US" sz="2000" dirty="0"/>
              <a:t>(</a:t>
            </a:r>
            <a:r>
              <a:rPr lang="en-IN" sz="2000" dirty="0"/>
              <a:t>permit </a:t>
            </a:r>
            <a:r>
              <a:rPr lang="en-IN" sz="2000" dirty="0" err="1"/>
              <a:t>tcp</a:t>
            </a:r>
            <a:r>
              <a:rPr lang="en-IN" sz="2000" dirty="0"/>
              <a:t> host &lt; external-bgp-peer&gt; host &lt; internal-bgp-peer&gt; </a:t>
            </a:r>
            <a:r>
              <a:rPr lang="en-IN" sz="2000" dirty="0" err="1"/>
              <a:t>eq</a:t>
            </a:r>
            <a:r>
              <a:rPr lang="en-IN" sz="2000" dirty="0"/>
              <a:t> bgp</a:t>
            </a:r>
            <a:r>
              <a:rPr lang="en-US" sz="2000" dirty="0"/>
              <a:t>)</a:t>
            </a:r>
            <a:endParaRPr lang="en-US" sz="1900" b="1" dirty="0"/>
          </a:p>
          <a:p>
            <a:pPr algn="l">
              <a:lnSpc>
                <a:spcPct val="100000"/>
              </a:lnSpc>
              <a:spcBef>
                <a:spcPts val="20"/>
              </a:spcBef>
            </a:pPr>
            <a:r>
              <a:rPr lang="en-US" sz="1900" b="1" dirty="0"/>
              <a:t> !!  Apply ACL</a:t>
            </a:r>
            <a:br>
              <a:rPr lang="en-US" sz="1900" b="1" dirty="0"/>
            </a:br>
            <a:r>
              <a:rPr lang="en-US" sz="1900" b="1" dirty="0"/>
              <a:t>  i</a:t>
            </a:r>
            <a:r>
              <a:rPr lang="en-US" sz="1900" dirty="0"/>
              <a:t>nt &lt;ethernet-type&gt; &lt;interface-no&gt;</a:t>
            </a:r>
            <a:br>
              <a:rPr lang="en-US" sz="1900" b="1" dirty="0"/>
            </a:br>
            <a:r>
              <a:rPr lang="en-US" sz="1900" b="1" dirty="0"/>
              <a:t>      </a:t>
            </a:r>
            <a:r>
              <a:rPr lang="en-US" sz="1900" dirty="0" err="1"/>
              <a:t>ip</a:t>
            </a:r>
            <a:r>
              <a:rPr lang="en-US" sz="1900" dirty="0"/>
              <a:t> access-group &lt;name / no&gt; &lt;in / out&gt;        </a:t>
            </a:r>
            <a:endParaRPr lang="en-IN" sz="1900" dirty="0"/>
          </a:p>
          <a:p>
            <a:pPr algn="l"/>
            <a:endParaRPr lang="en-US" sz="1900" b="1" dirty="0"/>
          </a:p>
          <a:p>
            <a:pPr algn="l"/>
            <a:endParaRPr lang="en-US" sz="1900" b="1" dirty="0"/>
          </a:p>
          <a:p>
            <a:pPr algn="l"/>
            <a:r>
              <a:rPr lang="en-US" sz="1900" b="1" dirty="0"/>
              <a:t>                                        </a:t>
            </a:r>
            <a:endParaRPr lang="en-IN" sz="19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2BBA0DB-40AD-12E1-CD3A-5DFC2E94C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01" y="1593614"/>
            <a:ext cx="5029200" cy="27537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1B503E-754D-3393-0286-1D1A452D1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036" y="4499769"/>
            <a:ext cx="4887529" cy="1433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517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alphaModFix amt="24000"/>
            <a:lum/>
          </a:blip>
          <a:srcRect/>
          <a:stretch>
            <a:fillRect l="-16000" r="-16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09015B-97C7-2A22-DCB5-19536330E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1B22027-2A9C-5FF0-C3BE-63FEDA8366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88900"/>
            <a:ext cx="7199313" cy="8910638"/>
          </a:xfrm>
        </p:spPr>
        <p:txBody>
          <a:bodyPr>
            <a:noAutofit/>
          </a:bodyPr>
          <a:lstStyle/>
          <a:p>
            <a:pPr algn="l">
              <a:lnSpc>
                <a:spcPct val="120000"/>
              </a:lnSpc>
            </a:pPr>
            <a:r>
              <a:rPr lang="en-US" sz="2000" b="1" dirty="0"/>
              <a:t>4. Authentication</a:t>
            </a:r>
            <a:br>
              <a:rPr lang="en-US" sz="1900" b="1" dirty="0"/>
            </a:br>
            <a:r>
              <a:rPr lang="en-US" sz="1900" b="1" dirty="0"/>
              <a:t> </a:t>
            </a:r>
          </a:p>
          <a:p>
            <a:pPr algn="l"/>
            <a:endParaRPr lang="en-US" sz="1900" b="1" dirty="0"/>
          </a:p>
          <a:p>
            <a:pPr algn="l"/>
            <a:r>
              <a:rPr lang="en-US" sz="1900" b="1" dirty="0"/>
              <a:t>                                        </a:t>
            </a:r>
            <a:endParaRPr lang="en-IN" sz="1900" dirty="0"/>
          </a:p>
        </p:txBody>
      </p:sp>
    </p:spTree>
    <p:extLst>
      <p:ext uri="{BB962C8B-B14F-4D97-AF65-F5344CB8AC3E}">
        <p14:creationId xmlns:p14="http://schemas.microsoft.com/office/powerpoint/2010/main" val="3824747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1286</TotalTime>
  <Words>431</Words>
  <Application>Microsoft Office PowerPoint</Application>
  <PresentationFormat>Custom</PresentationFormat>
  <Paragraphs>54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Castellar</vt:lpstr>
      <vt:lpstr>Office Theme</vt:lpstr>
      <vt:lpstr>Router Security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Shankar Pradhan</dc:creator>
  <cp:lastModifiedBy>Shankar Pradhan</cp:lastModifiedBy>
  <cp:revision>29</cp:revision>
  <dcterms:created xsi:type="dcterms:W3CDTF">2025-08-25T10:12:42Z</dcterms:created>
  <dcterms:modified xsi:type="dcterms:W3CDTF">2025-08-28T10:10:10Z</dcterms:modified>
</cp:coreProperties>
</file>