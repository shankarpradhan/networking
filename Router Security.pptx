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3" r:id="rId4"/>
    <p:sldId id="261" r:id="rId5"/>
    <p:sldId id="264" r:id="rId6"/>
    <p:sldId id="265" r:id="rId7"/>
    <p:sldId id="262" r:id="rId8"/>
  </p:sldIdLst>
  <p:sldSz cx="7199313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57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A8A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2419" y="43"/>
      </p:cViewPr>
      <p:guideLst>
        <p:guide orient="horz" pos="2857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472842"/>
            <a:ext cx="6119416" cy="313317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726842"/>
            <a:ext cx="5399485" cy="2172804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02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65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243638"/>
            <a:ext cx="6209407" cy="3743557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022610"/>
            <a:ext cx="6209407" cy="1968648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0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395710"/>
            <a:ext cx="3059708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395710"/>
            <a:ext cx="3059708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43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79144"/>
            <a:ext cx="6209407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06137"/>
            <a:ext cx="3045646" cy="108119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287331"/>
            <a:ext cx="3045646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06137"/>
            <a:ext cx="3060646" cy="108119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287331"/>
            <a:ext cx="3060646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64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7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65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599969"/>
            <a:ext cx="2321966" cy="2099892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295769"/>
            <a:ext cx="3644652" cy="6395505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699862"/>
            <a:ext cx="2321966" cy="5001827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789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599969"/>
            <a:ext cx="2321966" cy="2099892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295769"/>
            <a:ext cx="3644652" cy="6395505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699862"/>
            <a:ext cx="2321966" cy="5001827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6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250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79142"/>
            <a:ext cx="1552352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79142"/>
            <a:ext cx="4567064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21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79144"/>
            <a:ext cx="6209407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395710"/>
            <a:ext cx="6209407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341240"/>
            <a:ext cx="161984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0C5F4-D6A3-40FD-8209-B4822E359ED0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341240"/>
            <a:ext cx="242976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341240"/>
            <a:ext cx="161984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0B939-9A58-4DBA-AC72-5707A1A16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72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4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0F625-E66C-4834-ADC9-42888342B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7D46-18A6-9ABD-BABF-5D3DA3332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"/>
            <a:ext cx="7199312" cy="729205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stellar" panose="020A0402060406010301" pitchFamily="18" charset="0"/>
              </a:rPr>
              <a:t>Router Security</a:t>
            </a:r>
            <a:endParaRPr lang="en-IN" sz="4000" b="1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E8B7C-3338-BF7C-A5F0-F8106EF63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9" y="729206"/>
            <a:ext cx="7118034" cy="8270332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/>
              <a:t>1. Standard ACL (can’t specify dest, port, protocol)</a:t>
            </a:r>
            <a:br>
              <a:rPr lang="en-US" sz="2400" b="1" dirty="0"/>
            </a:br>
            <a:r>
              <a:rPr lang="en-US" sz="2400" b="1" dirty="0"/>
              <a:t>    </a:t>
            </a:r>
            <a:r>
              <a:rPr lang="en-US" sz="2000" dirty="0"/>
              <a:t>Restrict access from 10.1.1.2 to R3, ensuring other traffic  </a:t>
            </a:r>
            <a:br>
              <a:rPr lang="en-US" sz="2000" dirty="0"/>
            </a:br>
            <a:r>
              <a:rPr lang="en-US" sz="2000" dirty="0"/>
              <a:t>     remains unaffected.   </a:t>
            </a:r>
            <a:br>
              <a:rPr lang="en-US" sz="2000" dirty="0"/>
            </a:br>
            <a:r>
              <a:rPr lang="en-US" sz="2000" dirty="0"/>
              <a:t>    (Remember: always apply at the destination interface)</a:t>
            </a:r>
          </a:p>
          <a:p>
            <a:pPr algn="l"/>
            <a:r>
              <a:rPr lang="en-US" sz="2000" b="1" dirty="0"/>
              <a:t>     </a:t>
            </a:r>
          </a:p>
          <a:p>
            <a:pPr algn="l"/>
            <a:endParaRPr lang="en-US" sz="20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r>
              <a:rPr lang="en-US" sz="1600" b="1" dirty="0"/>
              <a:t>                                                             </a:t>
            </a:r>
          </a:p>
          <a:p>
            <a:pPr algn="l"/>
            <a:r>
              <a:rPr lang="en-US" sz="1600" b="1" dirty="0"/>
              <a:t>      </a:t>
            </a:r>
            <a:r>
              <a:rPr lang="en-US" sz="1800" b="1" dirty="0"/>
              <a:t>!! Create Standard ACL (1-99  ||  1300-1999) </a:t>
            </a:r>
          </a:p>
          <a:p>
            <a:pPr algn="l">
              <a:lnSpc>
                <a:spcPct val="100000"/>
              </a:lnSpc>
              <a:spcBef>
                <a:spcPts val="20"/>
              </a:spcBef>
            </a:pPr>
            <a:r>
              <a:rPr lang="en-US" sz="1800" dirty="0"/>
              <a:t>      host          --      access-list &lt;</a:t>
            </a:r>
            <a:r>
              <a:rPr lang="en-US" sz="1800" dirty="0" err="1"/>
              <a:t>acl</a:t>
            </a:r>
            <a:r>
              <a:rPr lang="en-US" sz="1800" dirty="0"/>
              <a:t>-no&gt; &lt;deny / accept&gt; host &lt;</a:t>
            </a:r>
            <a:r>
              <a:rPr lang="en-US" sz="1800" dirty="0" err="1"/>
              <a:t>ip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>      network   --      access-list &lt;</a:t>
            </a:r>
            <a:r>
              <a:rPr lang="en-US" sz="1800" dirty="0" err="1"/>
              <a:t>acl</a:t>
            </a:r>
            <a:r>
              <a:rPr lang="en-US" sz="1800" dirty="0"/>
              <a:t>-no&gt; &lt;deny / accept&gt; &lt;network-address&gt;      </a:t>
            </a:r>
            <a:br>
              <a:rPr lang="en-US" sz="1800" dirty="0"/>
            </a:br>
            <a:r>
              <a:rPr lang="en-US" sz="1800" dirty="0"/>
              <a:t>      </a:t>
            </a:r>
            <a:br>
              <a:rPr lang="en-US" sz="1800" b="1" dirty="0"/>
            </a:br>
            <a:r>
              <a:rPr lang="en-US" sz="1800" b="1" dirty="0"/>
              <a:t>      !! Other traffic will either be denied or allowed</a:t>
            </a:r>
            <a:br>
              <a:rPr lang="en-US" sz="1800" b="1" dirty="0"/>
            </a:br>
            <a:r>
              <a:rPr lang="en-US" sz="1800" b="1" dirty="0"/>
              <a:t>      </a:t>
            </a:r>
            <a:r>
              <a:rPr lang="en-US" sz="1800" dirty="0"/>
              <a:t>access-list &lt;</a:t>
            </a:r>
            <a:r>
              <a:rPr lang="en-US" sz="1800" dirty="0" err="1"/>
              <a:t>acl</a:t>
            </a:r>
            <a:r>
              <a:rPr lang="en-US" sz="1800" dirty="0"/>
              <a:t>-no&gt; &lt;permit/deny&gt; any</a:t>
            </a:r>
            <a:br>
              <a:rPr lang="en-US" sz="1800" b="1" dirty="0"/>
            </a:br>
            <a:r>
              <a:rPr lang="en-US" sz="1800" b="1" dirty="0"/>
              <a:t>   </a:t>
            </a:r>
          </a:p>
          <a:p>
            <a:pPr algn="l">
              <a:lnSpc>
                <a:spcPct val="100000"/>
              </a:lnSpc>
              <a:spcBef>
                <a:spcPts val="20"/>
              </a:spcBef>
            </a:pPr>
            <a:r>
              <a:rPr lang="en-US" sz="1800" b="1" dirty="0"/>
              <a:t>      !!  Apply ACL</a:t>
            </a:r>
            <a:br>
              <a:rPr lang="en-US" sz="1800" b="1" dirty="0"/>
            </a:br>
            <a:r>
              <a:rPr lang="en-US" sz="1800" b="1" dirty="0"/>
              <a:t>      i</a:t>
            </a:r>
            <a:r>
              <a:rPr lang="en-US" sz="1800" dirty="0"/>
              <a:t>nt &lt;ethernet-type&gt; &lt;interface-no&gt;</a:t>
            </a:r>
            <a:br>
              <a:rPr lang="en-US" sz="1800" b="1" dirty="0"/>
            </a:br>
            <a:r>
              <a:rPr lang="en-US" sz="1800" b="1" dirty="0"/>
              <a:t>           </a:t>
            </a:r>
            <a:r>
              <a:rPr lang="en-US" sz="1800" dirty="0" err="1"/>
              <a:t>ip</a:t>
            </a:r>
            <a:r>
              <a:rPr lang="en-US" sz="1800" dirty="0"/>
              <a:t> access-group &lt;</a:t>
            </a:r>
            <a:r>
              <a:rPr lang="en-US" sz="1800" dirty="0" err="1"/>
              <a:t>acl</a:t>
            </a:r>
            <a:r>
              <a:rPr lang="en-US" sz="1800" dirty="0"/>
              <a:t>-no&gt;  &lt;in / out&gt;        </a:t>
            </a:r>
            <a:endParaRPr lang="en-IN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4F7EE0-2D62-D594-CB6A-93299A32E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10" y="2034314"/>
            <a:ext cx="6036091" cy="27748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4F5B0-6FA4-67B3-B0F0-5C42CC4DC719}"/>
              </a:ext>
            </a:extLst>
          </p:cNvPr>
          <p:cNvSpPr txBox="1"/>
          <p:nvPr/>
        </p:nvSpPr>
        <p:spPr>
          <a:xfrm>
            <a:off x="5423632" y="4679706"/>
            <a:ext cx="694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/>
              <a:t>O(n)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941FA7-3B2C-C253-F8B4-56AAFB2C4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9" y="7641433"/>
            <a:ext cx="6913292" cy="125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54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4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B8F4E-B1A2-D81B-E860-9374C9DF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6BEA5B-ED1E-C630-686E-1F9D630F2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8900"/>
            <a:ext cx="7199313" cy="8910638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20000"/>
              </a:lnSpc>
            </a:pPr>
            <a:r>
              <a:rPr lang="en-US" sz="3100" b="1" dirty="0"/>
              <a:t>2. Extended ACL (can specify dest, port, protocol)</a:t>
            </a:r>
            <a:br>
              <a:rPr lang="en-US" sz="3100" b="1" dirty="0"/>
            </a:br>
            <a:r>
              <a:rPr lang="en-US" sz="3100" b="1" dirty="0"/>
              <a:t>    </a:t>
            </a:r>
            <a:r>
              <a:rPr lang="en-US" sz="3100" dirty="0"/>
              <a:t>It should be applied on the router closest to the </a:t>
            </a:r>
            <a:br>
              <a:rPr lang="en-US" sz="3100" dirty="0"/>
            </a:br>
            <a:r>
              <a:rPr lang="en-US" sz="3100" dirty="0"/>
              <a:t>    device, in order to avoid unnecessary forwarding </a:t>
            </a:r>
            <a:br>
              <a:rPr lang="en-US" sz="3100" dirty="0"/>
            </a:br>
            <a:r>
              <a:rPr lang="en-US" sz="3100" dirty="0"/>
              <a:t>    decisions on other routers</a:t>
            </a:r>
            <a:r>
              <a:rPr lang="en-US" sz="3100" b="1" dirty="0"/>
              <a:t>.    </a:t>
            </a:r>
            <a:br>
              <a:rPr lang="en-US" sz="3100" b="1" dirty="0"/>
            </a:br>
            <a:r>
              <a:rPr lang="en-US" sz="3100" b="1" dirty="0"/>
              <a:t>    </a:t>
            </a:r>
            <a:r>
              <a:rPr lang="en-US" sz="3100" dirty="0"/>
              <a:t>task: </a:t>
            </a:r>
            <a:r>
              <a:rPr lang="en-US" sz="3600" b="1" dirty="0"/>
              <a:t> </a:t>
            </a:r>
            <a:r>
              <a:rPr lang="en-US" sz="3100" dirty="0"/>
              <a:t>Restrict access from 10.1.1.2 to 10.23.23.3</a:t>
            </a:r>
            <a:br>
              <a:rPr lang="en-US" sz="3100" dirty="0"/>
            </a:br>
            <a:r>
              <a:rPr lang="en-US" sz="3100" dirty="0"/>
              <a:t>              Restrict only telnet access from 10.1.1.1 to  10.23.23.3</a:t>
            </a:r>
            <a:br>
              <a:rPr lang="en-US" sz="2400" dirty="0"/>
            </a:br>
            <a:r>
              <a:rPr lang="en-US" sz="2400" dirty="0"/>
              <a:t>    </a:t>
            </a:r>
          </a:p>
          <a:p>
            <a:pPr algn="l">
              <a:lnSpc>
                <a:spcPct val="120000"/>
              </a:lnSpc>
            </a:pPr>
            <a:endParaRPr lang="en-US" sz="2400" dirty="0"/>
          </a:p>
          <a:p>
            <a:pPr algn="l">
              <a:lnSpc>
                <a:spcPct val="120000"/>
              </a:lnSpc>
            </a:pPr>
            <a:endParaRPr lang="en-US" sz="2400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r>
              <a:rPr lang="en-US" sz="2400" b="1" dirty="0"/>
              <a:t> </a:t>
            </a:r>
            <a:r>
              <a:rPr lang="en-US" sz="3200" b="1" dirty="0"/>
              <a:t>!! Create Extended ACL (100-199  ||  1300-1999) </a:t>
            </a:r>
            <a:br>
              <a:rPr lang="en-US" sz="3200" dirty="0"/>
            </a:br>
            <a:r>
              <a:rPr lang="en-US" sz="3200" dirty="0"/>
              <a:t>      access-list &lt;</a:t>
            </a:r>
            <a:r>
              <a:rPr lang="en-US" sz="3200" dirty="0" err="1"/>
              <a:t>acl</a:t>
            </a:r>
            <a:r>
              <a:rPr lang="en-US" sz="3200" dirty="0"/>
              <a:t>-no&gt; &lt;protocol&gt; &lt;src-host&gt; &lt;address&gt; </a:t>
            </a:r>
            <a:br>
              <a:rPr lang="en-US" sz="3200" dirty="0"/>
            </a:br>
            <a:r>
              <a:rPr lang="en-US" sz="3200" dirty="0"/>
              <a:t>      &lt;</a:t>
            </a:r>
            <a:r>
              <a:rPr lang="en-US" sz="3200" dirty="0" err="1"/>
              <a:t>dst</a:t>
            </a:r>
            <a:r>
              <a:rPr lang="en-US" sz="3200" dirty="0"/>
              <a:t>-host&gt;&lt;address&gt; eq &lt;port-no&gt;</a:t>
            </a:r>
            <a:br>
              <a:rPr lang="en-US" sz="3200" dirty="0"/>
            </a:br>
            <a:br>
              <a:rPr lang="en-US" sz="3200" b="1" dirty="0"/>
            </a:br>
            <a:r>
              <a:rPr lang="en-US" sz="3200" b="1" dirty="0"/>
              <a:t> !! Other traffic will either be denied or allowed</a:t>
            </a:r>
            <a:br>
              <a:rPr lang="en-US" sz="3200" b="1" dirty="0"/>
            </a:br>
            <a:r>
              <a:rPr lang="en-US" sz="3200" b="1" dirty="0"/>
              <a:t>  </a:t>
            </a:r>
            <a:r>
              <a:rPr lang="en-US" sz="3200" dirty="0"/>
              <a:t>access-list &lt;</a:t>
            </a:r>
            <a:r>
              <a:rPr lang="en-US" sz="3200" dirty="0" err="1"/>
              <a:t>acl</a:t>
            </a:r>
            <a:r>
              <a:rPr lang="en-US" sz="3200" dirty="0"/>
              <a:t>-no&gt; &lt;permit/deny&gt; </a:t>
            </a:r>
            <a:r>
              <a:rPr lang="en-US" sz="3200" dirty="0" err="1"/>
              <a:t>ip</a:t>
            </a:r>
            <a:r>
              <a:rPr lang="en-US" sz="3200" dirty="0"/>
              <a:t> any </a:t>
            </a:r>
            <a:r>
              <a:rPr lang="en-US" sz="3200" dirty="0" err="1"/>
              <a:t>any</a:t>
            </a:r>
            <a:br>
              <a:rPr lang="en-US" sz="3200" b="1" dirty="0"/>
            </a:br>
            <a:r>
              <a:rPr lang="en-US" sz="3200" b="1" dirty="0"/>
              <a:t>   </a:t>
            </a:r>
          </a:p>
          <a:p>
            <a:pPr algn="l">
              <a:lnSpc>
                <a:spcPct val="100000"/>
              </a:lnSpc>
              <a:spcBef>
                <a:spcPts val="20"/>
              </a:spcBef>
            </a:pPr>
            <a:r>
              <a:rPr lang="en-US" sz="3200" b="1" dirty="0"/>
              <a:t> !!  Apply ACL</a:t>
            </a:r>
            <a:br>
              <a:rPr lang="en-US" sz="3200" b="1" dirty="0"/>
            </a:br>
            <a:r>
              <a:rPr lang="en-US" sz="3200" b="1" dirty="0"/>
              <a:t>  i</a:t>
            </a:r>
            <a:r>
              <a:rPr lang="en-US" sz="3200" dirty="0"/>
              <a:t>nt &lt;ethernet-type&gt; &lt;interface-no&gt;</a:t>
            </a:r>
            <a:br>
              <a:rPr lang="en-US" sz="3200" b="1" dirty="0"/>
            </a:br>
            <a:r>
              <a:rPr lang="en-US" sz="3200" b="1" dirty="0"/>
              <a:t>      </a:t>
            </a:r>
            <a:r>
              <a:rPr lang="en-US" sz="3200" dirty="0" err="1"/>
              <a:t>ip</a:t>
            </a:r>
            <a:r>
              <a:rPr lang="en-US" sz="3200" dirty="0"/>
              <a:t> access-group &lt;</a:t>
            </a:r>
            <a:r>
              <a:rPr lang="en-US" sz="3200" dirty="0" err="1"/>
              <a:t>acl</a:t>
            </a:r>
            <a:r>
              <a:rPr lang="en-US" sz="3200" dirty="0"/>
              <a:t>-no&gt;  &lt;in / out&gt;        </a:t>
            </a:r>
            <a:endParaRPr lang="en-IN" sz="5100" dirty="0"/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  <a:p>
            <a:pPr algn="l"/>
            <a:r>
              <a:rPr lang="en-US" sz="1600" b="1" dirty="0"/>
              <a:t>                                        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8B8425-C977-2EE1-E0D8-F12588622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25" y="2196659"/>
            <a:ext cx="6493449" cy="28123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B918E7-38F3-DBFE-6CD0-A4CC9E35EA56}"/>
              </a:ext>
            </a:extLst>
          </p:cNvPr>
          <p:cNvSpPr txBox="1"/>
          <p:nvPr/>
        </p:nvSpPr>
        <p:spPr>
          <a:xfrm>
            <a:off x="5867376" y="4130437"/>
            <a:ext cx="71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O(1)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354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4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B58B2-B4DE-72D4-EC3B-E5A010A51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A3F5F9-4A15-33D2-ACC6-CA934D779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160599"/>
            <a:ext cx="7073900" cy="22129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B92255-C5B3-6B88-D44D-0C5E5B8E4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1" y="2619401"/>
            <a:ext cx="6985000" cy="26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8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4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294D1-59BA-034B-1A45-4F4EEEFA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2B1AE8-5404-DE9B-36FA-782ED3DDE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8900"/>
            <a:ext cx="7199313" cy="8910638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 dirty="0"/>
              <a:t>3. Infrastructure ACL </a:t>
            </a:r>
            <a:br>
              <a:rPr lang="en-US" sz="1900" b="1" dirty="0"/>
            </a:br>
            <a:r>
              <a:rPr lang="en-US" sz="1900" b="1" dirty="0"/>
              <a:t> </a:t>
            </a:r>
            <a:r>
              <a:rPr lang="en-US" sz="1900" dirty="0"/>
              <a:t>An Infrastructure ACL (</a:t>
            </a:r>
            <a:r>
              <a:rPr lang="en-US" sz="1900" dirty="0" err="1"/>
              <a:t>iACL</a:t>
            </a:r>
            <a:r>
              <a:rPr lang="en-US" sz="1900" dirty="0"/>
              <a:t>) is a special type of Access Control List that is applied to protect the network devices themselves, not just the traffic passing through them.    (test: deny ICMP fragment)</a:t>
            </a:r>
          </a:p>
          <a:p>
            <a:pPr algn="l">
              <a:lnSpc>
                <a:spcPct val="120000"/>
              </a:lnSpc>
            </a:pPr>
            <a:endParaRPr lang="en-US" sz="1900" b="1" dirty="0"/>
          </a:p>
          <a:p>
            <a:pPr algn="l">
              <a:lnSpc>
                <a:spcPct val="120000"/>
              </a:lnSpc>
            </a:pPr>
            <a:endParaRPr lang="en-US" sz="1900" b="1" dirty="0"/>
          </a:p>
          <a:p>
            <a:pPr algn="l">
              <a:lnSpc>
                <a:spcPct val="120000"/>
              </a:lnSpc>
            </a:pPr>
            <a:endParaRPr lang="en-US" sz="1900" b="1" dirty="0"/>
          </a:p>
          <a:p>
            <a:pPr algn="l">
              <a:lnSpc>
                <a:spcPct val="120000"/>
              </a:lnSpc>
            </a:pPr>
            <a:endParaRPr lang="en-US" sz="1900" b="1" dirty="0"/>
          </a:p>
          <a:p>
            <a:pPr algn="l">
              <a:lnSpc>
                <a:spcPct val="120000"/>
              </a:lnSpc>
            </a:pPr>
            <a:endParaRPr lang="en-US" sz="1900" b="1" dirty="0"/>
          </a:p>
          <a:p>
            <a:pPr algn="l">
              <a:lnSpc>
                <a:spcPct val="120000"/>
              </a:lnSpc>
            </a:pPr>
            <a:endParaRPr lang="en-US" sz="1900" b="1" dirty="0"/>
          </a:p>
          <a:p>
            <a:pPr algn="l">
              <a:lnSpc>
                <a:spcPct val="120000"/>
              </a:lnSpc>
            </a:pPr>
            <a:endParaRPr lang="en-US" sz="1900" b="1" dirty="0"/>
          </a:p>
          <a:p>
            <a:pPr algn="l">
              <a:lnSpc>
                <a:spcPct val="120000"/>
              </a:lnSpc>
            </a:pPr>
            <a:endParaRPr lang="en-US" sz="1900" b="1" dirty="0"/>
          </a:p>
          <a:p>
            <a:pPr algn="l">
              <a:lnSpc>
                <a:spcPct val="120000"/>
              </a:lnSpc>
            </a:pPr>
            <a:endParaRPr lang="en-US" sz="1900" b="1" dirty="0"/>
          </a:p>
          <a:p>
            <a:pPr algn="l">
              <a:lnSpc>
                <a:spcPct val="120000"/>
              </a:lnSpc>
            </a:pPr>
            <a:endParaRPr lang="en-US" sz="1900" b="1" dirty="0"/>
          </a:p>
          <a:p>
            <a:pPr algn="l"/>
            <a:r>
              <a:rPr lang="en-US" sz="1900" b="1" dirty="0"/>
              <a:t> !! Create Extended ACL (100-199  ||  1300-1999) </a:t>
            </a:r>
          </a:p>
          <a:p>
            <a:pPr algn="l">
              <a:lnSpc>
                <a:spcPct val="100000"/>
              </a:lnSpc>
              <a:spcBef>
                <a:spcPts val="20"/>
              </a:spcBef>
            </a:pPr>
            <a:r>
              <a:rPr lang="en-US" sz="2000" dirty="0"/>
              <a:t> </a:t>
            </a:r>
            <a:r>
              <a:rPr lang="en-US" sz="2000" dirty="0" err="1"/>
              <a:t>ip</a:t>
            </a:r>
            <a:r>
              <a:rPr lang="en-US" sz="2000" dirty="0"/>
              <a:t> access-list extended &lt;NAME / NO&gt;</a:t>
            </a:r>
            <a:br>
              <a:rPr lang="en-US" sz="2000" dirty="0"/>
            </a:br>
            <a:r>
              <a:rPr lang="en-US" sz="2000" dirty="0"/>
              <a:t>      deny &lt;protocol&gt;any </a:t>
            </a:r>
            <a:r>
              <a:rPr lang="en-US" sz="2000" dirty="0" err="1"/>
              <a:t>any</a:t>
            </a:r>
            <a:r>
              <a:rPr lang="en-US" sz="2000" dirty="0"/>
              <a:t> fragments </a:t>
            </a:r>
            <a:br>
              <a:rPr lang="en-US" sz="2000" dirty="0"/>
            </a:br>
            <a:r>
              <a:rPr lang="en-US" sz="2000" dirty="0"/>
              <a:t>      permit </a:t>
            </a:r>
            <a:r>
              <a:rPr lang="en-US" sz="2000" dirty="0" err="1"/>
              <a:t>ip</a:t>
            </a:r>
            <a:r>
              <a:rPr lang="en-US" sz="2000" dirty="0"/>
              <a:t> any </a:t>
            </a:r>
            <a:r>
              <a:rPr lang="en-US" sz="2000" dirty="0" err="1"/>
              <a:t>any</a:t>
            </a:r>
            <a:br>
              <a:rPr lang="en-US" sz="2000" dirty="0"/>
            </a:br>
            <a:r>
              <a:rPr lang="en-US" sz="2000" dirty="0"/>
              <a:t>(</a:t>
            </a:r>
            <a:r>
              <a:rPr lang="en-IN" sz="2000" dirty="0"/>
              <a:t>permit </a:t>
            </a:r>
            <a:r>
              <a:rPr lang="en-IN" sz="2000" dirty="0" err="1"/>
              <a:t>tcp</a:t>
            </a:r>
            <a:r>
              <a:rPr lang="en-IN" sz="2000" dirty="0"/>
              <a:t> host &lt; external-bgp-peer&gt; host &lt; internal-bgp-peer&gt; </a:t>
            </a:r>
            <a:r>
              <a:rPr lang="en-IN" sz="2000" dirty="0" err="1"/>
              <a:t>eq</a:t>
            </a:r>
            <a:r>
              <a:rPr lang="en-IN" sz="2000" dirty="0"/>
              <a:t> bgp</a:t>
            </a:r>
            <a:r>
              <a:rPr lang="en-US" sz="2000" dirty="0"/>
              <a:t>)</a:t>
            </a:r>
            <a:endParaRPr lang="en-US" sz="1900" b="1" dirty="0"/>
          </a:p>
          <a:p>
            <a:pPr algn="l">
              <a:lnSpc>
                <a:spcPct val="100000"/>
              </a:lnSpc>
              <a:spcBef>
                <a:spcPts val="20"/>
              </a:spcBef>
            </a:pPr>
            <a:r>
              <a:rPr lang="en-US" sz="1900" b="1" dirty="0"/>
              <a:t> !!  Apply ACL</a:t>
            </a:r>
            <a:br>
              <a:rPr lang="en-US" sz="1900" b="1" dirty="0"/>
            </a:br>
            <a:r>
              <a:rPr lang="en-US" sz="1900" b="1" dirty="0"/>
              <a:t>  i</a:t>
            </a:r>
            <a:r>
              <a:rPr lang="en-US" sz="1900" dirty="0"/>
              <a:t>nt &lt;ethernet-type&gt; &lt;interface-no&gt;</a:t>
            </a:r>
            <a:br>
              <a:rPr lang="en-US" sz="1900" b="1" dirty="0"/>
            </a:br>
            <a:r>
              <a:rPr lang="en-US" sz="1900" b="1" dirty="0"/>
              <a:t>      </a:t>
            </a:r>
            <a:r>
              <a:rPr lang="en-US" sz="1900" dirty="0" err="1"/>
              <a:t>ip</a:t>
            </a:r>
            <a:r>
              <a:rPr lang="en-US" sz="1900" dirty="0"/>
              <a:t> access-group &lt;name / no&gt; &lt;in / out&gt;        </a:t>
            </a:r>
            <a:endParaRPr lang="en-IN" sz="1900" dirty="0"/>
          </a:p>
          <a:p>
            <a:pPr algn="l"/>
            <a:endParaRPr lang="en-US" sz="1900" b="1" dirty="0"/>
          </a:p>
          <a:p>
            <a:pPr algn="l"/>
            <a:endParaRPr lang="en-US" sz="1900" b="1" dirty="0"/>
          </a:p>
          <a:p>
            <a:pPr algn="l"/>
            <a:r>
              <a:rPr lang="en-US" sz="1900" b="1" dirty="0"/>
              <a:t>                                        </a:t>
            </a:r>
            <a:endParaRPr lang="en-IN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BA0DB-40AD-12E1-CD3A-5DFC2E94C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1" y="1593614"/>
            <a:ext cx="5029200" cy="27537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1B503E-754D-3393-0286-1D1A452D1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36" y="4499769"/>
            <a:ext cx="4887529" cy="143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1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4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3F0BD-E281-8D7C-1DB2-8D7DB16AC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6AB8DC-94C9-6446-F490-86A2A5CD2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8900"/>
            <a:ext cx="7199313" cy="8910638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 dirty="0"/>
              <a:t>3. Prefix List</a:t>
            </a:r>
            <a:endParaRPr lang="en-US" sz="1900" b="1" dirty="0"/>
          </a:p>
          <a:p>
            <a:pPr algn="l"/>
            <a:r>
              <a:rPr lang="en-US" sz="2000" dirty="0"/>
              <a:t>A prefix list is used to filter network prefixes (routes) based on:</a:t>
            </a:r>
          </a:p>
          <a:p>
            <a:pPr algn="l"/>
            <a:r>
              <a:rPr lang="en-US" sz="2000" dirty="0"/>
              <a:t>• The network address (e.g., 10.0.0.0)</a:t>
            </a:r>
          </a:p>
          <a:p>
            <a:pPr algn="l"/>
            <a:r>
              <a:rPr lang="en-US" sz="2000" dirty="0"/>
              <a:t>• The prefix length (e.g., /8, /24, /32)</a:t>
            </a:r>
          </a:p>
          <a:p>
            <a:pPr algn="l"/>
            <a:endParaRPr lang="en-US" sz="2000" dirty="0"/>
          </a:p>
          <a:p>
            <a:pPr algn="l"/>
            <a:r>
              <a:rPr lang="en-US" sz="1900" dirty="0" err="1">
                <a:highlight>
                  <a:srgbClr val="FFFF00"/>
                </a:highlight>
              </a:rPr>
              <a:t>ip</a:t>
            </a:r>
            <a:r>
              <a:rPr lang="en-US" sz="1900" dirty="0">
                <a:highlight>
                  <a:srgbClr val="FFFF00"/>
                </a:highlight>
              </a:rPr>
              <a:t> prefix-list MY-LIST seq 5 permit 10.0.0.0/8 le 24</a:t>
            </a:r>
          </a:p>
          <a:p>
            <a:pPr algn="l"/>
            <a:r>
              <a:rPr lang="en-US" sz="1900" dirty="0" err="1">
                <a:highlight>
                  <a:srgbClr val="FFFF00"/>
                </a:highlight>
              </a:rPr>
              <a:t>ip</a:t>
            </a:r>
            <a:r>
              <a:rPr lang="en-US" sz="1900" dirty="0">
                <a:highlight>
                  <a:srgbClr val="FFFF00"/>
                </a:highlight>
              </a:rPr>
              <a:t> prefix-list MY-LIST seq 10 deny 192.168.0.0/16</a:t>
            </a:r>
          </a:p>
          <a:p>
            <a:pPr algn="l"/>
            <a:r>
              <a:rPr lang="en-US" sz="1900" dirty="0" err="1">
                <a:highlight>
                  <a:srgbClr val="FFFF00"/>
                </a:highlight>
              </a:rPr>
              <a:t>ip</a:t>
            </a:r>
            <a:r>
              <a:rPr lang="en-US" sz="1900" dirty="0">
                <a:highlight>
                  <a:srgbClr val="FFFF00"/>
                </a:highlight>
              </a:rPr>
              <a:t> prefix-list MY-LIST seq 15 permit 0.0.0.0/0 le 32</a:t>
            </a:r>
          </a:p>
          <a:p>
            <a:pPr algn="l"/>
            <a:endParaRPr lang="en-US" sz="1900" dirty="0"/>
          </a:p>
          <a:p>
            <a:pPr algn="l"/>
            <a:endParaRPr lang="en-US" sz="1900" b="1" dirty="0"/>
          </a:p>
          <a:p>
            <a:pPr algn="l"/>
            <a:r>
              <a:rPr lang="en-US" sz="1900" b="1" dirty="0"/>
              <a:t>                                        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25303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4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9FD3E-5266-ADC3-2070-9BEDA2AD7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3E05FA-598B-B1F0-DA85-5A4B658BE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8900"/>
            <a:ext cx="7199313" cy="8910638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 dirty="0"/>
              <a:t>3. Route Map</a:t>
            </a:r>
            <a:endParaRPr lang="en-US" sz="1900" b="1" dirty="0"/>
          </a:p>
          <a:p>
            <a:pPr algn="l"/>
            <a:r>
              <a:rPr lang="en-US" sz="2000" dirty="0"/>
              <a:t>Route maps are like “if–then” statements for routing.</a:t>
            </a:r>
            <a:br>
              <a:rPr lang="en-US" sz="2000" dirty="0"/>
            </a:br>
            <a:r>
              <a:rPr lang="en-US" sz="2000" dirty="0"/>
              <a:t>They let you:</a:t>
            </a:r>
          </a:p>
          <a:p>
            <a:pPr algn="l"/>
            <a:r>
              <a:rPr lang="en-US" sz="2000" dirty="0"/>
              <a:t>• Filter routes (like ACLs do), and</a:t>
            </a:r>
          </a:p>
          <a:p>
            <a:pPr algn="l"/>
            <a:r>
              <a:rPr lang="en-US" sz="2000" dirty="0"/>
              <a:t>• Modify route attributes (which ACLs cannot).</a:t>
            </a:r>
          </a:p>
          <a:p>
            <a:pPr algn="l"/>
            <a:r>
              <a:rPr lang="en-US" sz="2000" dirty="0"/>
              <a:t>They are especially important in BGP, because you can define custom routing policies per neighbor.</a:t>
            </a:r>
          </a:p>
          <a:p>
            <a:pPr algn="l"/>
            <a:r>
              <a:rPr lang="en-US" sz="1900" dirty="0"/>
              <a:t>Route Map Components</a:t>
            </a:r>
          </a:p>
          <a:p>
            <a:pPr algn="l"/>
            <a:endParaRPr lang="en-US" sz="1900" dirty="0"/>
          </a:p>
          <a:p>
            <a:pPr algn="l"/>
            <a:r>
              <a:rPr lang="en-US" sz="1900" dirty="0"/>
              <a:t>A route map has four parts:</a:t>
            </a:r>
          </a:p>
          <a:p>
            <a:pPr algn="l"/>
            <a:r>
              <a:rPr lang="en-US" sz="1900" dirty="0"/>
              <a:t>1. Sequence Number</a:t>
            </a:r>
          </a:p>
          <a:p>
            <a:pPr algn="l"/>
            <a:r>
              <a:rPr lang="en-US" sz="1900" dirty="0"/>
              <a:t>Determines the order in which each part of the route map is checked.</a:t>
            </a:r>
          </a:p>
          <a:p>
            <a:pPr algn="l"/>
            <a:r>
              <a:rPr lang="en-US" sz="1900" dirty="0"/>
              <a:t>Example: sequence 10 is processed before sequence 20.</a:t>
            </a:r>
          </a:p>
          <a:p>
            <a:pPr algn="l"/>
            <a:r>
              <a:rPr lang="en-US" sz="1900" dirty="0"/>
              <a:t>2. Matching Condition (if)</a:t>
            </a:r>
          </a:p>
          <a:p>
            <a:pPr algn="l"/>
            <a:r>
              <a:rPr lang="en-US" sz="1900" dirty="0"/>
              <a:t>Defines which routes the statement applies to (like IP prefix, AS path, next-hop, etc.).</a:t>
            </a:r>
          </a:p>
          <a:p>
            <a:pPr algn="l"/>
            <a:r>
              <a:rPr lang="en-US" sz="1900" dirty="0"/>
              <a:t>Example: match IP addresses in an ACL or prefix list.</a:t>
            </a:r>
          </a:p>
          <a:p>
            <a:pPr algn="l"/>
            <a:r>
              <a:rPr lang="en-US" sz="1900" dirty="0"/>
              <a:t>3.Action (then)</a:t>
            </a:r>
          </a:p>
          <a:p>
            <a:pPr algn="l"/>
            <a:r>
              <a:rPr lang="en-US" sz="1900" dirty="0"/>
              <a:t>What to do when a route matches.</a:t>
            </a:r>
          </a:p>
          <a:p>
            <a:pPr algn="l"/>
            <a:r>
              <a:rPr lang="en-US" sz="1900" dirty="0"/>
              <a:t>Either permit (allow and possibly modify) or deny (block).</a:t>
            </a:r>
          </a:p>
          <a:p>
            <a:pPr algn="l"/>
            <a:r>
              <a:rPr lang="en-US" sz="1900" dirty="0"/>
              <a:t>4. Optional Actions (modifications)</a:t>
            </a:r>
          </a:p>
          <a:p>
            <a:pPr algn="l"/>
            <a:r>
              <a:rPr lang="en-US" sz="1900" dirty="0"/>
              <a:t>Additional actions, such as setting or changing attributes (metric, local preference, next-hop, etc.).</a:t>
            </a:r>
          </a:p>
          <a:p>
            <a:pPr algn="l"/>
            <a:endParaRPr lang="en-US" sz="1900" b="1" dirty="0"/>
          </a:p>
          <a:p>
            <a:pPr algn="l"/>
            <a:r>
              <a:rPr lang="en-US" sz="1900" b="1" dirty="0"/>
              <a:t>                                        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036472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4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9015B-97C7-2A22-DCB5-19536330E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1B22027-2A9C-5FF0-C3BE-63FEDA836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8900"/>
            <a:ext cx="7199313" cy="8910638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 dirty="0"/>
              <a:t>4. Authentication</a:t>
            </a:r>
            <a:br>
              <a:rPr lang="en-US" sz="1900" b="1" dirty="0"/>
            </a:br>
            <a:r>
              <a:rPr lang="en-US" sz="1900" b="1" dirty="0"/>
              <a:t> </a:t>
            </a:r>
          </a:p>
          <a:p>
            <a:pPr algn="l"/>
            <a:endParaRPr lang="en-US" sz="1900" b="1" dirty="0"/>
          </a:p>
          <a:p>
            <a:pPr algn="l"/>
            <a:r>
              <a:rPr lang="en-US" sz="1900" b="1" dirty="0"/>
              <a:t>                                        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824747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5743</TotalTime>
  <Words>691</Words>
  <Application>Microsoft Office PowerPoint</Application>
  <PresentationFormat>Custom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Castellar</vt:lpstr>
      <vt:lpstr>Office Theme</vt:lpstr>
      <vt:lpstr>Router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Shankar Pradhan</dc:creator>
  <cp:lastModifiedBy>Shankar Pradhan</cp:lastModifiedBy>
  <cp:revision>31</cp:revision>
  <dcterms:created xsi:type="dcterms:W3CDTF">2025-08-25T10:12:42Z</dcterms:created>
  <dcterms:modified xsi:type="dcterms:W3CDTF">2025-11-14T08:11:55Z</dcterms:modified>
</cp:coreProperties>
</file>