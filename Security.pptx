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5" r:id="rId10"/>
    <p:sldId id="266" r:id="rId11"/>
    <p:sldId id="267" r:id="rId12"/>
    <p:sldId id="271" r:id="rId13"/>
    <p:sldId id="269" r:id="rId14"/>
    <p:sldId id="270" r:id="rId15"/>
  </p:sldIdLst>
  <p:sldSz cx="8999538" cy="10799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24" userDrawn="1">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50" d="100"/>
          <a:sy n="50" d="100"/>
        </p:scale>
        <p:origin x="2362" y="58"/>
      </p:cViewPr>
      <p:guideLst>
        <p:guide orient="horz" pos="3424"/>
        <p:guide pos="2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1767462"/>
            <a:ext cx="7649607" cy="3759917"/>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5672376"/>
            <a:ext cx="6749654" cy="2607442"/>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43CEF8-A599-4ECC-AF2C-F60928719C31}"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2411073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3CEF8-A599-4ECC-AF2C-F60928719C31}"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174327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2692444"/>
            <a:ext cx="7762102" cy="4492401"/>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7227345"/>
            <a:ext cx="7762102" cy="2362447"/>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3CEF8-A599-4ECC-AF2C-F60928719C31}"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262429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2874937"/>
            <a:ext cx="3824804"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2874937"/>
            <a:ext cx="3824804"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43CEF8-A599-4ECC-AF2C-F60928719C31}"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231453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574990"/>
            <a:ext cx="7762102" cy="208745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2647443"/>
            <a:ext cx="3807226" cy="1297471"/>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3944914"/>
            <a:ext cx="380722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2647443"/>
            <a:ext cx="3825976" cy="1297471"/>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3944914"/>
            <a:ext cx="382597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43CEF8-A599-4ECC-AF2C-F60928719C31}"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3978416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43CEF8-A599-4ECC-AF2C-F60928719C31}"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3455850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3CEF8-A599-4ECC-AF2C-F60928719C31}"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3162000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719984"/>
            <a:ext cx="2902585" cy="2519945"/>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1554968"/>
            <a:ext cx="4556016" cy="7674832"/>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3239929"/>
            <a:ext cx="2902585" cy="6002369"/>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543CEF8-A599-4ECC-AF2C-F60928719C31}"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827399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719984"/>
            <a:ext cx="2902585" cy="2519945"/>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1554968"/>
            <a:ext cx="4556016" cy="7674832"/>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3239929"/>
            <a:ext cx="2902585" cy="6002369"/>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543CEF8-A599-4ECC-AF2C-F60928719C31}"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390302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3CEF8-A599-4ECC-AF2C-F60928719C31}"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828547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574987"/>
            <a:ext cx="1940525" cy="9152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574987"/>
            <a:ext cx="5709082" cy="9152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3CEF8-A599-4ECC-AF2C-F60928719C31}"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AFAC75-45CE-4330-BBDE-1AB9E6CD6C6F}" type="slidenum">
              <a:rPr lang="en-IN" smtClean="0"/>
              <a:t>‹#›</a:t>
            </a:fld>
            <a:endParaRPr lang="en-IN"/>
          </a:p>
        </p:txBody>
      </p:sp>
    </p:spTree>
    <p:extLst>
      <p:ext uri="{BB962C8B-B14F-4D97-AF65-F5344CB8AC3E}">
        <p14:creationId xmlns:p14="http://schemas.microsoft.com/office/powerpoint/2010/main" val="234665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574990"/>
            <a:ext cx="7762102" cy="208745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2874937"/>
            <a:ext cx="7762102" cy="68523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10009783"/>
            <a:ext cx="2024896" cy="574987"/>
          </a:xfrm>
          <a:prstGeom prst="rect">
            <a:avLst/>
          </a:prstGeom>
        </p:spPr>
        <p:txBody>
          <a:bodyPr vert="horz" lIns="91440" tIns="45720" rIns="91440" bIns="45720" rtlCol="0" anchor="ctr"/>
          <a:lstStyle>
            <a:lvl1pPr algn="l">
              <a:defRPr sz="1181">
                <a:solidFill>
                  <a:schemeClr val="tx1">
                    <a:tint val="75000"/>
                  </a:schemeClr>
                </a:solidFill>
              </a:defRPr>
            </a:lvl1pPr>
          </a:lstStyle>
          <a:p>
            <a:fld id="{7543CEF8-A599-4ECC-AF2C-F60928719C31}" type="datetimeFigureOut">
              <a:rPr lang="en-IN" smtClean="0"/>
              <a:t>28-08-2025</a:t>
            </a:fld>
            <a:endParaRPr lang="en-IN"/>
          </a:p>
        </p:txBody>
      </p:sp>
      <p:sp>
        <p:nvSpPr>
          <p:cNvPr id="5" name="Footer Placeholder 4"/>
          <p:cNvSpPr>
            <a:spLocks noGrp="1"/>
          </p:cNvSpPr>
          <p:nvPr>
            <p:ph type="ftr" sz="quarter" idx="3"/>
          </p:nvPr>
        </p:nvSpPr>
        <p:spPr>
          <a:xfrm>
            <a:off x="2981097" y="10009783"/>
            <a:ext cx="3037344" cy="574987"/>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355924" y="10009783"/>
            <a:ext cx="2024896" cy="574987"/>
          </a:xfrm>
          <a:prstGeom prst="rect">
            <a:avLst/>
          </a:prstGeom>
        </p:spPr>
        <p:txBody>
          <a:bodyPr vert="horz" lIns="91440" tIns="45720" rIns="91440" bIns="45720" rtlCol="0" anchor="ctr"/>
          <a:lstStyle>
            <a:lvl1pPr algn="r">
              <a:defRPr sz="1181">
                <a:solidFill>
                  <a:schemeClr val="tx1">
                    <a:tint val="75000"/>
                  </a:schemeClr>
                </a:solidFill>
              </a:defRPr>
            </a:lvl1pPr>
          </a:lstStyle>
          <a:p>
            <a:fld id="{D7AFAC75-45CE-4330-BBDE-1AB9E6CD6C6F}" type="slidenum">
              <a:rPr lang="en-IN" smtClean="0"/>
              <a:t>‹#›</a:t>
            </a:fld>
            <a:endParaRPr lang="en-IN"/>
          </a:p>
        </p:txBody>
      </p:sp>
    </p:spTree>
    <p:extLst>
      <p:ext uri="{BB962C8B-B14F-4D97-AF65-F5344CB8AC3E}">
        <p14:creationId xmlns:p14="http://schemas.microsoft.com/office/powerpoint/2010/main" val="274046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86E90-C0BC-F9F6-5F3A-EF3DA624AF0E}"/>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(1)                            Security</a:t>
            </a:r>
            <a:endParaRPr lang="en-IN" sz="4000" b="1" dirty="0">
              <a:solidFill>
                <a:schemeClr val="bg1"/>
              </a:solidFill>
            </a:endParaRPr>
          </a:p>
        </p:txBody>
      </p:sp>
      <p:sp>
        <p:nvSpPr>
          <p:cNvPr id="3" name="Subtitle 2">
            <a:extLst>
              <a:ext uri="{FF2B5EF4-FFF2-40B4-BE49-F238E27FC236}">
                <a16:creationId xmlns:a16="http://schemas.microsoft.com/office/drawing/2014/main" id="{FD41C7D7-3C7D-A993-BD9E-A565120DEF2D}"/>
              </a:ext>
            </a:extLst>
          </p:cNvPr>
          <p:cNvSpPr>
            <a:spLocks noGrp="1"/>
          </p:cNvSpPr>
          <p:nvPr>
            <p:ph type="subTitle" idx="1"/>
          </p:nvPr>
        </p:nvSpPr>
        <p:spPr>
          <a:xfrm>
            <a:off x="-1" y="787859"/>
            <a:ext cx="8999538" cy="10011904"/>
          </a:xfrm>
        </p:spPr>
        <p:txBody>
          <a:bodyPr>
            <a:normAutofit fontScale="85000" lnSpcReduction="20000"/>
          </a:bodyPr>
          <a:lstStyle/>
          <a:p>
            <a:pPr algn="l">
              <a:lnSpc>
                <a:spcPct val="110000"/>
              </a:lnSpc>
              <a:spcAft>
                <a:spcPts val="30"/>
              </a:spcAft>
            </a:pPr>
            <a:r>
              <a:rPr lang="en-US" dirty="0"/>
              <a:t>IT security: </a:t>
            </a:r>
            <a:br>
              <a:rPr lang="en-US" dirty="0"/>
            </a:br>
            <a:r>
              <a:rPr lang="en-US" dirty="0"/>
              <a:t>it refers to protect </a:t>
            </a:r>
            <a:r>
              <a:rPr lang="en-US" dirty="0" err="1"/>
              <a:t>cia</a:t>
            </a:r>
            <a:r>
              <a:rPr lang="en-US" dirty="0"/>
              <a:t>(confidentiality, integrity, and Availability) of data confine to organization.</a:t>
            </a:r>
          </a:p>
          <a:p>
            <a:pPr algn="l">
              <a:lnSpc>
                <a:spcPct val="110000"/>
              </a:lnSpc>
              <a:spcAft>
                <a:spcPts val="30"/>
              </a:spcAft>
            </a:pPr>
            <a:r>
              <a:rPr lang="en-IN" dirty="0"/>
              <a:t>Cyber Security:</a:t>
            </a:r>
            <a:br>
              <a:rPr lang="en-IN" dirty="0"/>
            </a:br>
            <a:r>
              <a:rPr lang="en-US" dirty="0"/>
              <a:t>It is the process of protecting information by preventing, detecting, and responding to attacks. </a:t>
            </a:r>
            <a:endParaRPr lang="en-IN" dirty="0"/>
          </a:p>
          <a:p>
            <a:pPr algn="l">
              <a:lnSpc>
                <a:spcPct val="110000"/>
              </a:lnSpc>
              <a:spcAft>
                <a:spcPts val="30"/>
              </a:spcAft>
            </a:pPr>
            <a:r>
              <a:rPr lang="en-US" dirty="0"/>
              <a:t>Cybersecurity programs and policies expand and build upon traditional information security programs, but also include the following: </a:t>
            </a:r>
            <a:br>
              <a:rPr lang="en-US" dirty="0"/>
            </a:br>
            <a:r>
              <a:rPr lang="en-US" dirty="0"/>
              <a:t>• Cyber risk management and oversight </a:t>
            </a:r>
            <a:br>
              <a:rPr lang="en-US" dirty="0"/>
            </a:br>
            <a:r>
              <a:rPr lang="en-US" dirty="0"/>
              <a:t>• Threat intelligence and information sharing </a:t>
            </a:r>
            <a:br>
              <a:rPr lang="en-US" dirty="0"/>
            </a:br>
            <a:r>
              <a:rPr lang="en-US" dirty="0"/>
              <a:t>• Third-party organization, software, and hardware dependency  </a:t>
            </a:r>
            <a:br>
              <a:rPr lang="en-US" dirty="0"/>
            </a:br>
            <a:r>
              <a:rPr lang="en-US" dirty="0"/>
              <a:t>   management </a:t>
            </a:r>
            <a:br>
              <a:rPr lang="en-US" dirty="0"/>
            </a:br>
            <a:r>
              <a:rPr lang="en-US" dirty="0"/>
              <a:t>• Incident response and resiliency</a:t>
            </a:r>
            <a:br>
              <a:rPr lang="en-US" dirty="0"/>
            </a:br>
            <a:endParaRPr lang="en-US" dirty="0"/>
          </a:p>
          <a:p>
            <a:pPr algn="l">
              <a:lnSpc>
                <a:spcPct val="110000"/>
              </a:lnSpc>
              <a:spcAft>
                <a:spcPts val="30"/>
              </a:spcAft>
            </a:pPr>
            <a:endParaRPr lang="en-US" dirty="0"/>
          </a:p>
          <a:p>
            <a:pPr algn="l">
              <a:lnSpc>
                <a:spcPct val="110000"/>
              </a:lnSpc>
              <a:spcAft>
                <a:spcPts val="30"/>
              </a:spcAft>
            </a:pPr>
            <a:br>
              <a:rPr lang="en-US" b="1" dirty="0"/>
            </a:br>
            <a:r>
              <a:rPr lang="en-US" b="1" dirty="0"/>
              <a:t>Assets</a:t>
            </a:r>
            <a:r>
              <a:rPr lang="en-US" dirty="0"/>
              <a:t> as anything of value that the business wants to protect.</a:t>
            </a:r>
            <a:br>
              <a:rPr lang="en-US" dirty="0"/>
            </a:br>
            <a:r>
              <a:rPr lang="en-US" dirty="0"/>
              <a:t>This can include people, information or data, intellectual property, and physical property. </a:t>
            </a:r>
          </a:p>
          <a:p>
            <a:pPr algn="l">
              <a:lnSpc>
                <a:spcPct val="110000"/>
              </a:lnSpc>
              <a:spcAft>
                <a:spcPts val="30"/>
              </a:spcAft>
            </a:pPr>
            <a:r>
              <a:rPr lang="en-US" b="1" dirty="0"/>
              <a:t>Vulnerabilities</a:t>
            </a:r>
            <a:r>
              <a:rPr lang="en-US" dirty="0"/>
              <a:t> are weaknesses within the </a:t>
            </a:r>
            <a:r>
              <a:rPr lang="en-US" sz="2000" dirty="0"/>
              <a:t>infrastructure</a:t>
            </a:r>
            <a:r>
              <a:rPr lang="en-US" dirty="0"/>
              <a:t> that is being protected. This may include weaknesses in systems design, the implementation of security or the system itself, or weakness in an operational process or environment that can be exploited by unauthorized parties.</a:t>
            </a:r>
          </a:p>
          <a:p>
            <a:pPr algn="l">
              <a:lnSpc>
                <a:spcPct val="110000"/>
              </a:lnSpc>
              <a:spcAft>
                <a:spcPts val="30"/>
              </a:spcAft>
            </a:pPr>
            <a:r>
              <a:rPr lang="en-US" b="1" dirty="0"/>
              <a:t>Threat</a:t>
            </a:r>
            <a:r>
              <a:rPr lang="en-US" dirty="0"/>
              <a:t> are any potential actions or events that might leverage or exploit a vulnerability and cause a business or an individual due harm.</a:t>
            </a:r>
          </a:p>
          <a:p>
            <a:pPr algn="l">
              <a:lnSpc>
                <a:spcPct val="110000"/>
              </a:lnSpc>
              <a:spcAft>
                <a:spcPts val="30"/>
              </a:spcAft>
            </a:pPr>
            <a:r>
              <a:rPr lang="en-US" b="1" dirty="0"/>
              <a:t>Risks</a:t>
            </a:r>
            <a:r>
              <a:rPr lang="en-US" dirty="0"/>
              <a:t> are the potential resulting loss or damages that arise from a successful exploitation of a threat.</a:t>
            </a:r>
          </a:p>
          <a:p>
            <a:pPr algn="l">
              <a:lnSpc>
                <a:spcPct val="110000"/>
              </a:lnSpc>
              <a:spcAft>
                <a:spcPts val="30"/>
              </a:spcAft>
            </a:pPr>
            <a:r>
              <a:rPr lang="en-US" b="1" dirty="0"/>
              <a:t>Exploit</a:t>
            </a:r>
            <a:r>
              <a:rPr lang="en-US" dirty="0"/>
              <a:t> refers to a piece of software, a tool, a technique, or a process that takes advantage of a vulnerability that leads to access, privilege escalation, loss of integrity, or denial of service on a computer system.</a:t>
            </a:r>
          </a:p>
        </p:txBody>
      </p:sp>
      <p:sp>
        <p:nvSpPr>
          <p:cNvPr id="4" name="Title 1">
            <a:extLst>
              <a:ext uri="{FF2B5EF4-FFF2-40B4-BE49-F238E27FC236}">
                <a16:creationId xmlns:a16="http://schemas.microsoft.com/office/drawing/2014/main" id="{D00D7AE2-6DAD-389B-7883-9F98627F9303}"/>
              </a:ext>
            </a:extLst>
          </p:cNvPr>
          <p:cNvSpPr txBox="1">
            <a:spLocks/>
          </p:cNvSpPr>
          <p:nvPr/>
        </p:nvSpPr>
        <p:spPr>
          <a:xfrm>
            <a:off x="-1" y="4847220"/>
            <a:ext cx="8999538" cy="628497"/>
          </a:xfrm>
          <a:prstGeom prst="rect">
            <a:avLst/>
          </a:prstGeom>
          <a:solidFill>
            <a:schemeClr val="accent1"/>
          </a:solidFill>
        </p:spPr>
        <p:txBody>
          <a:bodyPr vert="horz" lIns="91440" tIns="45720" rIns="91440" bIns="45720" rtlCol="0" anchor="b">
            <a:noAutofit/>
          </a:bodyPr>
          <a:lstStyle>
            <a:lvl1pPr algn="ctr" defTabSz="899952" rtl="0" eaLnBrk="1" latinLnBrk="0" hangingPunct="1">
              <a:lnSpc>
                <a:spcPct val="90000"/>
              </a:lnSpc>
              <a:spcBef>
                <a:spcPct val="0"/>
              </a:spcBef>
              <a:buNone/>
              <a:defRPr sz="5905" kern="1200">
                <a:solidFill>
                  <a:schemeClr val="tx1"/>
                </a:solidFill>
                <a:latin typeface="+mj-lt"/>
                <a:ea typeface="+mj-ea"/>
                <a:cs typeface="+mj-cs"/>
              </a:defRPr>
            </a:lvl1pPr>
          </a:lstStyle>
          <a:p>
            <a:pPr algn="l"/>
            <a:endParaRPr lang="en-US" sz="4000" b="1" dirty="0">
              <a:solidFill>
                <a:schemeClr val="bg1"/>
              </a:solidFill>
            </a:endParaRPr>
          </a:p>
          <a:p>
            <a:pPr algn="l"/>
            <a:endParaRPr lang="en-US" sz="4000" b="1" dirty="0">
              <a:solidFill>
                <a:schemeClr val="bg1"/>
              </a:solidFill>
            </a:endParaRPr>
          </a:p>
          <a:p>
            <a:pPr algn="l"/>
            <a:endParaRPr lang="en-US" sz="4000" b="1" dirty="0">
              <a:solidFill>
                <a:schemeClr val="bg1"/>
              </a:solidFill>
            </a:endParaRPr>
          </a:p>
          <a:p>
            <a:pPr algn="l"/>
            <a:endParaRPr lang="en-US" sz="4000" b="1" dirty="0">
              <a:solidFill>
                <a:schemeClr val="bg1"/>
              </a:solidFill>
            </a:endParaRPr>
          </a:p>
          <a:p>
            <a:pPr algn="l"/>
            <a:br>
              <a:rPr lang="en-US" sz="4000" b="1" dirty="0">
                <a:solidFill>
                  <a:schemeClr val="bg1"/>
                </a:solidFill>
              </a:rPr>
            </a:br>
            <a:r>
              <a:rPr lang="en-US" sz="4000" b="1" dirty="0">
                <a:solidFill>
                  <a:schemeClr val="bg1"/>
                </a:solidFill>
              </a:rPr>
              <a:t>(2)   Threats, Vulnerabilities, And Attacks</a:t>
            </a:r>
            <a:endParaRPr lang="en-IN" sz="4000" b="1" dirty="0">
              <a:solidFill>
                <a:schemeClr val="bg1"/>
              </a:solidFill>
            </a:endParaRPr>
          </a:p>
        </p:txBody>
      </p:sp>
    </p:spTree>
    <p:extLst>
      <p:ext uri="{BB962C8B-B14F-4D97-AF65-F5344CB8AC3E}">
        <p14:creationId xmlns:p14="http://schemas.microsoft.com/office/powerpoint/2010/main" val="3595224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386E2-BCCE-1461-4521-67CC3D608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61F9A-175B-636E-FDFC-C103EA876E65}"/>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(1)                          EX: Vulnerability</a:t>
            </a:r>
            <a:endParaRPr lang="en-IN" sz="4000" b="1" dirty="0">
              <a:solidFill>
                <a:schemeClr val="bg1"/>
              </a:solidFill>
            </a:endParaRPr>
          </a:p>
        </p:txBody>
      </p:sp>
      <p:sp>
        <p:nvSpPr>
          <p:cNvPr id="3" name="Subtitle 2">
            <a:extLst>
              <a:ext uri="{FF2B5EF4-FFF2-40B4-BE49-F238E27FC236}">
                <a16:creationId xmlns:a16="http://schemas.microsoft.com/office/drawing/2014/main" id="{9B0DD758-F90E-A1F3-AE08-0AC62E6D0E67}"/>
              </a:ext>
            </a:extLst>
          </p:cNvPr>
          <p:cNvSpPr>
            <a:spLocks noGrp="1"/>
          </p:cNvSpPr>
          <p:nvPr>
            <p:ph type="subTitle" idx="1"/>
          </p:nvPr>
        </p:nvSpPr>
        <p:spPr>
          <a:xfrm>
            <a:off x="-1" y="787859"/>
            <a:ext cx="8999538" cy="10011904"/>
          </a:xfrm>
        </p:spPr>
        <p:txBody>
          <a:bodyPr>
            <a:normAutofit/>
          </a:bodyPr>
          <a:lstStyle/>
          <a:p>
            <a:pPr algn="l">
              <a:lnSpc>
                <a:spcPct val="100000"/>
              </a:lnSpc>
              <a:spcAft>
                <a:spcPts val="30"/>
              </a:spcAft>
            </a:pPr>
            <a:r>
              <a:rPr lang="en-US" b="1" dirty="0">
                <a:highlight>
                  <a:srgbClr val="FFFF00"/>
                </a:highlight>
              </a:rPr>
              <a:t>Meltdown and </a:t>
            </a:r>
            <a:r>
              <a:rPr lang="en-US" b="1" dirty="0" err="1">
                <a:highlight>
                  <a:srgbClr val="FFFF00"/>
                </a:highlight>
              </a:rPr>
              <a:t>Spectre</a:t>
            </a:r>
            <a:r>
              <a:rPr lang="en-US" b="1" u="sng" dirty="0"/>
              <a:t> </a:t>
            </a:r>
            <a:r>
              <a:rPr lang="en-US" dirty="0"/>
              <a:t>are two critical security vulnerabilities discovered in modern computer processors that allow attackers to potentially access sensitive data, including passwords and encryption keys, by exploiting </a:t>
            </a:r>
            <a:r>
              <a:rPr lang="en-US" b="1" i="1" dirty="0"/>
              <a:t>how processors handle memory access.</a:t>
            </a:r>
            <a:br>
              <a:rPr lang="en-US" b="1" i="1" dirty="0"/>
            </a:br>
            <a:r>
              <a:rPr lang="en-US" dirty="0"/>
              <a:t>Attackers exploiting these vulnerabilities can read all memory from a given system (Meltdown), as well as data handled by other applications (</a:t>
            </a:r>
            <a:r>
              <a:rPr lang="en-US" dirty="0" err="1"/>
              <a:t>Spectre</a:t>
            </a:r>
            <a:r>
              <a:rPr lang="en-US" dirty="0"/>
              <a:t>). </a:t>
            </a:r>
            <a:br>
              <a:rPr lang="en-US" b="1" i="1" dirty="0"/>
            </a:br>
            <a:r>
              <a:rPr lang="en-US" i="1" dirty="0"/>
              <a:t>1. </a:t>
            </a:r>
            <a:r>
              <a:rPr lang="en-US" b="1" dirty="0"/>
              <a:t>Application Vulnerability</a:t>
            </a:r>
            <a:r>
              <a:rPr lang="en-US" i="1" dirty="0"/>
              <a:t>, </a:t>
            </a:r>
            <a:br>
              <a:rPr lang="en-US" b="1" i="1" dirty="0"/>
            </a:br>
            <a:r>
              <a:rPr lang="en-US" i="1" dirty="0"/>
              <a:t>2.</a:t>
            </a:r>
            <a:r>
              <a:rPr lang="en-US" b="1" i="1" dirty="0"/>
              <a:t> </a:t>
            </a:r>
            <a:r>
              <a:rPr lang="en-IN" b="1" dirty="0"/>
              <a:t>Operating systems</a:t>
            </a:r>
            <a:br>
              <a:rPr lang="en-IN" dirty="0"/>
            </a:br>
            <a:r>
              <a:rPr lang="en-IN" dirty="0"/>
              <a:t>3. </a:t>
            </a:r>
            <a:r>
              <a:rPr lang="en-IN" b="1" dirty="0"/>
              <a:t>Hardware (Meltdown and Spectre)</a:t>
            </a:r>
            <a:br>
              <a:rPr lang="en-IN" dirty="0"/>
            </a:br>
            <a:r>
              <a:rPr lang="en-IN" dirty="0"/>
              <a:t>4. </a:t>
            </a:r>
            <a:r>
              <a:rPr lang="en-IN" b="1" dirty="0"/>
              <a:t>Misconfiguration:</a:t>
            </a:r>
            <a:r>
              <a:rPr lang="en-IN" dirty="0"/>
              <a:t> (open ports, vulnerable services, misconfigured </a:t>
            </a:r>
            <a:br>
              <a:rPr lang="en-IN" dirty="0"/>
            </a:br>
            <a:r>
              <a:rPr lang="en-IN" dirty="0"/>
              <a:t>     network devices)</a:t>
            </a:r>
            <a:br>
              <a:rPr lang="en-US" b="1" i="1" dirty="0"/>
            </a:br>
            <a:r>
              <a:rPr lang="en-US" dirty="0"/>
              <a:t>5. </a:t>
            </a:r>
            <a:r>
              <a:rPr lang="en-US" b="1" dirty="0" err="1"/>
              <a:t>Shrinkwrap</a:t>
            </a:r>
            <a:r>
              <a:rPr lang="en-US" b="1" dirty="0"/>
              <a:t> software:</a:t>
            </a:r>
            <a:r>
              <a:rPr lang="en-US" dirty="0"/>
              <a:t> This is the application or executable file that is </a:t>
            </a:r>
            <a:br>
              <a:rPr lang="en-US" dirty="0"/>
            </a:br>
            <a:r>
              <a:rPr lang="en-US" dirty="0"/>
              <a:t>    run on a workstation or server. When installed on a device, it can have </a:t>
            </a:r>
            <a:br>
              <a:rPr lang="en-US" dirty="0"/>
            </a:br>
            <a:r>
              <a:rPr lang="en-US" dirty="0"/>
              <a:t>    tons of functionality or sample scripts or code available</a:t>
            </a:r>
          </a:p>
          <a:p>
            <a:pPr algn="l">
              <a:lnSpc>
                <a:spcPct val="100000"/>
              </a:lnSpc>
            </a:pPr>
            <a:endParaRPr lang="en-US" b="1" i="1" dirty="0"/>
          </a:p>
          <a:p>
            <a:pPr algn="l">
              <a:lnSpc>
                <a:spcPct val="100000"/>
              </a:lnSpc>
            </a:pPr>
            <a:endParaRPr lang="en-US" b="1" i="1" dirty="0"/>
          </a:p>
        </p:txBody>
      </p:sp>
    </p:spTree>
    <p:extLst>
      <p:ext uri="{BB962C8B-B14F-4D97-AF65-F5344CB8AC3E}">
        <p14:creationId xmlns:p14="http://schemas.microsoft.com/office/powerpoint/2010/main" val="424525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EF2D26-624B-195B-8E44-E9BFD7D48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33BCF-AF60-D36C-1D5C-9923CC6BA3C9}"/>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Threats</a:t>
            </a:r>
            <a:endParaRPr lang="en-IN" sz="4000" b="1" dirty="0">
              <a:solidFill>
                <a:schemeClr val="bg1"/>
              </a:solidFill>
            </a:endParaRPr>
          </a:p>
        </p:txBody>
      </p:sp>
      <p:sp>
        <p:nvSpPr>
          <p:cNvPr id="3" name="Subtitle 2">
            <a:extLst>
              <a:ext uri="{FF2B5EF4-FFF2-40B4-BE49-F238E27FC236}">
                <a16:creationId xmlns:a16="http://schemas.microsoft.com/office/drawing/2014/main" id="{6E9450A9-D0A2-BE8F-53B5-C931320EF78C}"/>
              </a:ext>
            </a:extLst>
          </p:cNvPr>
          <p:cNvSpPr>
            <a:spLocks noGrp="1"/>
          </p:cNvSpPr>
          <p:nvPr>
            <p:ph type="subTitle" idx="1"/>
          </p:nvPr>
        </p:nvSpPr>
        <p:spPr>
          <a:xfrm>
            <a:off x="-1" y="787859"/>
            <a:ext cx="8999538" cy="10011904"/>
          </a:xfrm>
        </p:spPr>
        <p:txBody>
          <a:bodyPr>
            <a:normAutofit lnSpcReduction="10000"/>
          </a:bodyPr>
          <a:lstStyle/>
          <a:p>
            <a:pPr algn="l">
              <a:lnSpc>
                <a:spcPct val="100000"/>
              </a:lnSpc>
            </a:pPr>
            <a:r>
              <a:rPr lang="en-US" b="1" i="1" dirty="0">
                <a:highlight>
                  <a:srgbClr val="FFFF00"/>
                </a:highlight>
              </a:rPr>
              <a:t>According to cybersecurity </a:t>
            </a:r>
            <a:r>
              <a:rPr lang="en-US" b="1" dirty="0">
                <a:highlight>
                  <a:srgbClr val="FFFF00"/>
                </a:highlight>
              </a:rPr>
              <a:t>threats</a:t>
            </a:r>
            <a:r>
              <a:rPr lang="en-US" dirty="0"/>
              <a:t> can be categorized as events that can affect the confidentiality, integrity, or availability of the organization’s assets. These threats can result in destruction, disclosure, modification, corruption of data, or denial of service.</a:t>
            </a:r>
            <a:endParaRPr lang="en-US" b="1" i="1" dirty="0"/>
          </a:p>
          <a:p>
            <a:pPr algn="l">
              <a:lnSpc>
                <a:spcPct val="100000"/>
              </a:lnSpc>
            </a:pPr>
            <a:r>
              <a:rPr lang="en-US" b="1" i="1" dirty="0">
                <a:highlight>
                  <a:srgbClr val="FFFF00"/>
                </a:highlight>
              </a:rPr>
              <a:t>Different </a:t>
            </a:r>
            <a:r>
              <a:rPr lang="en-US" b="1" dirty="0">
                <a:highlight>
                  <a:srgbClr val="FFFF00"/>
                </a:highlight>
              </a:rPr>
              <a:t>types of threats are:</a:t>
            </a:r>
          </a:p>
          <a:p>
            <a:pPr algn="l">
              <a:lnSpc>
                <a:spcPct val="100000"/>
              </a:lnSpc>
            </a:pPr>
            <a:r>
              <a:rPr lang="en-US" b="1" dirty="0" err="1"/>
              <a:t>i</a:t>
            </a:r>
            <a:r>
              <a:rPr lang="en-US" b="1" dirty="0"/>
              <a:t>. Natural Disasters and Weather Problems</a:t>
            </a:r>
            <a:br>
              <a:rPr lang="en-US" b="1" dirty="0"/>
            </a:br>
            <a:r>
              <a:rPr lang="en-US" b="1" dirty="0"/>
              <a:t>    </a:t>
            </a:r>
            <a:r>
              <a:rPr lang="en-US" dirty="0"/>
              <a:t>These are problems caused by nature — like:</a:t>
            </a:r>
          </a:p>
          <a:p>
            <a:pPr algn="l">
              <a:lnSpc>
                <a:spcPct val="100000"/>
              </a:lnSpc>
              <a:spcBef>
                <a:spcPts val="20"/>
              </a:spcBef>
            </a:pPr>
            <a:r>
              <a:rPr lang="en-US" dirty="0"/>
              <a:t>    • Hurricanes</a:t>
            </a:r>
          </a:p>
          <a:p>
            <a:pPr marL="266700" algn="l">
              <a:lnSpc>
                <a:spcPct val="100000"/>
              </a:lnSpc>
              <a:spcBef>
                <a:spcPts val="20"/>
              </a:spcBef>
            </a:pPr>
            <a:r>
              <a:rPr lang="en-US" dirty="0"/>
              <a:t>• Storms</a:t>
            </a:r>
          </a:p>
          <a:p>
            <a:pPr marL="266700" algn="l">
              <a:lnSpc>
                <a:spcPct val="100000"/>
              </a:lnSpc>
              <a:spcBef>
                <a:spcPts val="20"/>
              </a:spcBef>
            </a:pPr>
            <a:r>
              <a:rPr lang="en-US" dirty="0"/>
              <a:t>• Floods</a:t>
            </a:r>
          </a:p>
          <a:p>
            <a:pPr marL="266700" algn="l">
              <a:lnSpc>
                <a:spcPct val="100000"/>
              </a:lnSpc>
              <a:spcBef>
                <a:spcPts val="20"/>
              </a:spcBef>
            </a:pPr>
            <a:r>
              <a:rPr lang="en-US" dirty="0"/>
              <a:t>• Fires</a:t>
            </a:r>
          </a:p>
          <a:p>
            <a:pPr marL="266700" algn="l">
              <a:lnSpc>
                <a:spcPct val="100000"/>
              </a:lnSpc>
              <a:spcBef>
                <a:spcPts val="20"/>
              </a:spcBef>
            </a:pPr>
            <a:r>
              <a:rPr lang="en-US" dirty="0"/>
              <a:t>• Earthquakes</a:t>
            </a:r>
          </a:p>
          <a:p>
            <a:pPr marL="266700" algn="l">
              <a:lnSpc>
                <a:spcPct val="100000"/>
              </a:lnSpc>
              <a:spcBef>
                <a:spcPts val="20"/>
              </a:spcBef>
            </a:pPr>
            <a:r>
              <a:rPr lang="en-US" dirty="0"/>
              <a:t>• They can damage buildings, cut power, or shut down systems.</a:t>
            </a:r>
          </a:p>
          <a:p>
            <a:pPr marL="266700" indent="-266700" algn="l">
              <a:lnSpc>
                <a:spcPct val="100000"/>
              </a:lnSpc>
              <a:spcBef>
                <a:spcPts val="20"/>
              </a:spcBef>
            </a:pPr>
            <a:r>
              <a:rPr lang="en-US" b="1" dirty="0"/>
              <a:t>ii. Hacker Attacks</a:t>
            </a:r>
            <a:br>
              <a:rPr lang="en-US" b="1" dirty="0"/>
            </a:br>
            <a:r>
              <a:rPr lang="en-US" dirty="0"/>
              <a:t>This happens when someone (inside or outside the company) breaks into a computer system on purpose — without permission — to steal or damage data.</a:t>
            </a:r>
          </a:p>
          <a:p>
            <a:pPr algn="l">
              <a:lnSpc>
                <a:spcPct val="100000"/>
              </a:lnSpc>
            </a:pPr>
            <a:r>
              <a:rPr lang="en-US" b="1" dirty="0"/>
              <a:t>iii. Cyberattacks on Important places</a:t>
            </a:r>
            <a:br>
              <a:rPr lang="en-US" b="1" dirty="0"/>
            </a:br>
            <a:r>
              <a:rPr lang="en-US" dirty="0"/>
              <a:t>    These attacks target big and important systems, like:</a:t>
            </a:r>
            <a:br>
              <a:rPr lang="en-US" dirty="0"/>
            </a:br>
            <a:r>
              <a:rPr lang="en-US" dirty="0"/>
              <a:t>    • Water plants                                        • Power plants</a:t>
            </a:r>
            <a:br>
              <a:rPr lang="en-US" dirty="0"/>
            </a:br>
            <a:r>
              <a:rPr lang="en-US" dirty="0"/>
              <a:t>    • Gas or Oil refineries                            • Nuclear power stations</a:t>
            </a:r>
            <a:br>
              <a:rPr lang="en-US" dirty="0"/>
            </a:br>
            <a:r>
              <a:rPr lang="en-US" dirty="0"/>
              <a:t>    </a:t>
            </a:r>
            <a:r>
              <a:rPr lang="en-US" dirty="0">
                <a:highlight>
                  <a:srgbClr val="00FF00"/>
                </a:highlight>
              </a:rPr>
              <a:t>Ex</a:t>
            </a:r>
            <a:r>
              <a:rPr lang="en-US" dirty="0"/>
              <a:t>: Stuxnet, a special virus that attacked power plants.</a:t>
            </a:r>
          </a:p>
          <a:p>
            <a:pPr marL="266700" indent="-266700" algn="l">
              <a:lnSpc>
                <a:spcPct val="100000"/>
              </a:lnSpc>
            </a:pPr>
            <a:r>
              <a:rPr lang="en-US" b="1" dirty="0"/>
              <a:t>iv. Viruses and Malware</a:t>
            </a:r>
            <a:br>
              <a:rPr lang="en-US" b="1" dirty="0"/>
            </a:br>
            <a:r>
              <a:rPr lang="en-US" dirty="0"/>
              <a:t>An entire category of software tools that are malicious and are designed to damage or destroy a system or data.</a:t>
            </a:r>
            <a:br>
              <a:rPr lang="en-US" dirty="0"/>
            </a:br>
            <a:r>
              <a:rPr lang="en-US" dirty="0"/>
              <a:t>• Destroy computers or phones</a:t>
            </a:r>
          </a:p>
          <a:p>
            <a:pPr indent="-266700" algn="l">
              <a:lnSpc>
                <a:spcPct val="100000"/>
              </a:lnSpc>
              <a:spcBef>
                <a:spcPts val="20"/>
              </a:spcBef>
            </a:pPr>
            <a:r>
              <a:rPr lang="en-US" dirty="0"/>
              <a:t>    • Steal data </a:t>
            </a:r>
          </a:p>
          <a:p>
            <a:pPr indent="-266700" algn="l">
              <a:lnSpc>
                <a:spcPct val="100000"/>
              </a:lnSpc>
              <a:spcBef>
                <a:spcPts val="20"/>
              </a:spcBef>
            </a:pPr>
            <a:r>
              <a:rPr lang="en-US" dirty="0"/>
              <a:t>    • Break systems</a:t>
            </a:r>
          </a:p>
          <a:p>
            <a:pPr indent="-266700" algn="l">
              <a:lnSpc>
                <a:spcPct val="100000"/>
              </a:lnSpc>
              <a:spcBef>
                <a:spcPts val="20"/>
              </a:spcBef>
            </a:pPr>
            <a:r>
              <a:rPr lang="en-US" dirty="0"/>
              <a:t>    </a:t>
            </a:r>
            <a:r>
              <a:rPr lang="en-US" dirty="0">
                <a:highlight>
                  <a:srgbClr val="00FF00"/>
                </a:highlight>
              </a:rPr>
              <a:t>Ex:</a:t>
            </a:r>
            <a:r>
              <a:rPr lang="en-US" dirty="0"/>
              <a:t> They can spread through emails, files, or websites.</a:t>
            </a:r>
          </a:p>
        </p:txBody>
      </p:sp>
    </p:spTree>
    <p:extLst>
      <p:ext uri="{BB962C8B-B14F-4D97-AF65-F5344CB8AC3E}">
        <p14:creationId xmlns:p14="http://schemas.microsoft.com/office/powerpoint/2010/main" val="247133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9F8B17-F1D3-99C8-E0B5-75F2BA71A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8A4EF-E68D-9665-ED32-E5166E7F1735}"/>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Threats</a:t>
            </a:r>
            <a:endParaRPr lang="en-IN" sz="4000" b="1" dirty="0">
              <a:solidFill>
                <a:schemeClr val="bg1"/>
              </a:solidFill>
            </a:endParaRPr>
          </a:p>
        </p:txBody>
      </p:sp>
      <p:sp>
        <p:nvSpPr>
          <p:cNvPr id="3" name="Subtitle 2">
            <a:extLst>
              <a:ext uri="{FF2B5EF4-FFF2-40B4-BE49-F238E27FC236}">
                <a16:creationId xmlns:a16="http://schemas.microsoft.com/office/drawing/2014/main" id="{7BF52456-A2EB-78D1-35E6-7592D1BD27EE}"/>
              </a:ext>
            </a:extLst>
          </p:cNvPr>
          <p:cNvSpPr>
            <a:spLocks noGrp="1"/>
          </p:cNvSpPr>
          <p:nvPr>
            <p:ph type="subTitle" idx="1"/>
          </p:nvPr>
        </p:nvSpPr>
        <p:spPr>
          <a:xfrm>
            <a:off x="-1" y="787859"/>
            <a:ext cx="8999538" cy="10011904"/>
          </a:xfrm>
        </p:spPr>
        <p:txBody>
          <a:bodyPr>
            <a:normAutofit/>
          </a:bodyPr>
          <a:lstStyle/>
          <a:p>
            <a:pPr marL="266700" indent="-266700" algn="l"/>
            <a:r>
              <a:rPr lang="en-US" b="1" dirty="0"/>
              <a:t>v. Leaking secret information (disclosure confidential information)</a:t>
            </a:r>
            <a:br>
              <a:rPr lang="en-US" b="1" dirty="0"/>
            </a:br>
            <a:r>
              <a:rPr lang="en-US" dirty="0"/>
              <a:t>If private or secret info (like customer names, ID numbers, or business plans) gets out:</a:t>
            </a:r>
            <a:br>
              <a:rPr lang="en-US" dirty="0"/>
            </a:br>
            <a:r>
              <a:rPr lang="en-US" dirty="0"/>
              <a:t>• The company could lose money</a:t>
            </a:r>
            <a:br>
              <a:rPr lang="en-US" dirty="0"/>
            </a:br>
            <a:r>
              <a:rPr lang="en-US" dirty="0"/>
              <a:t>• Get sued</a:t>
            </a:r>
            <a:br>
              <a:rPr lang="en-US" dirty="0"/>
            </a:br>
            <a:r>
              <a:rPr lang="en-US" dirty="0"/>
              <a:t>• Or lose customer trust</a:t>
            </a:r>
            <a:br>
              <a:rPr lang="en-US" dirty="0"/>
            </a:br>
            <a:r>
              <a:rPr lang="en-US" dirty="0">
                <a:highlight>
                  <a:srgbClr val="00FF00"/>
                </a:highlight>
              </a:rPr>
              <a:t>Example:</a:t>
            </a:r>
            <a:r>
              <a:rPr lang="en-US" dirty="0"/>
              <a:t> Someone stealing source code or selling it to a rival company. </a:t>
            </a:r>
          </a:p>
          <a:p>
            <a:pPr marL="266700" indent="-266700" algn="l"/>
            <a:r>
              <a:rPr lang="en-US" b="1" dirty="0"/>
              <a:t>vi. DOS and DDOS attacks</a:t>
            </a:r>
            <a:br>
              <a:rPr lang="en-US" b="1" dirty="0"/>
            </a:br>
            <a:r>
              <a:rPr lang="en-US" dirty="0"/>
              <a:t>Denial of Service (DoS) attack is when someone tries to make a website or server stop working by sending it a huge amount of useless traffic (fake requests).</a:t>
            </a:r>
          </a:p>
          <a:p>
            <a:pPr marL="266700" indent="-266700" algn="l"/>
            <a:r>
              <a:rPr lang="en-US" b="1" dirty="0"/>
              <a:t>    </a:t>
            </a:r>
            <a:r>
              <a:rPr lang="en-US" dirty="0"/>
              <a:t>Today, attackers use botnets — which are groups of many infected computers — to do this.</a:t>
            </a:r>
          </a:p>
          <a:p>
            <a:pPr marL="266700" indent="-266700" algn="l"/>
            <a:r>
              <a:rPr lang="en-US" dirty="0"/>
              <a:t>    In the past, they used tools like:</a:t>
            </a:r>
            <a:br>
              <a:rPr lang="en-US" dirty="0"/>
            </a:br>
            <a:r>
              <a:rPr lang="en-US" dirty="0"/>
              <a:t>• Ping of Death</a:t>
            </a:r>
            <a:br>
              <a:rPr lang="en-US" dirty="0"/>
            </a:br>
            <a:r>
              <a:rPr lang="en-US" dirty="0"/>
              <a:t>• Teardrop</a:t>
            </a:r>
          </a:p>
          <a:p>
            <a:pPr marL="266700" indent="-266700" algn="l"/>
            <a:endParaRPr lang="en-US" dirty="0"/>
          </a:p>
        </p:txBody>
      </p:sp>
    </p:spTree>
    <p:extLst>
      <p:ext uri="{BB962C8B-B14F-4D97-AF65-F5344CB8AC3E}">
        <p14:creationId xmlns:p14="http://schemas.microsoft.com/office/powerpoint/2010/main" val="3655386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C789FB-F8DE-B472-C3AA-E086F38C3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3DEF7-6E29-E552-667F-3B79B4477D56}"/>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Threat Actors</a:t>
            </a:r>
            <a:endParaRPr lang="en-IN" sz="4000" b="1" dirty="0">
              <a:solidFill>
                <a:schemeClr val="bg1"/>
              </a:solidFill>
            </a:endParaRPr>
          </a:p>
        </p:txBody>
      </p:sp>
      <p:sp>
        <p:nvSpPr>
          <p:cNvPr id="3" name="Subtitle 2">
            <a:extLst>
              <a:ext uri="{FF2B5EF4-FFF2-40B4-BE49-F238E27FC236}">
                <a16:creationId xmlns:a16="http://schemas.microsoft.com/office/drawing/2014/main" id="{419DDAFB-802D-37F8-DFE2-8E1866C9C4BE}"/>
              </a:ext>
            </a:extLst>
          </p:cNvPr>
          <p:cNvSpPr>
            <a:spLocks noGrp="1"/>
          </p:cNvSpPr>
          <p:nvPr>
            <p:ph type="subTitle" idx="1"/>
          </p:nvPr>
        </p:nvSpPr>
        <p:spPr>
          <a:xfrm>
            <a:off x="-1" y="787859"/>
            <a:ext cx="8999538" cy="10011904"/>
          </a:xfrm>
        </p:spPr>
        <p:txBody>
          <a:bodyPr>
            <a:normAutofit/>
          </a:bodyPr>
          <a:lstStyle/>
          <a:p>
            <a:pPr algn="l">
              <a:spcAft>
                <a:spcPts val="30"/>
              </a:spcAft>
            </a:pPr>
            <a:r>
              <a:rPr lang="en-US" dirty="0">
                <a:highlight>
                  <a:srgbClr val="FFFF00"/>
                </a:highlight>
              </a:rPr>
              <a:t>Threat actors</a:t>
            </a:r>
            <a:r>
              <a:rPr lang="en-US" dirty="0"/>
              <a:t> are people (or groups of people) who cause a cyber attack or do something harmful to a computer system.</a:t>
            </a:r>
            <a:br>
              <a:rPr lang="en-US" dirty="0"/>
            </a:br>
            <a:r>
              <a:rPr lang="en-US" dirty="0"/>
              <a:t>They are the ones responsible for the attack or security problem, and their actions can hurt a person or a company.</a:t>
            </a:r>
          </a:p>
          <a:p>
            <a:pPr algn="l">
              <a:spcBef>
                <a:spcPts val="0"/>
              </a:spcBef>
              <a:spcAft>
                <a:spcPts val="30"/>
              </a:spcAft>
            </a:pPr>
            <a:r>
              <a:rPr lang="en-US" dirty="0"/>
              <a:t>There are several types of threat actors:</a:t>
            </a:r>
            <a:br>
              <a:rPr lang="en-US" dirty="0"/>
            </a:br>
            <a:r>
              <a:rPr lang="en-US" b="1" dirty="0"/>
              <a:t>Script kiddies: </a:t>
            </a:r>
            <a:r>
              <a:rPr lang="en-US" dirty="0"/>
              <a:t>People who use ready-made hacking tools because they don't know how to make their own script.</a:t>
            </a:r>
          </a:p>
          <a:p>
            <a:pPr algn="l">
              <a:spcBef>
                <a:spcPts val="0"/>
              </a:spcBef>
              <a:spcAft>
                <a:spcPts val="30"/>
              </a:spcAft>
            </a:pPr>
            <a:r>
              <a:rPr lang="en-US" b="1" dirty="0"/>
              <a:t>Organized crime groups: </a:t>
            </a:r>
            <a:r>
              <a:rPr lang="en-US" dirty="0"/>
              <a:t>Criminals who hack to steal money, data, or scam people.</a:t>
            </a:r>
          </a:p>
          <a:p>
            <a:pPr algn="l">
              <a:spcBef>
                <a:spcPts val="0"/>
              </a:spcBef>
              <a:spcAft>
                <a:spcPts val="30"/>
              </a:spcAft>
            </a:pPr>
            <a:r>
              <a:rPr lang="en-US" b="1" dirty="0"/>
              <a:t>State sponsors and governments: </a:t>
            </a:r>
            <a:r>
              <a:rPr lang="en-US" dirty="0"/>
              <a:t>Countries that hack to steal important information or secrets.</a:t>
            </a:r>
          </a:p>
          <a:p>
            <a:pPr algn="l">
              <a:spcBef>
                <a:spcPts val="0"/>
              </a:spcBef>
              <a:spcAft>
                <a:spcPts val="30"/>
              </a:spcAft>
            </a:pPr>
            <a:r>
              <a:rPr lang="en-US" b="1" dirty="0"/>
              <a:t>Hacktivists: </a:t>
            </a:r>
            <a:r>
              <a:rPr lang="en-US" dirty="0"/>
              <a:t>Hackers who attack systems to support a social or political cause.</a:t>
            </a:r>
          </a:p>
          <a:p>
            <a:pPr algn="l">
              <a:spcBef>
                <a:spcPts val="0"/>
              </a:spcBef>
              <a:spcAft>
                <a:spcPts val="30"/>
              </a:spcAft>
            </a:pPr>
            <a:r>
              <a:rPr lang="en-US" b="1" dirty="0"/>
              <a:t>Terrorist groups: </a:t>
            </a:r>
            <a:r>
              <a:rPr lang="en-US" dirty="0"/>
              <a:t>Groups that use hacking to support their political or religious goals.</a:t>
            </a:r>
          </a:p>
          <a:p>
            <a:pPr algn="l">
              <a:spcBef>
                <a:spcPts val="0"/>
              </a:spcBef>
              <a:spcAft>
                <a:spcPts val="30"/>
              </a:spcAft>
            </a:pPr>
            <a:endParaRPr lang="en-US" dirty="0"/>
          </a:p>
          <a:p>
            <a:pPr algn="l">
              <a:spcBef>
                <a:spcPts val="0"/>
              </a:spcBef>
              <a:spcAft>
                <a:spcPts val="30"/>
              </a:spcAft>
            </a:pPr>
            <a:endParaRPr lang="en-US" dirty="0"/>
          </a:p>
          <a:p>
            <a:pPr algn="l">
              <a:spcBef>
                <a:spcPts val="0"/>
              </a:spcBef>
              <a:spcAft>
                <a:spcPts val="30"/>
              </a:spcAft>
            </a:pPr>
            <a:endParaRPr lang="en-US" dirty="0"/>
          </a:p>
          <a:p>
            <a:pPr algn="l">
              <a:spcBef>
                <a:spcPts val="0"/>
              </a:spcBef>
              <a:spcAft>
                <a:spcPts val="30"/>
              </a:spcAft>
            </a:pPr>
            <a:r>
              <a:rPr lang="en-US" b="1" dirty="0"/>
              <a:t>White hat hackers </a:t>
            </a:r>
            <a:r>
              <a:rPr lang="en-US" dirty="0"/>
              <a:t>are ethical hackers who help protect systems by finding weaknesses.</a:t>
            </a:r>
          </a:p>
          <a:p>
            <a:pPr algn="l">
              <a:spcBef>
                <a:spcPts val="0"/>
              </a:spcBef>
              <a:spcAft>
                <a:spcPts val="30"/>
              </a:spcAft>
            </a:pPr>
            <a:r>
              <a:rPr lang="en-US" b="1" dirty="0"/>
              <a:t>Black hat hackers</a:t>
            </a:r>
            <a:r>
              <a:rPr lang="en-US" dirty="0"/>
              <a:t> are criminals who hack for illegal purposes.</a:t>
            </a:r>
          </a:p>
          <a:p>
            <a:pPr algn="l">
              <a:spcBef>
                <a:spcPts val="0"/>
              </a:spcBef>
              <a:spcAft>
                <a:spcPts val="30"/>
              </a:spcAft>
            </a:pPr>
            <a:r>
              <a:rPr lang="en-US" b="1" dirty="0"/>
              <a:t>Gray hat hackers </a:t>
            </a:r>
            <a:r>
              <a:rPr lang="en-US" dirty="0"/>
              <a:t>are in between — they mostly follow the law but sometimes break rules, making them untrustworthy for security jobs.</a:t>
            </a:r>
          </a:p>
        </p:txBody>
      </p:sp>
      <p:sp>
        <p:nvSpPr>
          <p:cNvPr id="4" name="Title 1">
            <a:extLst>
              <a:ext uri="{FF2B5EF4-FFF2-40B4-BE49-F238E27FC236}">
                <a16:creationId xmlns:a16="http://schemas.microsoft.com/office/drawing/2014/main" id="{CD080965-E3CF-12F9-D5DF-1B3C902573C6}"/>
              </a:ext>
            </a:extLst>
          </p:cNvPr>
          <p:cNvSpPr txBox="1">
            <a:spLocks/>
          </p:cNvSpPr>
          <p:nvPr/>
        </p:nvSpPr>
        <p:spPr>
          <a:xfrm>
            <a:off x="-1" y="5943600"/>
            <a:ext cx="8999538" cy="628497"/>
          </a:xfrm>
          <a:prstGeom prst="rect">
            <a:avLst/>
          </a:prstGeom>
          <a:solidFill>
            <a:schemeClr val="accent1"/>
          </a:solidFill>
        </p:spPr>
        <p:txBody>
          <a:bodyPr vert="horz" lIns="91440" tIns="45720" rIns="91440" bIns="45720" rtlCol="0" anchor="b">
            <a:noAutofit/>
          </a:bodyPr>
          <a:lstStyle>
            <a:lvl1pPr algn="ctr" defTabSz="899952" rtl="0" eaLnBrk="1" latinLnBrk="0" hangingPunct="1">
              <a:lnSpc>
                <a:spcPct val="90000"/>
              </a:lnSpc>
              <a:spcBef>
                <a:spcPct val="0"/>
              </a:spcBef>
              <a:buNone/>
              <a:defRPr sz="5905" kern="1200">
                <a:solidFill>
                  <a:schemeClr val="tx1"/>
                </a:solidFill>
                <a:latin typeface="+mj-lt"/>
                <a:ea typeface="+mj-ea"/>
                <a:cs typeface="+mj-cs"/>
              </a:defRPr>
            </a:lvl1pPr>
          </a:lstStyle>
          <a:p>
            <a:pPr algn="l"/>
            <a:br>
              <a:rPr lang="en-US" sz="4000" b="1" dirty="0">
                <a:solidFill>
                  <a:schemeClr val="bg1"/>
                </a:solidFill>
              </a:rPr>
            </a:br>
            <a:r>
              <a:rPr lang="en-US" sz="4000" b="1" dirty="0">
                <a:solidFill>
                  <a:schemeClr val="bg1"/>
                </a:solidFill>
              </a:rPr>
              <a:t>			    Hacker types</a:t>
            </a:r>
            <a:endParaRPr lang="en-IN" sz="4000" b="1" dirty="0">
              <a:solidFill>
                <a:schemeClr val="bg1"/>
              </a:solidFill>
            </a:endParaRPr>
          </a:p>
        </p:txBody>
      </p:sp>
    </p:spTree>
    <p:extLst>
      <p:ext uri="{BB962C8B-B14F-4D97-AF65-F5344CB8AC3E}">
        <p14:creationId xmlns:p14="http://schemas.microsoft.com/office/powerpoint/2010/main" val="2147601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334AE5-BE15-CB42-62C2-C51F37976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8FBCC-A3C9-94B0-8E2F-B037AF2C2AB2}"/>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Common Threats</a:t>
            </a:r>
            <a:endParaRPr lang="en-IN" sz="4000" b="1" dirty="0">
              <a:solidFill>
                <a:schemeClr val="bg1"/>
              </a:solidFill>
            </a:endParaRPr>
          </a:p>
        </p:txBody>
      </p:sp>
      <p:sp>
        <p:nvSpPr>
          <p:cNvPr id="3" name="Subtitle 2">
            <a:extLst>
              <a:ext uri="{FF2B5EF4-FFF2-40B4-BE49-F238E27FC236}">
                <a16:creationId xmlns:a16="http://schemas.microsoft.com/office/drawing/2014/main" id="{8C4401DD-0DD2-443E-A17F-CF1A07586223}"/>
              </a:ext>
            </a:extLst>
          </p:cNvPr>
          <p:cNvSpPr>
            <a:spLocks noGrp="1"/>
          </p:cNvSpPr>
          <p:nvPr>
            <p:ph type="subTitle" idx="1"/>
          </p:nvPr>
        </p:nvSpPr>
        <p:spPr>
          <a:xfrm>
            <a:off x="-1" y="787859"/>
            <a:ext cx="8999538" cy="10011904"/>
          </a:xfrm>
        </p:spPr>
        <p:txBody>
          <a:bodyPr>
            <a:normAutofit/>
          </a:bodyPr>
          <a:lstStyle/>
          <a:p>
            <a:pPr algn="l">
              <a:spcAft>
                <a:spcPts val="30"/>
              </a:spcAft>
            </a:pPr>
            <a:r>
              <a:rPr lang="en-US" dirty="0"/>
              <a:t>Malware – full form is Malicious Software</a:t>
            </a:r>
            <a:br>
              <a:rPr lang="en-US" dirty="0"/>
            </a:br>
            <a:r>
              <a:rPr lang="en-US" dirty="0"/>
              <a:t>includes viruses, ransomware, rootkits, worms, Trojan horses, backdoors, covert channel tools, spyware, and advanced persistent threats (APTs). Malware can cause a wide range of damage, from displaying messages, to making programs work erratically, encrypting files and asking for a ransom to decrypt them, to even to destroying data or hard drives. </a:t>
            </a:r>
            <a:br>
              <a:rPr lang="en-US" dirty="0"/>
            </a:br>
            <a:br>
              <a:rPr lang="en-US" dirty="0"/>
            </a:br>
            <a:r>
              <a:rPr lang="en-US" b="1" dirty="0">
                <a:solidFill>
                  <a:srgbClr val="FF0000"/>
                </a:solidFill>
              </a:rPr>
              <a:t>Viruses and Worms:</a:t>
            </a:r>
            <a:br>
              <a:rPr lang="en-US" b="1" dirty="0">
                <a:solidFill>
                  <a:srgbClr val="FF0000"/>
                </a:solidFill>
              </a:rPr>
            </a:br>
            <a:r>
              <a:rPr lang="en-US" b="1" dirty="0">
                <a:solidFill>
                  <a:srgbClr val="FF0000"/>
                </a:solidFill>
              </a:rPr>
              <a:t>        </a:t>
            </a:r>
            <a:r>
              <a:rPr lang="en-US" dirty="0"/>
              <a:t>One thing that makes </a:t>
            </a:r>
            <a:r>
              <a:rPr lang="en-US" b="1" dirty="0"/>
              <a:t>viruses</a:t>
            </a:r>
            <a:r>
              <a:rPr lang="en-US" dirty="0"/>
              <a:t> unique is that it needs a host program or file to infect but a worms are self-contained program that can replicate independently, they don’t need to attach themselves to other files to spread. When a worm executes, it can replicate again and infect even more systems. </a:t>
            </a:r>
            <a:br>
              <a:rPr lang="en-US" dirty="0"/>
            </a:br>
            <a:r>
              <a:rPr lang="en-US" dirty="0"/>
              <a:t>         A worm, for instance, can send an email to every person in your address book and then repeatedly do this from the computer of each person it infects.  A denial of service might occur very fast as a result of that enormous volume of traffic.</a:t>
            </a:r>
            <a:br>
              <a:rPr lang="en-US" dirty="0"/>
            </a:br>
            <a:r>
              <a:rPr lang="en-US" b="1" dirty="0">
                <a:solidFill>
                  <a:srgbClr val="FF0000"/>
                </a:solidFill>
              </a:rPr>
              <a:t>Spyware:</a:t>
            </a:r>
            <a:br>
              <a:rPr lang="en-US" b="1" dirty="0">
                <a:solidFill>
                  <a:srgbClr val="FF0000"/>
                </a:solidFill>
              </a:rPr>
            </a:br>
            <a:r>
              <a:rPr lang="en-US" dirty="0"/>
              <a:t>Spyware is closely related to viruses and worms. Spyware is considered another type of malicious software. In many ways, spyware is similar to a Trojan because most users don’t know that the program has been installed, and the program hides itself in an obscure location. Spyware steals information from the user and also eats up bandwidth. If that’s not enough, spyware can also redirect your web traffic and flood you with annoying pop-ups..</a:t>
            </a:r>
          </a:p>
          <a:p>
            <a:pPr algn="just">
              <a:spcAft>
                <a:spcPts val="30"/>
              </a:spcAft>
            </a:pPr>
            <a:endParaRPr lang="en-US" b="1" dirty="0">
              <a:solidFill>
                <a:srgbClr val="FF0000"/>
              </a:solidFill>
            </a:endParaRPr>
          </a:p>
        </p:txBody>
      </p:sp>
    </p:spTree>
    <p:extLst>
      <p:ext uri="{BB962C8B-B14F-4D97-AF65-F5344CB8AC3E}">
        <p14:creationId xmlns:p14="http://schemas.microsoft.com/office/powerpoint/2010/main" val="975792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4B525E-8CCC-CB36-81BE-F4D98D368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C96FD-D369-1B49-BECD-7C651B1E3917}"/>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Common Threats</a:t>
            </a:r>
            <a:endParaRPr lang="en-IN" sz="4000" b="1" dirty="0">
              <a:solidFill>
                <a:schemeClr val="bg1"/>
              </a:solidFill>
            </a:endParaRPr>
          </a:p>
        </p:txBody>
      </p:sp>
      <p:sp>
        <p:nvSpPr>
          <p:cNvPr id="3" name="Subtitle 2">
            <a:extLst>
              <a:ext uri="{FF2B5EF4-FFF2-40B4-BE49-F238E27FC236}">
                <a16:creationId xmlns:a16="http://schemas.microsoft.com/office/drawing/2014/main" id="{9ED73B9C-22A2-F3DD-3E71-AC78279FED49}"/>
              </a:ext>
            </a:extLst>
          </p:cNvPr>
          <p:cNvSpPr>
            <a:spLocks noGrp="1"/>
          </p:cNvSpPr>
          <p:nvPr>
            <p:ph type="subTitle" idx="1"/>
          </p:nvPr>
        </p:nvSpPr>
        <p:spPr>
          <a:xfrm>
            <a:off x="-1" y="787859"/>
            <a:ext cx="8999538" cy="10011904"/>
          </a:xfrm>
        </p:spPr>
        <p:txBody>
          <a:bodyPr>
            <a:normAutofit/>
          </a:bodyPr>
          <a:lstStyle/>
          <a:p>
            <a:pPr algn="l">
              <a:spcAft>
                <a:spcPts val="30"/>
              </a:spcAft>
            </a:pPr>
            <a:r>
              <a:rPr lang="en-US" b="1" dirty="0">
                <a:solidFill>
                  <a:srgbClr val="FF0000"/>
                </a:solidFill>
              </a:rPr>
              <a:t>Types and Transmission modes:</a:t>
            </a:r>
            <a:br>
              <a:rPr lang="en-US" b="1" dirty="0">
                <a:solidFill>
                  <a:srgbClr val="FF0000"/>
                </a:solidFill>
              </a:rPr>
            </a:br>
            <a:r>
              <a:rPr lang="en-US" b="1" dirty="0">
                <a:solidFill>
                  <a:srgbClr val="FF0000"/>
                </a:solidFill>
              </a:rPr>
              <a:t>        </a:t>
            </a:r>
            <a:r>
              <a:rPr lang="en-US" dirty="0"/>
              <a:t>There are many transmission modes where an acter can send malicious data to the users, it includes software, hard drives (cd, </a:t>
            </a:r>
            <a:r>
              <a:rPr lang="en-US" dirty="0" err="1"/>
              <a:t>dvd</a:t>
            </a:r>
            <a:r>
              <a:rPr lang="en-US" dirty="0"/>
              <a:t>, </a:t>
            </a:r>
            <a:r>
              <a:rPr lang="en-US" dirty="0" err="1"/>
              <a:t>usb</a:t>
            </a:r>
            <a:r>
              <a:rPr lang="en-US" dirty="0"/>
              <a:t> sticks, external hard drives and so on).</a:t>
            </a:r>
            <a:br>
              <a:rPr lang="en-US" dirty="0"/>
            </a:br>
            <a:r>
              <a:rPr lang="en-US" dirty="0">
                <a:sym typeface="Wingdings" panose="05000000000000000000" pitchFamily="2" charset="2"/>
              </a:rPr>
              <a:t>Malware propagates through so many ways:</a:t>
            </a:r>
            <a:br>
              <a:rPr lang="en-US" b="1" dirty="0">
                <a:sym typeface="Wingdings" panose="05000000000000000000" pitchFamily="2" charset="2"/>
              </a:rPr>
            </a:br>
            <a:r>
              <a:rPr lang="en-US" b="1" dirty="0" err="1">
                <a:highlight>
                  <a:srgbClr val="FFFF00"/>
                </a:highlight>
                <a:sym typeface="Wingdings" panose="05000000000000000000" pitchFamily="2" charset="2"/>
              </a:rPr>
              <a:t>i</a:t>
            </a:r>
            <a:r>
              <a:rPr lang="en-US" b="1" dirty="0">
                <a:highlight>
                  <a:srgbClr val="FFFF00"/>
                </a:highlight>
                <a:sym typeface="Wingdings" panose="05000000000000000000" pitchFamily="2" charset="2"/>
              </a:rPr>
              <a:t>. Master boot record infection:</a:t>
            </a:r>
          </a:p>
          <a:p>
            <a:pPr algn="l">
              <a:spcBef>
                <a:spcPts val="50"/>
              </a:spcBef>
              <a:spcAft>
                <a:spcPts val="30"/>
              </a:spcAft>
            </a:pPr>
            <a:r>
              <a:rPr lang="en-US" dirty="0"/>
              <a:t>What is: The Master Boot Record (MBR) is a special 512-byte section on a hard drive that contains crucial information for starting up a computer</a:t>
            </a:r>
            <a:r>
              <a:rPr lang="en-US" b="1" dirty="0">
                <a:sym typeface="Wingdings" panose="05000000000000000000" pitchFamily="2" charset="2"/>
              </a:rPr>
              <a:t>. </a:t>
            </a:r>
            <a:br>
              <a:rPr lang="en-US" b="1" dirty="0">
                <a:sym typeface="Wingdings" panose="05000000000000000000" pitchFamily="2" charset="2"/>
              </a:rPr>
            </a:br>
            <a:r>
              <a:rPr lang="en-US" dirty="0">
                <a:sym typeface="Wingdings" panose="05000000000000000000" pitchFamily="2" charset="2"/>
              </a:rPr>
              <a:t>It works by attacking the master record of the disk.</a:t>
            </a:r>
          </a:p>
          <a:p>
            <a:pPr algn="l">
              <a:spcAft>
                <a:spcPts val="30"/>
              </a:spcAft>
            </a:pPr>
            <a:r>
              <a:rPr lang="en-US" b="1" dirty="0">
                <a:highlight>
                  <a:srgbClr val="FFFF00"/>
                </a:highlight>
                <a:sym typeface="Wingdings" panose="05000000000000000000" pitchFamily="2" charset="2"/>
              </a:rPr>
              <a:t>ii. Bios infection:</a:t>
            </a:r>
            <a:br>
              <a:rPr lang="en-US" b="1" dirty="0">
                <a:sym typeface="Wingdings" panose="05000000000000000000" pitchFamily="2" charset="2"/>
              </a:rPr>
            </a:br>
            <a:r>
              <a:rPr lang="en-US" dirty="0">
                <a:sym typeface="Wingdings" panose="05000000000000000000" pitchFamily="2" charset="2"/>
              </a:rPr>
              <a:t>It infects boot system; it slows down the system while booting up.</a:t>
            </a:r>
          </a:p>
          <a:p>
            <a:pPr algn="l">
              <a:spcAft>
                <a:spcPts val="30"/>
              </a:spcAft>
            </a:pPr>
            <a:r>
              <a:rPr lang="en-US" b="1" dirty="0">
                <a:highlight>
                  <a:srgbClr val="FFFF00"/>
                </a:highlight>
                <a:sym typeface="Wingdings" panose="05000000000000000000" pitchFamily="2" charset="2"/>
              </a:rPr>
              <a:t>iv. FILE infection:</a:t>
            </a:r>
            <a:br>
              <a:rPr lang="en-US" b="1" dirty="0">
                <a:sym typeface="Wingdings" panose="05000000000000000000" pitchFamily="2" charset="2"/>
              </a:rPr>
            </a:br>
            <a:r>
              <a:rPr lang="en-US" dirty="0">
                <a:sym typeface="Wingdings" panose="05000000000000000000" pitchFamily="2" charset="2"/>
              </a:rPr>
              <a:t>It depends on the execution of malicious files such as .exe, .com and so on.</a:t>
            </a:r>
          </a:p>
          <a:p>
            <a:pPr algn="l">
              <a:spcAft>
                <a:spcPts val="30"/>
              </a:spcAft>
            </a:pPr>
            <a:r>
              <a:rPr lang="en-US" b="1" dirty="0">
                <a:highlight>
                  <a:srgbClr val="FFFF00"/>
                </a:highlight>
                <a:sym typeface="Wingdings" panose="05000000000000000000" pitchFamily="2" charset="2"/>
              </a:rPr>
              <a:t>v. Macro Infection:</a:t>
            </a:r>
            <a:br>
              <a:rPr lang="en-US" b="1" dirty="0">
                <a:sym typeface="Wingdings" panose="05000000000000000000" pitchFamily="2" charset="2"/>
              </a:rPr>
            </a:br>
            <a:r>
              <a:rPr lang="en-US" dirty="0">
                <a:sym typeface="Wingdings" panose="05000000000000000000" pitchFamily="2" charset="2"/>
              </a:rPr>
              <a:t>A type of malicious code that attaches itself to documents and uses the macro programming capabilities of the document's application to</a:t>
            </a:r>
            <a:br>
              <a:rPr lang="en-US" dirty="0">
                <a:sym typeface="Wingdings" panose="05000000000000000000" pitchFamily="2" charset="2"/>
              </a:rPr>
            </a:br>
            <a:r>
              <a:rPr lang="en-US" dirty="0">
                <a:sym typeface="Wingdings" panose="05000000000000000000" pitchFamily="2" charset="2"/>
              </a:rPr>
              <a:t>execute, replicate, and spread or propagate itself.</a:t>
            </a:r>
          </a:p>
          <a:p>
            <a:pPr algn="l">
              <a:spcAft>
                <a:spcPts val="30"/>
              </a:spcAft>
            </a:pPr>
            <a:r>
              <a:rPr lang="en-US" b="1" dirty="0">
                <a:highlight>
                  <a:srgbClr val="FFFF00"/>
                </a:highlight>
                <a:sym typeface="Wingdings" panose="05000000000000000000" pitchFamily="2" charset="2"/>
              </a:rPr>
              <a:t>vi. Cluster:</a:t>
            </a:r>
            <a:br>
              <a:rPr lang="en-US" dirty="0">
                <a:sym typeface="Wingdings" panose="05000000000000000000" pitchFamily="2" charset="2"/>
              </a:rPr>
            </a:br>
            <a:r>
              <a:rPr lang="en-US" dirty="0">
                <a:sym typeface="Wingdings" panose="05000000000000000000" pitchFamily="2" charset="2"/>
              </a:rPr>
              <a:t>A Cluster Virus (also called directory virus) works exactly that way:</a:t>
            </a:r>
          </a:p>
          <a:p>
            <a:pPr algn="l">
              <a:spcAft>
                <a:spcPts val="30"/>
              </a:spcAft>
            </a:pPr>
            <a:r>
              <a:rPr lang="en-US" dirty="0">
                <a:sym typeface="Wingdings" panose="05000000000000000000" pitchFamily="2" charset="2"/>
              </a:rPr>
              <a:t>• It modifies the directory table entries (such as FAT or MFT entries in </a:t>
            </a:r>
            <a:br>
              <a:rPr lang="en-US" dirty="0">
                <a:sym typeface="Wingdings" panose="05000000000000000000" pitchFamily="2" charset="2"/>
              </a:rPr>
            </a:br>
            <a:r>
              <a:rPr lang="en-US" dirty="0">
                <a:sym typeface="Wingdings" panose="05000000000000000000" pitchFamily="2" charset="2"/>
              </a:rPr>
              <a:t>   file systems).</a:t>
            </a:r>
          </a:p>
          <a:p>
            <a:pPr algn="l">
              <a:spcAft>
                <a:spcPts val="30"/>
              </a:spcAft>
            </a:pPr>
            <a:r>
              <a:rPr lang="en-US" dirty="0">
                <a:sym typeface="Wingdings" panose="05000000000000000000" pitchFamily="2" charset="2"/>
              </a:rPr>
              <a:t>• Instead of pointing to the actual program file, the entry points to the </a:t>
            </a:r>
            <a:br>
              <a:rPr lang="en-US" dirty="0">
                <a:sym typeface="Wingdings" panose="05000000000000000000" pitchFamily="2" charset="2"/>
              </a:rPr>
            </a:br>
            <a:r>
              <a:rPr lang="en-US" dirty="0">
                <a:sym typeface="Wingdings" panose="05000000000000000000" pitchFamily="2" charset="2"/>
              </a:rPr>
              <a:t>   virus code.</a:t>
            </a:r>
          </a:p>
          <a:p>
            <a:pPr algn="l">
              <a:spcAft>
                <a:spcPts val="30"/>
              </a:spcAft>
            </a:pPr>
            <a:r>
              <a:rPr lang="en-US" dirty="0">
                <a:sym typeface="Wingdings" panose="05000000000000000000" pitchFamily="2" charset="2"/>
              </a:rPr>
              <a:t>• When the user tries to execute a program, the virus runs first and may </a:t>
            </a:r>
            <a:br>
              <a:rPr lang="en-US" dirty="0">
                <a:sym typeface="Wingdings" panose="05000000000000000000" pitchFamily="2" charset="2"/>
              </a:rPr>
            </a:br>
            <a:r>
              <a:rPr lang="en-US" dirty="0">
                <a:sym typeface="Wingdings" panose="05000000000000000000" pitchFamily="2" charset="2"/>
              </a:rPr>
              <a:t>   then pass control to the original program to avoid suspicion.</a:t>
            </a:r>
          </a:p>
        </p:txBody>
      </p:sp>
    </p:spTree>
    <p:extLst>
      <p:ext uri="{BB962C8B-B14F-4D97-AF65-F5344CB8AC3E}">
        <p14:creationId xmlns:p14="http://schemas.microsoft.com/office/powerpoint/2010/main" val="2612203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BAECC3-4562-7BE2-85F3-F8E658AEC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F50AF-FDB0-C4EE-5440-2F5D9C473F15}"/>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Common Threats</a:t>
            </a:r>
            <a:endParaRPr lang="en-IN" sz="4000" b="1" dirty="0">
              <a:solidFill>
                <a:schemeClr val="bg1"/>
              </a:solidFill>
            </a:endParaRPr>
          </a:p>
        </p:txBody>
      </p:sp>
      <p:sp>
        <p:nvSpPr>
          <p:cNvPr id="3" name="Subtitle 2">
            <a:extLst>
              <a:ext uri="{FF2B5EF4-FFF2-40B4-BE49-F238E27FC236}">
                <a16:creationId xmlns:a16="http://schemas.microsoft.com/office/drawing/2014/main" id="{19B4E1DE-82AD-E163-5CF6-D79B5CFD5BE8}"/>
              </a:ext>
            </a:extLst>
          </p:cNvPr>
          <p:cNvSpPr>
            <a:spLocks noGrp="1"/>
          </p:cNvSpPr>
          <p:nvPr>
            <p:ph type="subTitle" idx="1"/>
          </p:nvPr>
        </p:nvSpPr>
        <p:spPr>
          <a:xfrm>
            <a:off x="-1" y="787859"/>
            <a:ext cx="8999538" cy="10011904"/>
          </a:xfrm>
        </p:spPr>
        <p:txBody>
          <a:bodyPr>
            <a:normAutofit/>
          </a:bodyPr>
          <a:lstStyle/>
          <a:p>
            <a:pPr algn="l">
              <a:spcBef>
                <a:spcPts val="50"/>
              </a:spcBef>
              <a:spcAft>
                <a:spcPts val="30"/>
              </a:spcAft>
            </a:pPr>
            <a:r>
              <a:rPr lang="en-US" b="1" dirty="0">
                <a:highlight>
                  <a:srgbClr val="FFFF00"/>
                </a:highlight>
                <a:sym typeface="Wingdings" panose="05000000000000000000" pitchFamily="2" charset="2"/>
              </a:rPr>
              <a:t>vii. Multipartite Virus:</a:t>
            </a:r>
            <a:br>
              <a:rPr lang="en-US" b="1" dirty="0">
                <a:sym typeface="Wingdings" panose="05000000000000000000" pitchFamily="2" charset="2"/>
              </a:rPr>
            </a:br>
            <a:r>
              <a:rPr lang="en-US" dirty="0">
                <a:sym typeface="Wingdings" panose="05000000000000000000" pitchFamily="2" charset="2"/>
              </a:rPr>
              <a:t>It is a type of hybrid virus that can infect a system in more than one way.</a:t>
            </a:r>
          </a:p>
          <a:p>
            <a:pPr algn="l">
              <a:spcBef>
                <a:spcPts val="50"/>
              </a:spcBef>
              <a:spcAft>
                <a:spcPts val="30"/>
              </a:spcAft>
            </a:pPr>
            <a:r>
              <a:rPr lang="en-US" dirty="0">
                <a:sym typeface="Wingdings" panose="05000000000000000000" pitchFamily="2" charset="2"/>
              </a:rPr>
              <a:t>Key Traits:</a:t>
            </a:r>
          </a:p>
          <a:p>
            <a:pPr algn="l">
              <a:spcBef>
                <a:spcPts val="50"/>
              </a:spcBef>
              <a:spcAft>
                <a:spcPts val="30"/>
              </a:spcAft>
            </a:pPr>
            <a:r>
              <a:rPr lang="en-US" dirty="0">
                <a:sym typeface="Wingdings" panose="05000000000000000000" pitchFamily="2" charset="2"/>
              </a:rPr>
              <a:t>• Dual infection capability It can infect boot sectors (like a boot virus)   </a:t>
            </a:r>
            <a:br>
              <a:rPr lang="en-US" dirty="0">
                <a:sym typeface="Wingdings" panose="05000000000000000000" pitchFamily="2" charset="2"/>
              </a:rPr>
            </a:br>
            <a:r>
              <a:rPr lang="en-US" dirty="0">
                <a:sym typeface="Wingdings" panose="05000000000000000000" pitchFamily="2" charset="2"/>
              </a:rPr>
              <a:t>   and also program files (like a</a:t>
            </a:r>
          </a:p>
          <a:p>
            <a:pPr algn="l">
              <a:spcBef>
                <a:spcPts val="50"/>
              </a:spcBef>
              <a:spcAft>
                <a:spcPts val="30"/>
              </a:spcAft>
            </a:pPr>
            <a:r>
              <a:rPr lang="en-US" dirty="0">
                <a:sym typeface="Wingdings" panose="05000000000000000000" pitchFamily="2" charset="2"/>
              </a:rPr>
              <a:t>   file infector).</a:t>
            </a:r>
          </a:p>
          <a:p>
            <a:pPr algn="l">
              <a:spcBef>
                <a:spcPts val="50"/>
              </a:spcBef>
              <a:spcAft>
                <a:spcPts val="30"/>
              </a:spcAft>
            </a:pPr>
            <a:r>
              <a:rPr lang="en-US" dirty="0">
                <a:sym typeface="Wingdings" panose="05000000000000000000" pitchFamily="2" charset="2"/>
              </a:rPr>
              <a:t>• Harder to remove -4 Because even if you clean one part (say, program    </a:t>
            </a:r>
            <a:br>
              <a:rPr lang="en-US" dirty="0">
                <a:sym typeface="Wingdings" panose="05000000000000000000" pitchFamily="2" charset="2"/>
              </a:rPr>
            </a:br>
            <a:r>
              <a:rPr lang="en-US" dirty="0">
                <a:sym typeface="Wingdings" panose="05000000000000000000" pitchFamily="2" charset="2"/>
              </a:rPr>
              <a:t>   files), the virus can reinfect the</a:t>
            </a:r>
          </a:p>
          <a:p>
            <a:pPr algn="l">
              <a:spcBef>
                <a:spcPts val="50"/>
              </a:spcBef>
              <a:spcAft>
                <a:spcPts val="30"/>
              </a:spcAft>
            </a:pPr>
            <a:r>
              <a:rPr lang="en-US" dirty="0">
                <a:sym typeface="Wingdings" panose="05000000000000000000" pitchFamily="2" charset="2"/>
              </a:rPr>
              <a:t>• system from the boot sector on the next startup, and vice versa.</a:t>
            </a:r>
          </a:p>
          <a:p>
            <a:pPr algn="l">
              <a:spcBef>
                <a:spcPts val="50"/>
              </a:spcBef>
              <a:spcAft>
                <a:spcPts val="30"/>
              </a:spcAft>
            </a:pPr>
            <a:r>
              <a:rPr lang="en-US" dirty="0">
                <a:sym typeface="Wingdings" panose="05000000000000000000" pitchFamily="2" charset="2"/>
              </a:rPr>
              <a:t>   Spreads quickly -4 By using multiple propagation vectors.</a:t>
            </a:r>
          </a:p>
          <a:p>
            <a:pPr algn="l">
              <a:spcBef>
                <a:spcPts val="50"/>
              </a:spcBef>
              <a:spcAft>
                <a:spcPts val="30"/>
              </a:spcAft>
            </a:pPr>
            <a:r>
              <a:rPr lang="en-US" dirty="0">
                <a:sym typeface="Wingdings" panose="05000000000000000000" pitchFamily="2" charset="2"/>
              </a:rPr>
              <a:t>• Example: NATAS virus</a:t>
            </a:r>
          </a:p>
          <a:p>
            <a:pPr algn="l">
              <a:spcBef>
                <a:spcPts val="50"/>
              </a:spcBef>
              <a:spcAft>
                <a:spcPts val="30"/>
              </a:spcAft>
            </a:pPr>
            <a:r>
              <a:rPr lang="en-US" dirty="0">
                <a:sym typeface="Wingdings" panose="05000000000000000000" pitchFamily="2" charset="2"/>
              </a:rPr>
              <a:t>   Released in the early 1990s.</a:t>
            </a:r>
          </a:p>
          <a:p>
            <a:pPr algn="l">
              <a:spcBef>
                <a:spcPts val="50"/>
              </a:spcBef>
              <a:spcAft>
                <a:spcPts val="30"/>
              </a:spcAft>
            </a:pPr>
            <a:r>
              <a:rPr lang="en-US" dirty="0">
                <a:sym typeface="Wingdings" panose="05000000000000000000" pitchFamily="2" charset="2"/>
              </a:rPr>
              <a:t>   Infects both master boot record (MBR) and .COM/.EXE files.</a:t>
            </a:r>
          </a:p>
          <a:p>
            <a:pPr algn="l">
              <a:spcBef>
                <a:spcPts val="50"/>
              </a:spcBef>
              <a:spcAft>
                <a:spcPts val="30"/>
              </a:spcAft>
            </a:pPr>
            <a:r>
              <a:rPr lang="en-US" dirty="0">
                <a:sym typeface="Wingdings" panose="05000000000000000000" pitchFamily="2" charset="2"/>
              </a:rPr>
              <a:t>   Hard to detect at the time because it kept reinfecting after partial   </a:t>
            </a:r>
            <a:br>
              <a:rPr lang="en-US" dirty="0">
                <a:sym typeface="Wingdings" panose="05000000000000000000" pitchFamily="2" charset="2"/>
              </a:rPr>
            </a:br>
            <a:r>
              <a:rPr lang="en-US" dirty="0">
                <a:sym typeface="Wingdings" panose="05000000000000000000" pitchFamily="2" charset="2"/>
              </a:rPr>
              <a:t>   cleanups.</a:t>
            </a:r>
          </a:p>
          <a:p>
            <a:pPr algn="l">
              <a:spcBef>
                <a:spcPts val="50"/>
              </a:spcBef>
              <a:spcAft>
                <a:spcPts val="30"/>
              </a:spcAft>
            </a:pPr>
            <a:r>
              <a:rPr lang="en-US" dirty="0">
                <a:sym typeface="Wingdings" panose="05000000000000000000" pitchFamily="2" charset="2"/>
              </a:rPr>
              <a:t>   NATAS is "Satan" spelled backward.</a:t>
            </a:r>
          </a:p>
          <a:p>
            <a:pPr algn="l">
              <a:spcBef>
                <a:spcPts val="50"/>
              </a:spcBef>
              <a:spcAft>
                <a:spcPts val="30"/>
              </a:spcAft>
            </a:pPr>
            <a:endParaRPr lang="en-US" dirty="0">
              <a:highlight>
                <a:srgbClr val="FFFF00"/>
              </a:highlight>
              <a:sym typeface="Wingdings" panose="05000000000000000000" pitchFamily="2" charset="2"/>
            </a:endParaRPr>
          </a:p>
          <a:p>
            <a:pPr algn="l">
              <a:spcBef>
                <a:spcPts val="50"/>
              </a:spcBef>
              <a:spcAft>
                <a:spcPts val="30"/>
              </a:spcAft>
            </a:pPr>
            <a:r>
              <a:rPr lang="en-US" b="1" dirty="0">
                <a:highlight>
                  <a:srgbClr val="FFFF00"/>
                </a:highlight>
                <a:sym typeface="Wingdings" panose="05000000000000000000" pitchFamily="2" charset="2"/>
              </a:rPr>
              <a:t>viii. Polymorphism Virus:</a:t>
            </a:r>
            <a:br>
              <a:rPr lang="en-US" dirty="0">
                <a:sym typeface="Wingdings" panose="05000000000000000000" pitchFamily="2" charset="2"/>
              </a:rPr>
            </a:br>
            <a:r>
              <a:rPr lang="en-US" dirty="0">
                <a:sym typeface="Wingdings" panose="05000000000000000000" pitchFamily="2" charset="2"/>
              </a:rPr>
              <a:t>It is a type of virus which can change its signature after replication. Every time it replicates and infects a new file.</a:t>
            </a:r>
          </a:p>
        </p:txBody>
      </p:sp>
    </p:spTree>
    <p:extLst>
      <p:ext uri="{BB962C8B-B14F-4D97-AF65-F5344CB8AC3E}">
        <p14:creationId xmlns:p14="http://schemas.microsoft.com/office/powerpoint/2010/main" val="2486360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785780-1E32-056F-F459-FE7751520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5B86E-20DF-6418-6859-0BA178669B95}"/>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Virus Components (pr le)</a:t>
            </a:r>
            <a:endParaRPr lang="en-IN" sz="4000" b="1" dirty="0">
              <a:solidFill>
                <a:schemeClr val="bg1"/>
              </a:solidFill>
            </a:endParaRPr>
          </a:p>
        </p:txBody>
      </p:sp>
      <p:sp>
        <p:nvSpPr>
          <p:cNvPr id="3" name="Subtitle 2">
            <a:extLst>
              <a:ext uri="{FF2B5EF4-FFF2-40B4-BE49-F238E27FC236}">
                <a16:creationId xmlns:a16="http://schemas.microsoft.com/office/drawing/2014/main" id="{EC183EDE-5A52-6923-321A-01DDF1500E57}"/>
              </a:ext>
            </a:extLst>
          </p:cNvPr>
          <p:cNvSpPr>
            <a:spLocks noGrp="1"/>
          </p:cNvSpPr>
          <p:nvPr>
            <p:ph type="subTitle" idx="1"/>
          </p:nvPr>
        </p:nvSpPr>
        <p:spPr>
          <a:xfrm>
            <a:off x="-1" y="787859"/>
            <a:ext cx="8999538" cy="10011904"/>
          </a:xfrm>
        </p:spPr>
        <p:txBody>
          <a:bodyPr>
            <a:normAutofit/>
          </a:bodyPr>
          <a:lstStyle/>
          <a:p>
            <a:pPr algn="l">
              <a:spcBef>
                <a:spcPts val="50"/>
              </a:spcBef>
              <a:spcAft>
                <a:spcPts val="50"/>
              </a:spcAft>
            </a:pPr>
            <a:r>
              <a:rPr lang="en-US" dirty="0">
                <a:sym typeface="Wingdings" panose="05000000000000000000" pitchFamily="2" charset="2"/>
              </a:rPr>
              <a:t>No matter the infection technique, all viruses have a search routine and infection routine.</a:t>
            </a:r>
          </a:p>
          <a:p>
            <a:pPr algn="l">
              <a:spcBef>
                <a:spcPts val="50"/>
              </a:spcBef>
              <a:spcAft>
                <a:spcPts val="50"/>
              </a:spcAft>
            </a:pPr>
            <a:br>
              <a:rPr lang="en-US" dirty="0">
                <a:sym typeface="Wingdings" panose="05000000000000000000" pitchFamily="2" charset="2"/>
              </a:rPr>
            </a:br>
            <a:r>
              <a:rPr lang="en-US" b="1" dirty="0" err="1">
                <a:highlight>
                  <a:srgbClr val="FFFF00"/>
                </a:highlight>
                <a:sym typeface="Wingdings" panose="05000000000000000000" pitchFamily="2" charset="2"/>
              </a:rPr>
              <a:t>i</a:t>
            </a:r>
            <a:r>
              <a:rPr lang="en-US" b="1" dirty="0">
                <a:highlight>
                  <a:srgbClr val="FFFF00"/>
                </a:highlight>
                <a:sym typeface="Wingdings" panose="05000000000000000000" pitchFamily="2" charset="2"/>
              </a:rPr>
              <a:t>. Search routine: </a:t>
            </a:r>
            <a:r>
              <a:rPr lang="en-US" dirty="0">
                <a:sym typeface="Wingdings" panose="05000000000000000000" pitchFamily="2" charset="2"/>
              </a:rPr>
              <a:t>It searches the folder, files on RAM or disk space.</a:t>
            </a:r>
            <a:br>
              <a:rPr lang="en-US" dirty="0">
                <a:sym typeface="Wingdings" panose="05000000000000000000" pitchFamily="2" charset="2"/>
              </a:rPr>
            </a:br>
            <a:r>
              <a:rPr lang="en-US" dirty="0"/>
              <a:t>Profiling could be used to identify the environment and morph the malware to be more effective and potentially bypass detection.</a:t>
            </a:r>
          </a:p>
          <a:p>
            <a:pPr algn="l">
              <a:spcBef>
                <a:spcPts val="50"/>
              </a:spcBef>
              <a:spcAft>
                <a:spcPts val="50"/>
              </a:spcAft>
            </a:pPr>
            <a:r>
              <a:rPr lang="en-US" dirty="0"/>
              <a:t>Profiling: The malware first analyzes the environment where it is running.</a:t>
            </a:r>
          </a:p>
          <a:p>
            <a:pPr algn="l">
              <a:spcBef>
                <a:spcPts val="50"/>
              </a:spcBef>
              <a:spcAft>
                <a:spcPts val="50"/>
              </a:spcAft>
            </a:pPr>
            <a:r>
              <a:rPr lang="en-US" dirty="0"/>
              <a:t>• Example: It checks if it's inside a virtual machine, sandbox, or </a:t>
            </a:r>
            <a:br>
              <a:rPr lang="en-US" dirty="0"/>
            </a:br>
            <a:r>
              <a:rPr lang="en-US" dirty="0"/>
              <a:t>   debugger (which are used by security researchers).</a:t>
            </a:r>
          </a:p>
          <a:p>
            <a:pPr algn="l">
              <a:spcBef>
                <a:spcPts val="50"/>
              </a:spcBef>
              <a:spcAft>
                <a:spcPts val="50"/>
              </a:spcAft>
            </a:pPr>
            <a:r>
              <a:rPr lang="en-US" dirty="0"/>
              <a:t>• It can also look at system details like OS version, antivirus software, or </a:t>
            </a:r>
            <a:br>
              <a:rPr lang="en-US" dirty="0"/>
            </a:br>
            <a:r>
              <a:rPr lang="en-US" dirty="0"/>
              <a:t>   installed applications.</a:t>
            </a:r>
          </a:p>
          <a:p>
            <a:pPr algn="l">
              <a:spcBef>
                <a:spcPts val="50"/>
              </a:spcBef>
              <a:spcAft>
                <a:spcPts val="50"/>
              </a:spcAft>
            </a:pPr>
            <a:r>
              <a:rPr lang="en-US" dirty="0"/>
              <a:t>• Morph the malware Based on what it finds, the malware can change </a:t>
            </a:r>
            <a:br>
              <a:rPr lang="en-US" dirty="0"/>
            </a:br>
            <a:r>
              <a:rPr lang="en-US" dirty="0"/>
              <a:t>    its behavior or code.</a:t>
            </a:r>
          </a:p>
          <a:p>
            <a:pPr algn="l">
              <a:spcBef>
                <a:spcPts val="50"/>
              </a:spcBef>
              <a:spcAft>
                <a:spcPts val="50"/>
              </a:spcAft>
            </a:pPr>
            <a:endParaRPr lang="en-US" dirty="0"/>
          </a:p>
          <a:p>
            <a:pPr algn="l">
              <a:spcBef>
                <a:spcPts val="50"/>
              </a:spcBef>
              <a:spcAft>
                <a:spcPts val="50"/>
              </a:spcAft>
            </a:pPr>
            <a:r>
              <a:rPr lang="en-US" b="1" dirty="0">
                <a:highlight>
                  <a:srgbClr val="FFFF00"/>
                </a:highlight>
              </a:rPr>
              <a:t>Example:</a:t>
            </a:r>
          </a:p>
          <a:p>
            <a:pPr algn="l">
              <a:spcBef>
                <a:spcPts val="50"/>
              </a:spcBef>
              <a:spcAft>
                <a:spcPts val="50"/>
              </a:spcAft>
            </a:pPr>
            <a:r>
              <a:rPr lang="en-US" dirty="0"/>
              <a:t>• If it detects it's in a sandbox it stays dormant (so it looks harmless).</a:t>
            </a:r>
          </a:p>
          <a:p>
            <a:pPr algn="l">
              <a:spcBef>
                <a:spcPts val="50"/>
              </a:spcBef>
              <a:spcAft>
                <a:spcPts val="50"/>
              </a:spcAft>
            </a:pPr>
            <a:r>
              <a:rPr lang="en-US" dirty="0"/>
              <a:t>• If it detects a normal user's system, it activates and spreads.</a:t>
            </a:r>
          </a:p>
          <a:p>
            <a:pPr algn="l">
              <a:spcBef>
                <a:spcPts val="50"/>
              </a:spcBef>
              <a:spcAft>
                <a:spcPts val="50"/>
              </a:spcAft>
            </a:pPr>
            <a:r>
              <a:rPr lang="en-US" dirty="0"/>
              <a:t>   Bypass detection Because the malware adapts, it avoids being </a:t>
            </a:r>
            <a:br>
              <a:rPr lang="en-US" dirty="0"/>
            </a:br>
            <a:r>
              <a:rPr lang="en-US" dirty="0"/>
              <a:t>   caught by antivirus/</a:t>
            </a:r>
            <a:r>
              <a:rPr lang="en-US" dirty="0" err="1"/>
              <a:t>lDS</a:t>
            </a:r>
            <a:r>
              <a:rPr lang="en-US" dirty="0"/>
              <a:t> systems.</a:t>
            </a:r>
          </a:p>
          <a:p>
            <a:pPr algn="l">
              <a:spcBef>
                <a:spcPts val="50"/>
              </a:spcBef>
              <a:spcAft>
                <a:spcPts val="50"/>
              </a:spcAft>
            </a:pPr>
            <a:r>
              <a:rPr lang="en-US" dirty="0"/>
              <a:t>• Example: It may encrypt or obfuscate itself differently depending on </a:t>
            </a:r>
            <a:br>
              <a:rPr lang="en-US" dirty="0"/>
            </a:br>
            <a:r>
              <a:rPr lang="en-US" dirty="0"/>
              <a:t>   the system, making signature-based detection fail.</a:t>
            </a:r>
          </a:p>
          <a:p>
            <a:pPr algn="l">
              <a:spcBef>
                <a:spcPts val="50"/>
              </a:spcBef>
              <a:spcAft>
                <a:spcPts val="50"/>
              </a:spcAft>
            </a:pPr>
            <a:endParaRPr lang="en-US" dirty="0"/>
          </a:p>
          <a:p>
            <a:pPr algn="l">
              <a:spcBef>
                <a:spcPts val="50"/>
              </a:spcBef>
              <a:spcAft>
                <a:spcPts val="50"/>
              </a:spcAft>
            </a:pPr>
            <a:r>
              <a:rPr lang="en-US" b="1" dirty="0">
                <a:highlight>
                  <a:srgbClr val="FFFF00"/>
                </a:highlight>
                <a:sym typeface="Wingdings" panose="05000000000000000000" pitchFamily="2" charset="2"/>
              </a:rPr>
              <a:t>ii. infection routine:</a:t>
            </a:r>
            <a:br>
              <a:rPr lang="en-US" b="1" dirty="0">
                <a:highlight>
                  <a:srgbClr val="FFFF00"/>
                </a:highlight>
                <a:sym typeface="Wingdings" panose="05000000000000000000" pitchFamily="2" charset="2"/>
              </a:rPr>
            </a:br>
            <a:r>
              <a:rPr lang="en-US" b="1" dirty="0">
                <a:sym typeface="Wingdings" panose="05000000000000000000" pitchFamily="2" charset="2"/>
              </a:rPr>
              <a:t>          </a:t>
            </a:r>
            <a:r>
              <a:rPr lang="en-US" dirty="0">
                <a:sym typeface="Wingdings" panose="05000000000000000000" pitchFamily="2" charset="2"/>
              </a:rPr>
              <a:t>There is no use if a virus only perform search routine without affecting the files. In infection routine or this part of a virus is responsible for copying the virus and attaching it to a suitable host. </a:t>
            </a:r>
          </a:p>
          <a:p>
            <a:pPr algn="l">
              <a:spcBef>
                <a:spcPts val="50"/>
              </a:spcBef>
              <a:spcAft>
                <a:spcPts val="50"/>
              </a:spcAft>
            </a:pPr>
            <a:r>
              <a:rPr lang="en-US" dirty="0">
                <a:sym typeface="Wingdings" panose="05000000000000000000" pitchFamily="2" charset="2"/>
              </a:rPr>
              <a:t>          </a:t>
            </a:r>
            <a:r>
              <a:rPr lang="en-US" dirty="0"/>
              <a:t>Malware could also use a re-infect/restart routine to further compromise the affected system.</a:t>
            </a:r>
          </a:p>
        </p:txBody>
      </p:sp>
    </p:spTree>
    <p:extLst>
      <p:ext uri="{BB962C8B-B14F-4D97-AF65-F5344CB8AC3E}">
        <p14:creationId xmlns:p14="http://schemas.microsoft.com/office/powerpoint/2010/main" val="122249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5FCBDD-57A2-99E7-E54C-5C14E83DB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E2353-2D9E-1443-BF7A-4BAF0211149C}"/>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Virus Components</a:t>
            </a:r>
            <a:endParaRPr lang="en-IN" sz="4000" b="1" dirty="0">
              <a:solidFill>
                <a:schemeClr val="bg1"/>
              </a:solidFill>
            </a:endParaRPr>
          </a:p>
        </p:txBody>
      </p:sp>
      <p:sp>
        <p:nvSpPr>
          <p:cNvPr id="3" name="Subtitle 2">
            <a:extLst>
              <a:ext uri="{FF2B5EF4-FFF2-40B4-BE49-F238E27FC236}">
                <a16:creationId xmlns:a16="http://schemas.microsoft.com/office/drawing/2014/main" id="{02F52216-A186-6439-EFDA-99D3C7C7462A}"/>
              </a:ext>
            </a:extLst>
          </p:cNvPr>
          <p:cNvSpPr>
            <a:spLocks noGrp="1"/>
          </p:cNvSpPr>
          <p:nvPr>
            <p:ph type="subTitle" idx="1"/>
          </p:nvPr>
        </p:nvSpPr>
        <p:spPr>
          <a:xfrm>
            <a:off x="-1" y="787859"/>
            <a:ext cx="8999538" cy="10011904"/>
          </a:xfrm>
        </p:spPr>
        <p:txBody>
          <a:bodyPr>
            <a:normAutofit/>
          </a:bodyPr>
          <a:lstStyle/>
          <a:p>
            <a:pPr algn="l">
              <a:spcBef>
                <a:spcPts val="50"/>
              </a:spcBef>
              <a:spcAft>
                <a:spcPts val="50"/>
              </a:spcAft>
            </a:pPr>
            <a:r>
              <a:rPr lang="en-US" b="1" dirty="0">
                <a:highlight>
                  <a:srgbClr val="FFFF00"/>
                </a:highlight>
                <a:sym typeface="Wingdings" panose="05000000000000000000" pitchFamily="2" charset="2"/>
              </a:rPr>
              <a:t>iii. Payload: (OPTIONAL)</a:t>
            </a:r>
          </a:p>
          <a:p>
            <a:pPr algn="l">
              <a:spcBef>
                <a:spcPts val="70"/>
              </a:spcBef>
              <a:spcAft>
                <a:spcPts val="50"/>
              </a:spcAft>
            </a:pPr>
            <a:r>
              <a:rPr lang="en-US" dirty="0">
                <a:sym typeface="Wingdings" panose="05000000000000000000" pitchFamily="2" charset="2"/>
              </a:rPr>
              <a:t>A payload is the part of a virus that performs the malicious action.</a:t>
            </a:r>
          </a:p>
          <a:p>
            <a:pPr algn="l">
              <a:spcBef>
                <a:spcPts val="70"/>
              </a:spcBef>
              <a:spcAft>
                <a:spcPts val="50"/>
              </a:spcAft>
            </a:pPr>
            <a:r>
              <a:rPr lang="en-US" dirty="0">
                <a:sym typeface="Wingdings" panose="05000000000000000000" pitchFamily="2" charset="2"/>
              </a:rPr>
              <a:t>Examples:</a:t>
            </a:r>
          </a:p>
          <a:p>
            <a:pPr algn="l">
              <a:spcBef>
                <a:spcPts val="70"/>
              </a:spcBef>
              <a:spcAft>
                <a:spcPts val="50"/>
              </a:spcAft>
            </a:pPr>
            <a:r>
              <a:rPr lang="en-US" dirty="0">
                <a:sym typeface="Wingdings" panose="05000000000000000000" pitchFamily="2" charset="2"/>
              </a:rPr>
              <a:t>• Erasing the hard drive</a:t>
            </a:r>
          </a:p>
          <a:p>
            <a:pPr algn="l">
              <a:spcBef>
                <a:spcPts val="70"/>
              </a:spcBef>
              <a:spcAft>
                <a:spcPts val="50"/>
              </a:spcAft>
            </a:pPr>
            <a:r>
              <a:rPr lang="en-US" dirty="0">
                <a:sym typeface="Wingdings" panose="05000000000000000000" pitchFamily="2" charset="2"/>
              </a:rPr>
              <a:t>• Displaying a message</a:t>
            </a:r>
          </a:p>
          <a:p>
            <a:pPr algn="l">
              <a:spcBef>
                <a:spcPts val="70"/>
              </a:spcBef>
              <a:spcAft>
                <a:spcPts val="50"/>
              </a:spcAft>
            </a:pPr>
            <a:r>
              <a:rPr lang="en-US" dirty="0">
                <a:sym typeface="Wingdings" panose="05000000000000000000" pitchFamily="2" charset="2"/>
              </a:rPr>
              <a:t>• Spreading itself (e.g., emailing to contacts)</a:t>
            </a:r>
          </a:p>
          <a:p>
            <a:pPr algn="l">
              <a:spcBef>
                <a:spcPts val="70"/>
              </a:spcBef>
              <a:spcAft>
                <a:spcPts val="50"/>
              </a:spcAft>
            </a:pPr>
            <a:r>
              <a:rPr lang="en-US" dirty="0">
                <a:sym typeface="Wingdings" panose="05000000000000000000" pitchFamily="2" charset="2"/>
              </a:rPr>
              <a:t>Not all viruses have payloads — some only replicate without causing visible harm.</a:t>
            </a:r>
          </a:p>
          <a:p>
            <a:pPr algn="l">
              <a:spcBef>
                <a:spcPts val="70"/>
              </a:spcBef>
              <a:spcAft>
                <a:spcPts val="50"/>
              </a:spcAft>
            </a:pPr>
            <a:r>
              <a:rPr lang="en-US" dirty="0">
                <a:sym typeface="Wingdings" panose="05000000000000000000" pitchFamily="2" charset="2"/>
              </a:rPr>
              <a:t>If there's no payload, the virus may remain hidden and unnoticed.</a:t>
            </a:r>
          </a:p>
          <a:p>
            <a:pPr algn="l">
              <a:spcBef>
                <a:spcPts val="70"/>
              </a:spcBef>
              <a:spcAft>
                <a:spcPts val="50"/>
              </a:spcAft>
            </a:pPr>
            <a:r>
              <a:rPr lang="en-US" dirty="0">
                <a:sym typeface="Wingdings" panose="05000000000000000000" pitchFamily="2" charset="2"/>
              </a:rPr>
              <a:t>In short: The payload is the "damage" or effect of the virus.</a:t>
            </a:r>
          </a:p>
          <a:p>
            <a:pPr algn="l">
              <a:spcBef>
                <a:spcPts val="70"/>
              </a:spcBef>
              <a:spcAft>
                <a:spcPts val="50"/>
              </a:spcAft>
            </a:pPr>
            <a:endParaRPr lang="en-US" dirty="0">
              <a:sym typeface="Wingdings" panose="05000000000000000000" pitchFamily="2" charset="2"/>
            </a:endParaRPr>
          </a:p>
          <a:p>
            <a:pPr algn="l">
              <a:spcBef>
                <a:spcPts val="70"/>
              </a:spcBef>
              <a:spcAft>
                <a:spcPts val="50"/>
              </a:spcAft>
            </a:pPr>
            <a:r>
              <a:rPr lang="en-US" b="1" dirty="0">
                <a:highlight>
                  <a:srgbClr val="FFFF00"/>
                </a:highlight>
                <a:sym typeface="Wingdings" panose="05000000000000000000" pitchFamily="2" charset="2"/>
              </a:rPr>
              <a:t>iii. </a:t>
            </a:r>
            <a:r>
              <a:rPr lang="en-IN" b="1" dirty="0">
                <a:highlight>
                  <a:srgbClr val="FFFF00"/>
                </a:highlight>
              </a:rPr>
              <a:t>Antidetection routine:</a:t>
            </a:r>
            <a:br>
              <a:rPr lang="en-IN" dirty="0">
                <a:highlight>
                  <a:srgbClr val="FFFF00"/>
                </a:highlight>
              </a:rPr>
            </a:br>
            <a:r>
              <a:rPr lang="en-US" dirty="0">
                <a:sym typeface="Wingdings" panose="05000000000000000000" pitchFamily="2" charset="2"/>
              </a:rPr>
              <a:t>Viruses can also have non-detection  routine which helps the virus to behave stealth-like and avoid detection.</a:t>
            </a:r>
          </a:p>
          <a:p>
            <a:pPr algn="l">
              <a:spcBef>
                <a:spcPts val="70"/>
              </a:spcBef>
              <a:spcAft>
                <a:spcPts val="50"/>
              </a:spcAft>
            </a:pPr>
            <a:endParaRPr lang="en-US" dirty="0">
              <a:sym typeface="Wingdings" panose="05000000000000000000" pitchFamily="2" charset="2"/>
            </a:endParaRPr>
          </a:p>
          <a:p>
            <a:pPr algn="l">
              <a:spcBef>
                <a:spcPts val="70"/>
              </a:spcBef>
              <a:spcAft>
                <a:spcPts val="50"/>
              </a:spcAft>
            </a:pPr>
            <a:r>
              <a:rPr lang="en-US" b="1" dirty="0">
                <a:highlight>
                  <a:srgbClr val="FFFF00"/>
                </a:highlight>
              </a:rPr>
              <a:t>iv. Trigger routine: </a:t>
            </a:r>
          </a:p>
          <a:p>
            <a:pPr algn="l">
              <a:spcBef>
                <a:spcPts val="70"/>
              </a:spcBef>
              <a:spcAft>
                <a:spcPts val="50"/>
              </a:spcAft>
            </a:pPr>
            <a:r>
              <a:rPr lang="en-US" dirty="0"/>
              <a:t>The goal of the trigger routine is to launch the payload at a given date and time. The trigger can be set to perform a given action at a given time.</a:t>
            </a:r>
            <a:endParaRPr lang="en-US" dirty="0">
              <a:sym typeface="Wingdings" panose="05000000000000000000" pitchFamily="2" charset="2"/>
            </a:endParaRPr>
          </a:p>
        </p:txBody>
      </p:sp>
    </p:spTree>
    <p:extLst>
      <p:ext uri="{BB962C8B-B14F-4D97-AF65-F5344CB8AC3E}">
        <p14:creationId xmlns:p14="http://schemas.microsoft.com/office/powerpoint/2010/main" val="4035894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B53FF-E030-B985-481A-E9A279BE2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C2E40-ACE4-1E62-7CB6-F0A47E6E3B62}"/>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Trojans</a:t>
            </a:r>
            <a:endParaRPr lang="en-IN" sz="4000" b="1" dirty="0">
              <a:solidFill>
                <a:schemeClr val="bg1"/>
              </a:solidFill>
            </a:endParaRPr>
          </a:p>
        </p:txBody>
      </p:sp>
      <p:sp>
        <p:nvSpPr>
          <p:cNvPr id="3" name="Subtitle 2">
            <a:extLst>
              <a:ext uri="{FF2B5EF4-FFF2-40B4-BE49-F238E27FC236}">
                <a16:creationId xmlns:a16="http://schemas.microsoft.com/office/drawing/2014/main" id="{5E679818-6825-4BEA-245D-6C141D1619ED}"/>
              </a:ext>
            </a:extLst>
          </p:cNvPr>
          <p:cNvSpPr>
            <a:spLocks noGrp="1"/>
          </p:cNvSpPr>
          <p:nvPr>
            <p:ph type="subTitle" idx="1"/>
          </p:nvPr>
        </p:nvSpPr>
        <p:spPr>
          <a:xfrm>
            <a:off x="-1" y="787859"/>
            <a:ext cx="8999538" cy="10011904"/>
          </a:xfrm>
        </p:spPr>
        <p:txBody>
          <a:bodyPr>
            <a:normAutofit fontScale="92500" lnSpcReduction="10000"/>
          </a:bodyPr>
          <a:lstStyle/>
          <a:p>
            <a:pPr algn="l">
              <a:lnSpc>
                <a:spcPct val="120000"/>
              </a:lnSpc>
              <a:spcBef>
                <a:spcPts val="50"/>
              </a:spcBef>
              <a:spcAft>
                <a:spcPts val="50"/>
              </a:spcAft>
            </a:pPr>
            <a:r>
              <a:rPr lang="en-US" sz="2400" dirty="0"/>
              <a:t>Trojans are programs that pretend to do one thing but, when loaded, actually perform another, more malicious act. </a:t>
            </a:r>
          </a:p>
          <a:p>
            <a:pPr algn="l">
              <a:lnSpc>
                <a:spcPct val="120000"/>
              </a:lnSpc>
              <a:spcBef>
                <a:spcPts val="50"/>
              </a:spcBef>
              <a:spcAft>
                <a:spcPts val="50"/>
              </a:spcAft>
            </a:pPr>
            <a:r>
              <a:rPr lang="en-US" sz="2400" dirty="0"/>
              <a:t>• A software Trojan horse is based on this same concept. A user might think that a file looks harmless and is safe to run, but after the file is executed, it delivers a malicious payload. Trojans work because they typically present themselves as something you want, such as an email with a PDF, a Word document, or an Excel spreadsheet.</a:t>
            </a:r>
          </a:p>
          <a:p>
            <a:pPr algn="l">
              <a:lnSpc>
                <a:spcPct val="120000"/>
              </a:lnSpc>
              <a:spcBef>
                <a:spcPts val="50"/>
              </a:spcBef>
              <a:spcAft>
                <a:spcPts val="50"/>
              </a:spcAft>
            </a:pPr>
            <a:endParaRPr lang="en-US" sz="2400" dirty="0"/>
          </a:p>
          <a:p>
            <a:pPr algn="l">
              <a:lnSpc>
                <a:spcPct val="120000"/>
              </a:lnSpc>
              <a:spcBef>
                <a:spcPts val="50"/>
              </a:spcBef>
              <a:spcAft>
                <a:spcPts val="50"/>
              </a:spcAft>
            </a:pPr>
            <a:r>
              <a:rPr lang="en-US" sz="2400" b="1" dirty="0">
                <a:highlight>
                  <a:srgbClr val="FFFF00"/>
                </a:highlight>
              </a:rPr>
              <a:t>Types:</a:t>
            </a:r>
            <a:br>
              <a:rPr lang="en-US" sz="2400" dirty="0"/>
            </a:br>
            <a:r>
              <a:rPr lang="en-US" sz="2400" dirty="0"/>
              <a:t>              </a:t>
            </a:r>
            <a:r>
              <a:rPr lang="en-IN" sz="2400" dirty="0"/>
              <a:t>A few Trojan categories are command-shell Trojans, graphical user interface (GUI) Trojans, HTTP/HTTPS Trojans, document Trojans, defacement Trojans, botnet Trojans, Virtual Network Computing (VNC) Trojans, remote-access Trojans, data-hiding Trojans, banking Trojans, DoS Trojans, FTP Trojans, software-disabling Trojans, and covert-channel Trojans. </a:t>
            </a:r>
          </a:p>
          <a:p>
            <a:pPr algn="l">
              <a:lnSpc>
                <a:spcPct val="120000"/>
              </a:lnSpc>
              <a:spcBef>
                <a:spcPts val="50"/>
              </a:spcBef>
              <a:spcAft>
                <a:spcPts val="50"/>
              </a:spcAft>
            </a:pPr>
            <a:r>
              <a:rPr lang="en-IN" sz="2400" dirty="0"/>
              <a:t>              In reality, it’s hard to place some Trojans into a single type because many have more than one function.</a:t>
            </a:r>
          </a:p>
          <a:p>
            <a:pPr algn="l">
              <a:lnSpc>
                <a:spcPct val="120000"/>
              </a:lnSpc>
              <a:spcBef>
                <a:spcPts val="50"/>
              </a:spcBef>
              <a:spcAft>
                <a:spcPts val="50"/>
              </a:spcAft>
            </a:pPr>
            <a:endParaRPr lang="en-US" sz="2400" dirty="0"/>
          </a:p>
          <a:p>
            <a:pPr algn="l">
              <a:lnSpc>
                <a:spcPct val="120000"/>
              </a:lnSpc>
              <a:spcBef>
                <a:spcPts val="50"/>
              </a:spcBef>
              <a:spcAft>
                <a:spcPts val="50"/>
              </a:spcAft>
            </a:pPr>
            <a:r>
              <a:rPr lang="en-US" sz="2400" b="1" dirty="0">
                <a:highlight>
                  <a:srgbClr val="FFFF00"/>
                </a:highlight>
                <a:sym typeface="Wingdings" panose="05000000000000000000" pitchFamily="2" charset="2"/>
              </a:rPr>
              <a:t>Trojans can do:</a:t>
            </a:r>
          </a:p>
          <a:p>
            <a:pPr algn="l">
              <a:lnSpc>
                <a:spcPct val="120000"/>
              </a:lnSpc>
              <a:spcBef>
                <a:spcPts val="50"/>
              </a:spcBef>
              <a:spcAft>
                <a:spcPts val="50"/>
              </a:spcAft>
            </a:pPr>
            <a:r>
              <a:rPr lang="en-US" sz="2200" b="1" dirty="0">
                <a:sym typeface="Wingdings" panose="05000000000000000000" pitchFamily="2" charset="2"/>
              </a:rPr>
              <a:t>Remote access -- </a:t>
            </a:r>
            <a:r>
              <a:rPr lang="en-US" sz="2200" dirty="0">
                <a:sym typeface="Wingdings" panose="05000000000000000000" pitchFamily="2" charset="2"/>
              </a:rPr>
              <a:t>Poison </a:t>
            </a:r>
            <a:r>
              <a:rPr lang="en-US" sz="2200" dirty="0" err="1">
                <a:sym typeface="Wingdings" panose="05000000000000000000" pitchFamily="2" charset="2"/>
              </a:rPr>
              <a:t>evy</a:t>
            </a:r>
            <a:endParaRPr lang="en-US" sz="2200" dirty="0">
              <a:sym typeface="Wingdings" panose="05000000000000000000" pitchFamily="2" charset="2"/>
            </a:endParaRPr>
          </a:p>
          <a:p>
            <a:pPr algn="l">
              <a:lnSpc>
                <a:spcPct val="120000"/>
              </a:lnSpc>
              <a:spcBef>
                <a:spcPts val="50"/>
              </a:spcBef>
              <a:spcAft>
                <a:spcPts val="50"/>
              </a:spcAft>
            </a:pPr>
            <a:r>
              <a:rPr lang="en-US" sz="2200" b="1" dirty="0">
                <a:sym typeface="Wingdings" panose="05000000000000000000" pitchFamily="2" charset="2"/>
              </a:rPr>
              <a:t>Data hiding -- </a:t>
            </a:r>
            <a:r>
              <a:rPr lang="en-US" sz="2200" dirty="0">
                <a:sym typeface="Wingdings" panose="05000000000000000000" pitchFamily="2" charset="2"/>
              </a:rPr>
              <a:t>it is a ransomware attack, the actor restrict to access the pc which one is infected and the data is present </a:t>
            </a:r>
          </a:p>
          <a:p>
            <a:pPr algn="l">
              <a:lnSpc>
                <a:spcPct val="120000"/>
              </a:lnSpc>
              <a:spcBef>
                <a:spcPts val="50"/>
              </a:spcBef>
              <a:spcAft>
                <a:spcPts val="50"/>
              </a:spcAft>
            </a:pPr>
            <a:r>
              <a:rPr lang="en-US" sz="2200" b="1" dirty="0" err="1">
                <a:sym typeface="Wingdings" panose="05000000000000000000" pitchFamily="2" charset="2"/>
              </a:rPr>
              <a:t>Ebanking</a:t>
            </a:r>
            <a:r>
              <a:rPr lang="en-US" sz="2200" b="1" dirty="0">
                <a:sym typeface="Wingdings" panose="05000000000000000000" pitchFamily="2" charset="2"/>
              </a:rPr>
              <a:t> --</a:t>
            </a:r>
            <a:r>
              <a:rPr lang="en-US" sz="2200" dirty="0">
                <a:sym typeface="Wingdings" panose="05000000000000000000" pitchFamily="2" charset="2"/>
              </a:rPr>
              <a:t> (use HTML injection), Dos, Proxy (hacker use affected computers, the farther away the hacker is from crime, the harder it becomes to trace him)</a:t>
            </a:r>
          </a:p>
          <a:p>
            <a:pPr algn="l">
              <a:lnSpc>
                <a:spcPct val="120000"/>
              </a:lnSpc>
              <a:spcBef>
                <a:spcPts val="50"/>
              </a:spcBef>
              <a:spcAft>
                <a:spcPts val="50"/>
              </a:spcAft>
            </a:pPr>
            <a:r>
              <a:rPr lang="en-US" sz="2200" b="1" dirty="0"/>
              <a:t>FTP --</a:t>
            </a:r>
            <a:r>
              <a:rPr lang="en-US" sz="2200" dirty="0"/>
              <a:t> (These Trojans are specifically designed to work on port 21. They allow the hacker or others to upload, download, or move files at will on the victim’s machine)</a:t>
            </a:r>
          </a:p>
          <a:p>
            <a:pPr algn="l">
              <a:lnSpc>
                <a:spcPct val="120000"/>
              </a:lnSpc>
              <a:spcBef>
                <a:spcPts val="50"/>
              </a:spcBef>
              <a:spcAft>
                <a:spcPts val="50"/>
              </a:spcAft>
            </a:pPr>
            <a:r>
              <a:rPr lang="en-IN" sz="2200" b="1" dirty="0"/>
              <a:t>Security-software disablers -- </a:t>
            </a:r>
            <a:r>
              <a:rPr lang="en-IN" sz="2200" dirty="0"/>
              <a:t>disables the antivirus on a device. </a:t>
            </a:r>
            <a:r>
              <a:rPr lang="en-US" sz="2200" dirty="0"/>
              <a:t>The goal of disabling these programs is to make it easier for the hacker to control the system</a:t>
            </a:r>
            <a:endParaRPr lang="en-US" sz="2200" dirty="0">
              <a:sym typeface="Wingdings" panose="05000000000000000000" pitchFamily="2" charset="2"/>
            </a:endParaRPr>
          </a:p>
        </p:txBody>
      </p:sp>
    </p:spTree>
    <p:extLst>
      <p:ext uri="{BB962C8B-B14F-4D97-AF65-F5344CB8AC3E}">
        <p14:creationId xmlns:p14="http://schemas.microsoft.com/office/powerpoint/2010/main" val="1194034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469C-B014-D1F2-3DE0-D14633B35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B9144-65D3-4356-02F3-438C6AD9CFCF}"/>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Trojans</a:t>
            </a:r>
            <a:endParaRPr lang="en-IN" sz="4000" b="1" dirty="0">
              <a:solidFill>
                <a:schemeClr val="bg1"/>
              </a:solidFill>
            </a:endParaRPr>
          </a:p>
        </p:txBody>
      </p:sp>
      <p:sp>
        <p:nvSpPr>
          <p:cNvPr id="3" name="Subtitle 2">
            <a:extLst>
              <a:ext uri="{FF2B5EF4-FFF2-40B4-BE49-F238E27FC236}">
                <a16:creationId xmlns:a16="http://schemas.microsoft.com/office/drawing/2014/main" id="{4368D43B-05C2-DC68-6FE3-34D0CAE5B31C}"/>
              </a:ext>
            </a:extLst>
          </p:cNvPr>
          <p:cNvSpPr>
            <a:spLocks noGrp="1"/>
          </p:cNvSpPr>
          <p:nvPr>
            <p:ph type="subTitle" idx="1"/>
          </p:nvPr>
        </p:nvSpPr>
        <p:spPr>
          <a:xfrm>
            <a:off x="-1" y="787859"/>
            <a:ext cx="8999538" cy="10011904"/>
          </a:xfrm>
        </p:spPr>
        <p:txBody>
          <a:bodyPr>
            <a:normAutofit/>
          </a:bodyPr>
          <a:lstStyle/>
          <a:p>
            <a:pPr marL="342900" indent="-342900" algn="l">
              <a:lnSpc>
                <a:spcPct val="120000"/>
              </a:lnSpc>
              <a:spcBef>
                <a:spcPts val="50"/>
              </a:spcBef>
              <a:spcAft>
                <a:spcPts val="50"/>
              </a:spcAft>
              <a:buFont typeface="Wingdings" panose="05000000000000000000" pitchFamily="2" charset="2"/>
              <a:buChar char="q"/>
            </a:pPr>
            <a:r>
              <a:rPr lang="en-US" sz="2400" dirty="0">
                <a:sym typeface="Wingdings" panose="05000000000000000000" pitchFamily="2" charset="2"/>
              </a:rPr>
              <a:t>Malware distribution today is more advanced because attackers use multiple layers of obfuscation and encryption to avoid detection. Some common techniques are:</a:t>
            </a:r>
          </a:p>
          <a:p>
            <a:pPr marL="514350" indent="-514350" algn="l">
              <a:lnSpc>
                <a:spcPct val="120000"/>
              </a:lnSpc>
              <a:spcBef>
                <a:spcPts val="50"/>
              </a:spcBef>
              <a:spcAft>
                <a:spcPts val="50"/>
              </a:spcAft>
              <a:buFont typeface="+mj-lt"/>
              <a:buAutoNum type="romanLcPeriod"/>
            </a:pPr>
            <a:r>
              <a:rPr lang="en-US" sz="2400" dirty="0">
                <a:sym typeface="Wingdings" panose="05000000000000000000" pitchFamily="2" charset="2"/>
              </a:rPr>
              <a:t>Wrappers (Binders): Combine malicious code with legitimate programs to trick users. For example, a game installer might secretly install malware.</a:t>
            </a:r>
          </a:p>
          <a:p>
            <a:pPr marL="514350" indent="-514350" algn="l">
              <a:lnSpc>
                <a:spcPct val="120000"/>
              </a:lnSpc>
              <a:spcBef>
                <a:spcPts val="50"/>
              </a:spcBef>
              <a:spcAft>
                <a:spcPts val="50"/>
              </a:spcAft>
              <a:buFont typeface="+mj-lt"/>
              <a:buAutoNum type="romanLcPeriod"/>
            </a:pPr>
            <a:r>
              <a:rPr lang="en-US" sz="2400" dirty="0">
                <a:sym typeface="Wingdings" panose="05000000000000000000" pitchFamily="2" charset="2"/>
              </a:rPr>
              <a:t>Packers: Compress and hide the malware code. The code is only unpacked in memory at runtime, which helps bypass antivirus and IDS systems.</a:t>
            </a:r>
          </a:p>
          <a:p>
            <a:pPr marL="514350" indent="-514350" algn="l">
              <a:lnSpc>
                <a:spcPct val="120000"/>
              </a:lnSpc>
              <a:spcBef>
                <a:spcPts val="50"/>
              </a:spcBef>
              <a:spcAft>
                <a:spcPts val="50"/>
              </a:spcAft>
              <a:buFont typeface="+mj-lt"/>
              <a:buAutoNum type="romanLcPeriod"/>
            </a:pPr>
            <a:r>
              <a:rPr lang="en-US" sz="2400" dirty="0">
                <a:sym typeface="Wingdings" panose="05000000000000000000" pitchFamily="2" charset="2"/>
              </a:rPr>
              <a:t>Droppers: Special programs whose main job is to install the actual malware payload on the victim’s system while trying to evade detection.</a:t>
            </a:r>
          </a:p>
          <a:p>
            <a:pPr marL="514350" indent="-514350" algn="l">
              <a:lnSpc>
                <a:spcPct val="120000"/>
              </a:lnSpc>
              <a:spcBef>
                <a:spcPts val="50"/>
              </a:spcBef>
              <a:spcAft>
                <a:spcPts val="50"/>
              </a:spcAft>
              <a:buFont typeface="+mj-lt"/>
              <a:buAutoNum type="romanLcPeriod"/>
            </a:pPr>
            <a:r>
              <a:rPr lang="en-US" sz="2400" dirty="0" err="1">
                <a:sym typeface="Wingdings" panose="05000000000000000000" pitchFamily="2" charset="2"/>
              </a:rPr>
              <a:t>Crypters</a:t>
            </a:r>
            <a:r>
              <a:rPr lang="en-US" sz="2400" dirty="0">
                <a:sym typeface="Wingdings" panose="05000000000000000000" pitchFamily="2" charset="2"/>
              </a:rPr>
              <a:t>: Encrypt or obfuscate the malware code using algorithms like AES or simple encodings like XOR or Base64, making it harder for antivirus tools and reverse engineers to analyze.</a:t>
            </a:r>
          </a:p>
          <a:p>
            <a:pPr algn="l">
              <a:lnSpc>
                <a:spcPct val="120000"/>
              </a:lnSpc>
              <a:spcBef>
                <a:spcPts val="50"/>
              </a:spcBef>
              <a:spcAft>
                <a:spcPts val="50"/>
              </a:spcAft>
            </a:pPr>
            <a:r>
              <a:rPr lang="en-US" sz="2400" b="1" dirty="0">
                <a:sym typeface="Wingdings" panose="05000000000000000000" pitchFamily="2" charset="2"/>
              </a:rPr>
              <a:t>aim:</a:t>
            </a:r>
            <a:r>
              <a:rPr lang="en-US" sz="2400" dirty="0">
                <a:sym typeface="Wingdings" panose="05000000000000000000" pitchFamily="2" charset="2"/>
              </a:rPr>
              <a:t> The main idea is that these techniques make modern malware harder to detect and easier for attackers to bypass traditional defenses.</a:t>
            </a:r>
          </a:p>
        </p:txBody>
      </p:sp>
    </p:spTree>
    <p:extLst>
      <p:ext uri="{BB962C8B-B14F-4D97-AF65-F5344CB8AC3E}">
        <p14:creationId xmlns:p14="http://schemas.microsoft.com/office/powerpoint/2010/main" val="3778806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06DF5-3634-FFBA-F9BE-573D37A8D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0A3FD-B741-51B6-C6B7-9CDE381AF301}"/>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short notes on threats</a:t>
            </a:r>
            <a:endParaRPr lang="en-IN" sz="4000" b="1" dirty="0">
              <a:solidFill>
                <a:schemeClr val="bg1"/>
              </a:solidFill>
            </a:endParaRPr>
          </a:p>
        </p:txBody>
      </p:sp>
      <p:sp>
        <p:nvSpPr>
          <p:cNvPr id="3" name="Subtitle 2">
            <a:extLst>
              <a:ext uri="{FF2B5EF4-FFF2-40B4-BE49-F238E27FC236}">
                <a16:creationId xmlns:a16="http://schemas.microsoft.com/office/drawing/2014/main" id="{77E057AC-5C9E-F86A-D594-BC6856655743}"/>
              </a:ext>
            </a:extLst>
          </p:cNvPr>
          <p:cNvSpPr>
            <a:spLocks noGrp="1"/>
          </p:cNvSpPr>
          <p:nvPr>
            <p:ph type="subTitle" idx="1"/>
          </p:nvPr>
        </p:nvSpPr>
        <p:spPr>
          <a:xfrm>
            <a:off x="-1" y="787859"/>
            <a:ext cx="8999538" cy="10011904"/>
          </a:xfrm>
        </p:spPr>
        <p:txBody>
          <a:bodyPr>
            <a:normAutofit/>
          </a:bodyPr>
          <a:lstStyle/>
          <a:p>
            <a:pPr algn="l">
              <a:lnSpc>
                <a:spcPct val="120000"/>
              </a:lnSpc>
              <a:spcBef>
                <a:spcPts val="50"/>
              </a:spcBef>
              <a:spcAft>
                <a:spcPts val="50"/>
              </a:spcAft>
            </a:pPr>
            <a:r>
              <a:rPr lang="en-US" sz="2200" b="1" dirty="0">
                <a:highlight>
                  <a:srgbClr val="FFFF00"/>
                </a:highlight>
                <a:sym typeface="Wingdings" panose="05000000000000000000" pitchFamily="2" charset="2"/>
              </a:rPr>
              <a:t>Viruses and Worms:</a:t>
            </a:r>
          </a:p>
          <a:p>
            <a:pPr algn="l">
              <a:lnSpc>
                <a:spcPct val="120000"/>
              </a:lnSpc>
              <a:spcBef>
                <a:spcPts val="50"/>
              </a:spcBef>
              <a:spcAft>
                <a:spcPts val="50"/>
              </a:spcAft>
            </a:pPr>
            <a:r>
              <a:rPr lang="en-US" sz="2200" dirty="0">
                <a:sym typeface="Wingdings" panose="05000000000000000000" pitchFamily="2" charset="2"/>
              </a:rPr>
              <a:t>A virus is malicious code that attaches itself to files and needs user action to spread, while worms are self-replicating and spread automatically across networks. For example, worms like WannaCry exploited unpatched systems to spread rapidly. Both can cause data loss and network disruption.</a:t>
            </a:r>
          </a:p>
          <a:p>
            <a:pPr algn="l">
              <a:lnSpc>
                <a:spcPct val="120000"/>
              </a:lnSpc>
              <a:spcBef>
                <a:spcPts val="50"/>
              </a:spcBef>
              <a:spcAft>
                <a:spcPts val="50"/>
              </a:spcAft>
            </a:pPr>
            <a:r>
              <a:rPr lang="en-US" sz="2200" b="1" dirty="0">
                <a:highlight>
                  <a:srgbClr val="FFFF00"/>
                </a:highlight>
                <a:sym typeface="Wingdings" panose="05000000000000000000" pitchFamily="2" charset="2"/>
              </a:rPr>
              <a:t>Trojans:</a:t>
            </a:r>
          </a:p>
          <a:p>
            <a:pPr algn="l">
              <a:lnSpc>
                <a:spcPct val="120000"/>
              </a:lnSpc>
              <a:spcBef>
                <a:spcPts val="50"/>
              </a:spcBef>
              <a:spcAft>
                <a:spcPts val="50"/>
              </a:spcAft>
            </a:pPr>
            <a:r>
              <a:rPr lang="en-US" sz="2200" dirty="0">
                <a:sym typeface="Wingdings" panose="05000000000000000000" pitchFamily="2" charset="2"/>
              </a:rPr>
              <a:t>A Trojan looks like legitimate software but hides malicious intent. For example, a fake game or utility might actually install a backdoor. Unlike worms, Trojans don’t self-replicate but are often used to gain remote access or install additional malware.</a:t>
            </a:r>
          </a:p>
          <a:p>
            <a:pPr algn="l">
              <a:lnSpc>
                <a:spcPct val="120000"/>
              </a:lnSpc>
              <a:spcBef>
                <a:spcPts val="50"/>
              </a:spcBef>
              <a:spcAft>
                <a:spcPts val="50"/>
              </a:spcAft>
            </a:pPr>
            <a:r>
              <a:rPr lang="en-US" sz="2200" b="1" dirty="0">
                <a:highlight>
                  <a:srgbClr val="FFFF00"/>
                </a:highlight>
                <a:sym typeface="Wingdings" panose="05000000000000000000" pitchFamily="2" charset="2"/>
              </a:rPr>
              <a:t>Distributing Malware:</a:t>
            </a:r>
          </a:p>
          <a:p>
            <a:pPr algn="l">
              <a:lnSpc>
                <a:spcPct val="120000"/>
              </a:lnSpc>
              <a:spcBef>
                <a:spcPts val="50"/>
              </a:spcBef>
              <a:spcAft>
                <a:spcPts val="50"/>
              </a:spcAft>
            </a:pPr>
            <a:r>
              <a:rPr lang="en-US" sz="2200" dirty="0">
                <a:sym typeface="Wingdings" panose="05000000000000000000" pitchFamily="2" charset="2"/>
              </a:rPr>
              <a:t>Malware is distributed through vectors like phishing emails, malicious websites, drive-by downloads, or even USB devices. Attackers also use advanced methods like supply chain attacks and watering hole attacks to target specific organizations.</a:t>
            </a:r>
          </a:p>
          <a:p>
            <a:pPr algn="l">
              <a:lnSpc>
                <a:spcPct val="120000"/>
              </a:lnSpc>
              <a:spcBef>
                <a:spcPts val="50"/>
              </a:spcBef>
              <a:spcAft>
                <a:spcPts val="50"/>
              </a:spcAft>
            </a:pPr>
            <a:r>
              <a:rPr lang="en-US" sz="2200" b="1" dirty="0">
                <a:highlight>
                  <a:srgbClr val="FFFF00"/>
                </a:highlight>
                <a:sym typeface="Wingdings" panose="05000000000000000000" pitchFamily="2" charset="2"/>
              </a:rPr>
              <a:t>Ransomware:</a:t>
            </a:r>
          </a:p>
          <a:p>
            <a:pPr algn="l">
              <a:lnSpc>
                <a:spcPct val="120000"/>
              </a:lnSpc>
              <a:spcBef>
                <a:spcPts val="50"/>
              </a:spcBef>
              <a:spcAft>
                <a:spcPts val="50"/>
              </a:spcAft>
            </a:pPr>
            <a:r>
              <a:rPr lang="en-US" sz="2200" dirty="0">
                <a:sym typeface="Wingdings" panose="05000000000000000000" pitchFamily="2" charset="2"/>
              </a:rPr>
              <a:t>Ransomware encrypts files and demands payment, usually in cryptocurrency. A common example is WannaCry. It spreads through phishing or unpatched systems. The best defense is regular backups, patch management, and endpoint security.</a:t>
            </a:r>
          </a:p>
          <a:p>
            <a:pPr algn="l">
              <a:lnSpc>
                <a:spcPct val="120000"/>
              </a:lnSpc>
              <a:spcBef>
                <a:spcPts val="50"/>
              </a:spcBef>
              <a:spcAft>
                <a:spcPts val="50"/>
              </a:spcAft>
            </a:pPr>
            <a:endParaRPr lang="en-US" sz="2200" dirty="0">
              <a:sym typeface="Wingdings" panose="05000000000000000000" pitchFamily="2" charset="2"/>
            </a:endParaRPr>
          </a:p>
        </p:txBody>
      </p:sp>
    </p:spTree>
    <p:extLst>
      <p:ext uri="{BB962C8B-B14F-4D97-AF65-F5344CB8AC3E}">
        <p14:creationId xmlns:p14="http://schemas.microsoft.com/office/powerpoint/2010/main" val="1371248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BCD69-DBEF-2622-A369-B620E2C2B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C7E64-2AAA-C21D-2EEB-7D9E2ADA33A2}"/>
              </a:ext>
            </a:extLst>
          </p:cNvPr>
          <p:cNvSpPr>
            <a:spLocks noGrp="1"/>
          </p:cNvSpPr>
          <p:nvPr>
            <p:ph type="ctrTitle"/>
          </p:nvPr>
        </p:nvSpPr>
        <p:spPr>
          <a:xfrm>
            <a:off x="0" y="0"/>
            <a:ext cx="8999538" cy="628497"/>
          </a:xfrm>
          <a:solidFill>
            <a:schemeClr val="accent1"/>
          </a:solidFill>
        </p:spPr>
        <p:txBody>
          <a:bodyPr>
            <a:noAutofit/>
          </a:bodyPr>
          <a:lstStyle/>
          <a:p>
            <a:pPr algn="l"/>
            <a:br>
              <a:rPr lang="en-US" sz="4000" b="1" dirty="0">
                <a:solidFill>
                  <a:schemeClr val="bg1"/>
                </a:solidFill>
              </a:rPr>
            </a:br>
            <a:r>
              <a:rPr lang="en-US" sz="4000" b="1" dirty="0">
                <a:solidFill>
                  <a:schemeClr val="bg1"/>
                </a:solidFill>
              </a:rPr>
              <a:t>			        Trojans</a:t>
            </a:r>
            <a:endParaRPr lang="en-IN" sz="4000" b="1" dirty="0">
              <a:solidFill>
                <a:schemeClr val="bg1"/>
              </a:solidFill>
            </a:endParaRPr>
          </a:p>
        </p:txBody>
      </p:sp>
      <p:sp>
        <p:nvSpPr>
          <p:cNvPr id="3" name="Subtitle 2">
            <a:extLst>
              <a:ext uri="{FF2B5EF4-FFF2-40B4-BE49-F238E27FC236}">
                <a16:creationId xmlns:a16="http://schemas.microsoft.com/office/drawing/2014/main" id="{925C0E2A-4984-86DC-8372-7DCE9D6C500E}"/>
              </a:ext>
            </a:extLst>
          </p:cNvPr>
          <p:cNvSpPr>
            <a:spLocks noGrp="1"/>
          </p:cNvSpPr>
          <p:nvPr>
            <p:ph type="subTitle" idx="1"/>
          </p:nvPr>
        </p:nvSpPr>
        <p:spPr>
          <a:xfrm>
            <a:off x="-1" y="787859"/>
            <a:ext cx="8999538" cy="10011904"/>
          </a:xfrm>
        </p:spPr>
        <p:txBody>
          <a:bodyPr>
            <a:normAutofit/>
          </a:bodyPr>
          <a:lstStyle/>
          <a:p>
            <a:pPr algn="l">
              <a:lnSpc>
                <a:spcPct val="120000"/>
              </a:lnSpc>
              <a:spcBef>
                <a:spcPts val="50"/>
              </a:spcBef>
              <a:spcAft>
                <a:spcPts val="50"/>
              </a:spcAft>
            </a:pPr>
            <a:r>
              <a:rPr lang="en-US" sz="2200" b="1" dirty="0">
                <a:highlight>
                  <a:srgbClr val="FFFF00"/>
                </a:highlight>
                <a:sym typeface="Wingdings" panose="05000000000000000000" pitchFamily="2" charset="2"/>
              </a:rPr>
              <a:t>Keyloggers</a:t>
            </a:r>
          </a:p>
          <a:p>
            <a:pPr algn="l">
              <a:lnSpc>
                <a:spcPct val="120000"/>
              </a:lnSpc>
              <a:spcBef>
                <a:spcPts val="50"/>
              </a:spcBef>
              <a:spcAft>
                <a:spcPts val="50"/>
              </a:spcAft>
            </a:pPr>
            <a:r>
              <a:rPr lang="en-US" sz="2200" dirty="0">
                <a:sym typeface="Wingdings" panose="05000000000000000000" pitchFamily="2" charset="2"/>
              </a:rPr>
              <a:t>Keyloggers capture keystrokes to steal credentials or financial data. They can be software-based (installed by Trojans) or hardware-based (plugged into the system). Attackers use them for credential theft.</a:t>
            </a:r>
          </a:p>
          <a:p>
            <a:pPr algn="l">
              <a:lnSpc>
                <a:spcPct val="120000"/>
              </a:lnSpc>
              <a:spcBef>
                <a:spcPts val="50"/>
              </a:spcBef>
              <a:spcAft>
                <a:spcPts val="50"/>
              </a:spcAft>
            </a:pPr>
            <a:r>
              <a:rPr lang="en-US" sz="2200" b="1" dirty="0">
                <a:highlight>
                  <a:srgbClr val="FFFF00"/>
                </a:highlight>
                <a:sym typeface="Wingdings" panose="05000000000000000000" pitchFamily="2" charset="2"/>
              </a:rPr>
              <a:t>Spyware</a:t>
            </a:r>
          </a:p>
          <a:p>
            <a:pPr algn="l">
              <a:lnSpc>
                <a:spcPct val="120000"/>
              </a:lnSpc>
              <a:spcBef>
                <a:spcPts val="50"/>
              </a:spcBef>
              <a:spcAft>
                <a:spcPts val="50"/>
              </a:spcAft>
            </a:pPr>
            <a:r>
              <a:rPr lang="en-US" sz="2200" dirty="0">
                <a:sym typeface="Wingdings" panose="05000000000000000000" pitchFamily="2" charset="2"/>
              </a:rPr>
              <a:t>Spyware secretly monitors user activity, collects browsing data, or redirects searches. It’s often bundled with free software or adware and can be used for identity theft or targeted advertising.</a:t>
            </a:r>
          </a:p>
          <a:p>
            <a:pPr algn="l">
              <a:lnSpc>
                <a:spcPct val="120000"/>
              </a:lnSpc>
              <a:spcBef>
                <a:spcPts val="50"/>
              </a:spcBef>
              <a:spcAft>
                <a:spcPts val="50"/>
              </a:spcAft>
            </a:pPr>
            <a:r>
              <a:rPr lang="en-US" sz="2200" b="1" dirty="0">
                <a:highlight>
                  <a:srgbClr val="FFFF00"/>
                </a:highlight>
                <a:sym typeface="Wingdings" panose="05000000000000000000" pitchFamily="2" charset="2"/>
              </a:rPr>
              <a:t>Analyzing Malware</a:t>
            </a:r>
          </a:p>
          <a:p>
            <a:pPr algn="l">
              <a:lnSpc>
                <a:spcPct val="120000"/>
              </a:lnSpc>
              <a:spcBef>
                <a:spcPts val="50"/>
              </a:spcBef>
              <a:spcAft>
                <a:spcPts val="50"/>
              </a:spcAft>
            </a:pPr>
            <a:r>
              <a:rPr lang="en-US" sz="2200" dirty="0">
                <a:sym typeface="Wingdings" panose="05000000000000000000" pitchFamily="2" charset="2"/>
              </a:rPr>
              <a:t>Malware analysis helps us understand how a malicious file behaves. We use two approaches — static analysis, where we study the code without executing it, and dynamic analysis, where we run it in a sandbox to observe behavior. This helps detect Indicators of Compromise (IOCs).</a:t>
            </a:r>
          </a:p>
          <a:p>
            <a:pPr algn="l">
              <a:lnSpc>
                <a:spcPct val="120000"/>
              </a:lnSpc>
              <a:spcBef>
                <a:spcPts val="50"/>
              </a:spcBef>
              <a:spcAft>
                <a:spcPts val="50"/>
              </a:spcAft>
            </a:pPr>
            <a:r>
              <a:rPr lang="en-US" sz="2200" b="1" dirty="0">
                <a:highlight>
                  <a:srgbClr val="FFFF00"/>
                </a:highlight>
                <a:sym typeface="Wingdings" panose="05000000000000000000" pitchFamily="2" charset="2"/>
              </a:rPr>
              <a:t>Static Analysis</a:t>
            </a:r>
          </a:p>
          <a:p>
            <a:pPr algn="l">
              <a:lnSpc>
                <a:spcPct val="120000"/>
              </a:lnSpc>
              <a:spcBef>
                <a:spcPts val="50"/>
              </a:spcBef>
              <a:spcAft>
                <a:spcPts val="50"/>
              </a:spcAft>
            </a:pPr>
            <a:r>
              <a:rPr lang="en-US" sz="2200" dirty="0">
                <a:sym typeface="Wingdings" panose="05000000000000000000" pitchFamily="2" charset="2"/>
              </a:rPr>
              <a:t>Static analysis means inspecting the malware without running it — checking file signatures, imports, and embedded strings, or disassembling code. It’s safe and quick but doesn’t always reveal runtime behavior.</a:t>
            </a:r>
          </a:p>
        </p:txBody>
      </p:sp>
    </p:spTree>
    <p:extLst>
      <p:ext uri="{BB962C8B-B14F-4D97-AF65-F5344CB8AC3E}">
        <p14:creationId xmlns:p14="http://schemas.microsoft.com/office/powerpoint/2010/main" val="30509616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1709</TotalTime>
  <Words>3035</Words>
  <Application>Microsoft Office PowerPoint</Application>
  <PresentationFormat>Custom</PresentationFormat>
  <Paragraphs>148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 (1)                            Security</vt:lpstr>
      <vt:lpstr> (1)                          EX: Vulnerability</vt:lpstr>
      <vt:lpstr>     Threats</vt:lpstr>
      <vt:lpstr>     Threats</vt:lpstr>
      <vt:lpstr>       Threat Actors</vt:lpstr>
      <vt:lpstr>       Common Threats</vt:lpstr>
      <vt:lpstr>       Common Threats</vt:lpstr>
      <vt:lpstr>       Common Threats</vt:lpstr>
      <vt:lpstr>       Virus Components (pr le)</vt:lpstr>
      <vt:lpstr>       Virus Components</vt:lpstr>
      <vt:lpstr>            Trojans</vt:lpstr>
      <vt:lpstr>            Trojans</vt:lpstr>
      <vt:lpstr>             short notes on threats</vt:lpstr>
      <vt:lpstr>            Trojans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19</cp:revision>
  <dcterms:created xsi:type="dcterms:W3CDTF">2025-07-30T08:21:29Z</dcterms:created>
  <dcterms:modified xsi:type="dcterms:W3CDTF">2025-08-28T08:23:22Z</dcterms:modified>
</cp:coreProperties>
</file>