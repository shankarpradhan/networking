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1"/>
  </p:notesMasterIdLst>
  <p:sldIdLst>
    <p:sldId id="256" r:id="rId2"/>
    <p:sldId id="257" r:id="rId3"/>
    <p:sldId id="258" r:id="rId4"/>
    <p:sldId id="261" r:id="rId5"/>
    <p:sldId id="295" r:id="rId6"/>
    <p:sldId id="263" r:id="rId7"/>
    <p:sldId id="264" r:id="rId8"/>
    <p:sldId id="265" r:id="rId9"/>
    <p:sldId id="266" r:id="rId10"/>
    <p:sldId id="267" r:id="rId11"/>
    <p:sldId id="268" r:id="rId12"/>
    <p:sldId id="306" r:id="rId13"/>
    <p:sldId id="269" r:id="rId14"/>
    <p:sldId id="270" r:id="rId15"/>
    <p:sldId id="271" r:id="rId16"/>
    <p:sldId id="273" r:id="rId17"/>
    <p:sldId id="272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6" r:id="rId39"/>
    <p:sldId id="297" r:id="rId40"/>
    <p:sldId id="298" r:id="rId41"/>
    <p:sldId id="299" r:id="rId42"/>
    <p:sldId id="300" r:id="rId43"/>
    <p:sldId id="301" r:id="rId44"/>
    <p:sldId id="302" r:id="rId45"/>
    <p:sldId id="303" r:id="rId46"/>
    <p:sldId id="304" r:id="rId47"/>
    <p:sldId id="305" r:id="rId48"/>
    <p:sldId id="260" r:id="rId49"/>
    <p:sldId id="294" r:id="rId50"/>
  </p:sldIdLst>
  <p:sldSz cx="6858000" cy="89995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903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C"/>
    <a:srgbClr val="2218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60" d="100"/>
          <a:sy n="60" d="100"/>
        </p:scale>
        <p:origin x="2486" y="53"/>
      </p:cViewPr>
      <p:guideLst>
        <p:guide orient="horz" pos="2903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49:34.5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2427 98 24575,'-65'-2'0,"-78"-14"0,36 3 0,3 2 0,-757-44 0,725 58 0,-208 33 0,201-17 0,69-10 0,-105 25 0,137-20 0,-67 33 0,101-43 0,-12 5-455,1 1 0,-35 24 0,35-19-6371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49:36.3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279 1 24575,'-1'19'0,"-2"-1"0,0 1 0,-1 0 0,0-1 0,-13 32 0,5-15 0,-133 395 0,85-265 0,37-108 0,22-55 0,0 0 0,0-1 0,0 1 0,1 0 0,-1 0 0,1 0 0,-1-1 0,1 1 0,0 0 0,0 0 0,0 0 0,0 0 0,0 0 0,0-1 0,0 1 0,1 0 0,-1 0 0,0 0 0,1 0 0,0-1 0,-1 1 0,1 0 0,0-1 0,0 1 0,0 0 0,0-1 0,0 1 0,0-1 0,1 0 0,-1 1 0,3 1 0,-1-1 0,1-1 0,0 1 0,0-1 0,0 1 0,0-1 0,0 0 0,0-1 0,0 1 0,0-1 0,0 0 0,0 0 0,0 0 0,0 0 0,5-2 0,113-13 0,144 0 0,-191 14 0,121 4 0,-163 2-1365,-6 2-5461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49:44.6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58 24575,'0'1'0,"0"0"0,0 0 0,0 0 0,1 0 0,-1-1 0,0 1 0,1 0 0,-1 0 0,0 0 0,1 0 0,-1-1 0,1 1 0,-1 0 0,1 0 0,0-1 0,-1 1 0,1-1 0,0 1 0,-1 0 0,1-1 0,0 1 0,0-1 0,0 0 0,-1 1 0,1-1 0,0 1 0,0-1 0,0 0 0,0 0 0,0 0 0,0 0 0,0 1 0,-1-1 0,1 0 0,0 0 0,0-1 0,0 1 0,0 0 0,0 0 0,0 0 0,0-1 0,0 1 0,-1 0 0,1-1 0,0 1 0,0-1 0,0 1 0,-1-1 0,1 1 0,1-2 0,-1 2 0,-1 0 0,1-1 0,0 1 0,0-1 0,-1 1 0,1-1 0,0 1 0,-1-1 0,1 0 0,-1 1 0,1-1 0,-1 0 0,1 1 0,-1-1 0,1 0 0,-1 0 0,0 1 0,1-1 0,-1 0 0,0 0 0,0 0 0,1-1 0,-2 1 0,1 0 0,0 0 0,-1 0 0,1 1 0,-1-1 0,0 0 0,1 0 0,-1 0 0,0 0 0,1 1 0,-1-1 0,0 0 0,0 0 0,0 1 0,1-1 0,-1 1 0,0-1 0,0 1 0,0-1 0,0 1 0,0 0 0,0-1 0,0 1 0,0 0 0,-2 0 0,2-1 0,-1 1 0,1 0 0,-1-1 0,1 1 0,0 0 0,-1 0 0,1 0 0,-1 0 0,1 0 0,-1 0 0,1 1 0,-1-1 0,1 0 0,0 1 0,-1-1 0,1 1 0,-1 0 0,1-1 0,0 1 0,0 0 0,0 0 0,-1 0 0,1 0 0,0 0 0,0 0 0,-1 2 0,0 0 0,0-1 0,0 1 0,1 0 0,0 0 0,-1 0 0,1 0 0,0 0 0,0 0 0,1 0 0,-1 0 0,1 0 0,-1 4 0,1-5 0,0 1 0,0-1 0,0 0 0,0 0 0,1 0 0,-1 0 0,0 0 0,1 0 0,0 0 0,-1 0 0,1 0 0,0 0 0,0 0 0,0 0 0,0-1 0,1 1 0,1 3 0,-1-5 0,-1 1 0,1 0 0,-1 0 0,1 0 0,-1-1 0,1 1 0,0-1 0,-1 1 0,1-1 0,0 0 0,-1 0 0,1 0 0,0 0 0,-1 0 0,1 0 0,0 0 0,0 0 0,-1-1 0,1 1 0,-1-1 0,1 1 0,0-1 0,-1 1 0,1-1 0,-1 0 0,2-1 0,2-1 0,0 0 0,-1 0 0,1-1 0,-1 0 0,0 0 0,0 0 0,-1 0 0,1 0 0,-1-1 0,0 1 0,0-1 0,4-9 0,-6 12 0,0 0 0,0 0 0,-1 0 0,1 1 0,0-1 0,-1 0 0,0 0 0,1 0 0,-1 0 0,0 0 0,0 0 0,0 0 0,0 0 0,0 0 0,0 0 0,-1 0 0,1 1 0,-1-1 0,1 0 0,-1 0 0,0 0 0,0 0 0,1 1 0,-1-1 0,-1 0 0,1 1 0,0-1 0,0 1 0,0-1 0,-1 1 0,1 0 0,-1-1 0,1 1 0,-1 0 0,0 0 0,1 0 0,-1 0 0,-3-1 0,2 1-68,0 1 0,0-1-1,0 1 1,0-1 0,0 1 0,0 0-1,0 0 1,0 0 0,0 1 0,0-1-1,0 1 1,0-1 0,0 1 0,1 0-1,-1 0 1,0 0 0,0 1-1,1-1 1,-5 4 0,-9 7-6758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0:13.4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264 361 24575,'2'-5'0,"0"0"0,0 0 0,1 1 0,-1-1 0,1 1 0,0-1 0,0 1 0,0 0 0,1 0 0,0 1 0,-1-1 0,7-3 0,1-4 0,-6 5 0,0-1 0,0 1 0,-1-1 0,0 0 0,0 0 0,-1-1 0,0 1 0,0-1 0,-1 1 0,0-1 0,0 0 0,0-10 0,0-2 0,0 0 0,-2-1 0,-4-32 0,4 49 0,0 1 0,-1 0 0,0 0 0,1 0 0,-1 0 0,0 0 0,-1 0 0,1 0 0,0 0 0,-1 0 0,0 1 0,1-1 0,-1 0 0,0 1 0,-1-1 0,1 1 0,0 0 0,-1 0 0,-2-2 0,1 1 0,-1 1 0,1 0 0,-1 0 0,0 1 0,1-1 0,-1 1 0,0 0 0,0 0 0,0 1 0,0-1 0,-6 1 0,-3 1 0,1 0 0,-1 1 0,1 1 0,0 0 0,0 1 0,0 0 0,0 1 0,-15 8 0,7-2 0,9-5 0,0 0 0,1 1 0,0 1 0,-13 10 0,20-14 0,1 0 0,-1 0 0,1 0 0,0 0 0,0 0 0,1 1 0,-1 0 0,1-1 0,0 1 0,0 0 0,1 0 0,-1 0 0,1 0 0,-1 9 0,2-12 0,-2 16 0,0 1 0,1-1 0,1 1 0,3 22 0,-3-37 0,0-1 0,1 1 0,0 0 0,0-1 0,0 1 0,0-1 0,0 0 0,1 1 0,0-1 0,-1 0 0,1 0 0,0 0 0,1 0 0,-1 0 0,0 0 0,1-1 0,0 1 0,-1-1 0,1 0 0,0 0 0,0 0 0,0 0 0,1 0 0,-1-1 0,0 1 0,1-1 0,-1 0 0,5 1 0,15 1-54,1-1-1,-1-2 1,35-2-1,-26 0-1092,-4 1-5679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49:39.9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0 617 24575,'2'-31'0,"1"0"0,11-45 0,-7 42 0,-3 18 0,1 0 0,0 0 0,14-26 0,-12 28 0,-1 0 0,0-1 0,-1 0 0,5-23 0,-5 0 0,-3-1 0,-1 0 0,-6-66 0,5 103 0,0 1 0,0-1 0,0 0 0,0 1 0,-1-1 0,1 1 0,0-1 0,-1 1 0,1-1 0,-1 1 0,0-1 0,1 1 0,-1-1 0,0 1 0,0 0 0,0-1 0,0 1 0,0 0 0,0 0 0,0 0 0,0 0 0,0 0 0,-1 0 0,1 0 0,0 0 0,-1 0 0,-2-1 0,3 3 0,-1-1 0,1 0 0,-1 1 0,1-1 0,0 1 0,-1-1 0,1 1 0,0 0 0,-1 0 0,1-1 0,0 1 0,0 0 0,-1 0 0,1 0 0,0 0 0,0 1 0,0-1 0,0 0 0,1 0 0,-1 1 0,0-1 0,0 0 0,1 1 0,-1-1 0,1 0 0,-1 1 0,1-1 0,0 1 0,-1 1 0,-5 27 0,1 1 0,2-1 0,0 1 0,2 0 0,5 49 0,-1-6 0,-2 580 0,-1-682 0,-1 14 0,0 0 0,1-1 0,1 1 0,1 0 0,0 0 0,0-1 0,2 2 0,-1-1 0,10-21 0,7-6 0,-15 28 0,1 0 0,0 0 0,1 1 0,0 0 0,1 1 0,0 0 0,10-10 0,32-33 0,-33 34 0,1 1 0,27-23 0,-43 40 0,0 0 0,0 1 0,0 0 0,0-1 0,0 1 0,1 0 0,-1 0 0,0 0 0,1 0 0,-1 0 0,1 1 0,-1-1 0,1 1 0,-1-1 0,1 1 0,-1 0 0,1 0 0,-1 0 0,1 1 0,0-1 0,-1 0 0,4 2 0,-4-1 0,-1-1 0,0 1 0,0 0 0,0 0 0,0-1 0,0 1 0,0 0 0,0 0 0,-1 0 0,1 0 0,0 0 0,0 0 0,-1 0 0,1 1 0,0-1 0,-1 0 0,0 0 0,1 2 0,0-1 0,-1 1 0,0 0 0,1 0 0,-1 0 0,0-1 0,-1 1 0,1 0 0,0 0 0,-1 0 0,0-1 0,-1 4 0,-17 48 0,12-39 0,1 1 0,1 0 0,0 0 0,1 0 0,1 0 0,0 1 0,0 31 0,3-45 0,0 0 0,1 0 0,0 0 0,-1 1 0,1-1 0,0 0 0,1 0 0,-1 0 0,0 0 0,1-1 0,0 1 0,-1 0 0,1 0 0,0-1 0,1 0 0,-1 1 0,0-1 0,1 0 0,-1 0 0,1 0 0,0 0 0,-1 0 0,1-1 0,0 1 0,0-1 0,0 0 0,0 0 0,0 0 0,1 0 0,-1-1 0,0 1 0,5-1 0,1 1 0,0 0 0,-1-1 0,1-1 0,-1 1 0,1-1 0,-1-1 0,1 0 0,-1 0 0,0 0 0,0-1 0,12-6 0,32-20-1365,-29 18-5461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49:41.5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 24575,'-1'71'0,"3"81"0,-3-150 0,1 0 0,0-1 0,0 1 0,1 0 0,-1-1 0,0 1 0,0-1 0,1 1 0,-1 0 0,1-1 0,-1 1 0,1-1 0,0 1 0,0-1 0,-1 0 0,1 1 0,0-1 0,0 0 0,0 0 0,1 1 0,-1-1 0,0 0 0,0 0 0,1 0 0,-1 0 0,0 0 0,1-1 0,2 2 0,-1-2 0,0 0 0,-1 0 0,1 0 0,-1-1 0,1 1 0,0-1 0,-1 0 0,1 0 0,-1 0 0,1 0 0,-1 0 0,0 0 0,1-1 0,-1 1 0,0-1 0,0 1 0,3-4 0,63-64 120,-27 26-1605,-22 25-5341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0:19.2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3 146 24575,'5'0'0,"0"-1"0,0 0 0,0-1 0,0 1 0,0-1 0,0 0 0,-1 0 0,1-1 0,6-3 0,37-29 0,-20 10 0,36-41 0,-73 76 0,-54 63 0,47-52 0,1 1 0,2 1 0,0 0 0,1 1 0,2 0 0,0 0 0,2 1 0,0 1 0,2-1 0,1 1 0,1 0 0,-1 38 0,7 227 0,-2-285 0,0-1 0,0 1 0,0 0 0,1 0 0,0 0 0,1-1 0,-1 1 0,5 10 0,-4-13 0,-1-1 0,1 0 0,0 1 0,0-1 0,0 0 0,0 0 0,0 0 0,0 0 0,1 0 0,-1-1 0,0 1 0,1-1 0,0 1 0,-1-1 0,1 0 0,0 0 0,0 0 0,0 0 0,5 0 0,2 1 0,1-1 0,-1 0 0,1 0 0,0-1 0,-1-1 0,1 0 0,-1 0 0,1-1 0,-1 0 0,0-1 0,0 0 0,0 0 0,0-1 0,0-1 0,-1 0 0,0 0 0,0-1 0,0 0 0,-1 0 0,0-1 0,14-15 0,18-14 0,-31 29 0,0-1 0,-1 0 0,1 0 0,-2-1 0,1 0 0,8-14 0,10-18 0,-18 30 0,-1-1 0,0 0 0,11-23 0,-18 33 0,1 1 0,0-1 0,-1 1 0,1-1 0,-1 0 0,0 1 0,0-1 0,1 1 0,-1-1 0,0 0 0,0 1 0,0-1 0,-1 1 0,1-1 0,0 0 0,-1 1 0,1-1 0,-1 1 0,1-1 0,-1 1 0,0-1 0,1 1 0,-1-1 0,0 1 0,0 0 0,0 0 0,0-1 0,0 1 0,0 0 0,-1 0 0,1 0 0,0 0 0,-1 0 0,1 0 0,0 1 0,-1-1 0,1 0 0,-1 1 0,1-1 0,-3 0 0,1 1 0,0-1 0,0 0 0,0 1 0,0 0 0,0 0 0,0 0 0,-1 0 0,1 1 0,0-1 0,0 1 0,0-1 0,0 1 0,0 0 0,0 0 0,0 1 0,1-1 0,-1 1 0,0-1 0,1 1 0,-4 2 0,-10 13 0,0 1 0,2 0 0,0 1 0,1 0 0,1 1 0,0 1 0,2 0 0,0 0 0,-12 44 0,18-51 0,2 2 0,-1-1 0,2 0 0,0 0 0,0 1 0,3 21 0,-1-34 0,0 1 0,-1 0 0,1-1 0,0 1 0,1-1 0,-1 1 0,1-1 0,-1 0 0,1 0 0,0 1 0,0-1 0,0-1 0,5 6 0,-4-6 0,-1-1 0,1 1 0,-1-1 0,1 1 0,0-1 0,0 0 0,0 0 0,-1 0 0,1 0 0,0-1 0,0 1 0,0-1 0,0 0 0,0 0 0,0 0 0,0 0 0,0 0 0,0-1 0,4 0 0,19-6 0,-2-1 0,1-1 0,40-21 0,-36 16 0,-5 3-151,0-2-1,-1-1 0,-1 0 0,0-2 1,-1-1-1,-1 0 0,0-1 1,27-33-1,-39 40-6674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0:35.9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1 857 24575,'2'0'0,"1"-1"0,-1 1 0,1-1 0,0 1 0,-1-1 0,1 0 0,-1 0 0,0 0 0,1 0 0,-1 0 0,0-1 0,1 1 0,-1-1 0,0 0 0,0 1 0,1-3 0,30-37 0,-15 16 0,-11 17 0,0 1 0,0 0 0,-1 0 0,0-1 0,0 0 0,-1 0 0,0 0 0,-1-1 0,1 0 0,-2 0 0,5-14 0,13-66 0,-5-1 0,-3-1 0,-4 0 0,-4-94 0,-6 71 0,0 132 0,-1 0 0,-1 0 0,0 0 0,-1-1 0,-1 0 0,-10 22 0,-2 11 0,3 2 0,2 0 0,2 0 0,3 1 0,2 0 0,3 0 0,7 103 0,-3-146 0,-1 1 0,1 0 0,1-1 0,-1 1 0,2-1 0,0 0 0,0 0 0,1-1 0,0 1 0,0-1 0,1 0 0,0 0 0,11 11 0,-12-15 0,0-1 0,0 1 0,0-1 0,0-1 0,1 1 0,0-1 0,0 0 0,-1 0 0,2 0 0,-1-1 0,0 0 0,0 0 0,1-1 0,-1 0 0,1 0 0,-1 0 0,1-1 0,-1 0 0,1 0 0,0-1 0,-1 0 0,1 0 0,6-2 0,-7 1 0,1-1 0,-1 0 0,0 0 0,-1-1 0,1 0 0,0 0 0,-1 0 0,0 0 0,0-1 0,0 0 0,-1 0 0,0 0 0,0-1 0,5-7 0,28-32 0,-26 33 0,0 0 0,-1-1 0,-1 0 0,0-1 0,0 0 0,-1 0 0,-1-1 0,-1 1 0,0-2 0,-1 1 0,0-1 0,-1 0 0,1-16 0,1-25 0,-2 0 0,-6-81 0,0 45 0,2-3-1365,0 69-5461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0:39.7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0 216 24575,'2'-6'0,"0"1"0,0-1 0,0 1 0,0 0 0,1-1 0,0 1 0,5-7 0,0 0 0,9-20 0,23-37 0,-36 64 0,-1 0 0,1 1 0,0-1 0,0 1 0,0 0 0,1 0 0,0 0 0,-1 0 0,1 1 0,6-3 0,-10 5 0,0 0 0,0 1 0,1 0 0,-1-1 0,0 1 0,0-1 0,0 1 0,1 0 0,-1 0 0,0 0 0,0 0 0,1 0 0,-1 0 0,0 0 0,0 0 0,1 0 0,-1 1 0,0-1 0,0 0 0,0 1 0,1-1 0,-1 1 0,0-1 0,1 2 0,0 0 0,0-1 0,-1 1 0,1 0 0,-1 0 0,0 0 0,0 0 0,1 0 0,-1 0 0,0 0 0,-1 0 0,1 1 0,0 1 0,2 9 0,-1 0 0,0 0 0,-1 22 0,-1-31 0,-3 60 0,2-46 0,0 0 0,0-1 0,2 1 0,0 0 0,6 30 0,-6-45 0,0 1 0,0-1 0,0 0 0,1 1 0,-1-1 0,1 0 0,0 0 0,-1 0 0,1 0 0,1 0 0,-1 0 0,0-1 0,1 1 0,-1-1 0,1 0 0,0 0 0,0 0 0,0 0 0,0 0 0,0 0 0,0-1 0,0 1 0,1-1 0,-1 0 0,0 0 0,1 0 0,-1-1 0,1 1 0,-1-1 0,1 0 0,-1 0 0,1 0 0,-1 0 0,5-2 0,1 1 0,0-2 0,0 1 0,0-1 0,-1-1 0,1 1 0,-1-2 0,0 1 0,0-1 0,0 0 0,-1-1 0,0 1 0,7-8 0,-5 3 0,-1 0 0,0 0 0,-1-1 0,0 0 0,-1 0 0,0-1 0,0 1 0,6-23 0,-9 25 0,-1-1 0,1 0 0,-2 1 0,0-1 0,0 0 0,0 0 0,-1 0 0,-1 0 0,0 0 0,0 1 0,-5-19 0,6 27 0,0 1 0,0-1 0,-1 1 0,1-1 0,0 1 0,0-1 0,0 1 0,-1-1 0,1 1 0,0-1 0,0 1 0,-1-1 0,1 1 0,0-1 0,-1 1 0,1-1 0,-1 1 0,1 0 0,-1-1 0,1 1 0,0 0 0,-1 0 0,1-1 0,-1 1 0,1 0 0,-1 0 0,0 0 0,1-1 0,-1 1 0,1 0 0,-1 0 0,1 0 0,-1 0 0,1 0 0,-1 0 0,0 0 0,1 0 0,-1 0 0,0 1 0,-1 0 0,0 0 0,-1 0 0,1 1 0,0-1 0,0 1 0,0 0 0,0-1 0,0 1 0,-2 3 0,-3 4 0,0 0 0,0 1 0,-7 15 0,8-12 0,2 0 0,0 1 0,0-1 0,-2 25 0,5-29 0,0-1 0,1 1 0,0-1 0,0 1 0,1-1 0,0 1 0,0-1 0,1 0 0,3 9 0,-3-14 0,-1 0 0,1-1 0,0 1 0,0 0 0,0 0 0,0-1 0,1 1 0,-1-1 0,1 0 0,-1 0 0,1 0 0,0 0 0,0 0 0,0 0 0,0-1 0,0 1 0,0-1 0,0 0 0,0 0 0,1 0 0,-1-1 0,0 1 0,1-1 0,-1 0 0,1 0 0,-1 0 0,0 0 0,6-1 0,-3 0 0,0 0 0,0 0 0,0 0 0,0-1 0,-1 0 0,1 0 0,-1 0 0,1-1 0,-1 0 0,0 0 0,0-1 0,0 1 0,0-1 0,0 0 0,4-6 0,-3 3-136,-1 0-1,0 0 1,-1-1-1,1 0 1,-2 0-1,1 0 1,-1 0-1,0-1 0,2-12 1,-1-3-6690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0:42.8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 1 24575,'0'5'0,"0"8"0,0 7 0,-5 6 0,-2 8 0,0 5 0,1 1 0,2-1 0,2-1 0,1-2 0,0-2 0,1-1 0,0 0 0,1-1 0,-1 0 0,0-1 0,0-4-8191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0:45.8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68 24575,'11'-5'0,"20"-2"0,15-6 0,6 0 0,-1 2 0,3 3 0,-4 2 0,-4 3 0,-4 2 0,-5 0 0,-2 2 0,-2-1 0,-1 1 0,-1-1 0,-5 1-8191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0:57.3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121 539 24575,'-82'93'0,"78"-89"0,0 0 0,1 0 0,-1 0 0,1 0 0,1 1 0,-1-1 0,0 1 0,1 0 0,0 0 0,0 0 0,1 0 0,-1 0 0,1 0 0,0 0 0,0 1 0,1 6 0,0-8 0,1 0 0,0 1 0,0-1 0,0 0 0,1 0 0,-1 0 0,1 0 0,0 0 0,0 0 0,1 0 0,-1-1 0,1 1 0,0-1 0,0 0 0,0 0 0,0 0 0,0 0 0,1 0 0,-1 0 0,5 1 0,9 6 0,0-1 0,1-1 0,34 11 0,-28-10 0,31 14 0,-51-20 0,0 0 0,0-1 0,-1 1 0,1 0 0,-1 1 0,0-1 0,0 1 0,0-1 0,0 1 0,-1 0 0,1 0 0,-1 0 0,0 0 0,0 0 0,-1 1 0,1-1 0,-1 1 0,0-1 0,0 1 0,-1-1 0,1 1 0,-1-1 0,0 8 0,0-4 0,-1 0 0,0 0 0,0 1 0,-1-1 0,1 0 0,-2 0 0,1 0 0,-1 0 0,-1-1 0,1 1 0,-1-1 0,-7 10 0,10-16 0,-1 1 0,1 0 0,-1-1 0,0 0 0,0 1 0,0-1 0,0 0 0,0 0 0,0 0 0,0 0 0,0 0 0,0 0 0,0 0 0,0-1 0,-3 1 0,5-1 0,-1 0 0,1 0 0,-1 0 0,1 0 0,0 0 0,-1 0 0,1 0 0,-1 0 0,1 0 0,0 0 0,-1 0 0,1 0 0,-1-1 0,1 1 0,0 0 0,-1 0 0,1 0 0,0-1 0,-1 1 0,1 0 0,0 0 0,-1-1 0,1 1 0,0 0 0,0 0 0,-1-1 0,1 1 0,0-1 0,-1 1 0,1-1 0,0-1 0,0 1 0,0 0 0,0 0 0,0 0 0,1 0 0,-1-1 0,0 1 0,0 0 0,1 0 0,-1 0 0,1 0 0,-1 0 0,1 0 0,-1 0 0,2-1 0,7-11 0,0 0 0,1 1 0,0 1 0,14-12 0,9-11 0,189-187 0,-130 135 0,80-98 0,-152 162 0,-5 4 0,0 1 0,18-32 0,-30 45 0,-1 0 0,0 0 0,0 0 0,0 0 0,0 0 0,-1-1 0,1 1 0,-1-1 0,-1 1 0,1-1 0,0 1 0,-1-1 0,0 1 0,0-1 0,0 0 0,-1 1 0,0-1 0,-2-8 0,3 12 0,-1 0 0,1-1 0,-1 1 0,1 0 0,-1 0 0,0-1 0,0 1 0,1 0 0,-1 0 0,0 0 0,0 0 0,0 0 0,0 0 0,0 0 0,0 0 0,0 0 0,-1 1 0,1-1 0,0 0 0,0 1 0,-1-1 0,1 1 0,0-1 0,-1 1 0,1 0 0,0-1 0,-1 1 0,1 0 0,-1 0 0,1 0 0,0 0 0,-1 0 0,1 1 0,0-1 0,-1 0 0,1 0 0,0 1 0,-1-1 0,1 1 0,0 0 0,-1-1 0,1 1 0,-2 1 0,-2 1 0,1 0 0,-1 0 0,1 1 0,0 0 0,0 0 0,0 0 0,1 0 0,-1 0 0,-4 9 0,1 4 0,0-1 0,1 1 0,1 0 0,1 0 0,1 1 0,0-1 0,-1 30 0,4 7 0,6 65 0,-6-114 0,0 0 0,1 0 0,0 1 0,0-1 0,0 0 0,0 0 0,1 0 0,0 0 0,0-1 0,0 1 0,1 0 0,0-1 0,0 1 0,0-1 0,0 0 0,0 0 0,1 0 0,0-1 0,0 1 0,0-1 0,0 0 0,0 0 0,1 0 0,0-1 0,-1 1 0,9 2 0,14 3 0,-1-2 0,1-1 0,0 0 0,46 0 0,-47-4 0,0 1 0,0 1 0,0 1 0,0 2 0,33 11 0,-54-15 0,-1 0 0,0 0 0,1 0 0,-1 1 0,0-1 0,0 1 0,-1 0 0,1 0 0,-1 1 0,1-1 0,-1 1 0,0 0 0,0 0 0,-1 0 0,1 0 0,-1 0 0,0 0 0,0 1 0,0-1 0,-1 1 0,0-1 0,1 1 0,-1 0 0,-1-1 0,1 1 0,-1 0 0,0 0 0,0 0 0,0-1 0,-1 1 0,-1 5 0,0 2 0,-1-1 0,0 1 0,-1-1 0,0 0 0,-1-1 0,0 1 0,-1-1 0,0 0 0,0 0 0,-1 0 0,-16 16 0,-47 38 0,62-58 0,0-1 0,-1 1 0,1-1 0,-1-1 0,0 1 0,0-1 0,-13 3 0,20-6 0,1-1 0,-1 1 0,0-1 0,0 0 0,1 0 0,-1 0 0,0 1 0,0-2 0,1 1 0,-1 0 0,0 0 0,1 0 0,-1-1 0,-2 0 0,4 1 0,-1-1 0,1 1 0,-1 0 0,1-1 0,-1 1 0,1-1 0,0 1 0,-1-1 0,1 1 0,-1-1 0,1 1 0,0-1 0,0 1 0,-1-1 0,1 1 0,0-1 0,0 0 0,-1 1 0,1-1 0,0 1 0,0-1 0,0 0 0,0 1 0,0-1 0,0-1 0,1-1 0,0 0 0,0-1 0,0 1 0,0 0 0,0 0 0,1 0 0,0 0 0,-1 0 0,1 0 0,0 0 0,0 1 0,3-3 0,38-37 0,53-39 0,42-40 0,-125 107 0,0-1 0,-1 0 0,0 0 0,-1-2 0,-1 1 0,-1-1 0,0 0 0,-1-1 0,-1 0 0,7-27 0,-12 37 0,0 1 0,-1 0 0,2 0 0,-1 0 0,1 1 0,-1-1 0,7-9 0,-4 16 0,-2 9 0,-1 12 0,-3 42 0,-1-48 0,1 0 0,1 0 0,0 0 0,1-1 0,1 1 0,5 21 0,-6-33 0,0-1 0,0 0 0,0 0 0,0 0 0,0 0 0,0 1 0,1-1 0,-1-1 0,1 1 0,-1 0 0,1 0 0,0-1 0,-1 1 0,1-1 0,0 1 0,0-1 0,0 0 0,0 1 0,1-1 0,-1-1 0,0 1 0,0 0 0,1 0 0,-1-1 0,0 1 0,1-1 0,-1 0 0,4 0 0,-3 0 0,1 0 0,-1-1 0,1 0 0,-1 1 0,0-1 0,1-1 0,-1 1 0,0 0 0,1-1 0,-1 0 0,0 1 0,0-1 0,-1 0 0,1-1 0,0 1 0,-1 0 0,1-1 0,3-4 0,9-16 0,0 0 0,-1-1 0,-1-1 0,-2 0 0,0-1 0,11-43 0,-31 104 0,1 0 0,2 0 0,2 0 0,-1 39 0,5-71 0,1 0 0,-1 0 0,0 0 0,1 0 0,0 0 0,-1 0 0,1 0 0,1 0 0,-1 0 0,0 0 0,1 0 0,-1-1 0,1 1 0,0-1 0,0 1 0,0-1 0,0 1 0,0-1 0,1 0 0,-1 0 0,0 0 0,1-1 0,0 1 0,-1 0 0,1-1 0,0 0 0,0 0 0,0 0 0,0 0 0,0 0 0,0 0 0,0-1 0,0 0 0,0 1 0,5-1 0,-3 0 0,1 0 0,0-1 0,0 0 0,0 0 0,-1 0 0,1 0 0,0-1 0,-1 0 0,1 0 0,-1 0 0,0-1 0,0 0 0,0 0 0,0 0 0,0-1 0,-1 0 0,0 0 0,6-5 0,-4 0 0,-1-1 0,1 0 0,-2 0 0,1 0 0,-1 0 0,-1 0 0,0-1 0,-1 0 0,0 0 0,0 1 0,-1-1 0,-1-22 0,0 26 0,0 1 0,-1 0 0,0 0 0,-1 0 0,1 0 0,-1 0 0,0 0 0,-1 0 0,0 0 0,-5-9 0,5 12 0,1 0 0,-1 0 0,0 0 0,0 0 0,0 0 0,0 1 0,-1-1 0,1 1 0,-1 0 0,1 0 0,-1 0 0,0 1 0,0-1 0,0 1 0,1 0 0,-2 0 0,-5-1 0,7 2 0,-1-1 0,0 1 0,1 0 0,-1 0 0,0 0 0,1 1 0,-1-1 0,0 1 0,1 0 0,-1 0 0,1 0 0,-1 1 0,1-1 0,0 1 0,-1 0 0,1-1 0,0 1 0,0 1 0,0-1 0,1 0 0,-1 1 0,0 0 0,1-1 0,0 1 0,0 0 0,0 0 0,0 0 0,0 1 0,0-1 0,1 0 0,-1 1 0,1-1 0,0 1 0,0 4 0,-3 8 0,1 0 0,1 1 0,0-1 0,1 1 0,1 0 0,3 23 0,-2-33 0,1 0 0,-1 0 0,1 0 0,0-1 0,1 1 0,-1 0 0,2-1 0,-1 1 0,0-1 0,1 0 0,1 0 0,-1-1 0,8 8 0,-9-9 0,0-1 0,0-1 0,1 1 0,-1 0 0,1-1 0,0 0 0,0 0 0,-1 0 0,1 0 0,1 0 0,-1-1 0,0 0 0,0 0 0,0 0 0,1 0 0,-1-1 0,0 0 0,1 0 0,-1 0 0,0 0 0,1-1 0,-1 1 0,6-3 0,-7 2 0,0-1 0,0 1 0,0-1 0,0 0 0,0 0 0,0-1 0,-1 1 0,1-1 0,-1 1 0,1-1 0,-1 0 0,0 0 0,0 0 0,-1 0 0,1 0 0,0 0 0,-1 0 0,0-1 0,0 1 0,0 0 0,0-1 0,0 1 0,-1-5 0,3-12 0,-1 0 0,-1-36 0,-1 45 0,0-24 0,-1-7 0,1 0 0,9-49 0,25-82 0,14-98 0,-45 154 0,-4 149 0,0 0 0,-2 0 0,-2 0 0,-1-1 0,-1 0 0,-20 54 0,17-57 0,0 0 0,2 1 0,0 1 0,3-1 0,-4 52 0,8 153 0,4-105 0,-3-113 0,1 0 0,1-1 0,0 1 0,1 0 0,1-1 0,1 0 0,0 0 0,8 18 0,-9-28 0,-1 0 0,1 0 0,0 0 0,0-1 0,0 0 0,1 0 0,-1 0 0,1 0 0,0-1 0,0 1 0,1-1 0,-1 0 0,0-1 0,1 0 0,0 0 0,0 0 0,-1 0 0,1-1 0,9 1 0,12 1 0,1-1 0,0-2 0,28-3 0,-14 1 0,-35 2 0,1-1 0,-1 0 0,1-1 0,-1 0 0,0 0 0,1-1 0,-1 0 0,0 0 0,-1-1 0,1 1 0,-1-1 0,1-1 0,-1 1 0,0-1 0,-1 0 0,1-1 0,-1 1 0,0-1 0,0 0 0,7-14 0,-4 7 0,-1 0 0,-1-1 0,0 0 0,0-1 0,-2 1 0,0-1 0,0 0 0,-1 0 0,1-26 0,-4 11-1365,0 3-5461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1:08.0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1:08.2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1:08.3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1:08.5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1:08.7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1:08.9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1:09.1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1:09.2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1:09.4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1:09.6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1:09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1:10.1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1:10.2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1:10.4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1:10.6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10:51:10.8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A625EB-81AA-4F0D-A99D-155D526DF7C0}" type="datetimeFigureOut">
              <a:rPr lang="en-IN" smtClean="0"/>
              <a:t>16-10-2025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52663" y="1143000"/>
            <a:ext cx="2352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728A18-57EE-464A-B690-572F3BE28DF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45944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728A18-57EE-464A-B690-572F3BE28DF8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6653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728A18-57EE-464A-B690-572F3BE28DF8}" type="slidenum">
              <a:rPr lang="en-IN" smtClean="0"/>
              <a:t>37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83430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4501D-B3DD-0E56-F5FE-D9814BC35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0E7601-D96C-0289-040E-0B1B09579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5E0E34-9322-700B-3ADA-E61BB9430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DF2897-ACF7-8035-7929-0EBFC912AA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728A18-57EE-464A-B690-572F3BE28DF8}" type="slidenum">
              <a:rPr lang="en-IN" smtClean="0"/>
              <a:t>38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56947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04713-EB27-4F32-B771-98B4CD5CD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3A37F7-E139-C226-2F97-2AB64196C2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965C6F-68EC-7FF7-9EC1-2800D2F23A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EA6C16-F0E9-C38E-6BA9-E9F9D52A7B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728A18-57EE-464A-B690-572F3BE28DF8}" type="slidenum">
              <a:rPr lang="en-IN" smtClean="0"/>
              <a:t>39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72513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F3124-E1E6-292B-7055-E43EF81F5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5473B2-D976-544E-2C9B-56215BE0F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E17600-25A3-89B3-3EB7-50C53B997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E1C65-C35F-41BE-8614-F3DF91615C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728A18-57EE-464A-B690-572F3BE28DF8}" type="slidenum">
              <a:rPr lang="en-IN" smtClean="0"/>
              <a:t>40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58980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FE6D6-0DCB-2694-1934-37C210930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745C95-57FE-8B03-14F0-EAC16B0B1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86EC94-3E60-EE86-52A9-51840DB370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B8CD9-CA14-E1DB-D6F3-46D39A3755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728A18-57EE-464A-B690-572F3BE28DF8}" type="slidenum">
              <a:rPr lang="en-IN" smtClean="0"/>
              <a:t>41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44564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2DCA4-AAD0-8D16-3321-09F2D63DC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884E7-88F6-4172-3888-3AA719D543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35061-A077-719C-5D57-B56CAC59D6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260645-BB97-E84D-C305-0EA9FAD3AE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728A18-57EE-464A-B690-572F3BE28DF8}" type="slidenum">
              <a:rPr lang="en-IN" smtClean="0"/>
              <a:t>42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13496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FD352-D963-2FB0-0BAD-2FC7E5A9C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D8BAA7-FF91-78F8-99EC-E128050390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13BADC-875F-90DD-6AF2-EBD39EDB8E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0697B9-0684-350A-70CE-29F7393C01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728A18-57EE-464A-B690-572F3BE28DF8}" type="slidenum">
              <a:rPr lang="en-IN" smtClean="0"/>
              <a:t>43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23059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48788-24FB-CB9C-5FA6-D11411D06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CA9055-BBA7-8AD5-E01B-B95092FDE0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AC9A45-090A-80B1-ECA2-BCE31E733B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C3FF38-9AF8-CCC1-F222-849822CE7D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728A18-57EE-464A-B690-572F3BE28DF8}" type="slidenum">
              <a:rPr lang="en-IN" smtClean="0"/>
              <a:t>44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52046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33179-DE48-E5A3-C774-9C78A6109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0A07E1-691E-87D0-4A31-66473989BD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474DBB-6EA7-1E5F-F31D-CF9A106D28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98176-EFF0-A18F-C0E5-70AA2B3560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728A18-57EE-464A-B690-572F3BE28DF8}" type="slidenum">
              <a:rPr lang="en-IN" smtClean="0"/>
              <a:t>45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76169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CE68F-3F46-EC9C-D89F-F754EE1A3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1508E-5E3B-45C6-BB95-83C303339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FDFC8F-66AA-4A2B-5BDD-6F6B461AC8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7A244-9420-E8AD-92A4-15053EFBE1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728A18-57EE-464A-B690-572F3BE28DF8}" type="slidenum">
              <a:rPr lang="en-IN" smtClean="0"/>
              <a:t>46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04968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0230A-3691-EB9E-A056-5A9C8B081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93AB39-4E47-380B-A24C-353CC5F418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A5A069-A0AB-4E44-4B9A-6CD3C443A4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AC8953-2DBD-2353-2FA2-54F6A7B950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728A18-57EE-464A-B690-572F3BE28DF8}" type="slidenum">
              <a:rPr lang="en-IN" smtClean="0"/>
              <a:t>47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90173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72842"/>
            <a:ext cx="5829300" cy="313317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726842"/>
            <a:ext cx="5143500" cy="2172804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E2CD8-768B-49F6-BC25-0560B07B0FCD}" type="datetimeFigureOut">
              <a:rPr lang="en-IN" smtClean="0"/>
              <a:t>16-10-2025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60275-9E6F-4627-968D-61FA4CEF0B7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0563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E2CD8-768B-49F6-BC25-0560B07B0FCD}" type="datetimeFigureOut">
              <a:rPr lang="en-IN" smtClean="0"/>
              <a:t>16-10-2025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60275-9E6F-4627-968D-61FA4CEF0B7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0862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43638"/>
            <a:ext cx="5915025" cy="374355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022610"/>
            <a:ext cx="5915025" cy="1968648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E2CD8-768B-49F6-BC25-0560B07B0FCD}" type="datetimeFigureOut">
              <a:rPr lang="en-IN" smtClean="0"/>
              <a:t>16-10-2025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60275-9E6F-4627-968D-61FA4CEF0B7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3088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395710"/>
            <a:ext cx="2914650" cy="57101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395710"/>
            <a:ext cx="2914650" cy="57101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E2CD8-768B-49F6-BC25-0560B07B0FCD}" type="datetimeFigureOut">
              <a:rPr lang="en-IN" smtClean="0"/>
              <a:t>16-10-2025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60275-9E6F-4627-968D-61FA4CEF0B7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9000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79144"/>
            <a:ext cx="5915025" cy="17394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06137"/>
            <a:ext cx="2901255" cy="108119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287331"/>
            <a:ext cx="2901255" cy="48351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06137"/>
            <a:ext cx="2915543" cy="108119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287331"/>
            <a:ext cx="2915543" cy="48351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E2CD8-768B-49F6-BC25-0560B07B0FCD}" type="datetimeFigureOut">
              <a:rPr lang="en-IN" smtClean="0"/>
              <a:t>16-10-2025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60275-9E6F-4627-968D-61FA4CEF0B7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63013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E2CD8-768B-49F6-BC25-0560B07B0FCD}" type="datetimeFigureOut">
              <a:rPr lang="en-IN" smtClean="0"/>
              <a:t>16-10-2025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60275-9E6F-4627-968D-61FA4CEF0B7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332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E2CD8-768B-49F6-BC25-0560B07B0FCD}" type="datetimeFigureOut">
              <a:rPr lang="en-IN" smtClean="0"/>
              <a:t>16-10-2025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60275-9E6F-4627-968D-61FA4CEF0B7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8508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99969"/>
            <a:ext cx="2211884" cy="2099892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295769"/>
            <a:ext cx="3471863" cy="639550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699862"/>
            <a:ext cx="2211884" cy="50018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E2CD8-768B-49F6-BC25-0560B07B0FCD}" type="datetimeFigureOut">
              <a:rPr lang="en-IN" smtClean="0"/>
              <a:t>16-10-2025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60275-9E6F-4627-968D-61FA4CEF0B7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4066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99969"/>
            <a:ext cx="2211884" cy="2099892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295769"/>
            <a:ext cx="3471863" cy="639550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699862"/>
            <a:ext cx="2211884" cy="50018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E2CD8-768B-49F6-BC25-0560B07B0FCD}" type="datetimeFigureOut">
              <a:rPr lang="en-IN" smtClean="0"/>
              <a:t>16-10-2025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60275-9E6F-4627-968D-61FA4CEF0B7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1694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E2CD8-768B-49F6-BC25-0560B07B0FCD}" type="datetimeFigureOut">
              <a:rPr lang="en-IN" smtClean="0"/>
              <a:t>16-10-2025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60275-9E6F-4627-968D-61FA4CEF0B7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78897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79142"/>
            <a:ext cx="1478756" cy="762669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79142"/>
            <a:ext cx="4350544" cy="762669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E2CD8-768B-49F6-BC25-0560B07B0FCD}" type="datetimeFigureOut">
              <a:rPr lang="en-IN" smtClean="0"/>
              <a:t>16-10-2025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60275-9E6F-4627-968D-61FA4CEF0B7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56154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79144"/>
            <a:ext cx="5915025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395710"/>
            <a:ext cx="5915025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341240"/>
            <a:ext cx="1543050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E2CD8-768B-49F6-BC25-0560B07B0FCD}" type="datetimeFigureOut">
              <a:rPr lang="en-IN" smtClean="0"/>
              <a:t>16-10-2025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341240"/>
            <a:ext cx="2314575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341240"/>
            <a:ext cx="1543050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260275-9E6F-4627-968D-61FA4CEF0B7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6039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3.png"/><Relationship Id="rId18" Type="http://schemas.openxmlformats.org/officeDocument/2006/relationships/customXml" Target="../ink/ink7.xml"/><Relationship Id="rId26" Type="http://schemas.openxmlformats.org/officeDocument/2006/relationships/customXml" Target="../ink/ink11.xml"/><Relationship Id="rId39" Type="http://schemas.openxmlformats.org/officeDocument/2006/relationships/customXml" Target="../ink/ink21.xml"/><Relationship Id="rId21" Type="http://schemas.openxmlformats.org/officeDocument/2006/relationships/image" Target="../media/image67.png"/><Relationship Id="rId34" Type="http://schemas.openxmlformats.org/officeDocument/2006/relationships/customXml" Target="../ink/ink16.xml"/><Relationship Id="rId42" Type="http://schemas.openxmlformats.org/officeDocument/2006/relationships/customXml" Target="../ink/ink24.xml"/><Relationship Id="rId7" Type="http://schemas.openxmlformats.org/officeDocument/2006/relationships/image" Target="../media/image60.png"/><Relationship Id="rId2" Type="http://schemas.openxmlformats.org/officeDocument/2006/relationships/image" Target="../media/image53.png"/><Relationship Id="rId16" Type="http://schemas.openxmlformats.org/officeDocument/2006/relationships/customXml" Target="../ink/ink6.xml"/><Relationship Id="rId29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11" Type="http://schemas.openxmlformats.org/officeDocument/2006/relationships/image" Target="../media/image62.png"/><Relationship Id="rId24" Type="http://schemas.openxmlformats.org/officeDocument/2006/relationships/customXml" Target="../ink/ink10.xml"/><Relationship Id="rId32" Type="http://schemas.openxmlformats.org/officeDocument/2006/relationships/customXml" Target="../ink/ink14.xml"/><Relationship Id="rId37" Type="http://schemas.openxmlformats.org/officeDocument/2006/relationships/customXml" Target="../ink/ink19.xml"/><Relationship Id="rId40" Type="http://schemas.openxmlformats.org/officeDocument/2006/relationships/customXml" Target="../ink/ink22.xml"/><Relationship Id="rId45" Type="http://schemas.openxmlformats.org/officeDocument/2006/relationships/customXml" Target="../ink/ink27.xml"/><Relationship Id="rId5" Type="http://schemas.openxmlformats.org/officeDocument/2006/relationships/image" Target="../media/image56.png"/><Relationship Id="rId15" Type="http://schemas.openxmlformats.org/officeDocument/2006/relationships/image" Target="../media/image64.png"/><Relationship Id="rId23" Type="http://schemas.openxmlformats.org/officeDocument/2006/relationships/image" Target="../media/image68.png"/><Relationship Id="rId28" Type="http://schemas.openxmlformats.org/officeDocument/2006/relationships/customXml" Target="../ink/ink12.xml"/><Relationship Id="rId36" Type="http://schemas.openxmlformats.org/officeDocument/2006/relationships/customXml" Target="../ink/ink18.xml"/><Relationship Id="rId10" Type="http://schemas.openxmlformats.org/officeDocument/2006/relationships/customXml" Target="../ink/ink3.xml"/><Relationship Id="rId19" Type="http://schemas.openxmlformats.org/officeDocument/2006/relationships/image" Target="../media/image66.png"/><Relationship Id="rId31" Type="http://schemas.openxmlformats.org/officeDocument/2006/relationships/image" Target="../media/image72.png"/><Relationship Id="rId44" Type="http://schemas.openxmlformats.org/officeDocument/2006/relationships/customXml" Target="../ink/ink26.xml"/><Relationship Id="rId4" Type="http://schemas.openxmlformats.org/officeDocument/2006/relationships/image" Target="../media/image55.png"/><Relationship Id="rId9" Type="http://schemas.openxmlformats.org/officeDocument/2006/relationships/image" Target="../media/image61.png"/><Relationship Id="rId14" Type="http://schemas.openxmlformats.org/officeDocument/2006/relationships/customXml" Target="../ink/ink5.xml"/><Relationship Id="rId22" Type="http://schemas.openxmlformats.org/officeDocument/2006/relationships/customXml" Target="../ink/ink9.xml"/><Relationship Id="rId27" Type="http://schemas.openxmlformats.org/officeDocument/2006/relationships/image" Target="../media/image70.png"/><Relationship Id="rId30" Type="http://schemas.openxmlformats.org/officeDocument/2006/relationships/customXml" Target="../ink/ink13.xml"/><Relationship Id="rId35" Type="http://schemas.openxmlformats.org/officeDocument/2006/relationships/customXml" Target="../ink/ink17.xml"/><Relationship Id="rId43" Type="http://schemas.openxmlformats.org/officeDocument/2006/relationships/customXml" Target="../ink/ink25.xml"/><Relationship Id="rId8" Type="http://schemas.openxmlformats.org/officeDocument/2006/relationships/customXml" Target="../ink/ink2.xml"/><Relationship Id="rId3" Type="http://schemas.openxmlformats.org/officeDocument/2006/relationships/image" Target="../media/image54.png"/><Relationship Id="rId12" Type="http://schemas.openxmlformats.org/officeDocument/2006/relationships/customXml" Target="../ink/ink4.xml"/><Relationship Id="rId17" Type="http://schemas.openxmlformats.org/officeDocument/2006/relationships/image" Target="../media/image65.png"/><Relationship Id="rId25" Type="http://schemas.openxmlformats.org/officeDocument/2006/relationships/image" Target="../media/image69.png"/><Relationship Id="rId33" Type="http://schemas.openxmlformats.org/officeDocument/2006/relationships/customXml" Target="../ink/ink15.xml"/><Relationship Id="rId38" Type="http://schemas.openxmlformats.org/officeDocument/2006/relationships/customXml" Target="../ink/ink20.xml"/><Relationship Id="rId46" Type="http://schemas.openxmlformats.org/officeDocument/2006/relationships/customXml" Target="../ink/ink28.xml"/><Relationship Id="rId20" Type="http://schemas.openxmlformats.org/officeDocument/2006/relationships/customXml" Target="../ink/ink8.xml"/><Relationship Id="rId41" Type="http://schemas.openxmlformats.org/officeDocument/2006/relationships/customXml" Target="../ink/ink2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learning/wireless-networking-essential-training/" TargetMode="External"/><Relationship Id="rId2" Type="http://schemas.openxmlformats.org/officeDocument/2006/relationships/hyperlink" Target="https://en.wikipedia.org/wiki/IEEE_802.11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43B79-2331-1392-4994-ACFB399E7B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800458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Wireless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BD32CE-265F-53F0-207E-0C35A59644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475" y="977900"/>
            <a:ext cx="6623050" cy="7823200"/>
          </a:xfrm>
        </p:spPr>
        <p:txBody>
          <a:bodyPr>
            <a:normAutofit/>
          </a:bodyPr>
          <a:lstStyle/>
          <a:p>
            <a:pPr algn="just"/>
            <a:r>
              <a:rPr lang="en-US" sz="2400" b="1" dirty="0">
                <a:solidFill>
                  <a:schemeClr val="accent1"/>
                </a:solidFill>
              </a:rPr>
              <a:t>DEFINITION:</a:t>
            </a:r>
          </a:p>
          <a:p>
            <a:pPr algn="just"/>
            <a:r>
              <a:rPr lang="en-US" sz="2000" dirty="0"/>
              <a:t>In networking terms, wireless refers to a method of transmitting data between devices without using physical cables. Instead, it uses radio waves, infrared, or microwave signals to send and receive data through the air.</a:t>
            </a:r>
          </a:p>
          <a:p>
            <a:pPr marL="342900" indent="-342900" algn="just">
              <a:buClr>
                <a:schemeClr val="accent1"/>
              </a:buClr>
              <a:buSzPct val="150000"/>
              <a:buFont typeface="Symbol" panose="05050102010706020507" pitchFamily="18" charset="2"/>
              <a:buChar char=""/>
            </a:pPr>
            <a:r>
              <a:rPr lang="en-US" sz="2000" b="1" dirty="0"/>
              <a:t>wireless access point (AP)</a:t>
            </a:r>
            <a:r>
              <a:rPr lang="en-US" sz="2000" dirty="0"/>
              <a:t> or </a:t>
            </a:r>
            <a:r>
              <a:rPr lang="en-US" sz="2000" b="1" dirty="0"/>
              <a:t>wireless router </a:t>
            </a:r>
            <a:r>
              <a:rPr lang="en-US" sz="2000" dirty="0"/>
              <a:t>acts as the central hub that broadcasts signals and connects devices to a wired network or the internet.</a:t>
            </a:r>
          </a:p>
          <a:p>
            <a:pPr marL="342900" indent="-342900" algn="just">
              <a:buClr>
                <a:schemeClr val="accent1"/>
              </a:buClr>
              <a:buSzPct val="150000"/>
              <a:buFont typeface="Symbol" panose="05050102010706020507" pitchFamily="18" charset="2"/>
              <a:buChar char=""/>
            </a:pPr>
            <a:r>
              <a:rPr lang="en-US" sz="2000" dirty="0"/>
              <a:t>Communication occurs using protocols like </a:t>
            </a:r>
            <a:r>
              <a:rPr lang="en-US" sz="2000" b="1" dirty="0"/>
              <a:t>IEEE 802.11 (Wi-Fi)</a:t>
            </a:r>
            <a:r>
              <a:rPr lang="en-US" sz="2000" dirty="0"/>
              <a:t> or </a:t>
            </a:r>
            <a:r>
              <a:rPr lang="en-US" sz="2000" b="1" dirty="0"/>
              <a:t>Bluetooth (IEEE 802.15)</a:t>
            </a:r>
            <a:r>
              <a:rPr lang="en-US" sz="2000" dirty="0"/>
              <a:t>.</a:t>
            </a:r>
          </a:p>
          <a:p>
            <a:pPr algn="l"/>
            <a:endParaRPr lang="en-US" b="1" dirty="0"/>
          </a:p>
          <a:p>
            <a:pPr algn="l"/>
            <a:r>
              <a:rPr lang="en-US" sz="2400" b="1" dirty="0">
                <a:solidFill>
                  <a:schemeClr val="accent1"/>
                </a:solidFill>
              </a:rPr>
              <a:t>AD-HOC: (No central device)</a:t>
            </a:r>
          </a:p>
          <a:p>
            <a:pPr algn="just"/>
            <a:r>
              <a:rPr lang="en-US" sz="2000" dirty="0"/>
              <a:t>Ad-hoc wireless is a type of wireless network where devices (like laptops, phones, or IoT devices) communicate directly with each other without using a central access point (like a Wi-Fi router or wireless access point).</a:t>
            </a:r>
          </a:p>
          <a:p>
            <a:pPr marL="342900" indent="-342900" algn="just">
              <a:buClr>
                <a:schemeClr val="accent1"/>
              </a:buClr>
              <a:buSzPct val="150000"/>
              <a:buFont typeface="Symbol" panose="05050102010706020507" pitchFamily="18" charset="2"/>
              <a:buChar char=""/>
            </a:pPr>
            <a:r>
              <a:rPr lang="en-US" sz="2000" dirty="0"/>
              <a:t>Each device acts as both a host and a router. </a:t>
            </a:r>
          </a:p>
          <a:p>
            <a:pPr marL="342900" indent="-342900" algn="just">
              <a:buClr>
                <a:schemeClr val="accent1"/>
              </a:buClr>
              <a:buSzPct val="150000"/>
              <a:buFont typeface="Symbol" panose="05050102010706020507" pitchFamily="18" charset="2"/>
              <a:buChar char=""/>
            </a:pPr>
            <a:r>
              <a:rPr lang="en-US" sz="2000" dirty="0"/>
              <a:t>Data is passed peer-to-peer (P2P), and devices can relay traffic for others if they are out of direct range. </a:t>
            </a:r>
          </a:p>
          <a:p>
            <a:pPr marL="342900" indent="-342900" algn="just">
              <a:buClr>
                <a:schemeClr val="accent1"/>
              </a:buClr>
              <a:buSzPct val="150000"/>
              <a:buFont typeface="Symbol" panose="05050102010706020507" pitchFamily="18" charset="2"/>
              <a:buChar char=""/>
            </a:pPr>
            <a:r>
              <a:rPr lang="en-US" sz="2000" dirty="0"/>
              <a:t>The network is created on the fly (hence "ad-hoc") and can </a:t>
            </a:r>
            <a:br>
              <a:rPr lang="en-US" sz="2000" dirty="0"/>
            </a:br>
            <a:r>
              <a:rPr lang="en-US" sz="2000" dirty="0"/>
              <a:t> reconfigure itself dynamically as devices join or leave.</a:t>
            </a:r>
          </a:p>
          <a:p>
            <a:pPr marL="342900" indent="-342900" algn="just">
              <a:buFont typeface="Wingdings" panose="05000000000000000000" pitchFamily="2" charset="2"/>
              <a:buChar char="q"/>
            </a:pPr>
            <a:endParaRPr lang="en-US" sz="2000" dirty="0"/>
          </a:p>
          <a:p>
            <a:pPr algn="just"/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4057920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7CC3E-612E-87AB-8791-AAAB85F7D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4AF3C-61FC-7F9F-228F-BE63536FD8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439567"/>
            <a:ext cx="6858000" cy="800458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INFRASTRUCTURE WLAN</a:t>
            </a:r>
            <a:endParaRPr lang="en-IN" b="1" dirty="0">
              <a:solidFill>
                <a:schemeClr val="bg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200A6A9-078F-0552-05F1-90F0AB389A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4329" y="3964232"/>
            <a:ext cx="2707261" cy="27633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7692A6-E579-A8E9-E63C-01F0A22A7FE0}"/>
              </a:ext>
            </a:extLst>
          </p:cNvPr>
          <p:cNvSpPr txBox="1"/>
          <p:nvPr/>
        </p:nvSpPr>
        <p:spPr>
          <a:xfrm>
            <a:off x="309879" y="330365"/>
            <a:ext cx="462093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solidFill>
                  <a:schemeClr val="accent1"/>
                </a:solidFill>
              </a:rPr>
              <a:t>Ad-hoc wireless</a:t>
            </a:r>
          </a:p>
          <a:p>
            <a:r>
              <a:rPr lang="en-IN" sz="2400" dirty="0">
                <a:solidFill>
                  <a:schemeClr val="accent1"/>
                </a:solidFill>
              </a:rPr>
              <a:t>•</a:t>
            </a:r>
            <a:r>
              <a:rPr lang="en-IN" sz="2000" dirty="0"/>
              <a:t>  No need for network infrastructure</a:t>
            </a:r>
          </a:p>
          <a:p>
            <a:r>
              <a:rPr lang="en-IN" sz="2000" dirty="0">
                <a:solidFill>
                  <a:schemeClr val="accent1"/>
                </a:solidFill>
              </a:rPr>
              <a:t>•</a:t>
            </a:r>
            <a:r>
              <a:rPr lang="en-IN" sz="2000" dirty="0"/>
              <a:t>  Convenient for file transfers</a:t>
            </a:r>
          </a:p>
          <a:p>
            <a:r>
              <a:rPr lang="en-IN" sz="2000" dirty="0">
                <a:solidFill>
                  <a:schemeClr val="accent1"/>
                </a:solidFill>
              </a:rPr>
              <a:t>•</a:t>
            </a:r>
            <a:r>
              <a:rPr lang="en-IN" sz="2000" dirty="0"/>
              <a:t>  Typically uses Bluetooth or WIFI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C0E3F4-AFE6-4CF8-B18D-C714DFE09231}"/>
              </a:ext>
            </a:extLst>
          </p:cNvPr>
          <p:cNvSpPr txBox="1"/>
          <p:nvPr/>
        </p:nvSpPr>
        <p:spPr>
          <a:xfrm>
            <a:off x="0" y="3514707"/>
            <a:ext cx="4109013" cy="383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400" dirty="0">
                <a:solidFill>
                  <a:schemeClr val="accent1"/>
                </a:solidFill>
              </a:rPr>
              <a:t>•</a:t>
            </a:r>
            <a:r>
              <a:rPr lang="en-IN" sz="2000" dirty="0"/>
              <a:t>  Wireless clients connect to</a:t>
            </a:r>
          </a:p>
          <a:p>
            <a:pPr>
              <a:lnSpc>
                <a:spcPct val="150000"/>
              </a:lnSpc>
            </a:pPr>
            <a:r>
              <a:rPr lang="en-IN" sz="2000" dirty="0"/>
              <a:t>      access points</a:t>
            </a:r>
          </a:p>
          <a:p>
            <a:pPr>
              <a:lnSpc>
                <a:spcPct val="150000"/>
              </a:lnSpc>
            </a:pPr>
            <a:r>
              <a:rPr lang="en-IN" sz="2000" dirty="0">
                <a:solidFill>
                  <a:schemeClr val="accent1"/>
                </a:solidFill>
              </a:rPr>
              <a:t>•   </a:t>
            </a:r>
            <a:r>
              <a:rPr lang="en-IN" sz="2000" dirty="0"/>
              <a:t>Access points-connect to wired </a:t>
            </a:r>
            <a:br>
              <a:rPr lang="en-IN" sz="2000" dirty="0"/>
            </a:br>
            <a:r>
              <a:rPr lang="en-IN" sz="2000" dirty="0"/>
              <a:t>      infrastructure</a:t>
            </a:r>
          </a:p>
          <a:p>
            <a:pPr>
              <a:lnSpc>
                <a:spcPct val="150000"/>
              </a:lnSpc>
            </a:pPr>
            <a:r>
              <a:rPr lang="en-IN" sz="2000" dirty="0">
                <a:solidFill>
                  <a:schemeClr val="accent1"/>
                </a:solidFill>
              </a:rPr>
              <a:t>•</a:t>
            </a:r>
            <a:r>
              <a:rPr lang="en-IN" sz="2000" dirty="0"/>
              <a:t>    Scalable by adding access points</a:t>
            </a:r>
          </a:p>
          <a:p>
            <a:pPr>
              <a:lnSpc>
                <a:spcPct val="150000"/>
              </a:lnSpc>
            </a:pPr>
            <a:r>
              <a:rPr lang="en-IN" sz="2000" dirty="0">
                <a:solidFill>
                  <a:schemeClr val="accent1"/>
                </a:solidFill>
              </a:rPr>
              <a:t>•</a:t>
            </a:r>
            <a:r>
              <a:rPr lang="en-IN" sz="2000" dirty="0"/>
              <a:t>    Supports management and</a:t>
            </a:r>
          </a:p>
          <a:p>
            <a:pPr>
              <a:lnSpc>
                <a:spcPct val="150000"/>
              </a:lnSpc>
            </a:pPr>
            <a:r>
              <a:rPr lang="en-IN" sz="2000" dirty="0"/>
              <a:t>      monitoring features not available     </a:t>
            </a:r>
            <a:br>
              <a:rPr lang="en-IN" sz="2000" dirty="0"/>
            </a:br>
            <a:r>
              <a:rPr lang="en-IN" sz="2000" dirty="0"/>
              <a:t>      with ad hoc wireless networks</a:t>
            </a:r>
          </a:p>
        </p:txBody>
      </p:sp>
    </p:spTree>
    <p:extLst>
      <p:ext uri="{BB962C8B-B14F-4D97-AF65-F5344CB8AC3E}">
        <p14:creationId xmlns:p14="http://schemas.microsoft.com/office/powerpoint/2010/main" val="3843352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BE8EB-965B-4402-8FF0-16334C6BE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C8085-03C7-8B37-289D-8486ED85C7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800458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MESH WLAN</a:t>
            </a:r>
            <a:endParaRPr lang="en-IN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585469D-9CF9-017F-DFB4-EEDFAC030D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7098" y="1249717"/>
            <a:ext cx="3550902" cy="310455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F7BACF5-117C-03A1-78BF-0CD5ABB567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4807183"/>
            <a:ext cx="3340562" cy="335891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40B7AC3-9DA9-6942-4304-D43F18698B31}"/>
              </a:ext>
            </a:extLst>
          </p:cNvPr>
          <p:cNvSpPr txBox="1"/>
          <p:nvPr/>
        </p:nvSpPr>
        <p:spPr>
          <a:xfrm>
            <a:off x="523585" y="7815091"/>
            <a:ext cx="23507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highlight>
                  <a:srgbClr val="FFFF00"/>
                </a:highlight>
              </a:rPr>
              <a:t>Standalone AP, Fat AP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D2892D-A943-5254-6C2C-AF9F97E3E34F}"/>
              </a:ext>
            </a:extLst>
          </p:cNvPr>
          <p:cNvSpPr txBox="1"/>
          <p:nvPr/>
        </p:nvSpPr>
        <p:spPr>
          <a:xfrm>
            <a:off x="94895" y="1249717"/>
            <a:ext cx="343768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dirty="0">
                <a:solidFill>
                  <a:schemeClr val="accent1"/>
                </a:solidFill>
              </a:rPr>
              <a:t>•</a:t>
            </a:r>
            <a:r>
              <a:rPr lang="en-IN" dirty="0"/>
              <a:t> Mesh access points need not be</a:t>
            </a:r>
            <a:br>
              <a:rPr lang="en-IN" dirty="0"/>
            </a:br>
            <a:r>
              <a:rPr lang="en-IN" dirty="0"/>
              <a:t>     connected with a wired    </a:t>
            </a:r>
            <a:br>
              <a:rPr lang="en-IN" dirty="0"/>
            </a:br>
            <a:r>
              <a:rPr lang="en-IN" dirty="0"/>
              <a:t>     infrastructure</a:t>
            </a:r>
            <a:br>
              <a:rPr lang="en-IN" dirty="0"/>
            </a:br>
            <a:endParaRPr lang="en-IN" dirty="0"/>
          </a:p>
          <a:p>
            <a:r>
              <a:rPr lang="en-IN" sz="2800" dirty="0">
                <a:solidFill>
                  <a:schemeClr val="accent1"/>
                </a:solidFill>
              </a:rPr>
              <a:t>•</a:t>
            </a:r>
            <a:r>
              <a:rPr lang="en-IN" sz="2800" dirty="0"/>
              <a:t> </a:t>
            </a:r>
            <a:r>
              <a:rPr lang="en-IN" dirty="0"/>
              <a:t>Mesh access points receive and </a:t>
            </a:r>
            <a:br>
              <a:rPr lang="en-IN" dirty="0"/>
            </a:br>
            <a:r>
              <a:rPr lang="en-IN" dirty="0"/>
              <a:t>     retransmit a wireless signal</a:t>
            </a:r>
            <a:br>
              <a:rPr lang="en-IN" dirty="0"/>
            </a:br>
            <a:endParaRPr lang="en-IN" dirty="0"/>
          </a:p>
          <a:p>
            <a:r>
              <a:rPr lang="en-IN" sz="2800" dirty="0">
                <a:solidFill>
                  <a:schemeClr val="accent1"/>
                </a:solidFill>
              </a:rPr>
              <a:t>•</a:t>
            </a:r>
            <a:r>
              <a:rPr lang="en-IN" dirty="0">
                <a:solidFill>
                  <a:schemeClr val="accent1"/>
                </a:solidFill>
              </a:rPr>
              <a:t> </a:t>
            </a:r>
            <a:r>
              <a:rPr lang="en-IN" dirty="0"/>
              <a:t> Allows for flexibility in access   </a:t>
            </a:r>
            <a:br>
              <a:rPr lang="en-IN" dirty="0"/>
            </a:br>
            <a:r>
              <a:rPr lang="en-IN" dirty="0"/>
              <a:t>      point placement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0344D1-A9CB-BB5F-CDB4-C071798FDF8C}"/>
              </a:ext>
            </a:extLst>
          </p:cNvPr>
          <p:cNvSpPr txBox="1"/>
          <p:nvPr/>
        </p:nvSpPr>
        <p:spPr>
          <a:xfrm>
            <a:off x="315796" y="4682920"/>
            <a:ext cx="2766349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dirty="0">
                <a:solidFill>
                  <a:schemeClr val="accent1"/>
                </a:solidFill>
              </a:rPr>
              <a:t>Autonomous vs.</a:t>
            </a:r>
          </a:p>
          <a:p>
            <a:r>
              <a:rPr lang="en-IN" sz="2800" dirty="0">
                <a:solidFill>
                  <a:schemeClr val="accent1"/>
                </a:solidFill>
              </a:rPr>
              <a:t>Lightweight APs</a:t>
            </a:r>
          </a:p>
          <a:p>
            <a:r>
              <a:rPr lang="en-IN" sz="2800" dirty="0">
                <a:solidFill>
                  <a:schemeClr val="accent1"/>
                </a:solidFill>
              </a:rPr>
              <a:t>•</a:t>
            </a:r>
            <a:r>
              <a:rPr lang="en-IN" dirty="0">
                <a:solidFill>
                  <a:schemeClr val="accent1"/>
                </a:solidFill>
              </a:rPr>
              <a:t> </a:t>
            </a:r>
            <a:r>
              <a:rPr lang="en-IN" dirty="0"/>
              <a:t>LWAPP: </a:t>
            </a:r>
            <a:r>
              <a:rPr lang="en-IN" dirty="0" err="1"/>
              <a:t>LightWeight</a:t>
            </a:r>
            <a:endParaRPr lang="en-IN" dirty="0"/>
          </a:p>
          <a:p>
            <a:r>
              <a:rPr lang="en-IN" dirty="0"/>
              <a:t>    Access Point Protocol</a:t>
            </a:r>
            <a:br>
              <a:rPr lang="en-IN" dirty="0"/>
            </a:br>
            <a:endParaRPr lang="en-IN" dirty="0"/>
          </a:p>
          <a:p>
            <a:r>
              <a:rPr lang="en-IN" sz="2800" dirty="0">
                <a:solidFill>
                  <a:schemeClr val="accent1"/>
                </a:solidFill>
              </a:rPr>
              <a:t>•</a:t>
            </a:r>
            <a:r>
              <a:rPr lang="en-IN" dirty="0"/>
              <a:t> CAPWAP: Control and</a:t>
            </a:r>
          </a:p>
          <a:p>
            <a:r>
              <a:rPr lang="en-IN" dirty="0"/>
              <a:t>     Provisioning of Wireless</a:t>
            </a:r>
          </a:p>
          <a:p>
            <a:r>
              <a:rPr lang="en-IN" dirty="0"/>
              <a:t>     Access Points</a:t>
            </a:r>
          </a:p>
        </p:txBody>
      </p:sp>
    </p:spTree>
    <p:extLst>
      <p:ext uri="{BB962C8B-B14F-4D97-AF65-F5344CB8AC3E}">
        <p14:creationId xmlns:p14="http://schemas.microsoft.com/office/powerpoint/2010/main" val="3214080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E42D3-5FF5-DF62-8C7F-421994E05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13C6E-3065-21BF-FF08-3699F0657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694481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br>
              <a:rPr lang="en-US" sz="4000" b="1" dirty="0">
                <a:solidFill>
                  <a:schemeClr val="bg1"/>
                </a:solidFill>
              </a:rPr>
            </a:br>
            <a:br>
              <a:rPr lang="en-US" sz="4000" b="1" dirty="0">
                <a:solidFill>
                  <a:schemeClr val="bg1"/>
                </a:solidFill>
              </a:rPr>
            </a:br>
            <a:br>
              <a:rPr lang="en-US" sz="4000" b="1" dirty="0">
                <a:solidFill>
                  <a:schemeClr val="bg1"/>
                </a:solidFill>
              </a:rPr>
            </a:br>
            <a:br>
              <a:rPr lang="en-US" sz="4000" b="1" dirty="0">
                <a:solidFill>
                  <a:schemeClr val="bg1"/>
                </a:solidFill>
              </a:rPr>
            </a:br>
            <a:br>
              <a:rPr lang="en-US" sz="4000" b="1" dirty="0">
                <a:solidFill>
                  <a:schemeClr val="bg1"/>
                </a:solidFill>
              </a:rPr>
            </a:br>
            <a:r>
              <a:rPr lang="en-US" sz="4000" b="1" dirty="0">
                <a:solidFill>
                  <a:schemeClr val="bg1"/>
                </a:solidFill>
              </a:rPr>
              <a:t>WIFI CHANNEL</a:t>
            </a:r>
            <a:endParaRPr lang="en-IN" sz="4000" b="1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ED732-DFF7-6B03-8EA3-EF27EB1F1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679" y="781766"/>
            <a:ext cx="6382641" cy="5144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964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BB570-DAB8-314E-382B-2431C7503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AC9E3-3CAE-CA6F-A346-26BF70FDFB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1282090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br>
              <a:rPr lang="en-US" sz="4000" b="1" dirty="0">
                <a:solidFill>
                  <a:schemeClr val="bg1"/>
                </a:solidFill>
              </a:rPr>
            </a:br>
            <a:br>
              <a:rPr lang="en-US" sz="4000" b="1" dirty="0">
                <a:solidFill>
                  <a:schemeClr val="bg1"/>
                </a:solidFill>
              </a:rPr>
            </a:br>
            <a:br>
              <a:rPr lang="en-US" sz="4000" b="1" dirty="0">
                <a:solidFill>
                  <a:schemeClr val="bg1"/>
                </a:solidFill>
              </a:rPr>
            </a:br>
            <a:br>
              <a:rPr lang="en-US" sz="4000" b="1" dirty="0">
                <a:solidFill>
                  <a:schemeClr val="bg1"/>
                </a:solidFill>
              </a:rPr>
            </a:br>
            <a:br>
              <a:rPr lang="en-US" sz="4000" b="1" dirty="0">
                <a:solidFill>
                  <a:schemeClr val="bg1"/>
                </a:solidFill>
              </a:rPr>
            </a:br>
            <a:r>
              <a:rPr lang="en-US" sz="4000" b="1" dirty="0">
                <a:solidFill>
                  <a:schemeClr val="bg1"/>
                </a:solidFill>
              </a:rPr>
              <a:t>SELECTING WIFI CHANNEL</a:t>
            </a:r>
            <a:br>
              <a:rPr lang="en-US" sz="4000" b="1" dirty="0">
                <a:solidFill>
                  <a:schemeClr val="bg1"/>
                </a:solidFill>
              </a:rPr>
            </a:br>
            <a:r>
              <a:rPr lang="en-US" sz="4000" b="1" dirty="0">
                <a:solidFill>
                  <a:schemeClr val="bg1"/>
                </a:solidFill>
              </a:rPr>
              <a:t>2.4 GHZ</a:t>
            </a:r>
            <a:endParaRPr lang="en-IN" sz="4000" b="1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F740751-3C04-75F3-4D11-19842D7D8B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380" y="1993227"/>
            <a:ext cx="3436620" cy="292069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28747D0-D993-85D7-36A9-EC769838AFB3}"/>
              </a:ext>
            </a:extLst>
          </p:cNvPr>
          <p:cNvSpPr txBox="1"/>
          <p:nvPr/>
        </p:nvSpPr>
        <p:spPr>
          <a:xfrm>
            <a:off x="244388" y="5625054"/>
            <a:ext cx="60985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</a:pPr>
            <a:r>
              <a:rPr lang="en-IN" sz="2000" b="1" dirty="0"/>
              <a:t>Range:</a:t>
            </a:r>
            <a:r>
              <a:rPr lang="en-IN" sz="2000" dirty="0"/>
              <a:t>  Longest range (covers a bigger area)</a:t>
            </a:r>
          </a:p>
          <a:p>
            <a:pPr marL="342900" indent="-342900"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</a:pPr>
            <a:r>
              <a:rPr lang="en-IN" sz="2000" b="1" dirty="0"/>
              <a:t>Speed:</a:t>
            </a:r>
            <a:r>
              <a:rPr lang="en-IN" sz="2000" dirty="0"/>
              <a:t>  Slower speeds compared to 5 GHz and 6 GHz</a:t>
            </a:r>
          </a:p>
          <a:p>
            <a:pPr marL="342900" indent="-342900"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</a:pPr>
            <a:r>
              <a:rPr lang="en-IN" sz="2000" b="1" dirty="0"/>
              <a:t>Penetration:</a:t>
            </a:r>
            <a:r>
              <a:rPr lang="en-IN" sz="2000" dirty="0"/>
              <a:t> Best at penetrating walls and obstacles</a:t>
            </a:r>
          </a:p>
          <a:p>
            <a:pPr marL="342900" indent="-342900"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</a:pPr>
            <a:r>
              <a:rPr lang="en-IN" sz="2000" b="1" dirty="0"/>
              <a:t>Congestion:</a:t>
            </a:r>
            <a:r>
              <a:rPr lang="en-IN" sz="2000" dirty="0"/>
              <a:t> Very crowded (used by Bluetooth, microwaves, baby monitors, etc.)</a:t>
            </a:r>
          </a:p>
          <a:p>
            <a:pPr marL="342900" indent="-342900"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</a:pPr>
            <a:r>
              <a:rPr lang="en-IN" sz="2000" b="1" dirty="0"/>
              <a:t>Best for:</a:t>
            </a:r>
            <a:r>
              <a:rPr lang="en-IN" sz="2000" dirty="0"/>
              <a:t> Browsing, IoT devices, older devices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427ABA-DCC5-2155-29F3-3EE22349D673}"/>
              </a:ext>
            </a:extLst>
          </p:cNvPr>
          <p:cNvSpPr txBox="1"/>
          <p:nvPr/>
        </p:nvSpPr>
        <p:spPr>
          <a:xfrm>
            <a:off x="244388" y="2130133"/>
            <a:ext cx="3436621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chemeClr val="accent1"/>
                </a:solidFill>
              </a:rPr>
              <a:t>2.4 GHz Channels</a:t>
            </a:r>
          </a:p>
          <a:p>
            <a:r>
              <a:rPr lang="en-IN" sz="2800" dirty="0">
                <a:solidFill>
                  <a:schemeClr val="accent1"/>
                </a:solidFill>
              </a:rPr>
              <a:t>•</a:t>
            </a:r>
            <a:r>
              <a:rPr lang="en-IN" dirty="0"/>
              <a:t> 5 MHz between channels</a:t>
            </a:r>
          </a:p>
          <a:p>
            <a:r>
              <a:rPr lang="en-IN" sz="2800" dirty="0">
                <a:solidFill>
                  <a:schemeClr val="accent1"/>
                </a:solidFill>
              </a:rPr>
              <a:t>•</a:t>
            </a:r>
            <a:r>
              <a:rPr lang="en-IN" dirty="0"/>
              <a:t> Exception: 12 MHz</a:t>
            </a:r>
          </a:p>
          <a:p>
            <a:r>
              <a:rPr lang="en-IN" dirty="0"/>
              <a:t>    between channels 13</a:t>
            </a:r>
          </a:p>
          <a:p>
            <a:r>
              <a:rPr lang="en-IN" dirty="0"/>
              <a:t>     and 14</a:t>
            </a:r>
          </a:p>
          <a:p>
            <a:r>
              <a:rPr lang="en-IN" sz="2800" dirty="0">
                <a:solidFill>
                  <a:schemeClr val="accent1"/>
                </a:solidFill>
              </a:rPr>
              <a:t>•</a:t>
            </a:r>
            <a:r>
              <a:rPr lang="en-IN" dirty="0"/>
              <a:t> Channel 14 only allowed in</a:t>
            </a:r>
          </a:p>
          <a:p>
            <a:r>
              <a:rPr lang="en-IN" dirty="0"/>
              <a:t>     Japan for 802.11b</a:t>
            </a:r>
          </a:p>
        </p:txBody>
      </p:sp>
    </p:spTree>
    <p:extLst>
      <p:ext uri="{BB962C8B-B14F-4D97-AF65-F5344CB8AC3E}">
        <p14:creationId xmlns:p14="http://schemas.microsoft.com/office/powerpoint/2010/main" val="38870022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4657D-E257-9E19-A026-0718BB430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CD0B8B5A-063A-66CC-A002-D85ABC8AA3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321361"/>
            <a:ext cx="659757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Range: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Medium range (shorter than 2.4 GHz)</a:t>
            </a:r>
            <a:endParaRPr lang="en-US" altLang="en-US" sz="2000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Speed: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Faster than 2.4 GHz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Penetration: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Weaker at passing through walls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Congestion: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Less crowded than 2.4 GHz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Best for: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Streaming HD/4K video, online gaming, video conferencing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A183758-7AAC-07B0-772A-AA09AAF078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428739"/>
            <a:ext cx="6597570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</a:pPr>
            <a:r>
              <a:rPr lang="en-US" sz="2000" b="1" dirty="0"/>
              <a:t>Range:</a:t>
            </a:r>
            <a:r>
              <a:rPr lang="en-US" sz="2000" dirty="0"/>
              <a:t> Shortest range (best in the same room) </a:t>
            </a: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Speed: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Faster than 2.4 GHz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Penetration: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Weaker at passing through walls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Congestion: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Less crowded than 2.4 GHz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Best for: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Streaming HD/4K video, online gaming, video conferencing</a:t>
            </a:r>
            <a:endParaRPr lang="en-US" altLang="en-US" sz="2000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  <a:tabLst/>
            </a:pPr>
            <a:r>
              <a:rPr lang="en-US" altLang="en-US" sz="2000" dirty="0"/>
              <a:t>It supports wpa3 security.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CFE1953-AA41-1863-F3F8-2F223FA50779}"/>
              </a:ext>
            </a:extLst>
          </p:cNvPr>
          <p:cNvSpPr txBox="1">
            <a:spLocks/>
          </p:cNvSpPr>
          <p:nvPr/>
        </p:nvSpPr>
        <p:spPr>
          <a:xfrm>
            <a:off x="0" y="3444317"/>
            <a:ext cx="6858000" cy="800458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vert="horz" lIns="91440" tIns="45720" rIns="91440" bIns="45720" rtlCol="0" anchor="b">
            <a:norm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chemeClr val="bg1"/>
                </a:solidFill>
              </a:rPr>
              <a:t>6 GHZ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E0405EF-4787-8EA9-2FB2-171F3693D3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1282090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br>
              <a:rPr lang="en-US" sz="4000" b="1" dirty="0">
                <a:solidFill>
                  <a:schemeClr val="bg1"/>
                </a:solidFill>
              </a:rPr>
            </a:br>
            <a:br>
              <a:rPr lang="en-US" sz="4000" b="1" dirty="0">
                <a:solidFill>
                  <a:schemeClr val="bg1"/>
                </a:solidFill>
              </a:rPr>
            </a:br>
            <a:br>
              <a:rPr lang="en-US" sz="4000" b="1" dirty="0">
                <a:solidFill>
                  <a:schemeClr val="bg1"/>
                </a:solidFill>
              </a:rPr>
            </a:br>
            <a:br>
              <a:rPr lang="en-US" sz="4000" b="1" dirty="0">
                <a:solidFill>
                  <a:schemeClr val="bg1"/>
                </a:solidFill>
              </a:rPr>
            </a:br>
            <a:br>
              <a:rPr lang="en-US" sz="4000" b="1" dirty="0">
                <a:solidFill>
                  <a:schemeClr val="bg1"/>
                </a:solidFill>
              </a:rPr>
            </a:br>
            <a:r>
              <a:rPr lang="en-US" sz="4000" b="1" dirty="0">
                <a:solidFill>
                  <a:schemeClr val="bg1"/>
                </a:solidFill>
              </a:rPr>
              <a:t>SELECTING WIFI CHANNEL</a:t>
            </a:r>
            <a:br>
              <a:rPr lang="en-US" sz="4000" b="1" dirty="0">
                <a:solidFill>
                  <a:schemeClr val="bg1"/>
                </a:solidFill>
              </a:rPr>
            </a:br>
            <a:r>
              <a:rPr lang="en-US" sz="4000" b="1" dirty="0">
                <a:solidFill>
                  <a:schemeClr val="bg1"/>
                </a:solidFill>
              </a:rPr>
              <a:t>5GHZ</a:t>
            </a:r>
            <a:endParaRPr lang="en-IN" sz="4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0236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EB508-ECD6-E77A-5E57-6C2507D7E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474B2-5214-221D-A095-7F06241F1A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800458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SERVICE SETS (IBSS, SSID)</a:t>
            </a:r>
            <a:endParaRPr lang="en-IN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22E8859-9E43-AA45-853F-8BB9497512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890" t="36145"/>
          <a:stretch>
            <a:fillRect/>
          </a:stretch>
        </p:blipFill>
        <p:spPr>
          <a:xfrm>
            <a:off x="3970116" y="1861068"/>
            <a:ext cx="2887884" cy="18737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21A943A-3FE9-9583-BC08-2949D2286D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080" r="1182"/>
          <a:stretch>
            <a:fillRect/>
          </a:stretch>
        </p:blipFill>
        <p:spPr>
          <a:xfrm>
            <a:off x="3680749" y="3734783"/>
            <a:ext cx="3136739" cy="340368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1B7C242-6E19-4300-7DB8-59D0F7D0B745}"/>
              </a:ext>
            </a:extLst>
          </p:cNvPr>
          <p:cNvSpPr txBox="1"/>
          <p:nvPr/>
        </p:nvSpPr>
        <p:spPr>
          <a:xfrm>
            <a:off x="202557" y="1193693"/>
            <a:ext cx="5885728" cy="2395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chemeClr val="accent1"/>
                </a:solidFill>
              </a:rPr>
              <a:t>Independent Basic Service Set (IBSS)</a:t>
            </a:r>
          </a:p>
          <a:p>
            <a:pPr>
              <a:lnSpc>
                <a:spcPct val="150000"/>
              </a:lnSpc>
            </a:pPr>
            <a:r>
              <a:rPr lang="en-IN" sz="2800" dirty="0">
                <a:solidFill>
                  <a:schemeClr val="accent1"/>
                </a:solidFill>
              </a:rPr>
              <a:t>•</a:t>
            </a:r>
            <a:r>
              <a:rPr lang="en-IN" dirty="0"/>
              <a:t> Uses an ad hoc wireless design</a:t>
            </a:r>
          </a:p>
          <a:p>
            <a:pPr>
              <a:lnSpc>
                <a:spcPct val="150000"/>
              </a:lnSpc>
            </a:pPr>
            <a:r>
              <a:rPr lang="en-IN" sz="2800" dirty="0">
                <a:solidFill>
                  <a:schemeClr val="accent1"/>
                </a:solidFill>
              </a:rPr>
              <a:t>•</a:t>
            </a:r>
            <a:r>
              <a:rPr lang="en-IN" dirty="0"/>
              <a:t> No need for a wired infrastructure</a:t>
            </a:r>
            <a:br>
              <a:rPr lang="en-IN" sz="2800" dirty="0">
                <a:solidFill>
                  <a:schemeClr val="accent1"/>
                </a:solidFill>
              </a:rPr>
            </a:br>
            <a:r>
              <a:rPr lang="en-IN" sz="2800" dirty="0">
                <a:solidFill>
                  <a:schemeClr val="accent1"/>
                </a:solidFill>
              </a:rPr>
              <a:t>•</a:t>
            </a:r>
            <a:r>
              <a:rPr lang="en-IN" dirty="0"/>
              <a:t> Useful for occasional file transfers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385554-3FD5-5B7E-333D-2ACE6CF081A8}"/>
              </a:ext>
            </a:extLst>
          </p:cNvPr>
          <p:cNvSpPr txBox="1"/>
          <p:nvPr/>
        </p:nvSpPr>
        <p:spPr>
          <a:xfrm>
            <a:off x="202557" y="4103665"/>
            <a:ext cx="3437680" cy="303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chemeClr val="accent1"/>
                </a:solidFill>
              </a:rPr>
              <a:t>Service Set ID (SSID)</a:t>
            </a:r>
          </a:p>
          <a:p>
            <a:r>
              <a:rPr lang="en-IN" sz="2800" dirty="0">
                <a:solidFill>
                  <a:schemeClr val="accent1"/>
                </a:solidFill>
              </a:rPr>
              <a:t>• </a:t>
            </a:r>
            <a:r>
              <a:rPr lang="en-IN" dirty="0"/>
              <a:t>The name of a wireless network</a:t>
            </a:r>
          </a:p>
          <a:p>
            <a:pPr>
              <a:lnSpc>
                <a:spcPct val="150000"/>
              </a:lnSpc>
            </a:pPr>
            <a:r>
              <a:rPr lang="en-IN" sz="2800" dirty="0">
                <a:solidFill>
                  <a:schemeClr val="accent1"/>
                </a:solidFill>
              </a:rPr>
              <a:t>•</a:t>
            </a:r>
            <a:r>
              <a:rPr lang="en-IN" dirty="0"/>
              <a:t> Can be serviced by multiple </a:t>
            </a:r>
            <a:br>
              <a:rPr lang="en-IN" dirty="0"/>
            </a:br>
            <a:r>
              <a:rPr lang="en-IN" dirty="0"/>
              <a:t>    access points</a:t>
            </a:r>
          </a:p>
          <a:p>
            <a:pPr>
              <a:lnSpc>
                <a:spcPct val="150000"/>
              </a:lnSpc>
            </a:pPr>
            <a:r>
              <a:rPr lang="en-IN" sz="2800" dirty="0">
                <a:solidFill>
                  <a:schemeClr val="accent1"/>
                </a:solidFill>
              </a:rPr>
              <a:t>•</a:t>
            </a:r>
            <a:r>
              <a:rPr lang="en-IN" dirty="0"/>
              <a:t> Can be hidden to prevent</a:t>
            </a:r>
          </a:p>
          <a:p>
            <a:pPr>
              <a:lnSpc>
                <a:spcPct val="150000"/>
              </a:lnSpc>
            </a:pPr>
            <a:r>
              <a:rPr lang="en-IN" dirty="0"/>
              <a:t>     visibility to the casual user</a:t>
            </a:r>
          </a:p>
        </p:txBody>
      </p:sp>
    </p:spTree>
    <p:extLst>
      <p:ext uri="{BB962C8B-B14F-4D97-AF65-F5344CB8AC3E}">
        <p14:creationId xmlns:p14="http://schemas.microsoft.com/office/powerpoint/2010/main" val="2432024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48F20-BF5A-B8FA-5C73-40216F5F6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CE067-FF6D-740F-A70B-6E0EFBD4E1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800458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SERVICE SETS (BSSID)</a:t>
            </a:r>
            <a:endParaRPr lang="en-IN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2883A4-DD39-5ECB-7335-0AFA39E80F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778"/>
          <a:stretch>
            <a:fillRect/>
          </a:stretch>
        </p:blipFill>
        <p:spPr>
          <a:xfrm>
            <a:off x="3276599" y="800458"/>
            <a:ext cx="3581399" cy="35547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CA6EDB-96C4-8F95-D266-6D88A51C8278}"/>
              </a:ext>
            </a:extLst>
          </p:cNvPr>
          <p:cNvSpPr txBox="1"/>
          <p:nvPr/>
        </p:nvSpPr>
        <p:spPr>
          <a:xfrm>
            <a:off x="118636" y="5155638"/>
            <a:ext cx="674804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BSSID (Basic Service Set Identifier) is the </a:t>
            </a:r>
            <a:r>
              <a:rPr lang="en-US" b="1" dirty="0"/>
              <a:t>unique identifier (MAC address)</a:t>
            </a:r>
            <a:r>
              <a:rPr lang="en-US" dirty="0"/>
              <a:t> of a wireless access point (AP) or wireless interface that is part of a Wi-Fi network.</a:t>
            </a:r>
            <a:endParaRPr lang="en-IN" dirty="0"/>
          </a:p>
          <a:p>
            <a:pPr algn="just"/>
            <a:endParaRPr lang="en-US" dirty="0"/>
          </a:p>
          <a:p>
            <a:pPr algn="just"/>
            <a:r>
              <a:rPr lang="en-US" dirty="0"/>
              <a:t>Here two different access points shares same </a:t>
            </a:r>
            <a:r>
              <a:rPr lang="en-US" dirty="0" err="1"/>
              <a:t>ssid</a:t>
            </a:r>
            <a:r>
              <a:rPr lang="en-US" dirty="0"/>
              <a:t> with different mac-address so the devices that are connected to ac1 can also be connected to the ac2.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6D25F7-0CDD-F7E8-E2A0-1D257052C691}"/>
              </a:ext>
            </a:extLst>
          </p:cNvPr>
          <p:cNvSpPr txBox="1"/>
          <p:nvPr/>
        </p:nvSpPr>
        <p:spPr>
          <a:xfrm>
            <a:off x="54977" y="884417"/>
            <a:ext cx="3437680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chemeClr val="accent1"/>
                </a:solidFill>
              </a:rPr>
              <a:t>Basic Service Set ID (BSSID)</a:t>
            </a:r>
          </a:p>
          <a:p>
            <a:r>
              <a:rPr lang="en-IN" dirty="0">
                <a:solidFill>
                  <a:schemeClr val="accent1"/>
                </a:solidFill>
              </a:rPr>
              <a:t>•</a:t>
            </a:r>
            <a:r>
              <a:rPr lang="en-IN" dirty="0"/>
              <a:t>  </a:t>
            </a:r>
            <a:r>
              <a:rPr lang="en-US" dirty="0"/>
              <a:t>The MAC address on an</a:t>
            </a:r>
          </a:p>
          <a:p>
            <a:r>
              <a:rPr lang="en-US" dirty="0"/>
              <a:t>     access point associated with</a:t>
            </a:r>
          </a:p>
          <a:p>
            <a:r>
              <a:rPr lang="en-US" dirty="0"/>
              <a:t>     an SSID</a:t>
            </a:r>
          </a:p>
          <a:p>
            <a:endParaRPr lang="en-US" dirty="0"/>
          </a:p>
          <a:p>
            <a:r>
              <a:rPr lang="en-IN" dirty="0">
                <a:solidFill>
                  <a:schemeClr val="accent1"/>
                </a:solidFill>
              </a:rPr>
              <a:t>•  </a:t>
            </a:r>
            <a:r>
              <a:rPr lang="en-US" dirty="0"/>
              <a:t>Allows clients to communicate</a:t>
            </a:r>
            <a:br>
              <a:rPr lang="en-US" dirty="0"/>
            </a:br>
            <a:r>
              <a:rPr lang="en-US" dirty="0"/>
              <a:t>    with a specific access point</a:t>
            </a:r>
          </a:p>
          <a:p>
            <a:r>
              <a:rPr lang="en-US" dirty="0"/>
              <a:t>    servicing an SSID</a:t>
            </a:r>
          </a:p>
          <a:p>
            <a:endParaRPr lang="en-US" dirty="0"/>
          </a:p>
          <a:p>
            <a:r>
              <a:rPr lang="en-IN" dirty="0">
                <a:solidFill>
                  <a:schemeClr val="accent1"/>
                </a:solidFill>
              </a:rPr>
              <a:t>•</a:t>
            </a:r>
            <a:r>
              <a:rPr lang="en-IN" dirty="0"/>
              <a:t> </a:t>
            </a:r>
            <a:r>
              <a:rPr lang="en-US" dirty="0"/>
              <a:t>Supports "roaming" between</a:t>
            </a:r>
          </a:p>
          <a:p>
            <a:r>
              <a:rPr lang="en-US" dirty="0"/>
              <a:t>   access points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5834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59EBC-2492-56A0-2246-122DDB9F6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63577-E13E-070F-8E6F-6B2B246C8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800458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SERVICE SETS (ESSID)</a:t>
            </a:r>
            <a:endParaRPr lang="en-IN" b="1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C6E853-83A0-3219-53A4-3F90156608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874"/>
          <a:stretch>
            <a:fillRect/>
          </a:stretch>
        </p:blipFill>
        <p:spPr>
          <a:xfrm>
            <a:off x="3420320" y="1043685"/>
            <a:ext cx="3437680" cy="34568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6DAC3A4-6458-E41E-E1B6-2173395F9932}"/>
              </a:ext>
            </a:extLst>
          </p:cNvPr>
          <p:cNvSpPr txBox="1"/>
          <p:nvPr/>
        </p:nvSpPr>
        <p:spPr>
          <a:xfrm>
            <a:off x="0" y="4976220"/>
            <a:ext cx="660335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</a:pPr>
            <a:r>
              <a:rPr lang="en-US" b="1" dirty="0"/>
              <a:t>SSID (Service Set Identifier): </a:t>
            </a:r>
            <a:r>
              <a:rPr lang="en-US" dirty="0"/>
              <a:t>The network name (</a:t>
            </a:r>
            <a:r>
              <a:rPr lang="en-US" dirty="0" err="1"/>
              <a:t>like</a:t>
            </a:r>
            <a:r>
              <a:rPr lang="en-US" dirty="0" err="1">
                <a:latin typeface="Courier New" panose="02070309020205020404" pitchFamily="49" charset="0"/>
              </a:rPr>
              <a:t>Home_WiFi</a:t>
            </a:r>
            <a:r>
              <a:rPr lang="en-US" dirty="0"/>
              <a:t>)</a:t>
            </a:r>
          </a:p>
          <a:p>
            <a:pPr marL="285750" indent="-285750" algn="just"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</a:pPr>
            <a:r>
              <a:rPr lang="en-US" b="1" dirty="0"/>
              <a:t>BSSID (Basic Service Set Identifier): </a:t>
            </a:r>
            <a:r>
              <a:rPr lang="en-US" dirty="0"/>
              <a:t>The MAC address of a single AP’s radio</a:t>
            </a:r>
          </a:p>
          <a:p>
            <a:pPr marL="285750" indent="-285750" algn="just"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</a:pPr>
            <a:r>
              <a:rPr lang="en-US" b="1" dirty="0"/>
              <a:t>ESSID (Extended Service Set Identifier): </a:t>
            </a:r>
            <a:r>
              <a:rPr lang="en-US" dirty="0"/>
              <a:t>A group of multiple APs all connected to the same LAN and broadcasting the same SSID</a:t>
            </a:r>
            <a:br>
              <a:rPr lang="en-US" dirty="0"/>
            </a:br>
            <a:r>
              <a:rPr lang="en-US" dirty="0"/>
              <a:t>(ESSID = the SSID used by all APs in the ESS.)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32C76C-B720-7E63-E130-2D0B2CBC4F1B}"/>
              </a:ext>
            </a:extLst>
          </p:cNvPr>
          <p:cNvSpPr txBox="1"/>
          <p:nvPr/>
        </p:nvSpPr>
        <p:spPr>
          <a:xfrm>
            <a:off x="156420" y="1525629"/>
            <a:ext cx="3437680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chemeClr val="accent1"/>
                </a:solidFill>
              </a:rPr>
              <a:t>Extended Service Set ID (ESSID) </a:t>
            </a:r>
          </a:p>
          <a:p>
            <a:br>
              <a:rPr lang="en-IN" sz="2800" b="1" dirty="0">
                <a:solidFill>
                  <a:schemeClr val="accent1"/>
                </a:solidFill>
              </a:rPr>
            </a:br>
            <a:r>
              <a:rPr lang="en-IN" sz="2000" dirty="0">
                <a:solidFill>
                  <a:schemeClr val="accent1"/>
                </a:solidFill>
              </a:rPr>
              <a:t>•</a:t>
            </a:r>
            <a:r>
              <a:rPr lang="en-IN" dirty="0"/>
              <a:t> </a:t>
            </a:r>
            <a:r>
              <a:rPr lang="en-US" sz="2000" dirty="0"/>
              <a:t>A collection of all basic</a:t>
            </a:r>
          </a:p>
          <a:p>
            <a:r>
              <a:rPr lang="en-US" sz="2000" dirty="0"/>
              <a:t>   service sets</a:t>
            </a:r>
          </a:p>
          <a:p>
            <a:endParaRPr lang="en-US" sz="2000" dirty="0"/>
          </a:p>
          <a:p>
            <a:r>
              <a:rPr lang="en-IN" sz="2000" dirty="0">
                <a:solidFill>
                  <a:schemeClr val="accent1"/>
                </a:solidFill>
              </a:rPr>
              <a:t>• </a:t>
            </a:r>
            <a:r>
              <a:rPr lang="en-US" sz="2000" dirty="0"/>
              <a:t>The same as an SSID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2258282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D7C30-D060-3C98-8B4D-B5D90387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1DDF1-6E9A-315A-9D86-D7D90AA384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800458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SERVICE SETS (MBSSID)</a:t>
            </a:r>
            <a:endParaRPr lang="en-IN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2C2C9A-40D8-7050-8201-0029E05B95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296"/>
          <a:stretch>
            <a:fillRect/>
          </a:stretch>
        </p:blipFill>
        <p:spPr>
          <a:xfrm>
            <a:off x="3175000" y="800458"/>
            <a:ext cx="3683000" cy="356520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6743091-CA0F-469C-EEE8-598CC41C7758}"/>
              </a:ext>
            </a:extLst>
          </p:cNvPr>
          <p:cNvSpPr txBox="1"/>
          <p:nvPr/>
        </p:nvSpPr>
        <p:spPr>
          <a:xfrm>
            <a:off x="156420" y="966829"/>
            <a:ext cx="343768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</a:rPr>
              <a:t>Multiple Basic Service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Set ID (MBSSID)</a:t>
            </a:r>
          </a:p>
          <a:p>
            <a:endParaRPr lang="en-US" sz="2000" dirty="0">
              <a:solidFill>
                <a:schemeClr val="accent1"/>
              </a:solidFill>
            </a:endParaRPr>
          </a:p>
          <a:p>
            <a:r>
              <a:rPr lang="en-US" sz="2000" dirty="0">
                <a:solidFill>
                  <a:schemeClr val="accent1"/>
                </a:solidFill>
              </a:rPr>
              <a:t>•</a:t>
            </a:r>
            <a:r>
              <a:rPr lang="en-US" sz="2000" dirty="0"/>
              <a:t> A single access point can</a:t>
            </a:r>
          </a:p>
          <a:p>
            <a:r>
              <a:rPr lang="en-US" sz="2000" dirty="0"/>
              <a:t>   support multiple SSIDs</a:t>
            </a:r>
          </a:p>
          <a:p>
            <a:endParaRPr lang="en-US" sz="2000" dirty="0">
              <a:solidFill>
                <a:schemeClr val="accent1"/>
              </a:solidFill>
            </a:endParaRPr>
          </a:p>
          <a:p>
            <a:r>
              <a:rPr lang="en-US" sz="2000" dirty="0">
                <a:solidFill>
                  <a:schemeClr val="accent1"/>
                </a:solidFill>
              </a:rPr>
              <a:t>• </a:t>
            </a:r>
            <a:r>
              <a:rPr lang="en-US" sz="2000" dirty="0"/>
              <a:t>Each SSID on an access</a:t>
            </a:r>
          </a:p>
          <a:p>
            <a:r>
              <a:rPr lang="en-US" sz="2000" dirty="0"/>
              <a:t>   point has a unique MAC</a:t>
            </a:r>
          </a:p>
          <a:p>
            <a:r>
              <a:rPr lang="en-US" sz="2000" dirty="0"/>
              <a:t>   address</a:t>
            </a:r>
            <a:endParaRPr lang="en-IN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86151-BDF0-6D35-C645-6825F37C8897}"/>
              </a:ext>
            </a:extLst>
          </p:cNvPr>
          <p:cNvSpPr txBox="1"/>
          <p:nvPr/>
        </p:nvSpPr>
        <p:spPr>
          <a:xfrm>
            <a:off x="0" y="5446433"/>
            <a:ext cx="6972300" cy="2954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1"/>
                </a:solidFill>
              </a:rPr>
              <a:t>Why MBSSID is useful?</a:t>
            </a:r>
            <a:endParaRPr lang="en-US" sz="2400" dirty="0">
              <a:solidFill>
                <a:schemeClr val="accent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r>
              <a:rPr lang="en-US" dirty="0">
                <a:solidFill>
                  <a:schemeClr val="accent1"/>
                </a:solidFill>
              </a:rPr>
              <a:t>•  </a:t>
            </a:r>
            <a:r>
              <a:rPr lang="en-US" b="1" dirty="0"/>
              <a:t>Network segmentation</a:t>
            </a:r>
            <a:r>
              <a:rPr lang="en-US" dirty="0"/>
              <a:t>: You can create different Wi-Fi networks (e.g., </a:t>
            </a:r>
            <a:br>
              <a:rPr lang="en-US" dirty="0"/>
            </a:br>
            <a:r>
              <a:rPr lang="en-US" dirty="0"/>
              <a:t>    one for employees, one for guests) using the same AP.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•  </a:t>
            </a:r>
            <a:r>
              <a:rPr lang="en-US" b="1" dirty="0"/>
              <a:t>Different security policies</a:t>
            </a:r>
            <a:r>
              <a:rPr lang="en-US" dirty="0"/>
              <a:t>: Each SSID can have its own authentication   </a:t>
            </a:r>
            <a:br>
              <a:rPr lang="en-US" dirty="0"/>
            </a:br>
            <a:r>
              <a:rPr lang="en-US" dirty="0"/>
              <a:t>     and encryption (e.g., WPA2-Enterprise for staff, WPA2-PSK for guests).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• </a:t>
            </a:r>
            <a:r>
              <a:rPr lang="en-US" b="1" dirty="0"/>
              <a:t>Efficient resource use</a:t>
            </a:r>
            <a:r>
              <a:rPr lang="en-US" dirty="0"/>
              <a:t>: Instead of deploying separate APs for each SSID, </a:t>
            </a:r>
            <a:br>
              <a:rPr lang="en-US" dirty="0"/>
            </a:br>
            <a:r>
              <a:rPr lang="en-US" dirty="0"/>
              <a:t>    MBSSID lets one AP handle multiple virtual WLANs.</a:t>
            </a:r>
          </a:p>
        </p:txBody>
      </p:sp>
    </p:spTree>
    <p:extLst>
      <p:ext uri="{BB962C8B-B14F-4D97-AF65-F5344CB8AC3E}">
        <p14:creationId xmlns:p14="http://schemas.microsoft.com/office/powerpoint/2010/main" val="8560065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F6114-0327-8D7E-2474-62E8025CD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4843C-C471-CEDB-6A03-4FD2882D38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654123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chemeClr val="bg1"/>
                </a:solidFill>
              </a:rPr>
              <a:t>WIFI RADIO TECHNOLOGIES (DSSS)</a:t>
            </a:r>
            <a:endParaRPr lang="en-IN" sz="3400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2BC1D0-58F3-A564-2F6F-97E2FDB14DD0}"/>
              </a:ext>
            </a:extLst>
          </p:cNvPr>
          <p:cNvSpPr txBox="1"/>
          <p:nvPr/>
        </p:nvSpPr>
        <p:spPr>
          <a:xfrm>
            <a:off x="0" y="901700"/>
            <a:ext cx="6858000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</a:rPr>
              <a:t>What is DSSS?</a:t>
            </a:r>
          </a:p>
          <a:p>
            <a:r>
              <a:rPr lang="en-US" dirty="0"/>
              <a:t>Direct-Sequence Spread Spectrum is a way of sending a wireless signal by taking the original data and mixing it with a unique, high-speed code. This process "spreads" the signal over a much wider frequency band, making it look like random background noise to anyone who doesn't have the special code. </a:t>
            </a:r>
          </a:p>
          <a:p>
            <a:endParaRPr lang="en-US" dirty="0"/>
          </a:p>
          <a:p>
            <a:r>
              <a:rPr lang="en-US" sz="2400" b="1" dirty="0">
                <a:solidFill>
                  <a:schemeClr val="accent1"/>
                </a:solidFill>
              </a:rPr>
              <a:t>Why DSSS is important?</a:t>
            </a:r>
            <a:br>
              <a:rPr lang="en-US" sz="2400" b="1" dirty="0">
                <a:solidFill>
                  <a:schemeClr val="accent1"/>
                </a:solidFill>
              </a:rPr>
            </a:br>
            <a:r>
              <a:rPr lang="en-US" b="1" dirty="0">
                <a:solidFill>
                  <a:schemeClr val="accent1"/>
                </a:solidFill>
              </a:rPr>
              <a:t>• </a:t>
            </a:r>
            <a:r>
              <a:rPr lang="en-US" b="1" dirty="0"/>
              <a:t>Protects against interference:</a:t>
            </a:r>
            <a:r>
              <a:rPr lang="en-US" dirty="0"/>
              <a:t> Because the signal is spread out over a    </a:t>
            </a:r>
            <a:br>
              <a:rPr lang="en-US" dirty="0"/>
            </a:br>
            <a:r>
              <a:rPr lang="en-US" dirty="0"/>
              <a:t>    wide range, it is very hard for other devices or radio signals to    </a:t>
            </a:r>
            <a:br>
              <a:rPr lang="en-US" dirty="0"/>
            </a:br>
            <a:r>
              <a:rPr lang="en-US" dirty="0"/>
              <a:t>    interfere with it. A DSSS receiver can easily find and focus on the </a:t>
            </a:r>
            <a:br>
              <a:rPr lang="en-US" dirty="0"/>
            </a:br>
            <a:r>
              <a:rPr lang="en-US" dirty="0"/>
              <a:t>    correct signal while ignoring other noise.</a:t>
            </a:r>
          </a:p>
          <a:p>
            <a:endParaRPr lang="en-US" b="1" dirty="0">
              <a:solidFill>
                <a:schemeClr val="accent1"/>
              </a:solidFill>
            </a:endParaRPr>
          </a:p>
          <a:p>
            <a:r>
              <a:rPr lang="en-US" b="1" dirty="0">
                <a:solidFill>
                  <a:schemeClr val="accent1"/>
                </a:solidFill>
              </a:rPr>
              <a:t>• </a:t>
            </a:r>
            <a:r>
              <a:rPr lang="en-US" b="1" dirty="0"/>
              <a:t>Improves security: </a:t>
            </a:r>
            <a:r>
              <a:rPr lang="en-US" dirty="0"/>
              <a:t>The signal is effectively hidden by the special   </a:t>
            </a:r>
            <a:br>
              <a:rPr lang="en-US" dirty="0"/>
            </a:br>
            <a:r>
              <a:rPr lang="en-US" dirty="0"/>
              <a:t>   </a:t>
            </a:r>
            <a:r>
              <a:rPr lang="en-US" b="1" dirty="0">
                <a:highlight>
                  <a:srgbClr val="FFFF00"/>
                </a:highlight>
              </a:rPr>
              <a:t>chipping code</a:t>
            </a:r>
            <a:r>
              <a:rPr lang="en-US" dirty="0"/>
              <a:t> used to spread it. Without this specific code, the </a:t>
            </a:r>
            <a:br>
              <a:rPr lang="en-US" dirty="0"/>
            </a:br>
            <a:r>
              <a:rPr lang="en-US" dirty="0"/>
              <a:t>   signal looks like harmless static, making it difficult for unauthorized </a:t>
            </a:r>
            <a:br>
              <a:rPr lang="en-US" dirty="0"/>
            </a:br>
            <a:r>
              <a:rPr lang="en-US" dirty="0"/>
              <a:t>   parties to intercept or understand the transmitted data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510433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93B3A-F54D-972C-9F74-843235BB5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24E98-A8C6-EE13-5767-56CFB7643A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654123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chemeClr val="bg1"/>
                </a:solidFill>
              </a:rPr>
              <a:t>WIFI RADIO TECHNOLOGIES (DSSS)</a:t>
            </a:r>
            <a:endParaRPr lang="en-IN" sz="3400" b="1" dirty="0">
              <a:solidFill>
                <a:schemeClr val="bg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9BB4982-CFE5-E596-9F16-0AC29AE16F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" r="46093"/>
          <a:stretch>
            <a:fillRect/>
          </a:stretch>
        </p:blipFill>
        <p:spPr>
          <a:xfrm>
            <a:off x="0" y="1024513"/>
            <a:ext cx="3696986" cy="310486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1790A94-482E-5D30-66C9-0C942EDFC8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6092"/>
          <a:stretch>
            <a:fillRect/>
          </a:stretch>
        </p:blipFill>
        <p:spPr>
          <a:xfrm>
            <a:off x="0" y="4499769"/>
            <a:ext cx="3696986" cy="27758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B2719FB-AC66-0D80-D92F-0B73ADDDD3A9}"/>
              </a:ext>
            </a:extLst>
          </p:cNvPr>
          <p:cNvSpPr txBox="1"/>
          <p:nvPr/>
        </p:nvSpPr>
        <p:spPr>
          <a:xfrm>
            <a:off x="3873500" y="1421474"/>
            <a:ext cx="289560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dirty="0">
                <a:solidFill>
                  <a:schemeClr val="accent1"/>
                </a:solidFill>
              </a:rPr>
              <a:t>• </a:t>
            </a:r>
            <a:r>
              <a:rPr lang="en-IN" dirty="0"/>
              <a:t>A single bit can be sent</a:t>
            </a:r>
          </a:p>
          <a:p>
            <a:r>
              <a:rPr lang="en-IN" dirty="0"/>
              <a:t>   using a 2 MHz frequency </a:t>
            </a:r>
            <a:br>
              <a:rPr lang="en-IN" dirty="0"/>
            </a:br>
            <a:r>
              <a:rPr lang="en-IN" dirty="0"/>
              <a:t>    range</a:t>
            </a:r>
          </a:p>
          <a:p>
            <a:endParaRPr lang="en-IN" dirty="0"/>
          </a:p>
          <a:p>
            <a:r>
              <a:rPr lang="en-IN" dirty="0">
                <a:solidFill>
                  <a:schemeClr val="accent1"/>
                </a:solidFill>
              </a:rPr>
              <a:t>• </a:t>
            </a:r>
            <a:r>
              <a:rPr lang="en-IN" dirty="0"/>
              <a:t>Using Barker 1 1 coding,</a:t>
            </a:r>
          </a:p>
          <a:p>
            <a:r>
              <a:rPr lang="en-IN" dirty="0"/>
              <a:t>   1 bit is transmitted</a:t>
            </a:r>
          </a:p>
          <a:p>
            <a:r>
              <a:rPr lang="en-IN" dirty="0"/>
              <a:t>   along with 10 extra bits</a:t>
            </a:r>
          </a:p>
          <a:p>
            <a:r>
              <a:rPr lang="en-IN" dirty="0"/>
              <a:t>   (called "chips"), which</a:t>
            </a:r>
          </a:p>
          <a:p>
            <a:r>
              <a:rPr lang="en-IN" dirty="0"/>
              <a:t>   provide protection from     </a:t>
            </a:r>
            <a:br>
              <a:rPr lang="en-IN" dirty="0"/>
            </a:br>
            <a:r>
              <a:rPr lang="en-IN" dirty="0"/>
              <a:t>   interference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C58CF5-6206-6495-3C0C-64173C15D1BD}"/>
              </a:ext>
            </a:extLst>
          </p:cNvPr>
          <p:cNvSpPr txBox="1"/>
          <p:nvPr/>
        </p:nvSpPr>
        <p:spPr>
          <a:xfrm>
            <a:off x="3556000" y="5081925"/>
            <a:ext cx="3302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dirty="0">
                <a:solidFill>
                  <a:schemeClr val="accent1"/>
                </a:solidFill>
              </a:rPr>
              <a:t>• </a:t>
            </a:r>
            <a:r>
              <a:rPr lang="en-IN" dirty="0"/>
              <a:t>A symbol is the sequence of 11 </a:t>
            </a:r>
            <a:br>
              <a:rPr lang="en-IN" dirty="0"/>
            </a:br>
            <a:r>
              <a:rPr lang="en-IN" dirty="0"/>
              <a:t>   bits being sent to encode a    </a:t>
            </a:r>
            <a:br>
              <a:rPr lang="en-IN" dirty="0"/>
            </a:br>
            <a:r>
              <a:rPr lang="en-IN" dirty="0"/>
              <a:t>   single bit</a:t>
            </a:r>
          </a:p>
          <a:p>
            <a:endParaRPr lang="en-IN" dirty="0"/>
          </a:p>
          <a:p>
            <a:r>
              <a:rPr lang="en-IN" sz="2000" dirty="0">
                <a:solidFill>
                  <a:schemeClr val="accent1"/>
                </a:solidFill>
              </a:rPr>
              <a:t>• </a:t>
            </a:r>
            <a:r>
              <a:rPr lang="en-IN" dirty="0"/>
              <a:t>Used in the older IEEE</a:t>
            </a:r>
          </a:p>
          <a:p>
            <a:r>
              <a:rPr lang="en-IN" dirty="0"/>
              <a:t>   802. I lb wireless standard</a:t>
            </a:r>
          </a:p>
        </p:txBody>
      </p:sp>
    </p:spTree>
    <p:extLst>
      <p:ext uri="{BB962C8B-B14F-4D97-AF65-F5344CB8AC3E}">
        <p14:creationId xmlns:p14="http://schemas.microsoft.com/office/powerpoint/2010/main" val="2848276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11A5F-3F29-7F24-B9F1-3D48B7F0C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F1D64-800F-1225-AAE4-18EECCF0C3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574"/>
            <a:ext cx="6858000" cy="1122744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chemeClr val="bg1"/>
                </a:solidFill>
              </a:rPr>
              <a:t>WIFI RADIO TECHNOLOGIES</a:t>
            </a:r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(FDM, OFDM)</a:t>
            </a:r>
            <a:endParaRPr lang="en-IN" sz="3400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A56CFB-817F-A59D-8E0A-8A501AA7B1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01" y="1332677"/>
            <a:ext cx="6493397" cy="33233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DDE86AE-ADFD-BF7B-6385-C6D8B915DB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42" y="4854389"/>
            <a:ext cx="6192456" cy="3255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2952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89247-0BE2-CD9C-ED2A-E96BA26E9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6AA48-9EDD-0544-BAB9-8F6069AF69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654123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chemeClr val="bg1"/>
                </a:solidFill>
              </a:rPr>
              <a:t>WIFI RADIO TECHNOLOGIES (QAM)</a:t>
            </a:r>
            <a:endParaRPr lang="en-IN" sz="3400" b="1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EF9627-FD99-0927-35F1-69F457FA6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55" y="787272"/>
            <a:ext cx="6663090" cy="33148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9E9ED2-6F3F-A647-9CE3-A00ABD1AB4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505" y="4235249"/>
            <a:ext cx="6543040" cy="32181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CACFF9B-A17E-21AD-7C38-796E50E4AB42}"/>
              </a:ext>
            </a:extLst>
          </p:cNvPr>
          <p:cNvSpPr txBox="1"/>
          <p:nvPr/>
        </p:nvSpPr>
        <p:spPr>
          <a:xfrm>
            <a:off x="355600" y="7620000"/>
            <a:ext cx="5803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16, 64, 256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65268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F8204-B5A0-E9C3-BEC0-A97898700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7C7F7-D868-76F3-74E8-3C9B624F81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1066800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chemeClr val="bg1"/>
                </a:solidFill>
              </a:rPr>
              <a:t>WIFI RADIO TECHNOLOGIES </a:t>
            </a:r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(Channel Bonding)</a:t>
            </a:r>
            <a:endParaRPr lang="en-IN" sz="3400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55A0A6-B391-5BFD-5A8F-9D21B6598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9698"/>
            <a:ext cx="6858000" cy="30441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02E09D-574D-AB8A-74CB-C72D3271DAA3}"/>
              </a:ext>
            </a:extLst>
          </p:cNvPr>
          <p:cNvSpPr txBox="1"/>
          <p:nvPr/>
        </p:nvSpPr>
        <p:spPr>
          <a:xfrm>
            <a:off x="0" y="4499769"/>
            <a:ext cx="6705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b="1" dirty="0"/>
              <a:t>Channel bonding </a:t>
            </a:r>
            <a:r>
              <a:rPr lang="en-US" dirty="0"/>
              <a:t>in wireless is the technique of combining two or more adjacent channels into a single, wider channel to achieve higher data rates.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908529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5FE24-B018-2298-33EC-F3A961979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5CE76-0BD5-2949-5B6E-A6D7DD9EB8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1066800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chemeClr val="bg1"/>
                </a:solidFill>
              </a:rPr>
              <a:t>WIFI RADIO TECHNOLOGIES </a:t>
            </a:r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(MU-MIMO)</a:t>
            </a:r>
            <a:endParaRPr lang="en-IN" sz="34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E3A8E6-C474-A1FB-67B1-55DB57959226}"/>
              </a:ext>
            </a:extLst>
          </p:cNvPr>
          <p:cNvSpPr txBox="1"/>
          <p:nvPr/>
        </p:nvSpPr>
        <p:spPr>
          <a:xfrm>
            <a:off x="165100" y="1155700"/>
            <a:ext cx="6451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MU-MIMO – Multi User Multiple Input Multiple Output</a:t>
            </a:r>
          </a:p>
          <a:p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B3FA7D-9C31-B458-3A8B-98EDE7042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1659146"/>
            <a:ext cx="5664200" cy="324477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7EE6DD3-DDEA-A112-A2A3-DF59FA25A7B2}"/>
              </a:ext>
            </a:extLst>
          </p:cNvPr>
          <p:cNvSpPr txBox="1"/>
          <p:nvPr/>
        </p:nvSpPr>
        <p:spPr>
          <a:xfrm>
            <a:off x="165100" y="5061288"/>
            <a:ext cx="64516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</a:pPr>
            <a:r>
              <a:rPr lang="en-US" dirty="0"/>
              <a:t>In </a:t>
            </a:r>
            <a:r>
              <a:rPr lang="en-US" b="1" dirty="0"/>
              <a:t>SU-MIMO</a:t>
            </a:r>
            <a:r>
              <a:rPr lang="en-US" dirty="0"/>
              <a:t> (Single User MIMO), the AP talks to only one device at a time but uses multiple antennas to send multiple data streams to that one device.</a:t>
            </a:r>
          </a:p>
          <a:p>
            <a:pPr marL="285750" indent="-285750"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</a:pPr>
            <a:r>
              <a:rPr lang="en-US" b="1" dirty="0"/>
              <a:t>MU-MIMO</a:t>
            </a:r>
            <a:r>
              <a:rPr lang="en-US" dirty="0"/>
              <a:t> is a wireless communication technology used mainly in modern Wi-Fi networks (like Wi-Fi 5/6/7). In </a:t>
            </a:r>
            <a:r>
              <a:rPr lang="en-US" b="1" dirty="0"/>
              <a:t>MU-MIMO</a:t>
            </a:r>
            <a:r>
              <a:rPr lang="en-US" dirty="0"/>
              <a:t>, the AP uses its multiple antennas to send separate data streams to multiple different devices simultaneously on the same channel.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90339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21DDB-A104-DCAB-3F67-666CACA6A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42C28-15E1-BC5A-9017-CC01827E3E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1066800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chemeClr val="bg1"/>
                </a:solidFill>
              </a:rPr>
              <a:t>WIFI RADIO TECHNOLOGIES </a:t>
            </a:r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(Beam Forming)</a:t>
            </a:r>
            <a:endParaRPr lang="en-IN" sz="34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D0C0A8-45BE-A4A9-AA8D-03DE94903049}"/>
              </a:ext>
            </a:extLst>
          </p:cNvPr>
          <p:cNvSpPr txBox="1"/>
          <p:nvPr/>
        </p:nvSpPr>
        <p:spPr>
          <a:xfrm>
            <a:off x="17426" y="3299427"/>
            <a:ext cx="67056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b="1" dirty="0"/>
              <a:t>Beamforming</a:t>
            </a:r>
            <a:r>
              <a:rPr lang="en-US" dirty="0"/>
              <a:t> is a wireless technology used to focus signals toward a specific client instead of spreading them in all directions by creating constructive and destructive interference. </a:t>
            </a:r>
          </a:p>
          <a:p>
            <a:pPr algn="just"/>
            <a:r>
              <a:rPr lang="en-US" b="1" dirty="0"/>
              <a:t>         Constructive interference </a:t>
            </a:r>
            <a:r>
              <a:rPr lang="en-US" dirty="0"/>
              <a:t>in wireless technology happens when two or more radio waves meet and combine in phase, meaning their peaks and troughs align (peak+peak and </a:t>
            </a:r>
            <a:r>
              <a:rPr lang="en-US" dirty="0" err="1"/>
              <a:t>trough+trough</a:t>
            </a:r>
            <a:r>
              <a:rPr lang="en-US" dirty="0"/>
              <a:t>). When this happens, their signal strengths add up, producing a stronger signal at the receiving point.</a:t>
            </a:r>
          </a:p>
          <a:p>
            <a:pPr algn="just"/>
            <a:r>
              <a:rPr lang="en-US" b="1" dirty="0"/>
              <a:t>        Destructive interference </a:t>
            </a:r>
            <a:r>
              <a:rPr lang="en-US" dirty="0"/>
              <a:t>in wireless technology happens when two or more waves meet out of phase, meaning their peaks align with the troughs of the other waves (</a:t>
            </a:r>
            <a:r>
              <a:rPr lang="en-US" dirty="0" err="1"/>
              <a:t>peak+trough</a:t>
            </a:r>
            <a:r>
              <a:rPr lang="en-US" dirty="0"/>
              <a:t>). This causes them to partially or completely cancel each other out, resulting in a weaker or even zero signal.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AC9E44-D96D-1F07-4030-6A7BF39C98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4373" y="1284690"/>
            <a:ext cx="3185160" cy="204800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520381-3AB6-B43E-1AE7-773DBDBA14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219" y="6926954"/>
            <a:ext cx="1809399" cy="207258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6B38A2F-5061-1EA7-9063-6E09F2D49B3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4851" b="3985"/>
          <a:stretch>
            <a:fillRect/>
          </a:stretch>
        </p:blipFill>
        <p:spPr>
          <a:xfrm>
            <a:off x="5146618" y="7364856"/>
            <a:ext cx="1576408" cy="42989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F4289E9-F21C-1CED-44B1-6FB7F9704A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3947" y="6781749"/>
            <a:ext cx="2462997" cy="1999661"/>
          </a:xfrm>
          <a:prstGeom prst="rect">
            <a:avLst/>
          </a:prstGeom>
        </p:spPr>
      </p:pic>
      <p:sp>
        <p:nvSpPr>
          <p:cNvPr id="20" name="Arrow: Right 19">
            <a:extLst>
              <a:ext uri="{FF2B5EF4-FFF2-40B4-BE49-F238E27FC236}">
                <a16:creationId xmlns:a16="http://schemas.microsoft.com/office/drawing/2014/main" id="{9401CAD4-C21F-6660-C06E-4E9A3BEFA6B0}"/>
              </a:ext>
            </a:extLst>
          </p:cNvPr>
          <p:cNvSpPr/>
          <p:nvPr/>
        </p:nvSpPr>
        <p:spPr>
          <a:xfrm>
            <a:off x="4145280" y="7364856"/>
            <a:ext cx="868680" cy="4298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95467A-33B4-699F-A13C-F0B7BA58AE19}"/>
              </a:ext>
            </a:extLst>
          </p:cNvPr>
          <p:cNvSpPr txBox="1"/>
          <p:nvPr/>
        </p:nvSpPr>
        <p:spPr>
          <a:xfrm>
            <a:off x="4732020" y="7964915"/>
            <a:ext cx="21259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Explains, how does noise cancellation work?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196032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57D71-4F22-FF2C-9DB4-EC11808B0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DE6F0-DC06-67F9-2E0F-5DFD728AA7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1066800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chemeClr val="bg1"/>
                </a:solidFill>
              </a:rPr>
              <a:t>WIFI RADIO TECHNOLOGIES </a:t>
            </a:r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(OFDMA)</a:t>
            </a:r>
            <a:endParaRPr lang="en-IN" sz="3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D7BC5C-6EF9-BB25-3406-8BB6B50143AE}"/>
              </a:ext>
            </a:extLst>
          </p:cNvPr>
          <p:cNvSpPr txBox="1"/>
          <p:nvPr/>
        </p:nvSpPr>
        <p:spPr>
          <a:xfrm>
            <a:off x="88900" y="1193800"/>
            <a:ext cx="665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OFDMA – Orthogonal Frequency Division Multiple Access</a:t>
            </a:r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4629B8-F6DC-12A1-B33E-E9BFEF9256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2211" y="1810805"/>
            <a:ext cx="3121489" cy="16949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327627-D274-0C05-E936-6E6F894B898D}"/>
              </a:ext>
            </a:extLst>
          </p:cNvPr>
          <p:cNvSpPr txBox="1"/>
          <p:nvPr/>
        </p:nvSpPr>
        <p:spPr>
          <a:xfrm>
            <a:off x="177800" y="1996539"/>
            <a:ext cx="312148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</a:pPr>
            <a:r>
              <a:rPr lang="en-US" sz="2000" dirty="0"/>
              <a:t>Sub-channels are divided into sub-carriers</a:t>
            </a:r>
          </a:p>
          <a:p>
            <a:pPr marL="285750" indent="-285750"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</a:pPr>
            <a:r>
              <a:rPr lang="en-US" sz="2000" dirty="0"/>
              <a:t>Each user is assigned a </a:t>
            </a:r>
            <a:br>
              <a:rPr lang="en-US" sz="2000" dirty="0"/>
            </a:br>
            <a:r>
              <a:rPr lang="en-US" sz="2000" dirty="0"/>
              <a:t>sub-carrier</a:t>
            </a:r>
          </a:p>
          <a:p>
            <a:pPr marL="285750" indent="-285750"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</a:pPr>
            <a:r>
              <a:rPr lang="en-US" sz="2000" dirty="0"/>
              <a:t>We can also schedule the time.</a:t>
            </a:r>
            <a:endParaRPr lang="en-IN" sz="20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9BBEA68-96FF-B2C2-12C2-92DFA3418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295" y="3949552"/>
            <a:ext cx="5036010" cy="392255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5A450CB-6685-B45D-D14A-87B38DEEFE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6182" y="8018510"/>
            <a:ext cx="1886213" cy="83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6465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94855-1820-8477-D69C-FF9F2641B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4902B-BAB8-3AEF-1D70-5E52AE6F65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635000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chemeClr val="bg1"/>
                </a:solidFill>
              </a:rPr>
              <a:t>BARKER-11</a:t>
            </a:r>
            <a:endParaRPr lang="en-IN" sz="3400" b="1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B0A2D0-AC49-BED8-9878-4D0F6B6D9296}"/>
              </a:ext>
            </a:extLst>
          </p:cNvPr>
          <p:cNvSpPr txBox="1"/>
          <p:nvPr/>
        </p:nvSpPr>
        <p:spPr>
          <a:xfrm>
            <a:off x="101600" y="774700"/>
            <a:ext cx="6654800" cy="7171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Spreading one bit into 11 chips:</a:t>
            </a:r>
          </a:p>
          <a:p>
            <a:pPr algn="just"/>
            <a:r>
              <a:rPr lang="en-US" sz="2000" dirty="0"/>
              <a:t>Normally, sending 1 bit = 1 symbol.</a:t>
            </a:r>
          </a:p>
          <a:p>
            <a:pPr algn="just"/>
            <a:r>
              <a:rPr lang="en-US" sz="2000" dirty="0"/>
              <a:t>With Barker-11, each 1 bit is encoded as 11 smaller bits (chips) using a fixed sequence like</a:t>
            </a:r>
          </a:p>
          <a:p>
            <a:r>
              <a:rPr lang="en-US" sz="2000" dirty="0"/>
              <a:t>+1, -1, +1, +1, -1, +1, +1, +1, -1, -1, -1.</a:t>
            </a:r>
          </a:p>
          <a:p>
            <a:r>
              <a:rPr lang="en-US" sz="2000" b="1" dirty="0"/>
              <a:t>Using more bandwidth (spreading):</a:t>
            </a:r>
          </a:p>
          <a:p>
            <a:r>
              <a:rPr lang="en-US" sz="2000" dirty="0"/>
              <a:t>Since each original bit becomes 11 chips sent at a higher chip rate, the signal occupies a much wider range of frequencies than the original data rate would require.</a:t>
            </a:r>
          </a:p>
          <a:p>
            <a:r>
              <a:rPr lang="en-US" sz="2000" dirty="0"/>
              <a:t>This is why it’s called spread spectrum.</a:t>
            </a:r>
          </a:p>
          <a:p>
            <a:r>
              <a:rPr lang="en-US" sz="2000" b="1" dirty="0"/>
              <a:t>Improved signal-to-noise ratio (processing gain):</a:t>
            </a:r>
          </a:p>
          <a:p>
            <a:pPr algn="just"/>
            <a:r>
              <a:rPr lang="en-US" sz="2000" dirty="0"/>
              <a:t>Interference or noise might flip a few chips, but it  very unlikely to flip all 11 chips that represent the same data bit.</a:t>
            </a:r>
          </a:p>
          <a:p>
            <a:pPr algn="just"/>
            <a:r>
              <a:rPr lang="en-US" sz="2000" dirty="0"/>
              <a:t>The receiver collects all 11 chips and uses correlation to see which sequence was sent.</a:t>
            </a:r>
          </a:p>
          <a:p>
            <a:pPr algn="just"/>
            <a:r>
              <a:rPr lang="en-US" sz="2000" dirty="0"/>
              <a:t>Because Barker-11 has very low correlation with any other random sequence, it’s easy to detect even in noisy conditions.</a:t>
            </a:r>
          </a:p>
          <a:p>
            <a:pPr algn="just"/>
            <a:r>
              <a:rPr lang="en-US" sz="2000" b="1" dirty="0"/>
              <a:t>Error tolerance (auto-correcting behavior):</a:t>
            </a:r>
          </a:p>
          <a:p>
            <a:pPr algn="just"/>
            <a:r>
              <a:rPr lang="en-US" sz="2000" dirty="0"/>
              <a:t>If some chips are corrupted, the receiver still sees the majority pattern and decides the bit correctly.</a:t>
            </a:r>
          </a:p>
          <a:p>
            <a:pPr algn="just"/>
            <a:r>
              <a:rPr lang="en-US" sz="2000" dirty="0"/>
              <a:t>This gives the appearance of auto-correction — errors get rejected during correlation instead of becoming wrong bits.</a:t>
            </a:r>
          </a:p>
          <a:p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632979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CEC42-E973-CF4F-4F8A-FC4E64F8C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EC54170-5A0C-61E9-505F-095A88D82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492631"/>
            <a:ext cx="3905848" cy="5159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FBC6EDF-E229-8E53-AF09-D9D0963DFB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50" y="1963793"/>
            <a:ext cx="6565900" cy="15309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E1AEB81-CCC7-D442-B5E1-7987A70F8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940440"/>
            <a:ext cx="3905848" cy="46513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8DADC56-4D4D-A909-036F-5A36790FC6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050" y="4405574"/>
            <a:ext cx="6565900" cy="179536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E1F7224-2AAB-FB2D-6E61-3E3DDEE0DDD2}"/>
              </a:ext>
            </a:extLst>
          </p:cNvPr>
          <p:cNvSpPr txBox="1"/>
          <p:nvPr/>
        </p:nvSpPr>
        <p:spPr>
          <a:xfrm>
            <a:off x="146050" y="6438055"/>
            <a:ext cx="65659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 </a:t>
            </a:r>
            <a:r>
              <a:rPr lang="en-US" sz="2000" b="1" dirty="0"/>
              <a:t>modulation technique</a:t>
            </a:r>
            <a:r>
              <a:rPr lang="en-US" sz="2000" dirty="0"/>
              <a:t> that encodes multiple bits per symbol by varying </a:t>
            </a:r>
            <a:r>
              <a:rPr lang="en-US" sz="2000" b="1" dirty="0"/>
              <a:t>amplitude and phase (angle)</a:t>
            </a:r>
            <a:r>
              <a:rPr lang="en-US" sz="2000" dirty="0"/>
              <a:t>. </a:t>
            </a:r>
            <a:br>
              <a:rPr lang="en-US" sz="2000" dirty="0"/>
            </a:br>
            <a:r>
              <a:rPr lang="en-US" sz="2000" dirty="0"/>
              <a:t>Combination possible (channel bonding)</a:t>
            </a:r>
            <a:br>
              <a:rPr lang="en-US" sz="2000" dirty="0"/>
            </a:br>
            <a:r>
              <a:rPr lang="en-US" sz="2000" dirty="0"/>
              <a:t>Spatial streams – increase bandwidth</a:t>
            </a:r>
            <a:endParaRPr lang="en-IN" sz="20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C228650-246E-D8BE-8D11-E79461E13EE2}"/>
              </a:ext>
            </a:extLst>
          </p:cNvPr>
          <p:cNvSpPr txBox="1">
            <a:spLocks/>
          </p:cNvSpPr>
          <p:nvPr/>
        </p:nvSpPr>
        <p:spPr>
          <a:xfrm>
            <a:off x="-1" y="-14249"/>
            <a:ext cx="6858000" cy="1081941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400" b="1" dirty="0">
                <a:solidFill>
                  <a:schemeClr val="bg1"/>
                </a:solidFill>
              </a:rPr>
              <a:t>WIFI STANDARDS </a:t>
            </a:r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(802.11n-4, 802.11ac-5)</a:t>
            </a:r>
            <a:endParaRPr lang="en-IN" sz="3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24903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4EB2F-A354-B080-7A69-E2EF218F4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856AC-DF8C-F565-68F7-FAA22ED644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1"/>
            <a:ext cx="6858000" cy="1081941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chemeClr val="bg1"/>
                </a:solidFill>
              </a:rPr>
              <a:t>WIFI STANDARDS </a:t>
            </a:r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(802.11ax-6, 802.11be-7)</a:t>
            </a:r>
            <a:endParaRPr lang="en-IN" sz="3400" b="1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87FF0B-30A3-7ED2-E440-A853FFC8A702}"/>
              </a:ext>
            </a:extLst>
          </p:cNvPr>
          <p:cNvSpPr txBox="1"/>
          <p:nvPr/>
        </p:nvSpPr>
        <p:spPr>
          <a:xfrm>
            <a:off x="1" y="3870236"/>
            <a:ext cx="685799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</a:pPr>
            <a:r>
              <a:rPr lang="en-IN" dirty="0"/>
              <a:t>Uses Target Wake Time (TWT) to schedule when a client can send and receive, resulting in less latency and power savings</a:t>
            </a:r>
          </a:p>
          <a:p>
            <a:pPr marL="285750" indent="-285750" algn="just"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</a:pPr>
            <a:r>
              <a:rPr lang="en-US" dirty="0"/>
              <a:t>Uses BSS Coloring, which allows signals for one SSID on a specific channel to be distinguished from signals for a different SSID using the same channel by "coloring“</a:t>
            </a:r>
          </a:p>
          <a:p>
            <a:pPr marL="285750" indent="-285750" algn="just">
              <a:buClr>
                <a:schemeClr val="accent1"/>
              </a:buClr>
              <a:buSzPct val="150000"/>
              <a:buFont typeface="Arial" panose="020B0604020202020204" pitchFamily="34" charset="0"/>
              <a:buChar char="•"/>
            </a:pPr>
            <a:r>
              <a:rPr lang="en-IN" dirty="0"/>
              <a:t>Wi-Fi 6E, an extension to Wi-Fi 6, released in 2021 with added support for the 6 GHz frequency band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ECCBC9-5BDA-6114-5DBD-9C2E0882E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" y="1975099"/>
            <a:ext cx="6565900" cy="18412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E131CC-7222-2CDC-45A4-8EBC11DEA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50" y="6007530"/>
            <a:ext cx="6102350" cy="19100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623D42-3CAF-6067-A425-D843D94923CF}"/>
              </a:ext>
            </a:extLst>
          </p:cNvPr>
          <p:cNvSpPr txBox="1"/>
          <p:nvPr/>
        </p:nvSpPr>
        <p:spPr>
          <a:xfrm>
            <a:off x="495300" y="8102600"/>
            <a:ext cx="5575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 allows transmission of data on all 3 bands at the same time.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56842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C8CB2-1BCA-3680-0DB8-241562456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DD8B9AD-A5F3-28DC-FDEA-8F1EB723D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" y="1231121"/>
            <a:ext cx="6629400" cy="2268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7C529C-4AE7-9277-5B5D-E688155F6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" y="3629396"/>
            <a:ext cx="4635500" cy="698234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2DCE183B-DDB2-FCCA-9C2F-3FA39783B7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1"/>
            <a:ext cx="6858000" cy="1081941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chemeClr val="bg1"/>
                </a:solidFill>
              </a:rPr>
              <a:t>WIFI STANDARDS </a:t>
            </a:r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(802.11bn-8)</a:t>
            </a:r>
            <a:endParaRPr lang="en-IN" sz="3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07393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1888F-AFBD-760B-FD80-54215E3AF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615F1-D96B-771A-00A2-3DE10E7ABD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1112838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chemeClr val="bg1"/>
                </a:solidFill>
              </a:rPr>
              <a:t>WIRELESS SECURITY</a:t>
            </a:r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Why? WEP</a:t>
            </a:r>
            <a:endParaRPr lang="en-IN" sz="3400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A147DB-FE28-192A-8A80-3166C285A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72" y="1305373"/>
            <a:ext cx="6513056" cy="275412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93DE16-AF6C-DC3B-DE6A-20B045A6EC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72" y="4419876"/>
            <a:ext cx="2897018" cy="34668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E60F349-0083-63C1-A772-F55A28938955}"/>
              </a:ext>
            </a:extLst>
          </p:cNvPr>
          <p:cNvSpPr txBox="1"/>
          <p:nvPr/>
        </p:nvSpPr>
        <p:spPr>
          <a:xfrm>
            <a:off x="3556000" y="4305300"/>
            <a:ext cx="289701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the help WEP, we use something called initial vector or IV for short.</a:t>
            </a:r>
          </a:p>
          <a:p>
            <a:r>
              <a:rPr lang="en-US" dirty="0"/>
              <a:t>This IV is combined with shared secret key that we configure our access point and our wireless clients.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IV – 20bits </a:t>
            </a:r>
            <a:br>
              <a:rPr lang="en-US" dirty="0"/>
            </a:br>
            <a:r>
              <a:rPr lang="en-US" dirty="0"/>
              <a:t>key – 40 or 140 bits</a:t>
            </a:r>
          </a:p>
          <a:p>
            <a:endParaRPr lang="en-IN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3AF8FB8-46C0-8763-6F4B-7934BD00801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5" t="15993"/>
          <a:stretch>
            <a:fillRect/>
          </a:stretch>
        </p:blipFill>
        <p:spPr>
          <a:xfrm>
            <a:off x="330200" y="7886700"/>
            <a:ext cx="2560140" cy="533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6684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60C3D-DD62-53CC-E776-1BE5AB452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4DC2A22-77DF-B33D-5659-6445CCA532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" y="1326875"/>
            <a:ext cx="6527800" cy="317289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4E12D8-5AA6-BEC5-8988-0CFFFAB67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" y="4904061"/>
            <a:ext cx="6286500" cy="3007416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E4D02CC2-140C-4D98-F0F1-3713E50ACE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1088061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chemeClr val="bg1"/>
                </a:solidFill>
              </a:rPr>
              <a:t>WIRELESS SECURITY</a:t>
            </a:r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Key Distribution Modes (PSK, AAA)</a:t>
            </a:r>
            <a:endParaRPr lang="en-IN" sz="3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82002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C18CF-CE0A-23F5-00F8-28160EE8F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C4E8E-081E-7CDB-D416-EC4A12BA5C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1112838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chemeClr val="bg1"/>
                </a:solidFill>
              </a:rPr>
              <a:t>WIRELESS SECURITY</a:t>
            </a:r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TKIM relate to WEP</a:t>
            </a:r>
            <a:endParaRPr lang="en-IN" sz="3400" b="1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5DA7EF-8483-539F-5AC7-7FA875CE7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96536"/>
            <a:ext cx="3251937" cy="19673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8D909F8-516F-E94C-4D87-8B9C30797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1406741"/>
            <a:ext cx="3343630" cy="174695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DF1D23E-51CC-F1FC-BB02-AF500C678FC8}"/>
              </a:ext>
            </a:extLst>
          </p:cNvPr>
          <p:cNvSpPr txBox="1"/>
          <p:nvPr/>
        </p:nvSpPr>
        <p:spPr>
          <a:xfrm>
            <a:off x="368300" y="3403600"/>
            <a:ext cx="28836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 uses Rc4 for underlying encryption algorithm, but it changed how the initialization vector was combined with the key.  It uses </a:t>
            </a:r>
            <a:r>
              <a:rPr lang="en-US" b="1" dirty="0"/>
              <a:t>48 bit </a:t>
            </a:r>
            <a:r>
              <a:rPr lang="en-US" dirty="0"/>
              <a:t>initialization vector as opposed to </a:t>
            </a:r>
            <a:r>
              <a:rPr lang="en-US" dirty="0" err="1"/>
              <a:t>wep’s</a:t>
            </a:r>
            <a:r>
              <a:rPr lang="en-US" dirty="0"/>
              <a:t> </a:t>
            </a:r>
            <a:r>
              <a:rPr lang="en-US" b="1" dirty="0"/>
              <a:t>24 bit </a:t>
            </a:r>
            <a:r>
              <a:rPr lang="en-US" dirty="0"/>
              <a:t>initialization vector.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81576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7EB60-5A68-E101-5006-B39D755B6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3598E-C530-750B-8ACF-3FE07F1568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1112838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chemeClr val="bg1"/>
                </a:solidFill>
              </a:rPr>
              <a:t>WIRELESS SECURITY</a:t>
            </a:r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WPA AND WPA2</a:t>
            </a:r>
            <a:endParaRPr lang="en-IN" sz="3400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2C2B59-9DE5-96D7-0591-19C443F0F4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17" y="1213185"/>
            <a:ext cx="2834083" cy="32865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DA4EF8-3D6E-93E8-0128-CE9D99634D9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191" t="-2192" r="1357" b="2192"/>
          <a:stretch>
            <a:fillRect/>
          </a:stretch>
        </p:blipFill>
        <p:spPr>
          <a:xfrm>
            <a:off x="3238500" y="1550747"/>
            <a:ext cx="3502376" cy="29490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D47FE3D-73C1-0199-DA40-5C7BD6A4B167}"/>
              </a:ext>
            </a:extLst>
          </p:cNvPr>
          <p:cNvSpPr txBox="1"/>
          <p:nvPr/>
        </p:nvSpPr>
        <p:spPr>
          <a:xfrm>
            <a:off x="3576593" y="5303649"/>
            <a:ext cx="31642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can also use TKIM for temporary encryption algorithm.</a:t>
            </a:r>
          </a:p>
          <a:p>
            <a:r>
              <a:rPr lang="en-US" dirty="0"/>
              <a:t>The </a:t>
            </a:r>
            <a:r>
              <a:rPr lang="en-US" b="1" dirty="0"/>
              <a:t>aes-128bit </a:t>
            </a:r>
            <a:r>
              <a:rPr lang="en-US" dirty="0"/>
              <a:t>algorithm is mostly used on wpa2. </a:t>
            </a:r>
            <a:endParaRPr lang="en-IN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07880C0-7CA5-2730-B4CA-EFF1D8BE0C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717" y="4567802"/>
            <a:ext cx="2557598" cy="2949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8462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45E1F-163B-0275-DBD1-469EF392A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1EB06-76EA-293D-ACA7-6F3B46C3C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1112838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chemeClr val="bg1"/>
                </a:solidFill>
              </a:rPr>
              <a:t>WIRELESS SECURITY</a:t>
            </a:r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TKIM relate to WEP</a:t>
            </a:r>
            <a:endParaRPr lang="en-IN" sz="3400" b="1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3855E0-F756-4F58-57EB-1BA84D60F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" y="1262236"/>
            <a:ext cx="6045200" cy="29985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53C9477-A0ED-9B28-BD41-BB426BA9B0DD}"/>
              </a:ext>
            </a:extLst>
          </p:cNvPr>
          <p:cNvSpPr txBox="1"/>
          <p:nvPr/>
        </p:nvSpPr>
        <p:spPr>
          <a:xfrm>
            <a:off x="1" y="4410139"/>
            <a:ext cx="6858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WPA3</a:t>
            </a:r>
            <a:r>
              <a:rPr lang="en-US" dirty="0"/>
              <a:t> doesn’t use </a:t>
            </a:r>
            <a:r>
              <a:rPr lang="en-US" b="1" dirty="0"/>
              <a:t>WPS</a:t>
            </a:r>
            <a:r>
              <a:rPr lang="en-US" dirty="0"/>
              <a:t> anymore (too weak). It uses </a:t>
            </a:r>
            <a:r>
              <a:rPr lang="en-US" b="1" dirty="0"/>
              <a:t>DPP</a:t>
            </a:r>
            <a:r>
              <a:rPr lang="en-US" dirty="0"/>
              <a:t> (Easy Connect) instead, which relies on </a:t>
            </a:r>
            <a:r>
              <a:rPr lang="en-US" b="1" dirty="0"/>
              <a:t>QR codes, NFC, or public-key crypto </a:t>
            </a:r>
            <a:r>
              <a:rPr lang="en-US" dirty="0"/>
              <a:t>to securely provision devices — eliminating the brute-force flaw of WPS.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098505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A194B-F712-3B7B-5D5C-721AEFE70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92449-9D7B-225C-88F0-AD4ACCDE44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1112838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chemeClr val="bg1"/>
                </a:solidFill>
              </a:rPr>
              <a:t>WIRELESS SECURITY</a:t>
            </a:r>
            <a:br>
              <a:rPr lang="en-US" sz="3400" b="1" dirty="0">
                <a:solidFill>
                  <a:schemeClr val="bg1"/>
                </a:solidFill>
              </a:rPr>
            </a:br>
            <a:r>
              <a:rPr lang="en-IN" sz="2800" b="1" dirty="0">
                <a:solidFill>
                  <a:schemeClr val="bg1"/>
                </a:solidFill>
              </a:rPr>
              <a:t>WPA3 vs WPA2</a:t>
            </a:r>
            <a:endParaRPr lang="en-IN" sz="3400" b="1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3803D0-B873-F008-FA18-B37E762C5245}"/>
              </a:ext>
            </a:extLst>
          </p:cNvPr>
          <p:cNvSpPr txBox="1"/>
          <p:nvPr/>
        </p:nvSpPr>
        <p:spPr>
          <a:xfrm>
            <a:off x="0" y="1212791"/>
            <a:ext cx="6769100" cy="7478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solidFill>
                  <a:schemeClr val="accent1"/>
                </a:solidFill>
              </a:rPr>
              <a:t>1. Stronger Authentication – SAE instead of PSK</a:t>
            </a:r>
          </a:p>
          <a:p>
            <a:r>
              <a:rPr lang="en-IN" sz="2000" b="1" dirty="0"/>
              <a:t>WPA2:</a:t>
            </a:r>
            <a:r>
              <a:rPr lang="en-IN" sz="2000" dirty="0"/>
              <a:t> Uses Pre-Shared Key (PSK) with a 4-way handshake.</a:t>
            </a:r>
          </a:p>
          <a:p>
            <a:r>
              <a:rPr lang="en-IN" sz="2000" dirty="0"/>
              <a:t>Vulnerable to offline dictionary attacks: if someone captures the handshake, they can try millions of password guesses offline.</a:t>
            </a:r>
          </a:p>
          <a:p>
            <a:r>
              <a:rPr lang="en-IN" sz="2000" b="1" dirty="0"/>
              <a:t>WPA3:</a:t>
            </a:r>
            <a:r>
              <a:rPr lang="en-IN" sz="2000" dirty="0"/>
              <a:t> Uses Simultaneous Authentication of Equals (SAE), also called the Dragonfly handshake.</a:t>
            </a:r>
          </a:p>
          <a:p>
            <a:r>
              <a:rPr lang="en-IN" sz="2000" dirty="0"/>
              <a:t>Even if attackers capture the handshake, they can only try one password guess per live session, making brute force extremely difficult.</a:t>
            </a:r>
          </a:p>
          <a:p>
            <a:endParaRPr lang="en-IN" sz="2000" dirty="0"/>
          </a:p>
          <a:p>
            <a:r>
              <a:rPr lang="en-IN" sz="2000" b="1" dirty="0">
                <a:solidFill>
                  <a:schemeClr val="accent1"/>
                </a:solidFill>
              </a:rPr>
              <a:t>2. Individualized Data Encryption</a:t>
            </a:r>
            <a:endParaRPr lang="en-IN" sz="2000" dirty="0">
              <a:solidFill>
                <a:schemeClr val="accent1"/>
              </a:solidFill>
            </a:endParaRPr>
          </a:p>
          <a:p>
            <a:r>
              <a:rPr lang="en-IN" sz="2000" b="1" dirty="0"/>
              <a:t>WPA2-Personal:</a:t>
            </a:r>
            <a:r>
              <a:rPr lang="en-IN" sz="2000" dirty="0"/>
              <a:t> Everyone connected with the same SSID/PSK shares the same encryption key.</a:t>
            </a:r>
          </a:p>
          <a:p>
            <a:r>
              <a:rPr lang="en-IN" sz="2000" b="1" dirty="0"/>
              <a:t>WPA3-Personal:</a:t>
            </a:r>
            <a:r>
              <a:rPr lang="en-IN" sz="2000" dirty="0"/>
              <a:t> Provides forward secrecy. Each client gets a unique session key, so one compromised device or session does not expose others.</a:t>
            </a:r>
          </a:p>
          <a:p>
            <a:endParaRPr lang="en-IN" sz="2000" dirty="0"/>
          </a:p>
          <a:p>
            <a:r>
              <a:rPr lang="en-US" sz="2000" b="1" dirty="0">
                <a:solidFill>
                  <a:schemeClr val="accent1"/>
                </a:solidFill>
              </a:rPr>
              <a:t>3. Stronger Encryption Standards</a:t>
            </a:r>
            <a:endParaRPr lang="en-US" sz="2000" dirty="0">
              <a:solidFill>
                <a:schemeClr val="accent1"/>
              </a:solidFill>
            </a:endParaRPr>
          </a:p>
          <a:p>
            <a:r>
              <a:rPr lang="en-US" sz="2000" b="1" dirty="0"/>
              <a:t>WPA2: </a:t>
            </a:r>
            <a:r>
              <a:rPr lang="en-US" sz="2000" dirty="0"/>
              <a:t>Allowed older ciphers like TKIP (not secure anymore).</a:t>
            </a:r>
          </a:p>
          <a:p>
            <a:r>
              <a:rPr lang="en-US" sz="2000" b="1" dirty="0"/>
              <a:t>WPA3: </a:t>
            </a:r>
            <a:r>
              <a:rPr lang="en-US" sz="2000" dirty="0"/>
              <a:t>Requires AES-128-GCMP at minimum, and in WPA3-Enterprise, it supports AES-256-GCMP.</a:t>
            </a:r>
          </a:p>
          <a:p>
            <a:r>
              <a:rPr lang="en-US" sz="2000" dirty="0"/>
              <a:t>This removes weak legacy protocols and enforces modern, strong cryptography.</a:t>
            </a:r>
          </a:p>
        </p:txBody>
      </p:sp>
    </p:spTree>
    <p:extLst>
      <p:ext uri="{BB962C8B-B14F-4D97-AF65-F5344CB8AC3E}">
        <p14:creationId xmlns:p14="http://schemas.microsoft.com/office/powerpoint/2010/main" val="20047001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9DB8B-C63E-FEB4-D905-C3B77586B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667C9-3D32-44BC-CD13-208D9EB059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1112838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chemeClr val="bg1"/>
                </a:solidFill>
              </a:rPr>
              <a:t>WIRELESS SECURITY</a:t>
            </a:r>
            <a:br>
              <a:rPr lang="en-US" sz="3400" b="1" dirty="0">
                <a:solidFill>
                  <a:schemeClr val="bg1"/>
                </a:solidFill>
              </a:rPr>
            </a:br>
            <a:r>
              <a:rPr lang="en-IN" sz="2800" b="1" dirty="0">
                <a:solidFill>
                  <a:schemeClr val="bg1"/>
                </a:solidFill>
              </a:rPr>
              <a:t>WPA3 vs WPA2</a:t>
            </a:r>
            <a:endParaRPr lang="en-IN" sz="3400" b="1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2030D8-B981-9082-37A7-CD67A153EBF0}"/>
              </a:ext>
            </a:extLst>
          </p:cNvPr>
          <p:cNvSpPr txBox="1"/>
          <p:nvPr/>
        </p:nvSpPr>
        <p:spPr>
          <a:xfrm>
            <a:off x="44450" y="1112838"/>
            <a:ext cx="6769100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1"/>
                </a:solidFill>
              </a:rPr>
              <a:t>4. Forward Secrecy</a:t>
            </a:r>
          </a:p>
          <a:p>
            <a:r>
              <a:rPr lang="en-US" sz="2000" b="1" dirty="0"/>
              <a:t>WPA2:</a:t>
            </a:r>
            <a:r>
              <a:rPr lang="en-US" sz="2000" dirty="0"/>
              <a:t> if the network password is leaked later, old traffic could be decrypted.</a:t>
            </a:r>
          </a:p>
          <a:p>
            <a:r>
              <a:rPr lang="en-US" sz="2000" b="1" dirty="0"/>
              <a:t>WPA3:</a:t>
            </a:r>
            <a:r>
              <a:rPr lang="en-US" sz="2000" dirty="0"/>
              <a:t> session keys are derived per-connection and never stored, so even if the password leaks later, old captured traffic remains secure.</a:t>
            </a:r>
          </a:p>
          <a:p>
            <a:endParaRPr lang="en-IN" sz="2000" dirty="0">
              <a:solidFill>
                <a:schemeClr val="accent1"/>
              </a:solidFill>
            </a:endParaRPr>
          </a:p>
          <a:p>
            <a:r>
              <a:rPr lang="en-IN" sz="2000" b="1" dirty="0">
                <a:solidFill>
                  <a:schemeClr val="accent1"/>
                </a:solidFill>
              </a:rPr>
              <a:t>5. Better Enterprise Mode</a:t>
            </a:r>
          </a:p>
          <a:p>
            <a:r>
              <a:rPr lang="en-IN" sz="2000" b="1" dirty="0"/>
              <a:t>WPA3-Enterprise: </a:t>
            </a:r>
            <a:r>
              <a:rPr lang="en-IN" sz="2000" dirty="0"/>
              <a:t>Offers a 192-bit security suite for government/military-grade networks.</a:t>
            </a:r>
          </a:p>
          <a:p>
            <a:r>
              <a:rPr lang="en-IN" sz="2000" dirty="0"/>
              <a:t>WPA2-Enterprise didn’t have this standardized higher baseline.</a:t>
            </a:r>
          </a:p>
          <a:p>
            <a:endParaRPr lang="en-IN" sz="2000" dirty="0"/>
          </a:p>
          <a:p>
            <a:r>
              <a:rPr lang="en-IN" sz="2000" b="1" dirty="0">
                <a:solidFill>
                  <a:schemeClr val="accent1"/>
                </a:solidFill>
              </a:rPr>
              <a:t>6. Improved Protection for Open Networks</a:t>
            </a:r>
          </a:p>
          <a:p>
            <a:r>
              <a:rPr lang="en-IN" sz="2000" dirty="0"/>
              <a:t>WPA2-Open = no encryption at all. Anyone can sniff your traffic.</a:t>
            </a:r>
          </a:p>
          <a:p>
            <a:r>
              <a:rPr lang="en-IN" sz="2000" dirty="0"/>
              <a:t>WPA3-Open = uses OWE (Opportunistic Wireless Encryption), so even on public Wi-Fi without a password, traffic is encrypted individually between client and AP.</a:t>
            </a:r>
          </a:p>
        </p:txBody>
      </p:sp>
    </p:spTree>
    <p:extLst>
      <p:ext uri="{BB962C8B-B14F-4D97-AF65-F5344CB8AC3E}">
        <p14:creationId xmlns:p14="http://schemas.microsoft.com/office/powerpoint/2010/main" val="6082091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9F358-B634-6CE2-618F-E00446F4D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D854B-26C4-1992-F733-4E4412259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673100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chemeClr val="bg1"/>
                </a:solidFill>
              </a:rPr>
              <a:t>INSTALLING AN AUTONOMOUS AP</a:t>
            </a:r>
            <a:endParaRPr lang="en-IN" sz="3400" b="1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2D9012-49B6-613B-2491-05CB450F3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95" y="956567"/>
            <a:ext cx="5351209" cy="31709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ADEC22-861D-31B7-0B57-E791CCC1C9AE}"/>
              </a:ext>
            </a:extLst>
          </p:cNvPr>
          <p:cNvSpPr txBox="1"/>
          <p:nvPr/>
        </p:nvSpPr>
        <p:spPr>
          <a:xfrm>
            <a:off x="753395" y="4318000"/>
            <a:ext cx="53512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Mostly used default </a:t>
            </a:r>
            <a:r>
              <a:rPr lang="en-US" dirty="0" err="1"/>
              <a:t>ip</a:t>
            </a:r>
            <a:r>
              <a:rPr lang="en-US" dirty="0"/>
              <a:t> of the ap’s are 192.168.0.1 and 192.168.1.1</a:t>
            </a:r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4F4B02-BC7A-0BB6-842F-4E155F2210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95" y="5154831"/>
            <a:ext cx="5351209" cy="2877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9378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52715-1F76-1116-8858-83E3EB527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42AEE0D-C768-F65D-2450-B689999E9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800" y="1017136"/>
            <a:ext cx="5245100" cy="34826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2D52924-A2D5-F3B5-C4AF-9EA970E3F347}"/>
              </a:ext>
            </a:extLst>
          </p:cNvPr>
          <p:cNvSpPr txBox="1"/>
          <p:nvPr/>
        </p:nvSpPr>
        <p:spPr>
          <a:xfrm>
            <a:off x="1028700" y="4535488"/>
            <a:ext cx="5016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(Default name)</a:t>
            </a:r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EE9D28-5997-A808-DA28-A7A7924CD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" y="5116731"/>
            <a:ext cx="5286407" cy="3277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0451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B622A-C1C8-503C-1421-DBEA2C718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363CB5B-6711-DE6B-733A-5E29AE4E63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419" y="833501"/>
            <a:ext cx="4585161" cy="35098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F7B0B8B-507C-082D-7B86-F2AFFEC7D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018" y="4656139"/>
            <a:ext cx="5599964" cy="3298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0158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E872D-30BE-5B3E-ACC2-0899EE531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830D9E6-CAE5-9CCF-759E-7FAFC4FBE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950" y="784576"/>
            <a:ext cx="6134100" cy="38516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AE45B7-9426-4F2B-3F1D-6EC4D159D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950" y="5002995"/>
            <a:ext cx="2448267" cy="161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4180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16A93-C6F0-0D47-E277-C6ADF9F67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7E576-BD36-CAD2-A6B5-D851479FE1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978091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AUTONOMOUS AP</a:t>
            </a:r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CHANNEL SETTING</a:t>
            </a:r>
            <a:endParaRPr lang="en-IN" sz="3400" b="1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0A5E46-0BB9-9056-E711-0376348D3B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330" y="1163502"/>
            <a:ext cx="4990144" cy="318698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28B2BEF-5E2F-B986-B878-45C7AF7F1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55" y="4589727"/>
            <a:ext cx="4401023" cy="282459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FCC2D43-200C-D554-A3B1-DF1A3279F4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2180" y="5399872"/>
            <a:ext cx="1631265" cy="139446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1221B3B-BC0F-E3E6-D365-B6016591FB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5053" y="7528950"/>
            <a:ext cx="3010320" cy="647790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C62A637C-C243-9F06-B3AD-13D0517CAFD0}"/>
              </a:ext>
            </a:extLst>
          </p:cNvPr>
          <p:cNvGrpSpPr/>
          <p:nvPr/>
        </p:nvGrpSpPr>
        <p:grpSpPr>
          <a:xfrm>
            <a:off x="2596110" y="7661447"/>
            <a:ext cx="992160" cy="336240"/>
            <a:chOff x="2596110" y="7661447"/>
            <a:chExt cx="992160" cy="33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BCAA729-4B9E-EB3D-4129-D8D1D4879AB9}"/>
                    </a:ext>
                  </a:extLst>
                </p14:cNvPr>
                <p14:cNvContentPartPr/>
                <p14:nvPr/>
              </p14:nvContentPartPr>
              <p14:xfrm>
                <a:off x="2714190" y="7661447"/>
                <a:ext cx="874080" cy="846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BCAA729-4B9E-EB3D-4129-D8D1D4879AB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705190" y="7652807"/>
                  <a:ext cx="8917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5A02F79-1CC2-5A64-7379-23FC2A4B94F1}"/>
                    </a:ext>
                  </a:extLst>
                </p14:cNvPr>
                <p14:cNvContentPartPr/>
                <p14:nvPr/>
              </p14:nvContentPartPr>
              <p14:xfrm>
                <a:off x="2596110" y="7673687"/>
                <a:ext cx="288720" cy="3240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5A02F79-1CC2-5A64-7379-23FC2A4B94F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587470" y="7665047"/>
                  <a:ext cx="306360" cy="34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5DAC091A-61D5-422E-FC7B-B64B9A92961F}"/>
                  </a:ext>
                </a:extLst>
              </p14:cNvPr>
              <p14:cNvContentPartPr/>
              <p14:nvPr/>
            </p14:nvContentPartPr>
            <p14:xfrm>
              <a:off x="638430" y="8081207"/>
              <a:ext cx="42840" cy="4968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5DAC091A-61D5-422E-FC7B-B64B9A9296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29790" y="8072567"/>
                <a:ext cx="60480" cy="6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CD7AA2C9-DA1F-054A-68BC-AFF38828857E}"/>
                  </a:ext>
                </a:extLst>
              </p14:cNvPr>
              <p14:cNvContentPartPr/>
              <p14:nvPr/>
            </p14:nvContentPartPr>
            <p14:xfrm>
              <a:off x="726270" y="8111087"/>
              <a:ext cx="132120" cy="13284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CD7AA2C9-DA1F-054A-68BC-AFF38828857E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17630" y="8102087"/>
                <a:ext cx="149760" cy="15048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0693F11E-8AAD-4ED2-830D-5316CDD437DC}"/>
              </a:ext>
            </a:extLst>
          </p:cNvPr>
          <p:cNvGrpSpPr/>
          <p:nvPr/>
        </p:nvGrpSpPr>
        <p:grpSpPr>
          <a:xfrm>
            <a:off x="439710" y="7910567"/>
            <a:ext cx="660960" cy="430920"/>
            <a:chOff x="439710" y="7910567"/>
            <a:chExt cx="660960" cy="43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D9F5EA0-E3AD-0F78-6422-8FA451793AB0}"/>
                    </a:ext>
                  </a:extLst>
                </p14:cNvPr>
                <p14:cNvContentPartPr/>
                <p14:nvPr/>
              </p14:nvContentPartPr>
              <p14:xfrm>
                <a:off x="439710" y="7984007"/>
                <a:ext cx="198000" cy="357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D9F5EA0-E3AD-0F78-6422-8FA451793AB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30710" y="7975007"/>
                  <a:ext cx="21564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56E3E3D-A353-9073-BB89-90D071AA23EC}"/>
                    </a:ext>
                  </a:extLst>
                </p14:cNvPr>
                <p14:cNvContentPartPr/>
                <p14:nvPr/>
              </p14:nvContentPartPr>
              <p14:xfrm>
                <a:off x="658950" y="8194247"/>
                <a:ext cx="72720" cy="95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56E3E3D-A353-9073-BB89-90D071AA23E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50310" y="8185607"/>
                  <a:ext cx="903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5EA823A-C1C9-B22B-DCBE-FCAA18994F8D}"/>
                    </a:ext>
                  </a:extLst>
                </p14:cNvPr>
                <p14:cNvContentPartPr/>
                <p14:nvPr/>
              </p14:nvContentPartPr>
              <p14:xfrm>
                <a:off x="843990" y="7910567"/>
                <a:ext cx="256680" cy="331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5EA823A-C1C9-B22B-DCBE-FCAA18994F8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35350" y="7901567"/>
                  <a:ext cx="274320" cy="349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90C53E24-D564-A3E0-14F2-9255EFA9DEC8}"/>
                  </a:ext>
                </a:extLst>
              </p14:cNvPr>
              <p14:cNvContentPartPr/>
              <p14:nvPr/>
            </p14:nvContentPartPr>
            <p14:xfrm>
              <a:off x="1376790" y="7932527"/>
              <a:ext cx="209880" cy="31068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90C53E24-D564-A3E0-14F2-9255EFA9DEC8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368150" y="7923527"/>
                <a:ext cx="227520" cy="32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60050419-5CC7-4212-F4D2-385A0A21E450}"/>
                  </a:ext>
                </a:extLst>
              </p14:cNvPr>
              <p14:cNvContentPartPr/>
              <p14:nvPr/>
            </p14:nvContentPartPr>
            <p14:xfrm>
              <a:off x="1596750" y="8082287"/>
              <a:ext cx="221400" cy="13608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60050419-5CC7-4212-F4D2-385A0A21E450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587750" y="8073647"/>
                <a:ext cx="239040" cy="15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CB9E9010-7EF4-D9DF-7652-A450D76FD437}"/>
                  </a:ext>
                </a:extLst>
              </p14:cNvPr>
              <p14:cNvContentPartPr/>
              <p14:nvPr/>
            </p14:nvContentPartPr>
            <p14:xfrm>
              <a:off x="1584510" y="8136287"/>
              <a:ext cx="12240" cy="18468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CB9E9010-7EF4-D9DF-7652-A450D76FD437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575870" y="8127647"/>
                <a:ext cx="29880" cy="20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9E1CAAA1-88A4-2A37-6F3C-3BAFC4BCB8BB}"/>
                  </a:ext>
                </a:extLst>
              </p14:cNvPr>
              <p14:cNvContentPartPr/>
              <p14:nvPr/>
            </p14:nvContentPartPr>
            <p14:xfrm>
              <a:off x="1342230" y="7996607"/>
              <a:ext cx="208080" cy="2484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9E1CAAA1-88A4-2A37-6F3C-3BAFC4BCB8BB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333590" y="7987607"/>
                <a:ext cx="225720" cy="4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5BF1F9B4-B7B7-4C0F-87F2-BB569990DF68}"/>
                  </a:ext>
                </a:extLst>
              </p14:cNvPr>
              <p14:cNvContentPartPr/>
              <p14:nvPr/>
            </p14:nvContentPartPr>
            <p14:xfrm>
              <a:off x="2201910" y="7885007"/>
              <a:ext cx="866160" cy="43524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5BF1F9B4-B7B7-4C0F-87F2-BB569990DF68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193270" y="7876007"/>
                <a:ext cx="883800" cy="45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2AA4302E-BCBE-4FA4-D9AE-A51BAC7D20EE}"/>
              </a:ext>
            </a:extLst>
          </p:cNvPr>
          <p:cNvGrpSpPr/>
          <p:nvPr/>
        </p:nvGrpSpPr>
        <p:grpSpPr>
          <a:xfrm>
            <a:off x="2719950" y="8044127"/>
            <a:ext cx="360" cy="360"/>
            <a:chOff x="2719950" y="8044127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3842F6E-FA6F-DD24-3797-ED7CBD874B74}"/>
                    </a:ext>
                  </a:extLst>
                </p14:cNvPr>
                <p14:cNvContentPartPr/>
                <p14:nvPr/>
              </p14:nvContentPartPr>
              <p14:xfrm>
                <a:off x="2719950" y="8044127"/>
                <a:ext cx="360" cy="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3842F6E-FA6F-DD24-3797-ED7CBD874B7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710950" y="803512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305542E-05A4-8A8E-EA4B-4DB635AF2D38}"/>
                    </a:ext>
                  </a:extLst>
                </p14:cNvPr>
                <p14:cNvContentPartPr/>
                <p14:nvPr/>
              </p14:nvContentPartPr>
              <p14:xfrm>
                <a:off x="2719950" y="8044127"/>
                <a:ext cx="360" cy="3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305542E-05A4-8A8E-EA4B-4DB635AF2D3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710950" y="803512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1C79EEE-9740-BFB7-B2C0-B6F81A480A2E}"/>
                    </a:ext>
                  </a:extLst>
                </p14:cNvPr>
                <p14:cNvContentPartPr/>
                <p14:nvPr/>
              </p14:nvContentPartPr>
              <p14:xfrm>
                <a:off x="2719950" y="8044127"/>
                <a:ext cx="360" cy="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1C79EEE-9740-BFB7-B2C0-B6F81A480A2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710950" y="803512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6339986-EF04-BBEE-B7F8-559B090746CC}"/>
                    </a:ext>
                  </a:extLst>
                </p14:cNvPr>
                <p14:cNvContentPartPr/>
                <p14:nvPr/>
              </p14:nvContentPartPr>
              <p14:xfrm>
                <a:off x="2719950" y="8044127"/>
                <a:ext cx="360" cy="3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6339986-EF04-BBEE-B7F8-559B090746C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710950" y="803512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E8BD57F-4381-CF0A-0C07-DF0A2DDE4896}"/>
                    </a:ext>
                  </a:extLst>
                </p14:cNvPr>
                <p14:cNvContentPartPr/>
                <p14:nvPr/>
              </p14:nvContentPartPr>
              <p14:xfrm>
                <a:off x="2719950" y="8044127"/>
                <a:ext cx="360" cy="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E8BD57F-4381-CF0A-0C07-DF0A2DDE489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710950" y="803512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665C5C6-659D-D86F-5346-4C4C9EED6A49}"/>
                    </a:ext>
                  </a:extLst>
                </p14:cNvPr>
                <p14:cNvContentPartPr/>
                <p14:nvPr/>
              </p14:nvContentPartPr>
              <p14:xfrm>
                <a:off x="2719950" y="8044127"/>
                <a:ext cx="360" cy="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665C5C6-659D-D86F-5346-4C4C9EED6A4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710950" y="803512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FBD4C53-3B54-E049-E55C-0AF8E7778928}"/>
                    </a:ext>
                  </a:extLst>
                </p14:cNvPr>
                <p14:cNvContentPartPr/>
                <p14:nvPr/>
              </p14:nvContentPartPr>
              <p14:xfrm>
                <a:off x="2719950" y="8044127"/>
                <a:ext cx="360" cy="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FBD4C53-3B54-E049-E55C-0AF8E777892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710950" y="803512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DB77D90-7FD6-2C42-9B9C-5290D4B5C25E}"/>
                    </a:ext>
                  </a:extLst>
                </p14:cNvPr>
                <p14:cNvContentPartPr/>
                <p14:nvPr/>
              </p14:nvContentPartPr>
              <p14:xfrm>
                <a:off x="2719950" y="8044127"/>
                <a:ext cx="360" cy="3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DB77D90-7FD6-2C42-9B9C-5290D4B5C25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710950" y="803512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29A490C-1B4C-B3D5-6438-DA99F7CDD6A5}"/>
                    </a:ext>
                  </a:extLst>
                </p14:cNvPr>
                <p14:cNvContentPartPr/>
                <p14:nvPr/>
              </p14:nvContentPartPr>
              <p14:xfrm>
                <a:off x="2719950" y="8044127"/>
                <a:ext cx="360" cy="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29A490C-1B4C-B3D5-6438-DA99F7CDD6A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710950" y="803512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434173C-02B1-6E0B-50DA-3A8547415756}"/>
                    </a:ext>
                  </a:extLst>
                </p14:cNvPr>
                <p14:cNvContentPartPr/>
                <p14:nvPr/>
              </p14:nvContentPartPr>
              <p14:xfrm>
                <a:off x="2719950" y="8044127"/>
                <a:ext cx="360" cy="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434173C-02B1-6E0B-50DA-3A854741575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710950" y="803512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66C89B1-2619-E149-A494-0E28252ECB31}"/>
                    </a:ext>
                  </a:extLst>
                </p14:cNvPr>
                <p14:cNvContentPartPr/>
                <p14:nvPr/>
              </p14:nvContentPartPr>
              <p14:xfrm>
                <a:off x="2719950" y="8044127"/>
                <a:ext cx="360" cy="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66C89B1-2619-E149-A494-0E28252ECB3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710950" y="803512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A04164D-5D4D-5867-99B7-73435855DBF8}"/>
                    </a:ext>
                  </a:extLst>
                </p14:cNvPr>
                <p14:cNvContentPartPr/>
                <p14:nvPr/>
              </p14:nvContentPartPr>
              <p14:xfrm>
                <a:off x="2719950" y="8044127"/>
                <a:ext cx="360" cy="3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A04164D-5D4D-5867-99B7-73435855DBF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710950" y="803512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B93A321-4011-07D4-7811-AC7F0E162A99}"/>
                    </a:ext>
                  </a:extLst>
                </p14:cNvPr>
                <p14:cNvContentPartPr/>
                <p14:nvPr/>
              </p14:nvContentPartPr>
              <p14:xfrm>
                <a:off x="2719950" y="8044127"/>
                <a:ext cx="360" cy="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B93A321-4011-07D4-7811-AC7F0E162A9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710950" y="803512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6C6A064-9182-CDCD-5FB0-08065CD8FE9F}"/>
                    </a:ext>
                  </a:extLst>
                </p14:cNvPr>
                <p14:cNvContentPartPr/>
                <p14:nvPr/>
              </p14:nvContentPartPr>
              <p14:xfrm>
                <a:off x="2719950" y="8044127"/>
                <a:ext cx="360" cy="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6C6A064-9182-CDCD-5FB0-08065CD8FE9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710950" y="803512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D63FD9C-B8BF-0BC0-210D-2C3E92FD41FF}"/>
                    </a:ext>
                  </a:extLst>
                </p14:cNvPr>
                <p14:cNvContentPartPr/>
                <p14:nvPr/>
              </p14:nvContentPartPr>
              <p14:xfrm>
                <a:off x="2719950" y="8044127"/>
                <a:ext cx="360" cy="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D63FD9C-B8BF-0BC0-210D-2C3E92FD41F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710950" y="803512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3EF8D29-F1FD-CC84-E38A-2A7BF4F5C6D7}"/>
                    </a:ext>
                  </a:extLst>
                </p14:cNvPr>
                <p14:cNvContentPartPr/>
                <p14:nvPr/>
              </p14:nvContentPartPr>
              <p14:xfrm>
                <a:off x="2719950" y="8044127"/>
                <a:ext cx="360" cy="3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3EF8D29-F1FD-CC84-E38A-2A7BF4F5C6D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710950" y="803512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302298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ED3A9-56CD-7829-0103-86230620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10A77-3C1A-B518-51B5-27C06E2316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978091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AUTONOMOUS AP</a:t>
            </a:r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SECURITY SETTING</a:t>
            </a:r>
            <a:endParaRPr lang="en-IN" sz="34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EDBD43A-B9D3-90C7-5FAE-52A1A7457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815" y="3461086"/>
            <a:ext cx="6331352" cy="14568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CF18F65-20FD-7C6F-0AD9-468ACF0D4207}"/>
              </a:ext>
            </a:extLst>
          </p:cNvPr>
          <p:cNvSpPr txBox="1"/>
          <p:nvPr/>
        </p:nvSpPr>
        <p:spPr>
          <a:xfrm>
            <a:off x="3839132" y="1765954"/>
            <a:ext cx="301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Home –  WPA2 personal</a:t>
            </a:r>
          </a:p>
          <a:p>
            <a:r>
              <a:rPr lang="en-US" dirty="0"/>
              <a:t>Enterprise – WPA2 Enterprise</a:t>
            </a:r>
            <a:endParaRPr lang="en-IN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7309718-37BE-EDC4-895B-F248E8BDCA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95" y="1319514"/>
            <a:ext cx="3621338" cy="1914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8254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1A9B2-A973-C52E-2C87-FC49106F0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AD62F-70AF-3D2F-6FA2-FE4DB39CE5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"/>
            <a:ext cx="6858000" cy="649040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UBIQUITY AP INSTALLATION</a:t>
            </a:r>
            <a:endParaRPr lang="en-IN" sz="3400" b="1" dirty="0">
              <a:solidFill>
                <a:schemeClr val="bg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DC41B95-8730-A513-DF3B-664B303A5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207" y="1524508"/>
            <a:ext cx="6005080" cy="150584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C860158-09AF-BB36-63A5-4C1F37E092DF}"/>
              </a:ext>
            </a:extLst>
          </p:cNvPr>
          <p:cNvSpPr txBox="1"/>
          <p:nvPr/>
        </p:nvSpPr>
        <p:spPr>
          <a:xfrm>
            <a:off x="300940" y="3127357"/>
            <a:ext cx="2731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Unified Security Gateway</a:t>
            </a:r>
            <a:endParaRPr lang="en-IN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6DDF6D0-B3A9-6F6A-B5EF-A75BFFEA8089}"/>
              </a:ext>
            </a:extLst>
          </p:cNvPr>
          <p:cNvCxnSpPr>
            <a:cxnSpLocks/>
          </p:cNvCxnSpPr>
          <p:nvPr/>
        </p:nvCxnSpPr>
        <p:spPr>
          <a:xfrm flipH="1">
            <a:off x="1342663" y="1990846"/>
            <a:ext cx="1898248" cy="1250065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62C7A1D-B591-B050-6D92-249FA11BE129}"/>
              </a:ext>
            </a:extLst>
          </p:cNvPr>
          <p:cNvCxnSpPr>
            <a:cxnSpLocks/>
            <a:endCxn id="27" idx="0"/>
          </p:cNvCxnSpPr>
          <p:nvPr/>
        </p:nvCxnSpPr>
        <p:spPr>
          <a:xfrm flipH="1">
            <a:off x="3032565" y="2070194"/>
            <a:ext cx="584526" cy="1835625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8A6569F6-929B-D74F-0890-C079A6888045}"/>
              </a:ext>
            </a:extLst>
          </p:cNvPr>
          <p:cNvSpPr txBox="1"/>
          <p:nvPr/>
        </p:nvSpPr>
        <p:spPr>
          <a:xfrm>
            <a:off x="1604541" y="3905819"/>
            <a:ext cx="2856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connect to internet</a:t>
            </a:r>
            <a:endParaRPr lang="en-IN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2736FB7-FA7E-11C1-0AE3-9BDABE70FEAD}"/>
              </a:ext>
            </a:extLst>
          </p:cNvPr>
          <p:cNvCxnSpPr>
            <a:cxnSpLocks/>
          </p:cNvCxnSpPr>
          <p:nvPr/>
        </p:nvCxnSpPr>
        <p:spPr>
          <a:xfrm>
            <a:off x="3833021" y="2096126"/>
            <a:ext cx="1682316" cy="1400563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53090BB-3EB8-94CF-AA40-5323E3163754}"/>
              </a:ext>
            </a:extLst>
          </p:cNvPr>
          <p:cNvSpPr txBox="1"/>
          <p:nvPr/>
        </p:nvSpPr>
        <p:spPr>
          <a:xfrm>
            <a:off x="4085867" y="3496689"/>
            <a:ext cx="2772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connect to ethernet switch</a:t>
            </a:r>
            <a:endParaRPr lang="en-IN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1882DD8-7C7F-6912-054A-8259AD6EF455}"/>
              </a:ext>
            </a:extLst>
          </p:cNvPr>
          <p:cNvSpPr txBox="1"/>
          <p:nvPr/>
        </p:nvSpPr>
        <p:spPr>
          <a:xfrm>
            <a:off x="2432126" y="4499769"/>
            <a:ext cx="40569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UniFi Could Kev Gen2 Plus Controller</a:t>
            </a:r>
            <a:br>
              <a:rPr lang="en-IN" dirty="0"/>
            </a:br>
            <a:r>
              <a:rPr lang="en-IN" dirty="0"/>
              <a:t>connect to POE switchport 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7E26E98-DD42-4040-7F87-23EEC8B74538}"/>
              </a:ext>
            </a:extLst>
          </p:cNvPr>
          <p:cNvCxnSpPr>
            <a:cxnSpLocks/>
          </p:cNvCxnSpPr>
          <p:nvPr/>
        </p:nvCxnSpPr>
        <p:spPr>
          <a:xfrm>
            <a:off x="3977902" y="2711577"/>
            <a:ext cx="0" cy="176586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Picture 40">
            <a:extLst>
              <a:ext uri="{FF2B5EF4-FFF2-40B4-BE49-F238E27FC236}">
                <a16:creationId xmlns:a16="http://schemas.microsoft.com/office/drawing/2014/main" id="{32601EE1-1E9E-7302-D8F9-FBFA237A77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861"/>
          <a:stretch>
            <a:fillRect/>
          </a:stretch>
        </p:blipFill>
        <p:spPr>
          <a:xfrm>
            <a:off x="990361" y="5352905"/>
            <a:ext cx="5253459" cy="2787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1870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4B499-2F4F-A863-59BD-F2B352E53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6EE1857-0DA5-BC9F-E77A-A38CB321A1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297" y="6934030"/>
            <a:ext cx="1643927" cy="149695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CB7F0C-8BC7-1958-1451-8CC8FB5A53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5787" y="1162778"/>
            <a:ext cx="4526426" cy="9908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3F48998-5C68-37B7-B813-2B12F21932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292" y="2670005"/>
            <a:ext cx="5845939" cy="391007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474C5C-926F-BEB5-63F9-E8724DA3F71B}"/>
              </a:ext>
            </a:extLst>
          </p:cNvPr>
          <p:cNvSpPr txBox="1"/>
          <p:nvPr/>
        </p:nvSpPr>
        <p:spPr>
          <a:xfrm>
            <a:off x="2126486" y="2413114"/>
            <a:ext cx="3296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(1) - Enter the AP IP: 192.168.1.9</a:t>
            </a:r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7CFAFA3-92D2-28F5-91D4-07B611B9B202}"/>
              </a:ext>
            </a:extLst>
          </p:cNvPr>
          <p:cNvSpPr/>
          <p:nvPr/>
        </p:nvSpPr>
        <p:spPr>
          <a:xfrm>
            <a:off x="4849792" y="5984112"/>
            <a:ext cx="1145894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670A82-4051-F0A1-BB7B-53758CF76C5F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 flipH="1">
            <a:off x="1435261" y="6353444"/>
            <a:ext cx="3987478" cy="58058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D4323F-B9B4-DE47-321C-835CF0053D0E}"/>
              </a:ext>
            </a:extLst>
          </p:cNvPr>
          <p:cNvSpPr txBox="1"/>
          <p:nvPr/>
        </p:nvSpPr>
        <p:spPr>
          <a:xfrm>
            <a:off x="2257224" y="7082342"/>
            <a:ext cx="18403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Default credential:</a:t>
            </a:r>
            <a:br>
              <a:rPr lang="en-US" dirty="0"/>
            </a:br>
            <a:r>
              <a:rPr lang="en-US" dirty="0" err="1"/>
              <a:t>ubnt</a:t>
            </a:r>
            <a:br>
              <a:rPr lang="en-US" dirty="0"/>
            </a:br>
            <a:r>
              <a:rPr lang="en-US" dirty="0" err="1"/>
              <a:t>ubnt</a:t>
            </a:r>
            <a:endParaRPr lang="en-IN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B474A97-7ED4-5331-8676-273280D60A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7840" y="6934030"/>
            <a:ext cx="2423413" cy="1690585"/>
          </a:xfrm>
          <a:prstGeom prst="rect">
            <a:avLst/>
          </a:prstGeom>
        </p:spPr>
      </p:pic>
      <p:sp>
        <p:nvSpPr>
          <p:cNvPr id="18" name="Arrow: Right 17">
            <a:extLst>
              <a:ext uri="{FF2B5EF4-FFF2-40B4-BE49-F238E27FC236}">
                <a16:creationId xmlns:a16="http://schemas.microsoft.com/office/drawing/2014/main" id="{87A43786-C1CC-F039-3E7E-F0356C39430B}"/>
              </a:ext>
            </a:extLst>
          </p:cNvPr>
          <p:cNvSpPr/>
          <p:nvPr/>
        </p:nvSpPr>
        <p:spPr>
          <a:xfrm>
            <a:off x="3287533" y="7668634"/>
            <a:ext cx="613458" cy="42826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28601275-87A8-8914-17BD-D81D87A3F75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6858000" cy="64904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br>
              <a:rPr lang="en-US" sz="3400" b="1">
                <a:solidFill>
                  <a:schemeClr val="bg1"/>
                </a:solidFill>
              </a:rPr>
            </a:br>
            <a:r>
              <a:rPr lang="en-US" sz="3400" b="1">
                <a:solidFill>
                  <a:schemeClr val="bg1"/>
                </a:solidFill>
              </a:rPr>
              <a:t>UBIQUITY AP INSTALLATION</a:t>
            </a:r>
            <a:endParaRPr lang="en-IN" sz="3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07322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F3C60-E6D4-445F-6F85-6A3D2F64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9255C8-056D-B127-B96E-D6A7B44191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628" y="1135956"/>
            <a:ext cx="5694744" cy="206871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1A2EBFD-D8DB-D7F3-D667-7207F1EAD050}"/>
              </a:ext>
            </a:extLst>
          </p:cNvPr>
          <p:cNvSpPr txBox="1"/>
          <p:nvPr/>
        </p:nvSpPr>
        <p:spPr>
          <a:xfrm>
            <a:off x="451413" y="671332"/>
            <a:ext cx="3090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Successfully Configured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308260B-2CA9-564C-D032-AAF2974AAD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014" y="3641024"/>
            <a:ext cx="5361971" cy="195303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60B4D18-C1AE-C6D6-D0D5-44CCBDF7F672}"/>
              </a:ext>
            </a:extLst>
          </p:cNvPr>
          <p:cNvCxnSpPr>
            <a:cxnSpLocks/>
            <a:stCxn id="23" idx="2"/>
            <a:endCxn id="21" idx="0"/>
          </p:cNvCxnSpPr>
          <p:nvPr/>
        </p:nvCxnSpPr>
        <p:spPr>
          <a:xfrm>
            <a:off x="1776714" y="5496915"/>
            <a:ext cx="1765140" cy="5334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ABA72C19-2A9B-D97D-F3ED-382EF19D38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097" y="6030410"/>
            <a:ext cx="5891514" cy="2037186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ED6936E8-EC12-7A64-7673-4BCFBD92DC8C}"/>
              </a:ext>
            </a:extLst>
          </p:cNvPr>
          <p:cNvSpPr/>
          <p:nvPr/>
        </p:nvSpPr>
        <p:spPr>
          <a:xfrm>
            <a:off x="1203767" y="5197032"/>
            <a:ext cx="1145894" cy="2998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9" name="Arrow: Down 28">
            <a:extLst>
              <a:ext uri="{FF2B5EF4-FFF2-40B4-BE49-F238E27FC236}">
                <a16:creationId xmlns:a16="http://schemas.microsoft.com/office/drawing/2014/main" id="{4BFF824A-F320-1774-A8C7-7AA9098D04F1}"/>
              </a:ext>
            </a:extLst>
          </p:cNvPr>
          <p:cNvSpPr/>
          <p:nvPr/>
        </p:nvSpPr>
        <p:spPr>
          <a:xfrm>
            <a:off x="3266955" y="8067596"/>
            <a:ext cx="324091" cy="529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38434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34A61-731A-E27C-7F03-B172560CB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DFBF1D0-39C3-27B0-872B-819456481B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116" y="1063136"/>
            <a:ext cx="5570316" cy="19940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BDE886A-EE2F-D328-A87B-029BE9731177}"/>
              </a:ext>
            </a:extLst>
          </p:cNvPr>
          <p:cNvSpPr txBox="1"/>
          <p:nvPr/>
        </p:nvSpPr>
        <p:spPr>
          <a:xfrm>
            <a:off x="332772" y="693804"/>
            <a:ext cx="3510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Log in using </a:t>
            </a:r>
            <a:r>
              <a:rPr lang="en-US" dirty="0" err="1"/>
              <a:t>ubiquiti</a:t>
            </a:r>
            <a:r>
              <a:rPr lang="en-US" dirty="0"/>
              <a:t> credential</a:t>
            </a:r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4C3DA2D-C563-8F8F-A489-6AF7024608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543" y="3473613"/>
            <a:ext cx="5662914" cy="1809939"/>
          </a:xfrm>
          <a:prstGeom prst="rect">
            <a:avLst/>
          </a:prstGeom>
        </p:spPr>
      </p:pic>
      <p:sp>
        <p:nvSpPr>
          <p:cNvPr id="10" name="Arrow: Down 9">
            <a:extLst>
              <a:ext uri="{FF2B5EF4-FFF2-40B4-BE49-F238E27FC236}">
                <a16:creationId xmlns:a16="http://schemas.microsoft.com/office/drawing/2014/main" id="{AA91EE69-C93C-2682-982C-FBA9034F4A69}"/>
              </a:ext>
            </a:extLst>
          </p:cNvPr>
          <p:cNvSpPr/>
          <p:nvPr/>
        </p:nvSpPr>
        <p:spPr>
          <a:xfrm>
            <a:off x="3266954" y="2944561"/>
            <a:ext cx="324091" cy="529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42742C4-9C0F-03D6-9AD5-A2D2CCC3C5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116" y="5699960"/>
            <a:ext cx="5775767" cy="2016392"/>
          </a:xfrm>
          <a:prstGeom prst="rect">
            <a:avLst/>
          </a:prstGeom>
        </p:spPr>
      </p:pic>
      <p:sp>
        <p:nvSpPr>
          <p:cNvPr id="13" name="Arrow: Down 12">
            <a:extLst>
              <a:ext uri="{FF2B5EF4-FFF2-40B4-BE49-F238E27FC236}">
                <a16:creationId xmlns:a16="http://schemas.microsoft.com/office/drawing/2014/main" id="{29952345-D70E-7271-9109-2B9A1D20C070}"/>
              </a:ext>
            </a:extLst>
          </p:cNvPr>
          <p:cNvSpPr/>
          <p:nvPr/>
        </p:nvSpPr>
        <p:spPr>
          <a:xfrm>
            <a:off x="3266953" y="5227230"/>
            <a:ext cx="324091" cy="529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82AF1A77-FB01-72E2-00DF-F7D66E5D3EF5}"/>
              </a:ext>
            </a:extLst>
          </p:cNvPr>
          <p:cNvSpPr/>
          <p:nvPr/>
        </p:nvSpPr>
        <p:spPr>
          <a:xfrm>
            <a:off x="3266952" y="7926307"/>
            <a:ext cx="324091" cy="529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900592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92891-8B52-F3D2-D1B1-FF7636BA1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DE38F56-C0C0-0E85-F817-742DB1731A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65" y="1082040"/>
            <a:ext cx="6342070" cy="15680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FDD583-1C19-C1FA-604A-00E1EDF3BD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3400" y="6191842"/>
            <a:ext cx="1390844" cy="1562318"/>
          </a:xfrm>
          <a:prstGeom prst="rect">
            <a:avLst/>
          </a:prstGeom>
        </p:spPr>
      </p:pic>
      <p:sp>
        <p:nvSpPr>
          <p:cNvPr id="17" name="Arrow: Down 16">
            <a:extLst>
              <a:ext uri="{FF2B5EF4-FFF2-40B4-BE49-F238E27FC236}">
                <a16:creationId xmlns:a16="http://schemas.microsoft.com/office/drawing/2014/main" id="{1086217F-CA81-8EAC-A0A8-490992E41CC6}"/>
              </a:ext>
            </a:extLst>
          </p:cNvPr>
          <p:cNvSpPr/>
          <p:nvPr/>
        </p:nvSpPr>
        <p:spPr>
          <a:xfrm>
            <a:off x="3266954" y="2723627"/>
            <a:ext cx="324091" cy="529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8F9BCA0B-7C21-DD4A-7ECC-EAF976FA9167}"/>
              </a:ext>
            </a:extLst>
          </p:cNvPr>
          <p:cNvSpPr/>
          <p:nvPr/>
        </p:nvSpPr>
        <p:spPr>
          <a:xfrm>
            <a:off x="3266953" y="5515732"/>
            <a:ext cx="324091" cy="5290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96D5E-A309-900F-ED6B-A7DA06CB082C}"/>
              </a:ext>
            </a:extLst>
          </p:cNvPr>
          <p:cNvSpPr txBox="1"/>
          <p:nvPr/>
        </p:nvSpPr>
        <p:spPr>
          <a:xfrm>
            <a:off x="1866900" y="8051800"/>
            <a:ext cx="2959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 takes around 3 minutes.</a:t>
            </a:r>
            <a:endParaRPr lang="en-IN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3357B8D1-6CF5-8D00-777C-C0FFAC3915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965" y="3327078"/>
            <a:ext cx="6340390" cy="2188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58368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26F4F-89B6-625B-52B2-709E1A707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3ED9961-D236-C010-3C24-198568E2F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1262345"/>
            <a:ext cx="6223000" cy="304040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98F8AA3-EF29-20C4-A226-CC3B89A4626C}"/>
              </a:ext>
            </a:extLst>
          </p:cNvPr>
          <p:cNvSpPr txBox="1"/>
          <p:nvPr/>
        </p:nvSpPr>
        <p:spPr>
          <a:xfrm>
            <a:off x="469900" y="782173"/>
            <a:ext cx="518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Finally, launched successfully.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A6C91A-972B-EDEE-1D08-6CE715519B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226603"/>
            <a:ext cx="1080131" cy="27177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5E6CBB5-E15A-2D72-32EB-E4674D88AE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3881" y="5226603"/>
            <a:ext cx="4764119" cy="2850597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AEDDE2D0-DF08-21BF-AE92-C2722F67817C}"/>
              </a:ext>
            </a:extLst>
          </p:cNvPr>
          <p:cNvSpPr/>
          <p:nvPr/>
        </p:nvSpPr>
        <p:spPr>
          <a:xfrm>
            <a:off x="1307606" y="6651901"/>
            <a:ext cx="558800" cy="38682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63CAC251-1DD7-3888-E16E-D73491DFB1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99809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43C87-0AA9-5E78-A0EF-E77825BD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43C4E-C5E7-0B3A-8DFA-E1C7154778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671332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UBIQUITY AP</a:t>
            </a:r>
            <a:endParaRPr lang="en-IN" sz="3400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5E9C2B-9BA3-09B1-D53E-19193A0AE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8835" y="1103845"/>
            <a:ext cx="2905530" cy="37438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B087C07-C061-4DB3-7E0B-20FD755CD86A}"/>
              </a:ext>
            </a:extLst>
          </p:cNvPr>
          <p:cNvSpPr txBox="1"/>
          <p:nvPr/>
        </p:nvSpPr>
        <p:spPr>
          <a:xfrm>
            <a:off x="533400" y="2314048"/>
            <a:ext cx="27051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If you click mac-address or </a:t>
            </a:r>
            <a:r>
              <a:rPr lang="en-US" sz="2000" dirty="0" err="1"/>
              <a:t>bssid</a:t>
            </a:r>
            <a:r>
              <a:rPr lang="en-US" sz="2000" dirty="0"/>
              <a:t> of any device. You are going to get the box like right side.</a:t>
            </a:r>
            <a:endParaRPr lang="en-IN" sz="2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AAF643C-EBC1-CB1C-1A01-8E17D89F00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8500" y="5493140"/>
            <a:ext cx="3129166" cy="284848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55F214B-DCA6-0D72-5C14-DB7ECE6063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492" y="4939855"/>
            <a:ext cx="2572356" cy="178595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4133A4A-606E-9222-9CCC-9EA3FD7C71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92" y="6917384"/>
            <a:ext cx="2570826" cy="17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8130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ECB96-7FA0-9DE8-C588-C56A134D8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7B375-019D-8727-8872-D9D2FFCE2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671332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UBIQUITY (ADDING NEW )AP</a:t>
            </a:r>
            <a:endParaRPr lang="en-IN" sz="3400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C465D0-1E4B-DAD0-A32C-CC859B4D5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630" y="822960"/>
            <a:ext cx="6330739" cy="139404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9D00DF2-7494-D144-CB4B-A80734CD03A3}"/>
              </a:ext>
            </a:extLst>
          </p:cNvPr>
          <p:cNvSpPr/>
          <p:nvPr/>
        </p:nvSpPr>
        <p:spPr>
          <a:xfrm>
            <a:off x="579120" y="1658112"/>
            <a:ext cx="463296" cy="10972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solidFill>
                  <a:srgbClr val="FF0000"/>
                </a:solidFill>
              </a:ln>
              <a:noFill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C6416F0-4CC2-85C0-633A-D6ABFE1092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" y="2696602"/>
            <a:ext cx="1645358" cy="2122511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29A619F-4BEC-2762-7A7D-4F872377C32D}"/>
              </a:ext>
            </a:extLst>
          </p:cNvPr>
          <p:cNvCxnSpPr>
            <a:stCxn id="5" idx="2"/>
            <a:endCxn id="9" idx="0"/>
          </p:cNvCxnSpPr>
          <p:nvPr/>
        </p:nvCxnSpPr>
        <p:spPr>
          <a:xfrm>
            <a:off x="810768" y="1767840"/>
            <a:ext cx="1054327" cy="928762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CA50406C-493D-0724-55A3-2911FBEA8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3757" y="3054095"/>
            <a:ext cx="1751827" cy="129936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E673B04-EFA3-85DB-9689-4B3AE4C5752A}"/>
              </a:ext>
            </a:extLst>
          </p:cNvPr>
          <p:cNvSpPr txBox="1"/>
          <p:nvPr/>
        </p:nvSpPr>
        <p:spPr>
          <a:xfrm>
            <a:off x="3979831" y="2696602"/>
            <a:ext cx="19408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Channels:</a:t>
            </a:r>
            <a:endParaRPr lang="en-IN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643243-FBF9-3AF7-CC95-BF3AEDED3CAA}"/>
              </a:ext>
            </a:extLst>
          </p:cNvPr>
          <p:cNvSpPr txBox="1"/>
          <p:nvPr/>
        </p:nvSpPr>
        <p:spPr>
          <a:xfrm>
            <a:off x="4063757" y="4588280"/>
            <a:ext cx="2151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After change (click on):</a:t>
            </a:r>
            <a:br>
              <a:rPr lang="en-US" sz="1200" dirty="0"/>
            </a:br>
            <a:r>
              <a:rPr lang="en-US" sz="1200" dirty="0"/>
              <a:t>Queue change – apply change</a:t>
            </a:r>
            <a:endParaRPr lang="en-IN" sz="1200" dirty="0"/>
          </a:p>
        </p:txBody>
      </p:sp>
    </p:spTree>
    <p:extLst>
      <p:ext uri="{BB962C8B-B14F-4D97-AF65-F5344CB8AC3E}">
        <p14:creationId xmlns:p14="http://schemas.microsoft.com/office/powerpoint/2010/main" val="40169960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CDBB0-1101-9445-9EBB-FE641AD43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AFB5-B313-8944-7E23-6ECB267D87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671332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>
            <a:noAutofit/>
          </a:bodyPr>
          <a:lstStyle/>
          <a:p>
            <a:br>
              <a:rPr lang="en-US" sz="3400" b="1" dirty="0">
                <a:solidFill>
                  <a:schemeClr val="bg1"/>
                </a:solidFill>
              </a:rPr>
            </a:br>
            <a:r>
              <a:rPr lang="en-US" sz="3400" b="1" dirty="0">
                <a:solidFill>
                  <a:schemeClr val="bg1"/>
                </a:solidFill>
              </a:rPr>
              <a:t>UBIQUITY SECURITY</a:t>
            </a:r>
            <a:endParaRPr lang="en-IN" sz="3400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FE4326-A1B0-7F5B-4711-AEA54C2DC7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338" y="1148037"/>
            <a:ext cx="2937262" cy="394158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B1DC515-83B3-DBB2-4E28-9C822ACF0B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38" y="3192041"/>
            <a:ext cx="6532880" cy="133709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F2D681F-A43B-857E-16A2-3442CB6DEA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017" y="5089620"/>
            <a:ext cx="5198769" cy="384150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F643198-0FDB-8817-F1F8-A4F0B7893ACB}"/>
              </a:ext>
            </a:extLst>
          </p:cNvPr>
          <p:cNvSpPr txBox="1"/>
          <p:nvPr/>
        </p:nvSpPr>
        <p:spPr>
          <a:xfrm>
            <a:off x="212338" y="6807200"/>
            <a:ext cx="8966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Save it</a:t>
            </a:r>
          </a:p>
        </p:txBody>
      </p:sp>
    </p:spTree>
    <p:extLst>
      <p:ext uri="{BB962C8B-B14F-4D97-AF65-F5344CB8AC3E}">
        <p14:creationId xmlns:p14="http://schemas.microsoft.com/office/powerpoint/2010/main" val="26747274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A1B7D-0740-5E47-733A-B3141768D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E19346C-3CD4-9952-7E40-0E69ACAC8F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676" y="215900"/>
            <a:ext cx="6374645" cy="15202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0CC545-5CCC-0A8A-7A9E-EB80DD4DD4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676" y="2168721"/>
            <a:ext cx="6374644" cy="253601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0CEBC28-4E8D-1C02-F49B-94D27B7544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3338" y="5137349"/>
            <a:ext cx="4711323" cy="2515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8B8A993-E2A2-12B2-D0DC-FF4DAC3B2F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2" y="8181445"/>
            <a:ext cx="6108698" cy="726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92297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D9BCE-BB6D-8403-2684-0C7386AB5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10BA150-5633-CC11-0210-FD5CAEB4EB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8" y="532352"/>
            <a:ext cx="6456224" cy="9205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0B6B7E-7758-991D-F4CA-33654BADE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680" y="1601028"/>
            <a:ext cx="6468432" cy="166495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89D4F10-E4F7-E99C-9C29-DFFBE70C25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425" y="3612200"/>
            <a:ext cx="5463405" cy="525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0299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A312B-3B6B-CE12-A999-5FCEE1B09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6BCBA6-3BB2-666F-EAF0-95BDE21E4E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364" y="454000"/>
            <a:ext cx="6239271" cy="164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521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524A1-7D44-2CA2-E42C-44A18C256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9D884-4244-68A8-CE6F-914D1B4A87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800458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Question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7F385F-AD4C-0912-133F-BC73B6E0BB0E}"/>
              </a:ext>
            </a:extLst>
          </p:cNvPr>
          <p:cNvSpPr txBox="1"/>
          <p:nvPr/>
        </p:nvSpPr>
        <p:spPr>
          <a:xfrm>
            <a:off x="137160" y="955040"/>
            <a:ext cx="6598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/>
              <a:t>1. What is multi-hop communication?</a:t>
            </a:r>
          </a:p>
          <a:p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09079473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4270E-C08E-795C-3960-32C86E6A6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F38BE-6FCA-7BAE-3D89-8BACC6E1E6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858000" cy="800458"/>
          </a:xfr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REFERENCE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E9DFF5-EE3C-E7AA-7945-00FAD99D7D19}"/>
              </a:ext>
            </a:extLst>
          </p:cNvPr>
          <p:cNvSpPr txBox="1"/>
          <p:nvPr/>
        </p:nvSpPr>
        <p:spPr>
          <a:xfrm>
            <a:off x="137160" y="955040"/>
            <a:ext cx="659892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IN" sz="2000" dirty="0">
                <a:hlinkClick r:id="rId2"/>
              </a:rPr>
              <a:t>https://en.wikipedia.org/wiki/IEEE_802.11</a:t>
            </a:r>
            <a:endParaRPr lang="en-IN" sz="2000" dirty="0"/>
          </a:p>
          <a:p>
            <a:pPr marL="457200" indent="-457200">
              <a:buAutoNum type="arabicPeriod"/>
            </a:pPr>
            <a:r>
              <a:rPr lang="en-IN" sz="2000" dirty="0">
                <a:hlinkClick r:id="rId3"/>
              </a:rPr>
              <a:t>https://www.linkedin.com/learning/wireless-networking-essential-training/</a:t>
            </a:r>
            <a:endParaRPr lang="en-IN" sz="2000" dirty="0"/>
          </a:p>
          <a:p>
            <a:pPr marL="457200" indent="-457200">
              <a:buAutoNum type="arabicPeriod"/>
            </a:pP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94019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1740</TotalTime>
  <Words>2574</Words>
  <Application>Microsoft Office PowerPoint</Application>
  <PresentationFormat>Custom</PresentationFormat>
  <Paragraphs>253</Paragraphs>
  <Slides>49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6" baseType="lpstr">
      <vt:lpstr>Arial</vt:lpstr>
      <vt:lpstr>Calibri</vt:lpstr>
      <vt:lpstr>Calibri Light</vt:lpstr>
      <vt:lpstr>Courier New</vt:lpstr>
      <vt:lpstr>Symbol</vt:lpstr>
      <vt:lpstr>Wingdings</vt:lpstr>
      <vt:lpstr>Office Theme</vt:lpstr>
      <vt:lpstr>Wireless</vt:lpstr>
      <vt:lpstr>INFRASTRUCTURE WLAN</vt:lpstr>
      <vt:lpstr>MESH WLAN</vt:lpstr>
      <vt:lpstr>     WIFI CHANNEL</vt:lpstr>
      <vt:lpstr>     SELECTING WIFI CHANNEL 2.4 GHZ</vt:lpstr>
      <vt:lpstr>     SELECTING WIFI CHANNEL 5GHZ</vt:lpstr>
      <vt:lpstr>SERVICE SETS (IBSS, SSID)</vt:lpstr>
      <vt:lpstr>SERVICE SETS (BSSID)</vt:lpstr>
      <vt:lpstr>SERVICE SETS (ESSID)</vt:lpstr>
      <vt:lpstr>SERVICE SETS (MBSSID)</vt:lpstr>
      <vt:lpstr>WIFI RADIO TECHNOLOGIES (DSSS)</vt:lpstr>
      <vt:lpstr>WIFI RADIO TECHNOLOGIES (DSSS)</vt:lpstr>
      <vt:lpstr>WIFI RADIO TECHNOLOGIES (FDM, OFDM)</vt:lpstr>
      <vt:lpstr>WIFI RADIO TECHNOLOGIES (QAM)</vt:lpstr>
      <vt:lpstr>WIFI RADIO TECHNOLOGIES  (Channel Bonding)</vt:lpstr>
      <vt:lpstr>WIFI RADIO TECHNOLOGIES  (MU-MIMO)</vt:lpstr>
      <vt:lpstr>WIFI RADIO TECHNOLOGIES  (Beam Forming)</vt:lpstr>
      <vt:lpstr>WIFI RADIO TECHNOLOGIES  (OFDMA)</vt:lpstr>
      <vt:lpstr>BARKER-11</vt:lpstr>
      <vt:lpstr>PowerPoint Presentation</vt:lpstr>
      <vt:lpstr>WIFI STANDARDS  (802.11ax-6, 802.11be-7)</vt:lpstr>
      <vt:lpstr>WIFI STANDARDS  (802.11bn-8)</vt:lpstr>
      <vt:lpstr>WIRELESS SECURITY Why? WEP</vt:lpstr>
      <vt:lpstr>WIRELESS SECURITY Key Distribution Modes (PSK, AAA)</vt:lpstr>
      <vt:lpstr>WIRELESS SECURITY TKIM relate to WEP</vt:lpstr>
      <vt:lpstr>WIRELESS SECURITY WPA AND WPA2</vt:lpstr>
      <vt:lpstr>WIRELESS SECURITY TKIM relate to WEP</vt:lpstr>
      <vt:lpstr>WIRELESS SECURITY WPA3 vs WPA2</vt:lpstr>
      <vt:lpstr>WIRELESS SECURITY WPA3 vs WPA2</vt:lpstr>
      <vt:lpstr>INSTALLING AN AUTONOMOUS AP</vt:lpstr>
      <vt:lpstr>PowerPoint Presentation</vt:lpstr>
      <vt:lpstr>PowerPoint Presentation</vt:lpstr>
      <vt:lpstr>PowerPoint Presentation</vt:lpstr>
      <vt:lpstr> AUTONOMOUS AP CHANNEL SETTING</vt:lpstr>
      <vt:lpstr> AUTONOMOUS AP SECURITY SETTING</vt:lpstr>
      <vt:lpstr> UBIQUITY AP INSTALLATION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UBIQUITY AP</vt:lpstr>
      <vt:lpstr> UBIQUITY (ADDING NEW )AP</vt:lpstr>
      <vt:lpstr> UBIQUITY SECURITY</vt:lpstr>
      <vt:lpstr>PowerPoint Presentation</vt:lpstr>
      <vt:lpstr>PowerPoint Presentation</vt:lpstr>
      <vt:lpstr>PowerPoint Presentation</vt:lpstr>
      <vt:lpstr>Question</vt:lpstr>
      <vt:lpstr>REFERENCE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Shankar Pradhan</dc:creator>
  <cp:lastModifiedBy>Shankar Pradhan</cp:lastModifiedBy>
  <cp:revision>161</cp:revision>
  <dcterms:created xsi:type="dcterms:W3CDTF">2025-09-19T01:43:49Z</dcterms:created>
  <dcterms:modified xsi:type="dcterms:W3CDTF">2025-10-16T07:34:14Z</dcterms:modified>
</cp:coreProperties>
</file>