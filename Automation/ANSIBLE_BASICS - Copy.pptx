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18002250"/>
  <p:notesSz cx="12192000" cy="18002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224" y="2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5580697"/>
            <a:ext cx="10363200" cy="37804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10081260"/>
            <a:ext cx="8534400" cy="450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4140517"/>
            <a:ext cx="5303520" cy="11881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4140517"/>
            <a:ext cx="5303520" cy="11881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6321" y="-184328"/>
            <a:ext cx="10882401" cy="1363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1399" y="4106417"/>
            <a:ext cx="11266170" cy="5878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16742093"/>
            <a:ext cx="3901440" cy="9001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16742093"/>
            <a:ext cx="2804160" cy="9001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16742093"/>
            <a:ext cx="2804160" cy="9001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hankarpradhan845@example.com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39" Type="http://schemas.openxmlformats.org/officeDocument/2006/relationships/image" Target="../media/image52.png"/><Relationship Id="rId21" Type="http://schemas.openxmlformats.org/officeDocument/2006/relationships/image" Target="../media/image34.png"/><Relationship Id="rId34" Type="http://schemas.openxmlformats.org/officeDocument/2006/relationships/image" Target="../media/image47.png"/><Relationship Id="rId42" Type="http://schemas.openxmlformats.org/officeDocument/2006/relationships/image" Target="../media/image55.png"/><Relationship Id="rId7" Type="http://schemas.openxmlformats.org/officeDocument/2006/relationships/image" Target="../media/image20.png"/><Relationship Id="rId2" Type="http://schemas.openxmlformats.org/officeDocument/2006/relationships/image" Target="../media/image15.jp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29" Type="http://schemas.openxmlformats.org/officeDocument/2006/relationships/image" Target="../media/image42.png"/><Relationship Id="rId41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32" Type="http://schemas.openxmlformats.org/officeDocument/2006/relationships/image" Target="../media/image45.png"/><Relationship Id="rId37" Type="http://schemas.openxmlformats.org/officeDocument/2006/relationships/image" Target="../media/image50.png"/><Relationship Id="rId40" Type="http://schemas.openxmlformats.org/officeDocument/2006/relationships/image" Target="../media/image53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28" Type="http://schemas.openxmlformats.org/officeDocument/2006/relationships/image" Target="../media/image41.png"/><Relationship Id="rId36" Type="http://schemas.openxmlformats.org/officeDocument/2006/relationships/image" Target="../media/image49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31" Type="http://schemas.openxmlformats.org/officeDocument/2006/relationships/image" Target="../media/image44.png"/><Relationship Id="rId44" Type="http://schemas.openxmlformats.org/officeDocument/2006/relationships/image" Target="../media/image57.jp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Relationship Id="rId27" Type="http://schemas.openxmlformats.org/officeDocument/2006/relationships/image" Target="../media/image40.png"/><Relationship Id="rId30" Type="http://schemas.openxmlformats.org/officeDocument/2006/relationships/image" Target="../media/image43.png"/><Relationship Id="rId35" Type="http://schemas.openxmlformats.org/officeDocument/2006/relationships/image" Target="../media/image48.png"/><Relationship Id="rId43" Type="http://schemas.openxmlformats.org/officeDocument/2006/relationships/image" Target="../media/image56.png"/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5" Type="http://schemas.openxmlformats.org/officeDocument/2006/relationships/image" Target="../media/image38.png"/><Relationship Id="rId33" Type="http://schemas.openxmlformats.org/officeDocument/2006/relationships/image" Target="../media/image46.png"/><Relationship Id="rId38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6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94226" y="630376"/>
            <a:ext cx="3601974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8000" spc="-55" dirty="0">
                <a:solidFill>
                  <a:srgbClr val="4471C4"/>
                </a:solidFill>
              </a:rPr>
              <a:t>Netmiko</a:t>
            </a:r>
            <a:endParaRPr sz="8000" dirty="0"/>
          </a:p>
        </p:txBody>
      </p:sp>
      <p:sp>
        <p:nvSpPr>
          <p:cNvPr id="3" name="object 3"/>
          <p:cNvSpPr txBox="1"/>
          <p:nvPr/>
        </p:nvSpPr>
        <p:spPr>
          <a:xfrm>
            <a:off x="596900" y="1916429"/>
            <a:ext cx="5480685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+mn-lt"/>
                <a:cs typeface="Calibri"/>
              </a:rPr>
              <a:t>What</a:t>
            </a:r>
            <a:r>
              <a:rPr sz="2000" b="1" spc="-30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+mn-lt"/>
                <a:cs typeface="Calibri"/>
              </a:rPr>
              <a:t>Is</a:t>
            </a:r>
            <a:r>
              <a:rPr sz="2000" b="1" spc="-20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lang="en-US" sz="2000" b="1" spc="-10" dirty="0">
                <a:solidFill>
                  <a:srgbClr val="FF0000"/>
                </a:solidFill>
                <a:latin typeface="+mn-lt"/>
                <a:cs typeface="Calibri"/>
              </a:rPr>
              <a:t>Netmiko</a:t>
            </a:r>
            <a:r>
              <a:rPr sz="2000" b="1" spc="-10" dirty="0">
                <a:solidFill>
                  <a:srgbClr val="FF0000"/>
                </a:solidFill>
                <a:latin typeface="+mn-lt"/>
                <a:cs typeface="Calibri"/>
              </a:rPr>
              <a:t>?</a:t>
            </a:r>
            <a:endParaRPr lang="en-IN" sz="2000" b="1" spc="-10" dirty="0">
              <a:solidFill>
                <a:srgbClr val="FF0000"/>
              </a:solidFill>
              <a:latin typeface="+mn-lt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10"/>
              </a:spcBef>
            </a:pPr>
            <a:r>
              <a:rPr lang="en-US" sz="2000" dirty="0">
                <a:latin typeface="+mn-lt"/>
              </a:rPr>
              <a:t>Netmiko is a Python library used for network automation. It makes it easy to connect to network devices via SSH and run commands or push configurations automatically.</a:t>
            </a:r>
            <a:endParaRPr lang="en-US" sz="2000" dirty="0">
              <a:latin typeface="+mn-lt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3971" y="2441193"/>
            <a:ext cx="3251148" cy="136423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086347" y="442721"/>
            <a:ext cx="5885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ssh-</a:t>
            </a:r>
            <a:r>
              <a:rPr sz="1800" spc="-20" dirty="0">
                <a:latin typeface="Calibri"/>
                <a:cs typeface="Calibri"/>
              </a:rPr>
              <a:t>keygen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ed25519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-C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  <a:hlinkClick r:id="rId3"/>
              </a:rPr>
              <a:t>"shankarpradhan845@example.com"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C5AD3C69-7C43-970B-A767-0C168ACBE31C}"/>
              </a:ext>
            </a:extLst>
          </p:cNvPr>
          <p:cNvSpPr txBox="1"/>
          <p:nvPr/>
        </p:nvSpPr>
        <p:spPr>
          <a:xfrm>
            <a:off x="637500" y="3805427"/>
            <a:ext cx="5480685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+mn-lt"/>
              </a:rPr>
              <a:t>Why Netmiko is used (in real networks)?</a:t>
            </a:r>
          </a:p>
          <a:p>
            <a:r>
              <a:rPr lang="en-US" sz="2000" dirty="0">
                <a:latin typeface="+mn-lt"/>
              </a:rPr>
              <a:t>As a network engineer, instead of:</a:t>
            </a:r>
          </a:p>
          <a:p>
            <a:r>
              <a:rPr lang="en-US" sz="2000" dirty="0">
                <a:latin typeface="+mn-lt"/>
              </a:rPr>
              <a:t>Logging into 50 routers one by one</a:t>
            </a:r>
          </a:p>
          <a:p>
            <a:r>
              <a:rPr lang="en-US" sz="2000" dirty="0">
                <a:latin typeface="+mn-lt"/>
              </a:rPr>
              <a:t>Running the same commands manually</a:t>
            </a:r>
          </a:p>
          <a:p>
            <a:endParaRPr lang="en-US" sz="2000" dirty="0">
              <a:latin typeface="+mn-lt"/>
            </a:endParaRPr>
          </a:p>
          <a:p>
            <a:r>
              <a:rPr lang="en-US" sz="2000" dirty="0">
                <a:latin typeface="+mn-lt"/>
              </a:rPr>
              <a:t>You can:</a:t>
            </a:r>
          </a:p>
          <a:p>
            <a:r>
              <a:rPr lang="en-US" sz="2000" dirty="0">
                <a:latin typeface="+mn-lt"/>
              </a:rPr>
              <a:t>Write one Python script</a:t>
            </a:r>
          </a:p>
          <a:p>
            <a:r>
              <a:rPr lang="en-US" sz="2000" dirty="0">
                <a:latin typeface="+mn-lt"/>
              </a:rPr>
              <a:t>Connect to all devices</a:t>
            </a:r>
          </a:p>
          <a:p>
            <a:r>
              <a:rPr lang="en-US" sz="2000" dirty="0">
                <a:latin typeface="+mn-lt"/>
              </a:rPr>
              <a:t>Execute commands/configs automatically</a:t>
            </a:r>
            <a:endParaRPr lang="en-IN" sz="2000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4"/>
            <a:ext cx="12192000" cy="1206500"/>
          </a:xfrm>
          <a:custGeom>
            <a:avLst/>
            <a:gdLst/>
            <a:ahLst/>
            <a:cxnLst/>
            <a:rect l="l" t="t" r="r" b="b"/>
            <a:pathLst>
              <a:path w="12192000" h="1206500">
                <a:moveTo>
                  <a:pt x="12192000" y="0"/>
                </a:moveTo>
                <a:lnTo>
                  <a:pt x="0" y="0"/>
                </a:lnTo>
                <a:lnTo>
                  <a:pt x="0" y="1206093"/>
                </a:lnTo>
                <a:lnTo>
                  <a:pt x="12192000" y="1206093"/>
                </a:lnTo>
                <a:lnTo>
                  <a:pt x="1219200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9987" rIns="0" bIns="0" rtlCol="0">
            <a:spAutoFit/>
          </a:bodyPr>
          <a:lstStyle/>
          <a:p>
            <a:pPr marL="4175760">
              <a:lnSpc>
                <a:spcPct val="100000"/>
              </a:lnSpc>
              <a:spcBef>
                <a:spcPts val="114"/>
              </a:spcBef>
            </a:pPr>
            <a:r>
              <a:rPr sz="5850" spc="-55" dirty="0"/>
              <a:t>Playbooks</a:t>
            </a:r>
            <a:endParaRPr sz="5850"/>
          </a:p>
        </p:txBody>
      </p:sp>
      <p:sp>
        <p:nvSpPr>
          <p:cNvPr id="4" name="object 4"/>
          <p:cNvSpPr txBox="1"/>
          <p:nvPr/>
        </p:nvSpPr>
        <p:spPr>
          <a:xfrm>
            <a:off x="303682" y="1316481"/>
            <a:ext cx="10162540" cy="669861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Calibri"/>
                <a:cs typeface="Calibri"/>
              </a:rPr>
              <a:t>Ansible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playbooks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instruction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manuals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servers.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help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you:</a:t>
            </a:r>
            <a:endParaRPr sz="2400">
              <a:latin typeface="Calibri"/>
              <a:cs typeface="Calibri"/>
            </a:endParaRPr>
          </a:p>
          <a:p>
            <a:pPr marL="316865" indent="-30416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316865" algn="l"/>
              </a:tabLst>
            </a:pPr>
            <a:r>
              <a:rPr sz="2400" dirty="0">
                <a:latin typeface="Calibri"/>
                <a:cs typeface="Calibri"/>
              </a:rPr>
              <a:t>Automate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(install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software,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configure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settings,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deploy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apps).</a:t>
            </a:r>
            <a:endParaRPr sz="2400">
              <a:latin typeface="Calibri"/>
              <a:cs typeface="Calibri"/>
            </a:endParaRPr>
          </a:p>
          <a:p>
            <a:pPr marL="316865" indent="-30416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316865" algn="l"/>
              </a:tabLst>
            </a:pPr>
            <a:r>
              <a:rPr sz="2400" dirty="0">
                <a:latin typeface="Calibri"/>
                <a:cs typeface="Calibri"/>
              </a:rPr>
              <a:t>Keep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everything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consistent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(no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mistakes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setting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servers).</a:t>
            </a:r>
            <a:endParaRPr sz="2400">
              <a:latin typeface="Calibri"/>
              <a:cs typeface="Calibri"/>
            </a:endParaRPr>
          </a:p>
          <a:p>
            <a:pPr marL="316865" indent="-304165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316865" algn="l"/>
              </a:tabLst>
            </a:pPr>
            <a:r>
              <a:rPr sz="2400" dirty="0">
                <a:latin typeface="Calibri"/>
                <a:cs typeface="Calibri"/>
              </a:rPr>
              <a:t>Save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(run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without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manually).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8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Why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Playbooks?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294005" algn="l"/>
              </a:tabLst>
            </a:pPr>
            <a:r>
              <a:rPr sz="2400" spc="-25" dirty="0">
                <a:latin typeface="Calibri"/>
                <a:cs typeface="Calibri"/>
              </a:rPr>
              <a:t>i.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Repeatable</a:t>
            </a:r>
            <a:endParaRPr sz="2400">
              <a:latin typeface="Calibri"/>
              <a:cs typeface="Calibri"/>
            </a:endParaRPr>
          </a:p>
          <a:p>
            <a:pPr marL="317500" marR="337820" indent="-304800">
              <a:lnSpc>
                <a:spcPts val="2590"/>
              </a:lnSpc>
              <a:spcBef>
                <a:spcPts val="1350"/>
              </a:spcBef>
              <a:buFont typeface="Arial"/>
              <a:buChar char="•"/>
              <a:tabLst>
                <a:tab pos="317500" algn="l"/>
              </a:tabLst>
            </a:pPr>
            <a:r>
              <a:rPr sz="2400" dirty="0">
                <a:latin typeface="Calibri"/>
                <a:cs typeface="Calibri"/>
              </a:rPr>
              <a:t>Run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1000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servers—</a:t>
            </a:r>
            <a:r>
              <a:rPr sz="2400" dirty="0">
                <a:latin typeface="Calibri"/>
                <a:cs typeface="Calibri"/>
              </a:rPr>
              <a:t>exactly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every time.</a:t>
            </a:r>
            <a:endParaRPr sz="2400">
              <a:latin typeface="Calibri"/>
              <a:cs typeface="Calibri"/>
            </a:endParaRPr>
          </a:p>
          <a:p>
            <a:pPr marL="364490" indent="-351790">
              <a:lnSpc>
                <a:spcPct val="100000"/>
              </a:lnSpc>
              <a:spcBef>
                <a:spcPts val="969"/>
              </a:spcBef>
              <a:buAutoNum type="romanLcPeriod" startAt="2"/>
              <a:tabLst>
                <a:tab pos="364490" algn="l"/>
              </a:tabLst>
            </a:pPr>
            <a:r>
              <a:rPr sz="2400" dirty="0">
                <a:latin typeface="Calibri"/>
                <a:cs typeface="Calibri"/>
              </a:rPr>
              <a:t>Easy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Reuse</a:t>
            </a:r>
            <a:endParaRPr sz="2400">
              <a:latin typeface="Calibri"/>
              <a:cs typeface="Calibri"/>
            </a:endParaRPr>
          </a:p>
          <a:p>
            <a:pPr marL="316865" lvl="1" indent="-304165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316865" algn="l"/>
              </a:tabLst>
            </a:pPr>
            <a:r>
              <a:rPr sz="2400" dirty="0">
                <a:latin typeface="Calibri"/>
                <a:cs typeface="Calibri"/>
              </a:rPr>
              <a:t>Save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playbooks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YAML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(like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text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file).</a:t>
            </a:r>
            <a:endParaRPr sz="2400">
              <a:latin typeface="Calibri"/>
              <a:cs typeface="Calibri"/>
            </a:endParaRPr>
          </a:p>
          <a:p>
            <a:pPr marL="316865" lvl="1" indent="-304165">
              <a:lnSpc>
                <a:spcPct val="100000"/>
              </a:lnSpc>
              <a:spcBef>
                <a:spcPts val="1019"/>
              </a:spcBef>
              <a:buFont typeface="Arial"/>
              <a:buChar char="•"/>
              <a:tabLst>
                <a:tab pos="316865" algn="l"/>
              </a:tabLst>
            </a:pPr>
            <a:r>
              <a:rPr sz="2400" dirty="0">
                <a:latin typeface="Calibri"/>
                <a:cs typeface="Calibri"/>
              </a:rPr>
              <a:t>Store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(like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shared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folder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code)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team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them.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400" dirty="0">
                <a:latin typeface="Calibri"/>
                <a:cs typeface="Calibri"/>
              </a:rPr>
              <a:t>iii.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Great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Complex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Apps</a:t>
            </a:r>
            <a:endParaRPr sz="2400">
              <a:latin typeface="Calibri"/>
              <a:cs typeface="Calibri"/>
            </a:endParaRPr>
          </a:p>
          <a:p>
            <a:pPr marL="317500" marR="5080" indent="-304800">
              <a:lnSpc>
                <a:spcPts val="2590"/>
              </a:lnSpc>
              <a:spcBef>
                <a:spcPts val="1335"/>
              </a:spcBef>
              <a:buFont typeface="Arial"/>
              <a:buChar char="•"/>
              <a:tabLst>
                <a:tab pos="317500" algn="l"/>
              </a:tabLst>
            </a:pPr>
            <a:r>
              <a:rPr sz="2400" dirty="0">
                <a:latin typeface="Calibri"/>
                <a:cs typeface="Calibri"/>
              </a:rPr>
              <a:t>Need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web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firewall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rules?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playbook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all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once.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75180" y="577595"/>
            <a:ext cx="9041765" cy="8039100"/>
            <a:chOff x="1575180" y="577595"/>
            <a:chExt cx="9041765" cy="8039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5180" y="577595"/>
              <a:ext cx="9041511" cy="3793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8121" y="4371593"/>
              <a:ext cx="7657438" cy="4244847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5414" y="9808081"/>
            <a:ext cx="4721987" cy="29782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43498" y="9808081"/>
            <a:ext cx="5109718" cy="189623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96719" y="13178243"/>
            <a:ext cx="8518372" cy="41325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7761" y="-12065"/>
            <a:ext cx="5511165" cy="833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55" dirty="0">
                <a:solidFill>
                  <a:srgbClr val="4471C4"/>
                </a:solidFill>
              </a:rPr>
              <a:t>PLUGINS</a:t>
            </a:r>
            <a:r>
              <a:rPr sz="5300" spc="-245" dirty="0">
                <a:solidFill>
                  <a:srgbClr val="4471C4"/>
                </a:solidFill>
              </a:rPr>
              <a:t> </a:t>
            </a:r>
            <a:r>
              <a:rPr sz="5300" dirty="0">
                <a:solidFill>
                  <a:srgbClr val="4471C4"/>
                </a:solidFill>
              </a:rPr>
              <a:t>AND</a:t>
            </a:r>
            <a:r>
              <a:rPr sz="5300" spc="-240" dirty="0">
                <a:solidFill>
                  <a:srgbClr val="4471C4"/>
                </a:solidFill>
              </a:rPr>
              <a:t> </a:t>
            </a:r>
            <a:r>
              <a:rPr sz="5300" spc="-25" dirty="0">
                <a:solidFill>
                  <a:srgbClr val="4471C4"/>
                </a:solidFill>
              </a:rPr>
              <a:t>ROLES</a:t>
            </a:r>
            <a:endParaRPr sz="5300"/>
          </a:p>
        </p:txBody>
      </p:sp>
      <p:sp>
        <p:nvSpPr>
          <p:cNvPr id="3" name="object 3"/>
          <p:cNvSpPr/>
          <p:nvPr/>
        </p:nvSpPr>
        <p:spPr>
          <a:xfrm>
            <a:off x="340359" y="4885943"/>
            <a:ext cx="1676400" cy="311150"/>
          </a:xfrm>
          <a:custGeom>
            <a:avLst/>
            <a:gdLst/>
            <a:ahLst/>
            <a:cxnLst/>
            <a:rect l="l" t="t" r="r" b="b"/>
            <a:pathLst>
              <a:path w="1676400" h="311150">
                <a:moveTo>
                  <a:pt x="1676400" y="0"/>
                </a:moveTo>
                <a:lnTo>
                  <a:pt x="0" y="0"/>
                </a:lnTo>
                <a:lnTo>
                  <a:pt x="0" y="310895"/>
                </a:lnTo>
                <a:lnTo>
                  <a:pt x="1676400" y="310895"/>
                </a:lnTo>
                <a:lnTo>
                  <a:pt x="16764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78760" y="4885943"/>
            <a:ext cx="6983095" cy="311150"/>
          </a:xfrm>
          <a:custGeom>
            <a:avLst/>
            <a:gdLst/>
            <a:ahLst/>
            <a:cxnLst/>
            <a:rect l="l" t="t" r="r" b="b"/>
            <a:pathLst>
              <a:path w="6983095" h="311150">
                <a:moveTo>
                  <a:pt x="6982968" y="0"/>
                </a:moveTo>
                <a:lnTo>
                  <a:pt x="0" y="0"/>
                </a:lnTo>
                <a:lnTo>
                  <a:pt x="0" y="310895"/>
                </a:lnTo>
                <a:lnTo>
                  <a:pt x="6982968" y="310895"/>
                </a:lnTo>
                <a:lnTo>
                  <a:pt x="698296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999" y="1608213"/>
            <a:ext cx="261555" cy="28927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27761" y="747774"/>
            <a:ext cx="9999980" cy="28003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Ansible,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both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Plugins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Roles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help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modularize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extend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functionality—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serve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very </a:t>
            </a:r>
            <a:r>
              <a:rPr sz="2000" spc="-10" dirty="0">
                <a:latin typeface="Calibri"/>
                <a:cs typeface="Calibri"/>
              </a:rPr>
              <a:t>different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purposes:</a:t>
            </a:r>
            <a:endParaRPr sz="2000">
              <a:latin typeface="Calibri"/>
              <a:cs typeface="Calibri"/>
            </a:endParaRPr>
          </a:p>
          <a:p>
            <a:pPr marL="391795">
              <a:lnSpc>
                <a:spcPct val="100000"/>
              </a:lnSpc>
              <a:spcBef>
                <a:spcPts val="1900"/>
              </a:spcBef>
            </a:pPr>
            <a:r>
              <a:rPr sz="2000" dirty="0">
                <a:latin typeface="Calibri"/>
                <a:cs typeface="Calibri"/>
              </a:rPr>
              <a:t>Ansible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Plugins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(Extend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Ansible's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Core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Functionality)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  <a:spcBef>
                <a:spcPts val="1910"/>
              </a:spcBef>
            </a:pP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What</a:t>
            </a:r>
            <a:r>
              <a:rPr sz="20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0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Plugin?</a:t>
            </a:r>
            <a:endParaRPr sz="2000">
              <a:latin typeface="Calibri"/>
              <a:cs typeface="Calibri"/>
            </a:endParaRPr>
          </a:p>
          <a:p>
            <a:pPr marL="12700" marR="27940">
              <a:lnSpc>
                <a:spcPts val="2160"/>
              </a:lnSpc>
              <a:spcBef>
                <a:spcPts val="150"/>
              </a:spcBef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plugin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piece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extends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Ansible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behaves.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Ansible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plugins </a:t>
            </a:r>
            <a:r>
              <a:rPr sz="2000" spc="-20" dirty="0">
                <a:latin typeface="Calibri"/>
                <a:cs typeface="Calibri"/>
              </a:rPr>
              <a:t>internally—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logging,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output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formatting,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caching,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connection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handling,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68580">
              <a:lnSpc>
                <a:spcPct val="100000"/>
              </a:lnSpc>
              <a:spcBef>
                <a:spcPts val="1889"/>
              </a:spcBef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Common</a:t>
            </a:r>
            <a:r>
              <a:rPr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Types</a:t>
            </a:r>
            <a:r>
              <a:rPr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Plugins: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761" y="3491229"/>
            <a:ext cx="1898014" cy="115379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b="1" dirty="0">
                <a:latin typeface="Calibri"/>
                <a:cs typeface="Calibri"/>
              </a:rPr>
              <a:t>Plugin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Type </a:t>
            </a:r>
            <a:r>
              <a:rPr sz="2000" spc="-10" dirty="0">
                <a:latin typeface="Calibri"/>
                <a:cs typeface="Calibri"/>
              </a:rPr>
              <a:t>Connection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Plugin </a:t>
            </a:r>
            <a:r>
              <a:rPr sz="2000" dirty="0">
                <a:latin typeface="Calibri"/>
                <a:cs typeface="Calibri"/>
              </a:rPr>
              <a:t>Callback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Plugin </a:t>
            </a:r>
            <a:r>
              <a:rPr sz="2000" dirty="0">
                <a:latin typeface="Calibri"/>
                <a:cs typeface="Calibri"/>
              </a:rPr>
              <a:t>Lookup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Plugin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7761" y="4588509"/>
            <a:ext cx="12522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Filter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Plugin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6441" y="3491229"/>
            <a:ext cx="6734175" cy="1428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0"/>
              </a:spcBef>
            </a:pPr>
            <a:r>
              <a:rPr sz="2000" b="1" spc="-10" dirty="0">
                <a:latin typeface="Calibri"/>
                <a:cs typeface="Calibri"/>
              </a:rPr>
              <a:t>Description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ts val="2160"/>
              </a:lnSpc>
              <a:spcBef>
                <a:spcPts val="155"/>
              </a:spcBef>
            </a:pPr>
            <a:r>
              <a:rPr sz="2000" dirty="0">
                <a:latin typeface="Calibri"/>
                <a:cs typeface="Calibri"/>
              </a:rPr>
              <a:t>Controls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Ansible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connects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(e.g.,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SSH,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local,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docker). </a:t>
            </a:r>
            <a:r>
              <a:rPr sz="2000" dirty="0">
                <a:latin typeface="Calibri"/>
                <a:cs typeface="Calibri"/>
              </a:rPr>
              <a:t>Controls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output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displayed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(e.g.,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default,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JSON,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minimal).</a:t>
            </a:r>
            <a:endParaRPr sz="2000">
              <a:latin typeface="Calibri"/>
              <a:cs typeface="Calibri"/>
            </a:endParaRPr>
          </a:p>
          <a:p>
            <a:pPr marL="12700" marR="834390">
              <a:lnSpc>
                <a:spcPts val="2160"/>
              </a:lnSpc>
            </a:pPr>
            <a:r>
              <a:rPr sz="2000" spc="-10" dirty="0">
                <a:latin typeface="Calibri"/>
                <a:cs typeface="Calibri"/>
              </a:rPr>
              <a:t>Fetches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external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(e.g.,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files,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secrets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managers). </a:t>
            </a:r>
            <a:r>
              <a:rPr sz="2000" dirty="0">
                <a:latin typeface="Calibri"/>
                <a:cs typeface="Calibri"/>
              </a:rPr>
              <a:t>Adds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custom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Jinja2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filters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(like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custom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string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formatting).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0359" y="4862829"/>
            <a:ext cx="16764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libri"/>
                <a:cs typeface="Calibri"/>
              </a:rPr>
              <a:t>Inventory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Plugin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78760" y="4862829"/>
            <a:ext cx="6983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Dynamically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generates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inventory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sources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AWS,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55" dirty="0">
                <a:latin typeface="Calibri"/>
                <a:cs typeface="Calibri"/>
              </a:rPr>
              <a:t>GCP,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YAML.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0359" y="5196839"/>
            <a:ext cx="1359535" cy="274320"/>
          </a:xfrm>
          <a:prstGeom prst="rect">
            <a:avLst/>
          </a:prstGeom>
          <a:solidFill>
            <a:srgbClr val="00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35"/>
              </a:lnSpc>
            </a:pPr>
            <a:r>
              <a:rPr sz="2000" dirty="0">
                <a:latin typeface="Calibri"/>
                <a:cs typeface="Calibri"/>
              </a:rPr>
              <a:t>Action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Plugin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78760" y="5196839"/>
            <a:ext cx="3417570" cy="274320"/>
          </a:xfrm>
          <a:prstGeom prst="rect">
            <a:avLst/>
          </a:prstGeom>
          <a:solidFill>
            <a:srgbClr val="00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35"/>
              </a:lnSpc>
            </a:pPr>
            <a:r>
              <a:rPr sz="2000" dirty="0">
                <a:latin typeface="Calibri"/>
                <a:cs typeface="Calibri"/>
              </a:rPr>
              <a:t>Controls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task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execution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behavior.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0545" y="5992741"/>
            <a:ext cx="288371" cy="29386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0545" y="8461621"/>
            <a:ext cx="288371" cy="29386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27761" y="5411849"/>
            <a:ext cx="10334625" cy="5817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51100" algn="l"/>
              </a:tabLst>
            </a:pPr>
            <a:r>
              <a:rPr sz="2000" dirty="0">
                <a:latin typeface="Calibri"/>
                <a:cs typeface="Calibri"/>
              </a:rPr>
              <a:t>Cache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Plugin</a:t>
            </a:r>
            <a:r>
              <a:rPr sz="2000" dirty="0">
                <a:latin typeface="Calibri"/>
                <a:cs typeface="Calibri"/>
              </a:rPr>
              <a:t>	Caches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gathered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facts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speed.</a:t>
            </a:r>
            <a:endParaRPr sz="2000">
              <a:latin typeface="Calibri"/>
              <a:cs typeface="Calibri"/>
            </a:endParaRPr>
          </a:p>
          <a:p>
            <a:pPr marL="12700" marR="4086860" indent="406400">
              <a:lnSpc>
                <a:spcPts val="2150"/>
              </a:lnSpc>
              <a:spcBef>
                <a:spcPts val="2215"/>
              </a:spcBef>
            </a:pPr>
            <a:r>
              <a:rPr sz="2000" spc="-10" dirty="0">
                <a:latin typeface="Calibri"/>
                <a:cs typeface="Calibri"/>
              </a:rPr>
              <a:t>Example: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Callback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Plugin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Show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JSON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 ANSIBLE_STDOUT_CALLBACK=json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ansible-</a:t>
            </a:r>
            <a:r>
              <a:rPr sz="2000" dirty="0">
                <a:latin typeface="Calibri"/>
                <a:cs typeface="Calibri"/>
              </a:rPr>
              <a:t>playbook </a:t>
            </a:r>
            <a:r>
              <a:rPr sz="2000" spc="-10" dirty="0">
                <a:latin typeface="Calibri"/>
                <a:cs typeface="Calibri"/>
              </a:rPr>
              <a:t>site.yml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  <a:spcBef>
                <a:spcPts val="1885"/>
              </a:spcBef>
            </a:pPr>
            <a:r>
              <a:rPr sz="2000" b="0" spc="-10" dirty="0">
                <a:solidFill>
                  <a:srgbClr val="C00000"/>
                </a:solidFill>
                <a:latin typeface="Calibri Light"/>
                <a:cs typeface="Calibri Light"/>
              </a:rPr>
              <a:t>Ansible</a:t>
            </a:r>
            <a:r>
              <a:rPr sz="2000" b="0" spc="-70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2000" b="0" spc="-10" dirty="0">
                <a:solidFill>
                  <a:srgbClr val="C00000"/>
                </a:solidFill>
                <a:latin typeface="Calibri Light"/>
                <a:cs typeface="Calibri Light"/>
              </a:rPr>
              <a:t>Roles</a:t>
            </a:r>
            <a:r>
              <a:rPr sz="2000" b="0" spc="-70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2000" b="0" spc="-25" dirty="0">
                <a:solidFill>
                  <a:srgbClr val="C00000"/>
                </a:solidFill>
                <a:latin typeface="Calibri Light"/>
                <a:cs typeface="Calibri Light"/>
              </a:rPr>
              <a:t>(Organize</a:t>
            </a:r>
            <a:r>
              <a:rPr sz="2000" b="0" spc="-65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2000" b="0" spc="-10" dirty="0">
                <a:solidFill>
                  <a:srgbClr val="C00000"/>
                </a:solidFill>
                <a:latin typeface="Calibri Light"/>
                <a:cs typeface="Calibri Light"/>
              </a:rPr>
              <a:t>Reusable</a:t>
            </a:r>
            <a:r>
              <a:rPr sz="2000" b="0" spc="-70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2000" b="0" spc="-10" dirty="0">
                <a:solidFill>
                  <a:srgbClr val="C00000"/>
                </a:solidFill>
                <a:latin typeface="Calibri Light"/>
                <a:cs typeface="Calibri Light"/>
              </a:rPr>
              <a:t>Configurations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What</a:t>
            </a:r>
            <a:r>
              <a:rPr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FF0000"/>
                </a:solidFill>
                <a:latin typeface="Calibri"/>
                <a:cs typeface="Calibri"/>
              </a:rPr>
              <a:t> Role?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ts val="2160"/>
              </a:lnSpc>
              <a:spcBef>
                <a:spcPts val="155"/>
              </a:spcBef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structured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group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variables,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tasks,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handlers,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templates, </a:t>
            </a:r>
            <a:r>
              <a:rPr sz="2000" dirty="0">
                <a:latin typeface="Calibri"/>
                <a:cs typeface="Calibri"/>
              </a:rPr>
              <a:t>files,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modules—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they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reusable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across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multiple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playbooks.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14"/>
              </a:spcBef>
            </a:pPr>
            <a:endParaRPr sz="2000">
              <a:latin typeface="Calibri"/>
              <a:cs typeface="Calibri"/>
            </a:endParaRPr>
          </a:p>
          <a:p>
            <a:pPr marL="419100">
              <a:lnSpc>
                <a:spcPts val="2275"/>
              </a:lnSpc>
              <a:spcBef>
                <a:spcPts val="5"/>
              </a:spcBef>
            </a:pPr>
            <a:r>
              <a:rPr sz="2000" spc="-10" dirty="0">
                <a:solidFill>
                  <a:srgbClr val="001F5F"/>
                </a:solidFill>
                <a:latin typeface="Calibri"/>
                <a:cs typeface="Calibri"/>
              </a:rPr>
              <a:t>Example:</a:t>
            </a:r>
            <a:r>
              <a:rPr sz="20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Using</a:t>
            </a:r>
            <a:r>
              <a:rPr sz="20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20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Role</a:t>
            </a:r>
            <a:r>
              <a:rPr sz="20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20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1F5F"/>
                </a:solidFill>
                <a:latin typeface="Calibri"/>
                <a:cs typeface="Calibri"/>
              </a:rPr>
              <a:t>Playbook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155"/>
              </a:lnSpc>
            </a:pPr>
            <a:r>
              <a:rPr sz="2000" spc="-20" dirty="0">
                <a:latin typeface="Calibri"/>
                <a:cs typeface="Calibri"/>
              </a:rPr>
              <a:t>yaml</a:t>
            </a:r>
            <a:endParaRPr sz="2000">
              <a:latin typeface="Calibri"/>
              <a:cs typeface="Calibri"/>
            </a:endParaRPr>
          </a:p>
          <a:p>
            <a:pPr marL="127000" marR="7267575" indent="-114300">
              <a:lnSpc>
                <a:spcPts val="2160"/>
              </a:lnSpc>
              <a:spcBef>
                <a:spcPts val="150"/>
              </a:spcBef>
            </a:pPr>
            <a:r>
              <a:rPr sz="2000" dirty="0">
                <a:latin typeface="Calibri"/>
                <a:cs typeface="Calibri"/>
              </a:rPr>
              <a:t>-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name: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Configure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web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server </a:t>
            </a:r>
            <a:r>
              <a:rPr sz="2000" dirty="0">
                <a:latin typeface="Calibri"/>
                <a:cs typeface="Calibri"/>
              </a:rPr>
              <a:t>hosts: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webservers</a:t>
            </a:r>
            <a:endParaRPr sz="2000">
              <a:latin typeface="Calibri"/>
              <a:cs typeface="Calibri"/>
            </a:endParaRPr>
          </a:p>
          <a:p>
            <a:pPr marL="127000">
              <a:lnSpc>
                <a:spcPts val="2010"/>
              </a:lnSpc>
            </a:pPr>
            <a:r>
              <a:rPr sz="2000" spc="-10" dirty="0">
                <a:latin typeface="Calibri"/>
                <a:cs typeface="Calibri"/>
              </a:rPr>
              <a:t>roles: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- </a:t>
            </a:r>
            <a:r>
              <a:rPr sz="2000" spc="-10" dirty="0">
                <a:latin typeface="Calibri"/>
                <a:cs typeface="Calibri"/>
              </a:rPr>
              <a:t>apache</a:t>
            </a:r>
            <a:endParaRPr sz="2000">
              <a:latin typeface="Calibri"/>
              <a:cs typeface="Calibri"/>
            </a:endParaRPr>
          </a:p>
          <a:p>
            <a:pPr marL="12700" marR="5982970">
              <a:lnSpc>
                <a:spcPts val="2160"/>
              </a:lnSpc>
              <a:spcBef>
                <a:spcPts val="2195"/>
              </a:spcBef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roles/apache/,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Ansible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will: </a:t>
            </a:r>
            <a:r>
              <a:rPr sz="2000" dirty="0">
                <a:latin typeface="Calibri"/>
                <a:cs typeface="Calibri"/>
              </a:rPr>
              <a:t>Run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tasks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apache/tasks/main.yml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variables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templates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needed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4929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sz="5300" spc="-20" dirty="0">
                <a:solidFill>
                  <a:srgbClr val="4471C4"/>
                </a:solidFill>
              </a:rPr>
              <a:t>Ansible</a:t>
            </a:r>
            <a:r>
              <a:rPr sz="5300" spc="-250" dirty="0">
                <a:solidFill>
                  <a:srgbClr val="4471C4"/>
                </a:solidFill>
              </a:rPr>
              <a:t> </a:t>
            </a:r>
            <a:r>
              <a:rPr sz="5300" spc="-40" dirty="0">
                <a:solidFill>
                  <a:srgbClr val="4471C4"/>
                </a:solidFill>
              </a:rPr>
              <a:t>Commands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327761" y="2423541"/>
            <a:ext cx="404050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escape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after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entering: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0359" y="2720974"/>
            <a:ext cx="229235" cy="31115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latin typeface="Calibri"/>
                <a:cs typeface="Calibri"/>
              </a:rPr>
              <a:t>q!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761" y="3246500"/>
            <a:ext cx="22123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linux: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0359" y="3543934"/>
            <a:ext cx="1399540" cy="31115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dirty="0">
                <a:latin typeface="Calibri"/>
                <a:cs typeface="Calibri"/>
              </a:rPr>
              <a:t>vim</a:t>
            </a:r>
            <a:r>
              <a:rPr sz="2000" spc="-10" dirty="0">
                <a:latin typeface="Calibri"/>
                <a:cs typeface="Calibri"/>
              </a:rPr>
              <a:t> &lt;file.ext&gt;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761" y="4069460"/>
            <a:ext cx="5402580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spc="-9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run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ansible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host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inside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inventoy: </a:t>
            </a:r>
            <a:r>
              <a:rPr sz="2000" dirty="0">
                <a:latin typeface="Calibri"/>
                <a:cs typeface="Calibri"/>
              </a:rPr>
              <a:t>(here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problem)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0359" y="4641214"/>
            <a:ext cx="2826385" cy="31115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latin typeface="Calibri"/>
                <a:cs typeface="Calibri"/>
              </a:rPr>
              <a:t>ansible-</a:t>
            </a:r>
            <a:r>
              <a:rPr sz="2000" dirty="0">
                <a:latin typeface="Calibri"/>
                <a:cs typeface="Calibri"/>
              </a:rPr>
              <a:t>playbook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&lt;file.yml&gt;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7761" y="5167121"/>
            <a:ext cx="4779645" cy="115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alibri"/>
                <a:cs typeface="Calibri"/>
              </a:rPr>
              <a:t>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39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We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check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particular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device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ping: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920" y="994409"/>
            <a:ext cx="7371080" cy="135229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75350" y="2447670"/>
            <a:ext cx="5027929" cy="328612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8920" y="6338315"/>
            <a:ext cx="6192393" cy="380949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3568" y="10318622"/>
            <a:ext cx="7096886" cy="26796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77583" y="7846249"/>
            <a:ext cx="5201031" cy="11541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>
                <a:solidFill>
                  <a:srgbClr val="4471C4"/>
                </a:solidFill>
              </a:rPr>
              <a:t>Working</a:t>
            </a:r>
            <a:r>
              <a:rPr spc="-190" dirty="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with</a:t>
            </a:r>
            <a:r>
              <a:rPr spc="-175" dirty="0">
                <a:solidFill>
                  <a:srgbClr val="4471C4"/>
                </a:solidFill>
              </a:rPr>
              <a:t> </a:t>
            </a:r>
            <a:r>
              <a:rPr spc="-20" dirty="0">
                <a:solidFill>
                  <a:srgbClr val="4471C4"/>
                </a:solidFill>
              </a:rPr>
              <a:t>hosts</a:t>
            </a:r>
            <a:r>
              <a:rPr spc="-170" dirty="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and</a:t>
            </a:r>
            <a:r>
              <a:rPr spc="-180" dirty="0">
                <a:solidFill>
                  <a:srgbClr val="4471C4"/>
                </a:solidFill>
              </a:rPr>
              <a:t> </a:t>
            </a:r>
            <a:r>
              <a:rPr spc="-55" dirty="0">
                <a:solidFill>
                  <a:srgbClr val="4471C4"/>
                </a:solidFill>
              </a:rPr>
              <a:t>Variables</a:t>
            </a:r>
            <a:r>
              <a:rPr spc="-170" dirty="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in</a:t>
            </a:r>
            <a:r>
              <a:rPr spc="-175" dirty="0">
                <a:solidFill>
                  <a:srgbClr val="4471C4"/>
                </a:solidFill>
              </a:rPr>
              <a:t> </a:t>
            </a:r>
            <a:r>
              <a:rPr spc="-10" dirty="0">
                <a:solidFill>
                  <a:srgbClr val="4471C4"/>
                </a:solidFill>
              </a:rPr>
              <a:t>Ansible</a:t>
            </a:r>
          </a:p>
          <a:p>
            <a:pPr marL="286385">
              <a:lnSpc>
                <a:spcPct val="100000"/>
              </a:lnSpc>
              <a:spcBef>
                <a:spcPts val="15"/>
              </a:spcBef>
            </a:pP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Mainly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used</a:t>
            </a:r>
            <a:r>
              <a:rPr sz="20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0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Calibri"/>
                <a:cs typeface="Calibri"/>
              </a:rPr>
              <a:t>inventory</a:t>
            </a:r>
            <a:r>
              <a:rPr sz="20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file</a:t>
            </a:r>
            <a:r>
              <a:rPr sz="20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sz="20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000000"/>
                </a:solidFill>
                <a:latin typeface="Calibri"/>
                <a:cs typeface="Calibri"/>
              </a:rPr>
              <a:t>our</a:t>
            </a:r>
            <a:r>
              <a:rPr sz="20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Calibri"/>
                <a:cs typeface="Calibri"/>
              </a:rPr>
              <a:t>hosts.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72361" y="1359661"/>
            <a:ext cx="9144000" cy="4733925"/>
            <a:chOff x="1372361" y="1359661"/>
            <a:chExt cx="9144000" cy="47339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2361" y="1359661"/>
              <a:ext cx="9114790" cy="473354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40293" y="2273261"/>
              <a:ext cx="2546985" cy="440055"/>
            </a:xfrm>
            <a:custGeom>
              <a:avLst/>
              <a:gdLst/>
              <a:ahLst/>
              <a:cxnLst/>
              <a:rect l="l" t="t" r="r" b="b"/>
              <a:pathLst>
                <a:path w="2546984" h="440055">
                  <a:moveTo>
                    <a:pt x="0" y="439839"/>
                  </a:moveTo>
                  <a:lnTo>
                    <a:pt x="2546984" y="439839"/>
                  </a:lnTo>
                  <a:lnTo>
                    <a:pt x="2546984" y="0"/>
                  </a:lnTo>
                  <a:lnTo>
                    <a:pt x="0" y="0"/>
                  </a:lnTo>
                  <a:lnTo>
                    <a:pt x="0" y="439839"/>
                  </a:lnTo>
                  <a:close/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74048" y="2712084"/>
              <a:ext cx="165100" cy="436245"/>
            </a:xfrm>
            <a:custGeom>
              <a:avLst/>
              <a:gdLst/>
              <a:ahLst/>
              <a:cxnLst/>
              <a:rect l="l" t="t" r="r" b="b"/>
              <a:pathLst>
                <a:path w="165100" h="436244">
                  <a:moveTo>
                    <a:pt x="0" y="351790"/>
                  </a:moveTo>
                  <a:lnTo>
                    <a:pt x="11175" y="436244"/>
                  </a:lnTo>
                  <a:lnTo>
                    <a:pt x="71490" y="377190"/>
                  </a:lnTo>
                  <a:lnTo>
                    <a:pt x="34925" y="377190"/>
                  </a:lnTo>
                  <a:lnTo>
                    <a:pt x="28828" y="375157"/>
                  </a:lnTo>
                  <a:lnTo>
                    <a:pt x="32970" y="363187"/>
                  </a:lnTo>
                  <a:lnTo>
                    <a:pt x="0" y="351790"/>
                  </a:lnTo>
                  <a:close/>
                </a:path>
                <a:path w="165100" h="436244">
                  <a:moveTo>
                    <a:pt x="32970" y="363187"/>
                  </a:moveTo>
                  <a:lnTo>
                    <a:pt x="28828" y="375157"/>
                  </a:lnTo>
                  <a:lnTo>
                    <a:pt x="34925" y="377190"/>
                  </a:lnTo>
                  <a:lnTo>
                    <a:pt x="39039" y="365285"/>
                  </a:lnTo>
                  <a:lnTo>
                    <a:pt x="32970" y="363187"/>
                  </a:lnTo>
                  <a:close/>
                </a:path>
                <a:path w="165100" h="436244">
                  <a:moveTo>
                    <a:pt x="39039" y="365285"/>
                  </a:moveTo>
                  <a:lnTo>
                    <a:pt x="34925" y="377190"/>
                  </a:lnTo>
                  <a:lnTo>
                    <a:pt x="71490" y="377190"/>
                  </a:lnTo>
                  <a:lnTo>
                    <a:pt x="72008" y="376682"/>
                  </a:lnTo>
                  <a:lnTo>
                    <a:pt x="39039" y="365285"/>
                  </a:lnTo>
                  <a:close/>
                </a:path>
                <a:path w="165100" h="436244">
                  <a:moveTo>
                    <a:pt x="158623" y="0"/>
                  </a:moveTo>
                  <a:lnTo>
                    <a:pt x="32970" y="363187"/>
                  </a:lnTo>
                  <a:lnTo>
                    <a:pt x="39039" y="365285"/>
                  </a:lnTo>
                  <a:lnTo>
                    <a:pt x="164592" y="2032"/>
                  </a:lnTo>
                  <a:lnTo>
                    <a:pt x="15862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7440" y="3680459"/>
              <a:ext cx="366521" cy="56006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37020" y="3797807"/>
              <a:ext cx="432053" cy="44272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2403" y="3569207"/>
              <a:ext cx="317753" cy="67436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53097" y="3691367"/>
              <a:ext cx="89203" cy="207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83022" y="3411003"/>
              <a:ext cx="59832" cy="16634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95259" y="3006851"/>
              <a:ext cx="870966" cy="76123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00871" y="3147059"/>
              <a:ext cx="259842" cy="62103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48343" y="3172967"/>
              <a:ext cx="596646" cy="54330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81671" y="3945635"/>
              <a:ext cx="2451354" cy="90906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62288" y="3976115"/>
              <a:ext cx="208025" cy="29489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10611" y="4460747"/>
              <a:ext cx="1262634" cy="11468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31235" y="4369307"/>
              <a:ext cx="241553" cy="42443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33472" y="1804415"/>
              <a:ext cx="1701546" cy="402259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96337" y="1769839"/>
              <a:ext cx="93898" cy="1674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316223" y="5109971"/>
              <a:ext cx="1378458" cy="33756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329683" y="5122163"/>
              <a:ext cx="400050" cy="40919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831079" y="5411723"/>
              <a:ext cx="185165" cy="35585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09722" y="5507855"/>
              <a:ext cx="134204" cy="11939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968240" y="5492495"/>
              <a:ext cx="256793" cy="27050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215127" y="5446775"/>
              <a:ext cx="584453" cy="49301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850635" y="5213603"/>
              <a:ext cx="204977" cy="66217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092952" y="5434583"/>
              <a:ext cx="185165" cy="43967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064668" y="5218486"/>
              <a:ext cx="107733" cy="15259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256020" y="5346191"/>
              <a:ext cx="302514" cy="46710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565391" y="5381243"/>
              <a:ext cx="579881" cy="37414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021067" y="5018531"/>
              <a:ext cx="78485" cy="93345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979030" y="5357666"/>
              <a:ext cx="112267" cy="2823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112508" y="5376671"/>
              <a:ext cx="134874" cy="49453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175174" y="5223835"/>
              <a:ext cx="64434" cy="4753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249667" y="5340095"/>
              <a:ext cx="200405" cy="41224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876031" y="5266943"/>
              <a:ext cx="351281" cy="35128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235695" y="4942331"/>
              <a:ext cx="404622" cy="90754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764523" y="5178551"/>
              <a:ext cx="534162" cy="76733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976359" y="5135879"/>
              <a:ext cx="325374" cy="60579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300971" y="5103875"/>
              <a:ext cx="174498" cy="41529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265919" y="5094731"/>
              <a:ext cx="233933" cy="26898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462516" y="5103875"/>
              <a:ext cx="349757" cy="38938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843516" y="5018531"/>
              <a:ext cx="136398" cy="68656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841992" y="5021579"/>
              <a:ext cx="243077" cy="38328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255859" y="5565737"/>
              <a:ext cx="165163" cy="178890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710435" y="6486778"/>
            <a:ext cx="2901950" cy="28067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5"/>
              </a:lnSpc>
            </a:pPr>
            <a:r>
              <a:rPr sz="1800" spc="-10" dirty="0">
                <a:latin typeface="Calibri"/>
                <a:cs typeface="Calibri"/>
              </a:rPr>
              <a:t>squrare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brackets[northeast…..]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10641" y="6465569"/>
            <a:ext cx="1160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Here,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Localhost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175129" y="6739889"/>
            <a:ext cx="2376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ansible_connection=local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652009" y="6465569"/>
            <a:ext cx="5309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groups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hosts.</a:t>
            </a:r>
            <a:endParaRPr sz="1800">
              <a:latin typeface="Calibri"/>
              <a:cs typeface="Calibri"/>
            </a:endParaRPr>
          </a:p>
          <a:p>
            <a:pPr marL="62357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=====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local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access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10641" y="7014209"/>
            <a:ext cx="96812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98700" algn="l"/>
                <a:tab pos="5358765" algn="l"/>
              </a:tabLst>
            </a:pPr>
            <a:r>
              <a:rPr sz="1800" spc="-10" dirty="0">
                <a:latin typeface="Calibri"/>
                <a:cs typeface="Calibri"/>
              </a:rPr>
              <a:t>other1.example.com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ansible_connection=ssh</a:t>
            </a:r>
            <a:r>
              <a:rPr sz="1800" dirty="0">
                <a:latin typeface="Calibri"/>
                <a:cs typeface="Calibri"/>
              </a:rPr>
              <a:t>	======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ssh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host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  <a:tabLst>
                <a:tab pos="1511300" algn="l"/>
              </a:tabLst>
            </a:pPr>
            <a:r>
              <a:rPr sz="1800" spc="-10" dirty="0">
                <a:latin typeface="Calibri"/>
                <a:cs typeface="Calibri"/>
              </a:rPr>
              <a:t>[east:children]</a:t>
            </a:r>
            <a:r>
              <a:rPr sz="1800" dirty="0">
                <a:latin typeface="Calibri"/>
                <a:cs typeface="Calibri"/>
              </a:rPr>
              <a:t>	====</a:t>
            </a:r>
            <a:r>
              <a:rPr sz="1800" spc="3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class/group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combine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multiple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group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2" name="object 52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8757666" y="7441818"/>
            <a:ext cx="2575814" cy="2705354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465607" y="10147172"/>
            <a:ext cx="11601450" cy="3039745"/>
            <a:chOff x="465607" y="10147172"/>
            <a:chExt cx="11601450" cy="3039745"/>
          </a:xfrm>
        </p:grpSpPr>
        <p:pic>
          <p:nvPicPr>
            <p:cNvPr id="54" name="object 54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65607" y="10874882"/>
              <a:ext cx="11601196" cy="2311527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6815327" y="10147172"/>
              <a:ext cx="76200" cy="1010919"/>
            </a:xfrm>
            <a:custGeom>
              <a:avLst/>
              <a:gdLst/>
              <a:ahLst/>
              <a:cxnLst/>
              <a:rect l="l" t="t" r="r" b="b"/>
              <a:pathLst>
                <a:path w="76200" h="1010920">
                  <a:moveTo>
                    <a:pt x="47625" y="63500"/>
                  </a:moveTo>
                  <a:lnTo>
                    <a:pt x="28575" y="63500"/>
                  </a:lnTo>
                  <a:lnTo>
                    <a:pt x="28575" y="1010793"/>
                  </a:lnTo>
                  <a:lnTo>
                    <a:pt x="47625" y="1010793"/>
                  </a:lnTo>
                  <a:lnTo>
                    <a:pt x="47625" y="63500"/>
                  </a:lnTo>
                  <a:close/>
                </a:path>
                <a:path w="76200" h="1010920">
                  <a:moveTo>
                    <a:pt x="38100" y="0"/>
                  </a:moveTo>
                  <a:lnTo>
                    <a:pt x="0" y="76200"/>
                  </a:lnTo>
                  <a:lnTo>
                    <a:pt x="28575" y="76200"/>
                  </a:lnTo>
                  <a:lnTo>
                    <a:pt x="28575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010920">
                  <a:moveTo>
                    <a:pt x="69850" y="63500"/>
                  </a:moveTo>
                  <a:lnTo>
                    <a:pt x="47625" y="63500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6156197" y="9832974"/>
            <a:ext cx="986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MODULES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321" y="151002"/>
            <a:ext cx="76352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>
                <a:solidFill>
                  <a:srgbClr val="4471C4"/>
                </a:solidFill>
              </a:rPr>
              <a:t>Working</a:t>
            </a:r>
            <a:r>
              <a:rPr spc="-185" dirty="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With</a:t>
            </a:r>
            <a:r>
              <a:rPr spc="-185" dirty="0">
                <a:solidFill>
                  <a:srgbClr val="4471C4"/>
                </a:solidFill>
              </a:rPr>
              <a:t> </a:t>
            </a:r>
            <a:r>
              <a:rPr spc="-50" dirty="0">
                <a:solidFill>
                  <a:srgbClr val="4471C4"/>
                </a:solidFill>
              </a:rPr>
              <a:t>Playbooks</a:t>
            </a:r>
            <a:r>
              <a:rPr spc="-170" dirty="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in</a:t>
            </a:r>
            <a:r>
              <a:rPr spc="-170" dirty="0">
                <a:solidFill>
                  <a:srgbClr val="4471C4"/>
                </a:solidFill>
              </a:rPr>
              <a:t> </a:t>
            </a:r>
            <a:r>
              <a:rPr spc="-10" dirty="0">
                <a:solidFill>
                  <a:srgbClr val="4471C4"/>
                </a:solidFill>
              </a:rPr>
              <a:t>Ansible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474" y="991615"/>
            <a:ext cx="43795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Mainly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inventory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hosts.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080" y="1864359"/>
            <a:ext cx="11601196" cy="23115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479" y="4378070"/>
            <a:ext cx="4549521" cy="489242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75453" y="4378070"/>
            <a:ext cx="7121017" cy="426643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8920" y="9761219"/>
            <a:ext cx="1631314" cy="4343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45"/>
              </a:lnSpc>
            </a:pPr>
            <a:r>
              <a:rPr sz="2800" dirty="0">
                <a:latin typeface="Calibri"/>
                <a:cs typeface="Calibri"/>
              </a:rPr>
              <a:t>File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search: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6321" y="10160888"/>
            <a:ext cx="10845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sudo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ansible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localhost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"paths=.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file_type=file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patterns=shan.yml"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8920" y="11041379"/>
            <a:ext cx="1739900" cy="4343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45"/>
              </a:lnSpc>
            </a:pPr>
            <a:r>
              <a:rPr sz="2800" dirty="0">
                <a:latin typeface="Calibri"/>
                <a:cs typeface="Calibri"/>
              </a:rPr>
              <a:t>run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yml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6321" y="11441048"/>
            <a:ext cx="44773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libri"/>
                <a:cs typeface="Calibri"/>
              </a:rPr>
              <a:t>ansible-</a:t>
            </a:r>
            <a:r>
              <a:rPr sz="2800" dirty="0">
                <a:latin typeface="Calibri"/>
                <a:cs typeface="Calibri"/>
              </a:rPr>
              <a:t>playbook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wifi_ping.yml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8920" y="12347828"/>
            <a:ext cx="3589654" cy="49720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10"/>
              </a:lnSpc>
            </a:pPr>
            <a:r>
              <a:rPr sz="3200" dirty="0">
                <a:latin typeface="Calibri"/>
                <a:cs typeface="Calibri"/>
              </a:rPr>
              <a:t>Ping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your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device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task: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71201" y="16190086"/>
            <a:ext cx="462108" cy="46384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36321" y="12805663"/>
            <a:ext cx="8726170" cy="4828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--</a:t>
            </a:r>
            <a:r>
              <a:rPr sz="3200" spc="-50" dirty="0">
                <a:latin typeface="Calibri"/>
                <a:cs typeface="Calibri"/>
              </a:rPr>
              <a:t>-</a:t>
            </a:r>
            <a:endParaRPr sz="3200">
              <a:latin typeface="Calibri"/>
              <a:cs typeface="Calibri"/>
            </a:endParaRPr>
          </a:p>
          <a:p>
            <a:pPr marL="196850" marR="3884929" indent="-184785">
              <a:lnSpc>
                <a:spcPct val="100000"/>
              </a:lnSpc>
              <a:buChar char="-"/>
              <a:tabLst>
                <a:tab pos="196850" algn="l"/>
                <a:tab pos="227965" algn="l"/>
              </a:tabLst>
            </a:pPr>
            <a:r>
              <a:rPr sz="3200" dirty="0">
                <a:latin typeface="Calibri"/>
                <a:cs typeface="Calibri"/>
              </a:rPr>
              <a:t>	name: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ping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local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host </a:t>
            </a:r>
            <a:r>
              <a:rPr sz="3200" dirty="0">
                <a:latin typeface="Calibri"/>
                <a:cs typeface="Calibri"/>
              </a:rPr>
              <a:t>hosts: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localhost</a:t>
            </a:r>
            <a:endParaRPr sz="3200">
              <a:latin typeface="Calibri"/>
              <a:cs typeface="Calibri"/>
            </a:endParaRPr>
          </a:p>
          <a:p>
            <a:pPr marL="196850">
              <a:lnSpc>
                <a:spcPct val="100000"/>
              </a:lnSpc>
            </a:pPr>
            <a:r>
              <a:rPr sz="3200" spc="-10" dirty="0">
                <a:latin typeface="Calibri"/>
                <a:cs typeface="Calibri"/>
              </a:rPr>
              <a:t>tasks:</a:t>
            </a:r>
            <a:endParaRPr sz="3200">
              <a:latin typeface="Calibri"/>
              <a:cs typeface="Calibri"/>
            </a:endParaRPr>
          </a:p>
          <a:p>
            <a:pPr marL="563880" marR="5411470" lvl="1" indent="-182880">
              <a:lnSpc>
                <a:spcPct val="100000"/>
              </a:lnSpc>
              <a:buChar char="-"/>
              <a:tabLst>
                <a:tab pos="563880" algn="l"/>
                <a:tab pos="595630" algn="l"/>
              </a:tabLst>
            </a:pPr>
            <a:r>
              <a:rPr sz="3200" dirty="0">
                <a:latin typeface="Calibri"/>
                <a:cs typeface="Calibri"/>
              </a:rPr>
              <a:t>	name: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ping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local </a:t>
            </a:r>
            <a:r>
              <a:rPr sz="3200" spc="-10" dirty="0">
                <a:latin typeface="Calibri"/>
                <a:cs typeface="Calibri"/>
              </a:rPr>
              <a:t>ping:</a:t>
            </a:r>
            <a:endParaRPr sz="3200">
              <a:latin typeface="Calibri"/>
              <a:cs typeface="Calibri"/>
            </a:endParaRPr>
          </a:p>
          <a:p>
            <a:pPr marL="2287270" marR="5080" lvl="2" indent="1050925">
              <a:lnSpc>
                <a:spcPts val="3820"/>
              </a:lnSpc>
              <a:spcBef>
                <a:spcPts val="3415"/>
              </a:spcBef>
              <a:buAutoNum type="arabicPeriod"/>
              <a:tabLst>
                <a:tab pos="3338195" algn="l"/>
              </a:tabLst>
            </a:pPr>
            <a:r>
              <a:rPr sz="3200" dirty="0">
                <a:latin typeface="Calibri"/>
                <a:cs typeface="Calibri"/>
              </a:rPr>
              <a:t>Create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inventory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file: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tells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particular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device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ip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manage:</a:t>
            </a:r>
            <a:endParaRPr sz="3200">
              <a:latin typeface="Calibri"/>
              <a:cs typeface="Calibri"/>
            </a:endParaRPr>
          </a:p>
          <a:p>
            <a:pPr marL="2287270">
              <a:lnSpc>
                <a:spcPts val="3710"/>
              </a:lnSpc>
            </a:pPr>
            <a:r>
              <a:rPr sz="3200" dirty="0">
                <a:latin typeface="Calibri"/>
                <a:cs typeface="Calibri"/>
              </a:rPr>
              <a:t>touch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inventory.ini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7865" y="428013"/>
            <a:ext cx="8980170" cy="3093720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70"/>
              </a:spcBef>
              <a:buFont typeface="Arial"/>
              <a:buChar char="•"/>
              <a:tabLst>
                <a:tab pos="31686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Playbook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YAML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containing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“plays.”</a:t>
            </a:r>
            <a:endParaRPr sz="2800">
              <a:latin typeface="Calibri"/>
              <a:cs typeface="Calibri"/>
            </a:endParaRPr>
          </a:p>
          <a:p>
            <a:pPr marL="316865" indent="-304165">
              <a:lnSpc>
                <a:spcPct val="100000"/>
              </a:lnSpc>
              <a:spcBef>
                <a:spcPts val="975"/>
              </a:spcBef>
              <a:buFont typeface="Arial"/>
              <a:buChar char="•"/>
              <a:tabLst>
                <a:tab pos="316865" algn="l"/>
              </a:tabLst>
            </a:pPr>
            <a:r>
              <a:rPr sz="2800" dirty="0">
                <a:latin typeface="Calibri"/>
                <a:cs typeface="Calibri"/>
              </a:rPr>
              <a:t>Each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play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defines: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59"/>
              </a:spcBef>
              <a:buFont typeface="Arial"/>
              <a:buChar char="•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hosts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on,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59"/>
              </a:spcBef>
              <a:buFont typeface="Arial"/>
              <a:buChar char="•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What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tasks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perform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those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hosts,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perform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them.</a:t>
            </a:r>
            <a:endParaRPr sz="2800">
              <a:latin typeface="Calibri"/>
              <a:cs typeface="Calibri"/>
            </a:endParaRPr>
          </a:p>
          <a:p>
            <a:pPr marL="316865" indent="-3041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316865" algn="l"/>
              </a:tabLst>
            </a:pPr>
            <a:r>
              <a:rPr sz="2800" spc="-10" dirty="0">
                <a:latin typeface="Calibri"/>
                <a:cs typeface="Calibri"/>
              </a:rPr>
              <a:t>Playbooks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automate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complex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workflows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configurations.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7865" y="6691121"/>
            <a:ext cx="116344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inventory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machines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(hosts)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Ansible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manage.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5183123"/>
            <a:ext cx="12192000" cy="1174750"/>
            <a:chOff x="0" y="5183123"/>
            <a:chExt cx="12192000" cy="1174750"/>
          </a:xfrm>
        </p:grpSpPr>
        <p:sp>
          <p:nvSpPr>
            <p:cNvPr id="5" name="object 5"/>
            <p:cNvSpPr/>
            <p:nvPr/>
          </p:nvSpPr>
          <p:spPr>
            <a:xfrm>
              <a:off x="0" y="5322492"/>
              <a:ext cx="12192000" cy="769620"/>
            </a:xfrm>
            <a:custGeom>
              <a:avLst/>
              <a:gdLst/>
              <a:ahLst/>
              <a:cxnLst/>
              <a:rect l="l" t="t" r="r" b="b"/>
              <a:pathLst>
                <a:path w="12192000" h="769620">
                  <a:moveTo>
                    <a:pt x="12192000" y="0"/>
                  </a:moveTo>
                  <a:lnTo>
                    <a:pt x="0" y="0"/>
                  </a:lnTo>
                  <a:lnTo>
                    <a:pt x="0" y="769442"/>
                  </a:lnTo>
                  <a:lnTo>
                    <a:pt x="12192000" y="76944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4583" y="5183123"/>
              <a:ext cx="1347978" cy="117424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745994" y="5324093"/>
            <a:ext cx="708088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20" dirty="0">
                <a:solidFill>
                  <a:srgbClr val="FFFFFF"/>
                </a:solidFill>
                <a:latin typeface="Calibri Light"/>
                <a:cs typeface="Calibri Light"/>
              </a:rPr>
              <a:t>What</a:t>
            </a:r>
            <a:r>
              <a:rPr sz="4400" b="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b="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4400" b="0" spc="-1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b="0" dirty="0">
                <a:solidFill>
                  <a:srgbClr val="FFFFFF"/>
                </a:solidFill>
                <a:latin typeface="Calibri Light"/>
                <a:cs typeface="Calibri Light"/>
              </a:rPr>
              <a:t>an</a:t>
            </a:r>
            <a:r>
              <a:rPr sz="4400" b="0" spc="-1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b="0" spc="-45" dirty="0">
                <a:solidFill>
                  <a:srgbClr val="FFFFFF"/>
                </a:solidFill>
                <a:latin typeface="Calibri Light"/>
                <a:cs typeface="Calibri Light"/>
              </a:rPr>
              <a:t>Inventory</a:t>
            </a:r>
            <a:r>
              <a:rPr sz="4400" b="0" spc="-17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b="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4400" b="0" spc="-1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b="0" spc="-10" dirty="0">
                <a:solidFill>
                  <a:srgbClr val="FFFFFF"/>
                </a:solidFill>
                <a:latin typeface="Calibri Light"/>
                <a:cs typeface="Calibri Light"/>
              </a:rPr>
              <a:t>Ansible?</a:t>
            </a:r>
            <a:endParaRPr sz="4400">
              <a:latin typeface="Calibri Light"/>
              <a:cs typeface="Calibri Ligh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0"/>
            <a:ext cx="12192000" cy="849630"/>
            <a:chOff x="0" y="0"/>
            <a:chExt cx="12192000" cy="849630"/>
          </a:xfrm>
        </p:grpSpPr>
        <p:sp>
          <p:nvSpPr>
            <p:cNvPr id="9" name="object 9"/>
            <p:cNvSpPr/>
            <p:nvPr/>
          </p:nvSpPr>
          <p:spPr>
            <a:xfrm>
              <a:off x="0" y="0"/>
              <a:ext cx="12192000" cy="584835"/>
            </a:xfrm>
            <a:custGeom>
              <a:avLst/>
              <a:gdLst/>
              <a:ahLst/>
              <a:cxnLst/>
              <a:rect l="l" t="t" r="r" b="b"/>
              <a:pathLst>
                <a:path w="12192000" h="584835">
                  <a:moveTo>
                    <a:pt x="0" y="584580"/>
                  </a:moveTo>
                  <a:lnTo>
                    <a:pt x="12192000" y="58458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8458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9616" y="0"/>
              <a:ext cx="1347978" cy="849629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2622550" y="-184328"/>
            <a:ext cx="64490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What</a:t>
            </a:r>
            <a:r>
              <a:rPr spc="-160" dirty="0"/>
              <a:t> </a:t>
            </a:r>
            <a:r>
              <a:rPr dirty="0"/>
              <a:t>is</a:t>
            </a:r>
            <a:r>
              <a:rPr spc="-135" dirty="0"/>
              <a:t> </a:t>
            </a:r>
            <a:r>
              <a:rPr dirty="0"/>
              <a:t>an</a:t>
            </a:r>
            <a:r>
              <a:rPr spc="-140" dirty="0"/>
              <a:t> </a:t>
            </a:r>
            <a:r>
              <a:rPr spc="-20" dirty="0"/>
              <a:t>Ansible</a:t>
            </a:r>
            <a:r>
              <a:rPr spc="-180" dirty="0"/>
              <a:t> </a:t>
            </a:r>
            <a:r>
              <a:rPr spc="-30" dirty="0"/>
              <a:t>Playbook?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6195694"/>
            <a:ext cx="5741797" cy="604558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71627" y="740789"/>
            <a:ext cx="10873740" cy="136518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6869430">
              <a:lnSpc>
                <a:spcPts val="3020"/>
              </a:lnSpc>
              <a:spcBef>
                <a:spcPts val="480"/>
              </a:spcBef>
            </a:pP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host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/etc/ansible </a:t>
            </a:r>
            <a:r>
              <a:rPr sz="2800" dirty="0">
                <a:latin typeface="Calibri"/>
                <a:cs typeface="Calibri"/>
              </a:rPr>
              <a:t>nano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&lt;filename.ini&gt;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3190"/>
              </a:lnSpc>
              <a:spcBef>
                <a:spcPts val="2645"/>
              </a:spcBef>
            </a:pPr>
            <a:r>
              <a:rPr sz="2800" spc="-10" dirty="0">
                <a:latin typeface="Calibri"/>
                <a:cs typeface="Calibri"/>
              </a:rPr>
              <a:t>insert: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3190"/>
              </a:lnSpc>
            </a:pPr>
            <a:r>
              <a:rPr sz="2800" spc="-10" dirty="0">
                <a:latin typeface="Calibri"/>
                <a:cs typeface="Calibri"/>
              </a:rPr>
              <a:t>[myrouter]</a:t>
            </a:r>
            <a:endParaRPr sz="2800">
              <a:latin typeface="Calibri"/>
              <a:cs typeface="Calibri"/>
            </a:endParaRPr>
          </a:p>
          <a:p>
            <a:pPr marL="12700" marR="1452245" lvl="3" indent="1619250">
              <a:lnSpc>
                <a:spcPts val="3020"/>
              </a:lnSpc>
              <a:spcBef>
                <a:spcPts val="1355"/>
              </a:spcBef>
              <a:buAutoNum type="arabicPeriod"/>
              <a:tabLst>
                <a:tab pos="1631950" algn="l"/>
              </a:tabLst>
            </a:pPr>
            <a:r>
              <a:rPr sz="2800" spc="-10" dirty="0">
                <a:latin typeface="Calibri"/>
                <a:cs typeface="Calibri"/>
              </a:rPr>
              <a:t>ansible_user=admin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ansible_password=yourpassword ansible_connection=ssh</a:t>
            </a:r>
            <a:endParaRPr sz="2800">
              <a:latin typeface="Calibri"/>
              <a:cs typeface="Calibri"/>
            </a:endParaRPr>
          </a:p>
          <a:p>
            <a:pPr lvl="3">
              <a:lnSpc>
                <a:spcPct val="100000"/>
              </a:lnSpc>
              <a:buFont typeface="Calibri"/>
              <a:buAutoNum type="arabicPeriod"/>
            </a:pPr>
            <a:endParaRPr sz="2800">
              <a:latin typeface="Calibri"/>
              <a:cs typeface="Calibri"/>
            </a:endParaRPr>
          </a:p>
          <a:p>
            <a:pPr lvl="3">
              <a:lnSpc>
                <a:spcPct val="100000"/>
              </a:lnSpc>
              <a:spcBef>
                <a:spcPts val="1720"/>
              </a:spcBef>
              <a:buFont typeface="Calibri"/>
              <a:buAutoNum type="arabicPeriod"/>
            </a:pPr>
            <a:endParaRPr sz="2800">
              <a:latin typeface="Calibri"/>
              <a:cs typeface="Calibri"/>
            </a:endParaRPr>
          </a:p>
          <a:p>
            <a:pPr marL="76835" marR="6376035">
              <a:lnSpc>
                <a:spcPts val="4750"/>
              </a:lnSpc>
            </a:pPr>
            <a:r>
              <a:rPr sz="4400" b="0" spc="-40" dirty="0">
                <a:solidFill>
                  <a:srgbClr val="4471C4"/>
                </a:solidFill>
                <a:latin typeface="Calibri Light"/>
                <a:cs typeface="Calibri Light"/>
              </a:rPr>
              <a:t>Create</a:t>
            </a:r>
            <a:r>
              <a:rPr sz="4400" b="0" spc="-21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4400" b="0" dirty="0">
                <a:solidFill>
                  <a:srgbClr val="4471C4"/>
                </a:solidFill>
                <a:latin typeface="Calibri Light"/>
                <a:cs typeface="Calibri Light"/>
              </a:rPr>
              <a:t>two</a:t>
            </a:r>
            <a:r>
              <a:rPr sz="4400" b="0" spc="-25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4400" b="0" dirty="0">
                <a:solidFill>
                  <a:srgbClr val="4471C4"/>
                </a:solidFill>
                <a:latin typeface="Calibri Light"/>
                <a:cs typeface="Calibri Light"/>
              </a:rPr>
              <a:t>text</a:t>
            </a:r>
            <a:r>
              <a:rPr sz="4400" b="0" spc="-21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4400" b="0" spc="-10" dirty="0">
                <a:solidFill>
                  <a:srgbClr val="4471C4"/>
                </a:solidFill>
                <a:latin typeface="Calibri Light"/>
                <a:cs typeface="Calibri Light"/>
              </a:rPr>
              <a:t>files </a:t>
            </a:r>
            <a:r>
              <a:rPr sz="4400" b="0" dirty="0">
                <a:solidFill>
                  <a:srgbClr val="4471C4"/>
                </a:solidFill>
                <a:latin typeface="Calibri Light"/>
                <a:cs typeface="Calibri Light"/>
              </a:rPr>
              <a:t>and</a:t>
            </a:r>
            <a:r>
              <a:rPr sz="4400" b="0" spc="-19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4400" b="0" dirty="0">
                <a:solidFill>
                  <a:srgbClr val="4471C4"/>
                </a:solidFill>
                <a:latin typeface="Calibri Light"/>
                <a:cs typeface="Calibri Light"/>
              </a:rPr>
              <a:t>ping</a:t>
            </a:r>
            <a:r>
              <a:rPr sz="4400" b="0" spc="-20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4400" b="0" spc="-10" dirty="0">
                <a:solidFill>
                  <a:srgbClr val="4471C4"/>
                </a:solidFill>
                <a:latin typeface="Calibri Light"/>
                <a:cs typeface="Calibri Light"/>
              </a:rPr>
              <a:t>localhost</a:t>
            </a:r>
            <a:endParaRPr sz="4400">
              <a:latin typeface="Calibri Light"/>
              <a:cs typeface="Calibri Light"/>
            </a:endParaRPr>
          </a:p>
          <a:p>
            <a:pPr marL="76835">
              <a:lnSpc>
                <a:spcPts val="2545"/>
              </a:lnSpc>
            </a:pPr>
            <a:r>
              <a:rPr sz="2800" spc="-20" dirty="0">
                <a:latin typeface="Calibri"/>
                <a:cs typeface="Calibri"/>
              </a:rPr>
              <a:t>--</a:t>
            </a:r>
            <a:r>
              <a:rPr sz="2800" spc="-50" dirty="0">
                <a:latin typeface="Calibri"/>
                <a:cs typeface="Calibri"/>
              </a:rPr>
              <a:t>-</a:t>
            </a:r>
            <a:endParaRPr sz="2800">
              <a:latin typeface="Calibri"/>
              <a:cs typeface="Calibri"/>
            </a:endParaRPr>
          </a:p>
          <a:p>
            <a:pPr marL="238125" marR="6715759" lvl="4" indent="-161925">
              <a:lnSpc>
                <a:spcPct val="100000"/>
              </a:lnSpc>
              <a:buChar char="-"/>
              <a:tabLst>
                <a:tab pos="238125" algn="l"/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	name: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text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files </a:t>
            </a:r>
            <a:r>
              <a:rPr sz="2800" dirty="0">
                <a:latin typeface="Calibri"/>
                <a:cs typeface="Calibri"/>
              </a:rPr>
              <a:t>hosts: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localhost</a:t>
            </a:r>
            <a:endParaRPr sz="2800">
              <a:latin typeface="Calibri"/>
              <a:cs typeface="Calibri"/>
            </a:endParaRPr>
          </a:p>
          <a:p>
            <a:pPr marL="238125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tasks:</a:t>
            </a:r>
            <a:endParaRPr sz="2800">
              <a:latin typeface="Calibri"/>
              <a:cs typeface="Calibri"/>
            </a:endParaRPr>
          </a:p>
          <a:p>
            <a:pPr marL="589915" marR="7276465" lvl="5" indent="-190500">
              <a:lnSpc>
                <a:spcPct val="100000"/>
              </a:lnSpc>
              <a:buChar char="-"/>
              <a:tabLst>
                <a:tab pos="614680" algn="l"/>
              </a:tabLst>
            </a:pPr>
            <a:r>
              <a:rPr sz="2800" dirty="0">
                <a:latin typeface="Calibri"/>
                <a:cs typeface="Calibri"/>
              </a:rPr>
              <a:t>name: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localhost 	ping:</a:t>
            </a:r>
            <a:endParaRPr sz="2800">
              <a:latin typeface="Calibri"/>
              <a:cs typeface="Calibri"/>
            </a:endParaRPr>
          </a:p>
          <a:p>
            <a:pPr marL="562610" marR="7148830" lvl="5" indent="-163195">
              <a:lnSpc>
                <a:spcPct val="100000"/>
              </a:lnSpc>
              <a:buChar char="-"/>
              <a:tabLst>
                <a:tab pos="562610" algn="l"/>
                <a:tab pos="589915" algn="l"/>
              </a:tabLst>
            </a:pPr>
            <a:r>
              <a:rPr sz="2800" dirty="0">
                <a:latin typeface="Calibri"/>
                <a:cs typeface="Calibri"/>
              </a:rPr>
              <a:t>	name: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file1.txt copy:</a:t>
            </a:r>
            <a:endParaRPr sz="2800">
              <a:latin typeface="Calibri"/>
              <a:cs typeface="Calibri"/>
            </a:endParaRPr>
          </a:p>
          <a:p>
            <a:pPr marL="724535" marR="6895465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content: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"This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1" </a:t>
            </a:r>
            <a:r>
              <a:rPr sz="2800" dirty="0">
                <a:latin typeface="Calibri"/>
                <a:cs typeface="Calibri"/>
              </a:rPr>
              <a:t>dest: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“./file1.txt"</a:t>
            </a:r>
            <a:endParaRPr sz="2800">
              <a:latin typeface="Calibri"/>
              <a:cs typeface="Calibri"/>
            </a:endParaRPr>
          </a:p>
          <a:p>
            <a:pPr marL="562610" marR="7150100" lvl="5" indent="-163195">
              <a:lnSpc>
                <a:spcPct val="100000"/>
              </a:lnSpc>
              <a:spcBef>
                <a:spcPts val="3360"/>
              </a:spcBef>
              <a:buChar char="-"/>
              <a:tabLst>
                <a:tab pos="562610" algn="l"/>
                <a:tab pos="589915" algn="l"/>
              </a:tabLst>
            </a:pPr>
            <a:r>
              <a:rPr sz="2800" dirty="0">
                <a:latin typeface="Calibri"/>
                <a:cs typeface="Calibri"/>
              </a:rPr>
              <a:t>	name: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file2.txt copy:</a:t>
            </a:r>
            <a:endParaRPr sz="2800">
              <a:latin typeface="Calibri"/>
              <a:cs typeface="Calibri"/>
            </a:endParaRPr>
          </a:p>
          <a:p>
            <a:pPr marL="724535" marR="6895465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content: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"This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2" </a:t>
            </a:r>
            <a:r>
              <a:rPr sz="2800" dirty="0">
                <a:latin typeface="Calibri"/>
                <a:cs typeface="Calibri"/>
              </a:rPr>
              <a:t>dest: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“./file2.txt“</a:t>
            </a:r>
            <a:endParaRPr sz="2800">
              <a:latin typeface="Calibri"/>
              <a:cs typeface="Calibri"/>
            </a:endParaRPr>
          </a:p>
          <a:p>
            <a:pPr marL="5716270" marR="5080">
              <a:lnSpc>
                <a:spcPct val="100000"/>
              </a:lnSpc>
              <a:spcBef>
                <a:spcPts val="1789"/>
              </a:spcBef>
            </a:pPr>
            <a:r>
              <a:rPr sz="3200" dirty="0">
                <a:latin typeface="Calibri"/>
                <a:cs typeface="Calibri"/>
              </a:rPr>
              <a:t>Any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file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present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inside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path </a:t>
            </a:r>
            <a:r>
              <a:rPr sz="3200" spc="-10" dirty="0">
                <a:latin typeface="Calibri"/>
                <a:cs typeface="Calibri"/>
              </a:rPr>
              <a:t>(challenges)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will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just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find.</a:t>
            </a:r>
            <a:endParaRPr sz="3200">
              <a:latin typeface="Calibri"/>
              <a:cs typeface="Calibri"/>
            </a:endParaRPr>
          </a:p>
          <a:p>
            <a:pPr marL="76835">
              <a:lnSpc>
                <a:spcPct val="100000"/>
              </a:lnSpc>
              <a:spcBef>
                <a:spcPts val="615"/>
              </a:spcBef>
            </a:pPr>
            <a:r>
              <a:rPr sz="2800" dirty="0">
                <a:latin typeface="Calibri"/>
                <a:cs typeface="Calibri"/>
              </a:rPr>
              <a:t>run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check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file:</a:t>
            </a:r>
            <a:endParaRPr sz="2800">
              <a:latin typeface="Calibri"/>
              <a:cs typeface="Calibri"/>
            </a:endParaRPr>
          </a:p>
          <a:p>
            <a:pPr marL="76835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ansible-</a:t>
            </a:r>
            <a:r>
              <a:rPr sz="2800" dirty="0">
                <a:latin typeface="Calibri"/>
                <a:cs typeface="Calibri"/>
              </a:rPr>
              <a:t>playbook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&lt;filename.yml&gt;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spc="-50" dirty="0">
                <a:latin typeface="Calibri"/>
                <a:cs typeface="Calibri"/>
              </a:rPr>
              <a:t>v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192000" cy="849630"/>
            <a:chOff x="0" y="0"/>
            <a:chExt cx="12192000" cy="84963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584835"/>
            </a:xfrm>
            <a:custGeom>
              <a:avLst/>
              <a:gdLst/>
              <a:ahLst/>
              <a:cxnLst/>
              <a:rect l="l" t="t" r="r" b="b"/>
              <a:pathLst>
                <a:path w="12192000" h="584835">
                  <a:moveTo>
                    <a:pt x="0" y="584580"/>
                  </a:moveTo>
                  <a:lnTo>
                    <a:pt x="12192000" y="58458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8458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8251" y="0"/>
              <a:ext cx="1347977" cy="84962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901566" y="-184328"/>
            <a:ext cx="36023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Ping</a:t>
            </a:r>
            <a:r>
              <a:rPr spc="-215" dirty="0"/>
              <a:t> </a:t>
            </a:r>
            <a:r>
              <a:rPr spc="-10" dirty="0"/>
              <a:t>other</a:t>
            </a:r>
            <a:r>
              <a:rPr spc="-210" dirty="0"/>
              <a:t> </a:t>
            </a:r>
            <a:r>
              <a:rPr spc="-10" dirty="0"/>
              <a:t>hosts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4959" y="720343"/>
            <a:ext cx="3605529" cy="1140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95"/>
              </a:spcBef>
              <a:buClr>
                <a:srgbClr val="404040"/>
              </a:buClr>
              <a:buFont typeface="Arial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8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Linux/Unix</a:t>
            </a:r>
            <a:r>
              <a:rPr sz="28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(SSH)</a:t>
            </a:r>
            <a:endParaRPr sz="2800">
              <a:latin typeface="Calibri"/>
              <a:cs typeface="Calibri"/>
            </a:endParaRPr>
          </a:p>
          <a:p>
            <a:pPr marL="317500" indent="-304800">
              <a:lnSpc>
                <a:spcPct val="100000"/>
              </a:lnSpc>
              <a:spcBef>
                <a:spcPts val="2065"/>
              </a:spcBef>
              <a:buFont typeface="Arial"/>
              <a:buChar char="•"/>
              <a:tabLst>
                <a:tab pos="317500" algn="l"/>
              </a:tabLst>
            </a:pP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8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Windows</a:t>
            </a:r>
            <a:r>
              <a:rPr sz="28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(WinRM)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2299843"/>
            <a:ext cx="67430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50" dirty="0">
                <a:solidFill>
                  <a:srgbClr val="4471C4"/>
                </a:solidFill>
                <a:latin typeface="Calibri Light"/>
                <a:cs typeface="Calibri Light"/>
              </a:rPr>
              <a:t>Automation</a:t>
            </a:r>
            <a:r>
              <a:rPr sz="4400" b="0" spc="-17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4400" b="0" dirty="0">
                <a:solidFill>
                  <a:srgbClr val="4471C4"/>
                </a:solidFill>
                <a:latin typeface="Calibri Light"/>
                <a:cs typeface="Calibri Light"/>
              </a:rPr>
              <a:t>and</a:t>
            </a:r>
            <a:r>
              <a:rPr sz="4400" b="0" spc="-16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4400" b="0" spc="-40" dirty="0">
                <a:solidFill>
                  <a:srgbClr val="4471C4"/>
                </a:solidFill>
                <a:latin typeface="Calibri Light"/>
                <a:cs typeface="Calibri Light"/>
              </a:rPr>
              <a:t>Orchestration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948" y="3244340"/>
            <a:ext cx="1012571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69265" algn="l"/>
              </a:tabLst>
            </a:pPr>
            <a:r>
              <a:rPr sz="2800" spc="-10" dirty="0">
                <a:latin typeface="Calibri"/>
                <a:cs typeface="Calibri"/>
              </a:rPr>
              <a:t>Automation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refers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single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task.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Arial"/>
              <a:buChar char="•"/>
              <a:tabLst>
                <a:tab pos="469265" algn="l"/>
              </a:tabLst>
            </a:pPr>
            <a:r>
              <a:rPr sz="2800" spc="-20" dirty="0">
                <a:latin typeface="Calibri"/>
                <a:cs typeface="Calibri"/>
              </a:rPr>
              <a:t>Orchestration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refers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management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automated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tasks.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Often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complicated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ordering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dependencies.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3147" y="4618989"/>
            <a:ext cx="6820534" cy="57917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9333" y="10581385"/>
            <a:ext cx="11327892" cy="176301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8233" y="12515087"/>
            <a:ext cx="11338941" cy="131191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12192000" cy="849630"/>
            <a:chOff x="0" y="0"/>
            <a:chExt cx="12192000" cy="849630"/>
          </a:xfrm>
        </p:grpSpPr>
        <p:sp>
          <p:nvSpPr>
            <p:cNvPr id="9" name="object 9"/>
            <p:cNvSpPr/>
            <p:nvPr/>
          </p:nvSpPr>
          <p:spPr>
            <a:xfrm>
              <a:off x="0" y="0"/>
              <a:ext cx="12192000" cy="584835"/>
            </a:xfrm>
            <a:custGeom>
              <a:avLst/>
              <a:gdLst/>
              <a:ahLst/>
              <a:cxnLst/>
              <a:rect l="l" t="t" r="r" b="b"/>
              <a:pathLst>
                <a:path w="12192000" h="584835">
                  <a:moveTo>
                    <a:pt x="0" y="584580"/>
                  </a:moveTo>
                  <a:lnTo>
                    <a:pt x="12192000" y="58458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8458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9616" y="0"/>
              <a:ext cx="1347978" cy="849629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2622550" y="-184328"/>
            <a:ext cx="77006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200" dirty="0"/>
              <a:t> </a:t>
            </a:r>
            <a:r>
              <a:rPr spc="-20" dirty="0"/>
              <a:t>ansible</a:t>
            </a:r>
            <a:r>
              <a:rPr spc="-185" dirty="0"/>
              <a:t> </a:t>
            </a:r>
            <a:r>
              <a:rPr spc="-20" dirty="0"/>
              <a:t>access</a:t>
            </a:r>
            <a:r>
              <a:rPr spc="-185" dirty="0"/>
              <a:t> </a:t>
            </a:r>
            <a:r>
              <a:rPr spc="-65" dirty="0"/>
              <a:t>remote-</a:t>
            </a:r>
            <a:r>
              <a:rPr spc="-20" dirty="0"/>
              <a:t>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6717" y="1436876"/>
            <a:ext cx="11094720" cy="8804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Automation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orchestration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critical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DevOps,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Cloud,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serve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purposes.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Here’s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breakdown:</a:t>
            </a:r>
            <a:endParaRPr sz="2400">
              <a:latin typeface="Calibri"/>
              <a:cs typeface="Calibri"/>
            </a:endParaRPr>
          </a:p>
          <a:p>
            <a:pPr marL="309245" indent="-296545">
              <a:lnSpc>
                <a:spcPct val="100000"/>
              </a:lnSpc>
              <a:spcBef>
                <a:spcPts val="2880"/>
              </a:spcBef>
              <a:buAutoNum type="arabicPeriod"/>
              <a:tabLst>
                <a:tab pos="309245" algn="l"/>
              </a:tabLst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Automation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(Task-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Level)</a:t>
            </a:r>
            <a:endParaRPr sz="2400">
              <a:latin typeface="Calibri"/>
              <a:cs typeface="Calibri"/>
            </a:endParaRPr>
          </a:p>
          <a:p>
            <a:pPr marL="12700" marR="606425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Definition: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Automating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individual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restarting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service,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installing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software). </a:t>
            </a:r>
            <a:r>
              <a:rPr sz="2400" dirty="0">
                <a:latin typeface="Calibri"/>
                <a:cs typeface="Calibri"/>
              </a:rPr>
              <a:t>Goal: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Replace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manual,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repetitive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scripts/tools.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sz="2400" spc="-10" dirty="0">
                <a:latin typeface="Calibri"/>
                <a:cs typeface="Calibri"/>
              </a:rPr>
              <a:t>Examples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Automation</a:t>
            </a:r>
            <a:endParaRPr sz="2400">
              <a:latin typeface="Calibri"/>
              <a:cs typeface="Calibri"/>
            </a:endParaRPr>
          </a:p>
          <a:p>
            <a:pPr marL="354965" lvl="1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Ansible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(Run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ad-</a:t>
            </a:r>
            <a:r>
              <a:rPr sz="2400" dirty="0">
                <a:latin typeface="Calibri"/>
                <a:cs typeface="Calibri"/>
              </a:rPr>
              <a:t>hoc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commands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playbooks)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ansible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webservers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"name=nginx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state=restarted“</a:t>
            </a:r>
            <a:endParaRPr sz="2400">
              <a:latin typeface="Calibri"/>
              <a:cs typeface="Calibri"/>
            </a:endParaRPr>
          </a:p>
          <a:p>
            <a:pPr marL="354965" lvl="1" indent="-342265">
              <a:lnSpc>
                <a:spcPct val="100000"/>
              </a:lnSpc>
              <a:spcBef>
                <a:spcPts val="288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Bash/Python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Scripts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(Custom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automation)</a:t>
            </a:r>
            <a:endParaRPr sz="2400">
              <a:latin typeface="Calibri"/>
              <a:cs typeface="Calibri"/>
            </a:endParaRPr>
          </a:p>
          <a:p>
            <a:pPr marL="354965" lvl="1" indent="-3422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Cron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Jobs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(Scheduled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tasks)</a:t>
            </a:r>
            <a:endParaRPr sz="2400">
              <a:latin typeface="Calibri"/>
              <a:cs typeface="Calibri"/>
            </a:endParaRPr>
          </a:p>
          <a:p>
            <a:pPr marL="309245" indent="-296545">
              <a:lnSpc>
                <a:spcPct val="100000"/>
              </a:lnSpc>
              <a:spcBef>
                <a:spcPts val="2880"/>
              </a:spcBef>
              <a:buAutoNum type="arabicPeriod" startAt="2"/>
              <a:tabLst>
                <a:tab pos="309245" algn="l"/>
              </a:tabLst>
            </a:pP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Orchestration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(Workflow-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Level)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Definition: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Coordinating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automated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across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achieve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goal. </a:t>
            </a:r>
            <a:r>
              <a:rPr sz="2400" dirty="0">
                <a:latin typeface="Calibri"/>
                <a:cs typeface="Calibri"/>
              </a:rPr>
              <a:t>Goal: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complex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workflows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deploying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scaling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cloud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resources).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sz="2400" spc="-10" dirty="0">
                <a:latin typeface="Calibri"/>
                <a:cs typeface="Calibri"/>
              </a:rPr>
              <a:t>Examples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Orchestration</a:t>
            </a:r>
            <a:endParaRPr sz="2400">
              <a:latin typeface="Calibri"/>
              <a:cs typeface="Calibri"/>
            </a:endParaRPr>
          </a:p>
          <a:p>
            <a:pPr marL="354965" lvl="1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Kubernetes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(K8s)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containers,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scaling,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networking.</a:t>
            </a:r>
            <a:endParaRPr sz="2400">
              <a:latin typeface="Calibri"/>
              <a:cs typeface="Calibri"/>
            </a:endParaRPr>
          </a:p>
          <a:p>
            <a:pPr marL="354965" lvl="1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400" spc="-35" dirty="0">
                <a:latin typeface="Calibri"/>
                <a:cs typeface="Calibri"/>
              </a:rPr>
              <a:t>Terraform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Provisions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cloud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infrastructure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order.</a:t>
            </a:r>
            <a:endParaRPr sz="2400">
              <a:latin typeface="Calibri"/>
              <a:cs typeface="Calibri"/>
            </a:endParaRPr>
          </a:p>
          <a:p>
            <a:pPr marL="354965" lvl="1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CI/CD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Pipelines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(Jenkins,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GitHub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Actions)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Automates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deployment.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Key</a:t>
            </a:r>
            <a:r>
              <a:rPr sz="2400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Differences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7667" y="10305033"/>
          <a:ext cx="7254240" cy="1400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1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7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645">
                <a:tc>
                  <a:txBody>
                    <a:bodyPr/>
                    <a:lstStyle/>
                    <a:p>
                      <a:pPr marL="31750">
                        <a:lnSpc>
                          <a:spcPts val="2280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Feature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ts val="2280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Automation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280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Orchestration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0">
                        <a:lnSpc>
                          <a:spcPts val="2520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Scope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ts val="252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Single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task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520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Multi-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step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workflow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ts val="2520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Tools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ts val="252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Ansible,</a:t>
                      </a:r>
                      <a:r>
                        <a:rPr sz="24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Bash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520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Kubernetes,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Terraform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L="31750">
                        <a:lnSpc>
                          <a:spcPts val="2520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Example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ts val="252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Install</a:t>
                      </a:r>
                      <a:r>
                        <a:rPr sz="24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Nginx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52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Deploy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full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app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(DB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Web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LB)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0" y="0"/>
            <a:ext cx="12192000" cy="1261745"/>
            <a:chOff x="0" y="0"/>
            <a:chExt cx="12192000" cy="126174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1261745"/>
            </a:xfrm>
            <a:custGeom>
              <a:avLst/>
              <a:gdLst/>
              <a:ahLst/>
              <a:cxnLst/>
              <a:rect l="l" t="t" r="r" b="b"/>
              <a:pathLst>
                <a:path w="12192000" h="1261745">
                  <a:moveTo>
                    <a:pt x="0" y="1261617"/>
                  </a:moveTo>
                  <a:lnTo>
                    <a:pt x="12192000" y="1261617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261617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1203" y="0"/>
              <a:ext cx="1347978" cy="84962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2978785" marR="5080" indent="-829310">
              <a:lnSpc>
                <a:spcPts val="5250"/>
              </a:lnSpc>
              <a:spcBef>
                <a:spcPts val="234"/>
              </a:spcBef>
            </a:pPr>
            <a:r>
              <a:rPr dirty="0"/>
              <a:t>Automation</a:t>
            </a:r>
            <a:r>
              <a:rPr spc="-114" dirty="0"/>
              <a:t> </a:t>
            </a:r>
            <a:r>
              <a:rPr dirty="0"/>
              <a:t>vs.</a:t>
            </a:r>
            <a:r>
              <a:rPr spc="-110" dirty="0"/>
              <a:t> </a:t>
            </a:r>
            <a:r>
              <a:rPr spc="-10" dirty="0"/>
              <a:t>Orchestration:</a:t>
            </a:r>
            <a:r>
              <a:rPr spc="-145" dirty="0"/>
              <a:t> </a:t>
            </a:r>
            <a:r>
              <a:rPr spc="-25" dirty="0"/>
              <a:t>Key </a:t>
            </a:r>
            <a:r>
              <a:rPr spc="-10" dirty="0"/>
              <a:t>Differences</a:t>
            </a:r>
            <a:r>
              <a:rPr spc="-120" dirty="0"/>
              <a:t> </a:t>
            </a:r>
            <a:r>
              <a:rPr dirty="0"/>
              <a:t>&amp;</a:t>
            </a:r>
            <a:r>
              <a:rPr spc="-95" dirty="0"/>
              <a:t> </a:t>
            </a:r>
            <a:r>
              <a:rPr spc="-10" dirty="0"/>
              <a:t>Tools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9999" y="10992610"/>
            <a:ext cx="10170795" cy="315849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120"/>
              </a:spcBef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Calibri"/>
                <a:cs typeface="Calibri"/>
              </a:rPr>
              <a:t>Designed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minimal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nature</a:t>
            </a:r>
            <a:endParaRPr sz="2400">
              <a:latin typeface="Calibri"/>
              <a:cs typeface="Calibri"/>
            </a:endParaRPr>
          </a:p>
          <a:p>
            <a:pPr marL="194310" indent="-181610">
              <a:lnSpc>
                <a:spcPct val="100000"/>
              </a:lnSpc>
              <a:spcBef>
                <a:spcPts val="1025"/>
              </a:spcBef>
              <a:buFont typeface="Arial"/>
              <a:buChar char="•"/>
              <a:tabLst>
                <a:tab pos="194310" algn="l"/>
              </a:tabLst>
            </a:pPr>
            <a:r>
              <a:rPr sz="2400" spc="-10" dirty="0">
                <a:latin typeface="Calibri"/>
                <a:cs typeface="Calibri"/>
              </a:rPr>
              <a:t>Agentless</a:t>
            </a:r>
            <a:endParaRPr sz="2400">
              <a:latin typeface="Calibri"/>
              <a:cs typeface="Calibri"/>
            </a:endParaRPr>
          </a:p>
          <a:p>
            <a:pPr marL="194310" indent="-181610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194310" algn="l"/>
              </a:tabLst>
            </a:pPr>
            <a:r>
              <a:rPr sz="2400" spc="-25" dirty="0">
                <a:latin typeface="Calibri"/>
                <a:cs typeface="Calibri"/>
              </a:rPr>
              <a:t>SSH</a:t>
            </a:r>
            <a:endParaRPr sz="2400">
              <a:latin typeface="Calibri"/>
              <a:cs typeface="Calibri"/>
            </a:endParaRPr>
          </a:p>
          <a:p>
            <a:pPr marL="193675" marR="144145" indent="-181610">
              <a:lnSpc>
                <a:spcPts val="2590"/>
              </a:lnSpc>
              <a:spcBef>
                <a:spcPts val="1335"/>
              </a:spcBef>
              <a:buFont typeface="Arial"/>
              <a:buChar char="•"/>
              <a:tabLst>
                <a:tab pos="194945" algn="l"/>
              </a:tabLst>
            </a:pPr>
            <a:r>
              <a:rPr sz="2400" dirty="0">
                <a:latin typeface="Calibri"/>
                <a:cs typeface="Calibri"/>
              </a:rPr>
              <a:t>State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Driven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examine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decide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	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actions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taken</a:t>
            </a:r>
            <a:endParaRPr sz="2400">
              <a:latin typeface="Calibri"/>
              <a:cs typeface="Calibri"/>
            </a:endParaRPr>
          </a:p>
          <a:p>
            <a:pPr marL="193675" marR="5080" indent="-181610">
              <a:lnSpc>
                <a:spcPts val="2590"/>
              </a:lnSpc>
              <a:spcBef>
                <a:spcPts val="1310"/>
              </a:spcBef>
              <a:buFont typeface="Arial"/>
              <a:buChar char="•"/>
              <a:tabLst>
                <a:tab pos="194945" algn="l"/>
              </a:tabLst>
            </a:pPr>
            <a:r>
              <a:rPr sz="2400" dirty="0">
                <a:latin typeface="Calibri"/>
                <a:cs typeface="Calibri"/>
              </a:rPr>
              <a:t>Idempotent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safely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actions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ansible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against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not 	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determintal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effect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those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800225"/>
            <a:ext cx="10545445" cy="917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Orchestration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refers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coordinating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tasks,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plays,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playbooks </a:t>
            </a:r>
            <a:r>
              <a:rPr sz="2400" dirty="0">
                <a:latin typeface="Calibri"/>
                <a:cs typeface="Calibri"/>
              </a:rPr>
              <a:t>across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specific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achieve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desired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state.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involves: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sz="2400" dirty="0">
                <a:latin typeface="Calibri"/>
                <a:cs typeface="Calibri"/>
              </a:rPr>
              <a:t>Managing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dependencies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tasks.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sz="2400" dirty="0">
                <a:latin typeface="Calibri"/>
                <a:cs typeface="Calibri"/>
              </a:rPr>
              <a:t>Controlling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across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hosts.</a:t>
            </a:r>
            <a:endParaRPr sz="2400">
              <a:latin typeface="Calibri"/>
              <a:cs typeface="Calibri"/>
            </a:endParaRPr>
          </a:p>
          <a:p>
            <a:pPr marL="12700" marR="1729739">
              <a:lnSpc>
                <a:spcPct val="200000"/>
              </a:lnSpc>
            </a:pPr>
            <a:r>
              <a:rPr sz="2400" dirty="0">
                <a:latin typeface="Calibri"/>
                <a:cs typeface="Calibri"/>
              </a:rPr>
              <a:t>Handling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rolling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updates,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canary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deployments,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complex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workflows. Serialization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Ansible</a:t>
            </a:r>
            <a:endParaRPr sz="2400">
              <a:latin typeface="Calibri"/>
              <a:cs typeface="Calibri"/>
            </a:endParaRPr>
          </a:p>
          <a:p>
            <a:pPr marL="12700" marR="16383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Serialization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subset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orchestration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another </a:t>
            </a:r>
            <a:r>
              <a:rPr sz="2400" dirty="0">
                <a:latin typeface="Calibri"/>
                <a:cs typeface="Calibri"/>
              </a:rPr>
              <a:t>(sequentially)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rather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parallel.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controlled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using: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85"/>
              </a:spcBef>
            </a:pPr>
            <a:r>
              <a:rPr sz="2400" dirty="0">
                <a:latin typeface="Calibri"/>
                <a:cs typeface="Calibri"/>
              </a:rPr>
              <a:t>serial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keyword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limit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hosts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once).</a:t>
            </a:r>
            <a:endParaRPr sz="2400">
              <a:latin typeface="Calibri"/>
              <a:cs typeface="Calibri"/>
            </a:endParaRPr>
          </a:p>
          <a:p>
            <a:pPr marL="12700" marR="890905">
              <a:lnSpc>
                <a:spcPct val="200000"/>
              </a:lnSpc>
            </a:pPr>
            <a:r>
              <a:rPr sz="2400" spc="-10" dirty="0">
                <a:latin typeface="Calibri"/>
                <a:cs typeface="Calibri"/>
              </a:rPr>
              <a:t>strategy: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linear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(default,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hosts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before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moving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task). strategy: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free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(allows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hosts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independently).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sz="2400" dirty="0">
                <a:latin typeface="Calibri"/>
                <a:cs typeface="Calibri"/>
              </a:rPr>
              <a:t>Key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Difference</a:t>
            </a:r>
            <a:endParaRPr sz="2400">
              <a:latin typeface="Calibri"/>
              <a:cs typeface="Calibri"/>
            </a:endParaRPr>
          </a:p>
          <a:p>
            <a:pPr marL="12700" marR="47879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Orchestration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workflows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across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deploying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app </a:t>
            </a:r>
            <a:r>
              <a:rPr sz="2400" dirty="0">
                <a:latin typeface="Calibri"/>
                <a:cs typeface="Calibri"/>
              </a:rPr>
              <a:t>servers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ready).</a:t>
            </a:r>
            <a:endParaRPr sz="2400">
              <a:latin typeface="Calibri"/>
              <a:cs typeface="Calibri"/>
            </a:endParaRPr>
          </a:p>
          <a:p>
            <a:pPr marL="12700" marR="462280">
              <a:lnSpc>
                <a:spcPct val="100000"/>
              </a:lnSpc>
              <a:spcBef>
                <a:spcPts val="2880"/>
              </a:spcBef>
            </a:pPr>
            <a:r>
              <a:rPr sz="2400" spc="-10" dirty="0">
                <a:latin typeface="Calibri"/>
                <a:cs typeface="Calibri"/>
              </a:rPr>
              <a:t>Serialization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Controlling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hosts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updating </a:t>
            </a:r>
            <a:r>
              <a:rPr sz="2400" dirty="0">
                <a:latin typeface="Calibri"/>
                <a:cs typeface="Calibri"/>
              </a:rPr>
              <a:t>servers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batches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2).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192000" cy="849630"/>
            <a:chOff x="0" y="0"/>
            <a:chExt cx="12192000" cy="84963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584835"/>
            </a:xfrm>
            <a:custGeom>
              <a:avLst/>
              <a:gdLst/>
              <a:ahLst/>
              <a:cxnLst/>
              <a:rect l="l" t="t" r="r" b="b"/>
              <a:pathLst>
                <a:path w="12192000" h="584835">
                  <a:moveTo>
                    <a:pt x="0" y="584580"/>
                  </a:moveTo>
                  <a:lnTo>
                    <a:pt x="12192000" y="58458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8458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1472" y="0"/>
              <a:ext cx="1347977" cy="84962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992882" y="-184328"/>
            <a:ext cx="53105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Orchestration</a:t>
            </a:r>
            <a:r>
              <a:rPr spc="-160" dirty="0"/>
              <a:t> </a:t>
            </a:r>
            <a:r>
              <a:rPr dirty="0"/>
              <a:t>in</a:t>
            </a:r>
            <a:r>
              <a:rPr spc="-130" dirty="0"/>
              <a:t> </a:t>
            </a:r>
            <a:r>
              <a:rPr spc="-10" dirty="0"/>
              <a:t>Ansible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0" y="10236706"/>
            <a:ext cx="12192000" cy="1174750"/>
            <a:chOff x="0" y="10236706"/>
            <a:chExt cx="12192000" cy="1174750"/>
          </a:xfrm>
        </p:grpSpPr>
        <p:sp>
          <p:nvSpPr>
            <p:cNvPr id="9" name="object 9"/>
            <p:cNvSpPr/>
            <p:nvPr/>
          </p:nvSpPr>
          <p:spPr>
            <a:xfrm>
              <a:off x="0" y="10375695"/>
              <a:ext cx="12192000" cy="769620"/>
            </a:xfrm>
            <a:custGeom>
              <a:avLst/>
              <a:gdLst/>
              <a:ahLst/>
              <a:cxnLst/>
              <a:rect l="l" t="t" r="r" b="b"/>
              <a:pathLst>
                <a:path w="12192000" h="769620">
                  <a:moveTo>
                    <a:pt x="12192000" y="0"/>
                  </a:moveTo>
                  <a:lnTo>
                    <a:pt x="0" y="0"/>
                  </a:lnTo>
                  <a:lnTo>
                    <a:pt x="0" y="769442"/>
                  </a:lnTo>
                  <a:lnTo>
                    <a:pt x="12192000" y="76944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0516" y="10236706"/>
              <a:ext cx="1347978" cy="117424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203450" y="10377677"/>
            <a:ext cx="728090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20" dirty="0">
                <a:solidFill>
                  <a:srgbClr val="FFFFFF"/>
                </a:solidFill>
                <a:latin typeface="Calibri Light"/>
                <a:cs typeface="Calibri Light"/>
              </a:rPr>
              <a:t>Ansible</a:t>
            </a:r>
            <a:r>
              <a:rPr sz="4400" b="0" spc="-2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b="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4400" b="0" spc="-19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b="0" spc="-50" dirty="0">
                <a:solidFill>
                  <a:srgbClr val="FFFFFF"/>
                </a:solidFill>
                <a:latin typeface="Calibri Light"/>
                <a:cs typeface="Calibri Light"/>
              </a:rPr>
              <a:t>System</a:t>
            </a:r>
            <a:r>
              <a:rPr sz="4400" b="0" spc="-2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b="0" spc="-35" dirty="0">
                <a:solidFill>
                  <a:srgbClr val="FFFFFF"/>
                </a:solidFill>
                <a:latin typeface="Calibri Light"/>
                <a:cs typeface="Calibri Light"/>
              </a:rPr>
              <a:t>Configuration</a:t>
            </a:r>
            <a:endParaRPr sz="4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8300" y="2487"/>
            <a:ext cx="3646804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b="1" spc="-25" dirty="0">
                <a:solidFill>
                  <a:srgbClr val="4471C4"/>
                </a:solidFill>
                <a:latin typeface="Calibri"/>
                <a:cs typeface="Calibri"/>
              </a:rPr>
              <a:t>Orchestration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8300" y="768831"/>
            <a:ext cx="7817484" cy="1110869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300" dirty="0">
                <a:latin typeface="Calibri"/>
                <a:cs typeface="Calibri"/>
              </a:rPr>
              <a:t>--</a:t>
            </a:r>
            <a:r>
              <a:rPr sz="2300" spc="-50" dirty="0">
                <a:latin typeface="Calibri"/>
                <a:cs typeface="Calibri"/>
              </a:rPr>
              <a:t>-</a:t>
            </a:r>
            <a:endParaRPr sz="2300">
              <a:latin typeface="Calibri"/>
              <a:cs typeface="Calibri"/>
            </a:endParaRPr>
          </a:p>
          <a:p>
            <a:pPr marL="144780" marR="3046730" indent="-132715">
              <a:lnSpc>
                <a:spcPts val="3240"/>
              </a:lnSpc>
              <a:spcBef>
                <a:spcPts val="175"/>
              </a:spcBef>
              <a:buChar char="-"/>
              <a:tabLst>
                <a:tab pos="144780" algn="l"/>
                <a:tab pos="167640" algn="l"/>
              </a:tabLst>
            </a:pPr>
            <a:r>
              <a:rPr sz="2300" dirty="0">
                <a:latin typeface="Calibri"/>
                <a:cs typeface="Calibri"/>
              </a:rPr>
              <a:t>	name: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Test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Local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Ansible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Orchestration </a:t>
            </a:r>
            <a:r>
              <a:rPr sz="2300" dirty="0">
                <a:latin typeface="Calibri"/>
                <a:cs typeface="Calibri"/>
              </a:rPr>
              <a:t>hosts: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local</a:t>
            </a:r>
            <a:endParaRPr sz="2300">
              <a:latin typeface="Calibri"/>
              <a:cs typeface="Calibri"/>
            </a:endParaRPr>
          </a:p>
          <a:p>
            <a:pPr marL="144780">
              <a:lnSpc>
                <a:spcPct val="100000"/>
              </a:lnSpc>
              <a:spcBef>
                <a:spcPts val="280"/>
              </a:spcBef>
            </a:pPr>
            <a:r>
              <a:rPr sz="2300" spc="-10" dirty="0">
                <a:latin typeface="Calibri"/>
                <a:cs typeface="Calibri"/>
              </a:rPr>
              <a:t>gather_facts: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yes</a:t>
            </a:r>
            <a:endParaRPr sz="2300">
              <a:latin typeface="Calibri"/>
              <a:cs typeface="Calibri"/>
            </a:endParaRPr>
          </a:p>
          <a:p>
            <a:pPr marL="144780">
              <a:lnSpc>
                <a:spcPct val="100000"/>
              </a:lnSpc>
              <a:spcBef>
                <a:spcPts val="470"/>
              </a:spcBef>
              <a:tabLst>
                <a:tab pos="2098675" algn="l"/>
              </a:tabLst>
            </a:pPr>
            <a:r>
              <a:rPr sz="2300" dirty="0">
                <a:latin typeface="Calibri"/>
                <a:cs typeface="Calibri"/>
              </a:rPr>
              <a:t>become: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yes</a:t>
            </a:r>
            <a:r>
              <a:rPr sz="2300" dirty="0">
                <a:latin typeface="Calibri"/>
                <a:cs typeface="Calibri"/>
              </a:rPr>
              <a:t>	#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Run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sudo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if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needed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means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root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level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access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2300">
              <a:latin typeface="Calibri"/>
              <a:cs typeface="Calibri"/>
            </a:endParaRPr>
          </a:p>
          <a:p>
            <a:pPr marL="144780">
              <a:lnSpc>
                <a:spcPct val="100000"/>
              </a:lnSpc>
            </a:pPr>
            <a:r>
              <a:rPr sz="2300" spc="-10" dirty="0">
                <a:latin typeface="Calibri"/>
                <a:cs typeface="Calibri"/>
              </a:rPr>
              <a:t>tasks:</a:t>
            </a:r>
            <a:endParaRPr sz="2300">
              <a:latin typeface="Calibri"/>
              <a:cs typeface="Calibri"/>
            </a:endParaRPr>
          </a:p>
          <a:p>
            <a:pPr marL="434975" lvl="1" indent="-155575">
              <a:lnSpc>
                <a:spcPct val="100000"/>
              </a:lnSpc>
              <a:spcBef>
                <a:spcPts val="470"/>
              </a:spcBef>
              <a:buChar char="-"/>
              <a:tabLst>
                <a:tab pos="434975" algn="l"/>
              </a:tabLst>
            </a:pPr>
            <a:r>
              <a:rPr sz="2300" dirty="0">
                <a:latin typeface="Calibri"/>
                <a:cs typeface="Calibri"/>
              </a:rPr>
              <a:t>name: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Create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test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directory</a:t>
            </a:r>
            <a:endParaRPr sz="2300">
              <a:latin typeface="Calibri"/>
              <a:cs typeface="Calibri"/>
            </a:endParaRPr>
          </a:p>
          <a:p>
            <a:pPr marL="411480">
              <a:lnSpc>
                <a:spcPct val="100000"/>
              </a:lnSpc>
              <a:spcBef>
                <a:spcPts val="480"/>
              </a:spcBef>
            </a:pPr>
            <a:r>
              <a:rPr sz="2300" spc="-10" dirty="0">
                <a:latin typeface="Calibri"/>
                <a:cs typeface="Calibri"/>
              </a:rPr>
              <a:t>file:</a:t>
            </a:r>
            <a:endParaRPr sz="2300">
              <a:latin typeface="Calibri"/>
              <a:cs typeface="Calibri"/>
            </a:endParaRPr>
          </a:p>
          <a:p>
            <a:pPr marL="546100" marR="4431030">
              <a:lnSpc>
                <a:spcPct val="117000"/>
              </a:lnSpc>
            </a:pPr>
            <a:r>
              <a:rPr sz="2300" dirty="0">
                <a:latin typeface="Calibri"/>
                <a:cs typeface="Calibri"/>
              </a:rPr>
              <a:t>path: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/tmp/ansible_test </a:t>
            </a:r>
            <a:r>
              <a:rPr sz="2300" dirty="0">
                <a:latin typeface="Calibri"/>
                <a:cs typeface="Calibri"/>
              </a:rPr>
              <a:t>state:</a:t>
            </a:r>
            <a:r>
              <a:rPr sz="2300" spc="-1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directory</a:t>
            </a:r>
            <a:endParaRPr sz="2300">
              <a:latin typeface="Calibri"/>
              <a:cs typeface="Calibri"/>
            </a:endParaRPr>
          </a:p>
          <a:p>
            <a:pPr marL="546100">
              <a:lnSpc>
                <a:spcPct val="100000"/>
              </a:lnSpc>
              <a:spcBef>
                <a:spcPts val="480"/>
              </a:spcBef>
            </a:pPr>
            <a:r>
              <a:rPr sz="2300" dirty="0">
                <a:latin typeface="Calibri"/>
                <a:cs typeface="Calibri"/>
              </a:rPr>
              <a:t>mode: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'0755'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300">
              <a:latin typeface="Calibri"/>
              <a:cs typeface="Calibri"/>
            </a:endParaRPr>
          </a:p>
          <a:p>
            <a:pPr marL="411480" marR="4735195" lvl="1" indent="-132715">
              <a:lnSpc>
                <a:spcPct val="117400"/>
              </a:lnSpc>
              <a:buChar char="-"/>
              <a:tabLst>
                <a:tab pos="411480" algn="l"/>
                <a:tab pos="434340" algn="l"/>
              </a:tabLst>
            </a:pPr>
            <a:r>
              <a:rPr sz="2300" dirty="0">
                <a:latin typeface="Calibri"/>
                <a:cs typeface="Calibri"/>
              </a:rPr>
              <a:t>	name: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Write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test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file </a:t>
            </a:r>
            <a:r>
              <a:rPr sz="2300" spc="-10" dirty="0">
                <a:latin typeface="Calibri"/>
                <a:cs typeface="Calibri"/>
              </a:rPr>
              <a:t>copy:</a:t>
            </a:r>
            <a:endParaRPr sz="2300">
              <a:latin typeface="Calibri"/>
              <a:cs typeface="Calibri"/>
            </a:endParaRPr>
          </a:p>
          <a:p>
            <a:pPr marL="546100" marR="2445385">
              <a:lnSpc>
                <a:spcPts val="3229"/>
              </a:lnSpc>
              <a:spcBef>
                <a:spcPts val="185"/>
              </a:spcBef>
            </a:pPr>
            <a:r>
              <a:rPr sz="2300" spc="-10" dirty="0">
                <a:latin typeface="Calibri"/>
                <a:cs typeface="Calibri"/>
              </a:rPr>
              <a:t>content: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"Hello,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Ansible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running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locally!" </a:t>
            </a:r>
            <a:r>
              <a:rPr sz="2300" dirty="0">
                <a:latin typeface="Calibri"/>
                <a:cs typeface="Calibri"/>
              </a:rPr>
              <a:t>dest: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/tmp/ansible_test/test.txt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2300">
              <a:latin typeface="Calibri"/>
              <a:cs typeface="Calibri"/>
            </a:endParaRPr>
          </a:p>
          <a:p>
            <a:pPr marL="411480" marR="3238500" lvl="1" indent="-132715">
              <a:lnSpc>
                <a:spcPct val="117000"/>
              </a:lnSpc>
              <a:buChar char="-"/>
              <a:tabLst>
                <a:tab pos="411480" algn="l"/>
                <a:tab pos="434340" algn="l"/>
                <a:tab pos="1014094" algn="l"/>
              </a:tabLst>
            </a:pPr>
            <a:r>
              <a:rPr sz="2300" dirty="0">
                <a:latin typeface="Calibri"/>
                <a:cs typeface="Calibri"/>
              </a:rPr>
              <a:t>	name: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Install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package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(e.g.,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htop) </a:t>
            </a:r>
            <a:r>
              <a:rPr sz="2300" spc="-20" dirty="0">
                <a:latin typeface="Calibri"/>
                <a:cs typeface="Calibri"/>
              </a:rPr>
              <a:t>apt:</a:t>
            </a:r>
            <a:r>
              <a:rPr sz="2300" dirty="0">
                <a:latin typeface="Calibri"/>
                <a:cs typeface="Calibri"/>
              </a:rPr>
              <a:t>	#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Debian/Ubuntu</a:t>
            </a:r>
            <a:endParaRPr sz="2300">
              <a:latin typeface="Calibri"/>
              <a:cs typeface="Calibri"/>
            </a:endParaRPr>
          </a:p>
          <a:p>
            <a:pPr marL="546100" marR="5627370">
              <a:lnSpc>
                <a:spcPct val="117000"/>
              </a:lnSpc>
              <a:spcBef>
                <a:spcPts val="15"/>
              </a:spcBef>
            </a:pPr>
            <a:r>
              <a:rPr sz="2300" dirty="0">
                <a:latin typeface="Calibri"/>
                <a:cs typeface="Calibri"/>
              </a:rPr>
              <a:t>name:</a:t>
            </a:r>
            <a:r>
              <a:rPr sz="2300" spc="-20" dirty="0">
                <a:latin typeface="Calibri"/>
                <a:cs typeface="Calibri"/>
              </a:rPr>
              <a:t> htop </a:t>
            </a:r>
            <a:r>
              <a:rPr sz="2300" dirty="0">
                <a:latin typeface="Calibri"/>
                <a:cs typeface="Calibri"/>
              </a:rPr>
              <a:t>state:</a:t>
            </a:r>
            <a:r>
              <a:rPr sz="2300" spc="-1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present</a:t>
            </a:r>
            <a:endParaRPr sz="2300">
              <a:latin typeface="Calibri"/>
              <a:cs typeface="Calibri"/>
            </a:endParaRPr>
          </a:p>
          <a:p>
            <a:pPr marL="411480">
              <a:lnSpc>
                <a:spcPct val="100000"/>
              </a:lnSpc>
              <a:spcBef>
                <a:spcPts val="465"/>
              </a:spcBef>
            </a:pPr>
            <a:r>
              <a:rPr sz="2300" dirty="0">
                <a:latin typeface="Calibri"/>
                <a:cs typeface="Calibri"/>
              </a:rPr>
              <a:t>when: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ansible_os_family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==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'Debian'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2300">
              <a:latin typeface="Calibri"/>
              <a:cs typeface="Calibri"/>
            </a:endParaRPr>
          </a:p>
          <a:p>
            <a:pPr marL="411480" marR="4686300" lvl="1" indent="-132715">
              <a:lnSpc>
                <a:spcPct val="117000"/>
              </a:lnSpc>
              <a:buChar char="-"/>
              <a:tabLst>
                <a:tab pos="411480" algn="l"/>
                <a:tab pos="434340" algn="l"/>
              </a:tabLst>
            </a:pPr>
            <a:r>
              <a:rPr sz="2300" dirty="0">
                <a:latin typeface="Calibri"/>
                <a:cs typeface="Calibri"/>
              </a:rPr>
              <a:t>	name: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Print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message debug:</a:t>
            </a:r>
            <a:endParaRPr sz="2300">
              <a:latin typeface="Calibri"/>
              <a:cs typeface="Calibri"/>
            </a:endParaRPr>
          </a:p>
          <a:p>
            <a:pPr marL="546100">
              <a:lnSpc>
                <a:spcPct val="100000"/>
              </a:lnSpc>
              <a:spcBef>
                <a:spcPts val="480"/>
              </a:spcBef>
            </a:pPr>
            <a:r>
              <a:rPr sz="2300" dirty="0">
                <a:latin typeface="Calibri"/>
                <a:cs typeface="Calibri"/>
              </a:rPr>
              <a:t>msg: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"Ansible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working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locally!"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4885" y="1087881"/>
            <a:ext cx="6142227" cy="39246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73405" y="5370829"/>
            <a:ext cx="1105535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5"/>
              </a:lnSpc>
            </a:pPr>
            <a:r>
              <a:rPr sz="2400" dirty="0">
                <a:latin typeface="Calibri"/>
                <a:cs typeface="Calibri"/>
              </a:rPr>
              <a:t>hosts: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all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0654" y="5710554"/>
            <a:ext cx="104559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6668770" algn="l"/>
              </a:tabLst>
            </a:pPr>
            <a:r>
              <a:rPr sz="2400" dirty="0">
                <a:latin typeface="Calibri"/>
                <a:cs typeface="Calibri"/>
              </a:rPr>
              <a:t>Meaning: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target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hosts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playbook.</a:t>
            </a:r>
            <a:r>
              <a:rPr sz="2400" dirty="0">
                <a:latin typeface="Calibri"/>
                <a:cs typeface="Calibri"/>
              </a:rPr>
              <a:t>	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single system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webserver.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3405" y="6833869"/>
            <a:ext cx="1550035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5"/>
              </a:lnSpc>
            </a:pPr>
            <a:r>
              <a:rPr sz="2400" dirty="0">
                <a:latin typeface="Calibri"/>
                <a:cs typeface="Calibri"/>
              </a:rPr>
              <a:t>become: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yes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0654" y="7173848"/>
            <a:ext cx="1032192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Meaning: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Enables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privilege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escalation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(run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root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privileged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user). Details: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Equivalent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Linux.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Required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installing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packages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(apt)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services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(service).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3405" y="9028429"/>
            <a:ext cx="53721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5"/>
              </a:lnSpc>
            </a:pPr>
            <a:r>
              <a:rPr sz="2400" spc="-55" dirty="0">
                <a:latin typeface="Calibri"/>
                <a:cs typeface="Calibri"/>
              </a:rPr>
              <a:t>Taks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3405" y="9400285"/>
            <a:ext cx="4054475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30"/>
              </a:lnSpc>
            </a:pPr>
            <a:r>
              <a:rPr sz="2400" dirty="0">
                <a:latin typeface="Calibri"/>
                <a:cs typeface="Calibri"/>
              </a:rPr>
              <a:t>-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"Ensure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NTP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installed"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3405" y="9766044"/>
            <a:ext cx="639445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2730"/>
              </a:lnSpc>
            </a:pPr>
            <a:r>
              <a:rPr sz="2400" spc="-20" dirty="0">
                <a:latin typeface="Calibri"/>
                <a:cs typeface="Calibri"/>
              </a:rPr>
              <a:t>apt: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3405" y="10131805"/>
            <a:ext cx="1070610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ts val="2730"/>
              </a:lnSpc>
            </a:pPr>
            <a:r>
              <a:rPr sz="2400" spc="-10" dirty="0">
                <a:latin typeface="Calibri"/>
                <a:cs typeface="Calibri"/>
              </a:rPr>
              <a:t>name: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3405" y="10497565"/>
            <a:ext cx="866140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ts val="2730"/>
              </a:lnSpc>
            </a:pPr>
            <a:r>
              <a:rPr sz="2400" dirty="0">
                <a:latin typeface="Calibri"/>
                <a:cs typeface="Calibri"/>
              </a:rPr>
              <a:t>-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ntp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3405" y="10863325"/>
            <a:ext cx="1988185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ts val="2730"/>
              </a:lnSpc>
            </a:pPr>
            <a:r>
              <a:rPr sz="2400" spc="-10" dirty="0">
                <a:latin typeface="Calibri"/>
                <a:cs typeface="Calibri"/>
              </a:rPr>
              <a:t>state: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present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0654" y="11197589"/>
            <a:ext cx="947991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name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(task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description):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Explains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task’s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purpose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logging/debugging).</a:t>
            </a:r>
            <a:endParaRPr sz="2400">
              <a:latin typeface="Calibri"/>
              <a:cs typeface="Calibri"/>
            </a:endParaRPr>
          </a:p>
          <a:p>
            <a:pPr marL="12700" marR="1939925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apt: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Ansible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module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packages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Debian/Ubuntu. </a:t>
            </a:r>
            <a:r>
              <a:rPr sz="2400" dirty="0">
                <a:latin typeface="Calibri"/>
                <a:cs typeface="Calibri"/>
              </a:rPr>
              <a:t>name: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ntp: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package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install.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state: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present: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Ensures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package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installed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(alternatives: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absent,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latest).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3405" y="13051789"/>
            <a:ext cx="600456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0"/>
              </a:lnSpc>
            </a:pPr>
            <a:r>
              <a:rPr sz="2400" dirty="0">
                <a:latin typeface="Calibri"/>
                <a:cs typeface="Calibri"/>
              </a:rPr>
              <a:t>-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"Ensure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NTP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started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now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boot"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3405" y="13423645"/>
            <a:ext cx="1102360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2730"/>
              </a:lnSpc>
            </a:pPr>
            <a:r>
              <a:rPr sz="2400" spc="-10" dirty="0">
                <a:latin typeface="Calibri"/>
                <a:cs typeface="Calibri"/>
              </a:rPr>
              <a:t>service: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3405" y="13789404"/>
            <a:ext cx="1679575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ts val="2730"/>
              </a:lnSpc>
            </a:pPr>
            <a:r>
              <a:rPr sz="2400" dirty="0">
                <a:latin typeface="Calibri"/>
                <a:cs typeface="Calibri"/>
              </a:rPr>
              <a:t>name: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ntp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79011" y="13757605"/>
            <a:ext cx="24460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79220" algn="l"/>
                <a:tab pos="1771014" algn="l"/>
              </a:tabLst>
            </a:pPr>
            <a:r>
              <a:rPr sz="2400" spc="-10" dirty="0">
                <a:latin typeface="Calibri"/>
                <a:cs typeface="Calibri"/>
              </a:rPr>
              <a:t>//chronyd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spc="-5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same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3405" y="14155165"/>
            <a:ext cx="1922780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ts val="2735"/>
              </a:lnSpc>
            </a:pPr>
            <a:r>
              <a:rPr sz="2400" spc="-10" dirty="0">
                <a:latin typeface="Calibri"/>
                <a:cs typeface="Calibri"/>
              </a:rPr>
              <a:t>state: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started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3405" y="14520926"/>
            <a:ext cx="1843405" cy="3657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enabled: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yes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0654" y="14855443"/>
            <a:ext cx="765111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7106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service: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Ansible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module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services. </a:t>
            </a:r>
            <a:r>
              <a:rPr sz="2400" dirty="0">
                <a:latin typeface="Calibri"/>
                <a:cs typeface="Calibri"/>
              </a:rPr>
              <a:t>name: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ntp: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Targets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ntp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service.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state: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started: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Ensures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service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running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immediately. </a:t>
            </a:r>
            <a:r>
              <a:rPr sz="2400" dirty="0">
                <a:latin typeface="Calibri"/>
                <a:cs typeface="Calibri"/>
              </a:rPr>
              <a:t>enabled: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yes: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Ensures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service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starts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automatically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boot.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0"/>
            <a:ext cx="12192000" cy="1034415"/>
            <a:chOff x="0" y="0"/>
            <a:chExt cx="12192000" cy="1034415"/>
          </a:xfrm>
        </p:grpSpPr>
        <p:sp>
          <p:nvSpPr>
            <p:cNvPr id="22" name="object 22"/>
            <p:cNvSpPr/>
            <p:nvPr/>
          </p:nvSpPr>
          <p:spPr>
            <a:xfrm>
              <a:off x="0" y="50"/>
              <a:ext cx="12192000" cy="769620"/>
            </a:xfrm>
            <a:custGeom>
              <a:avLst/>
              <a:gdLst/>
              <a:ahLst/>
              <a:cxnLst/>
              <a:rect l="l" t="t" r="r" b="b"/>
              <a:pathLst>
                <a:path w="12192000" h="769620">
                  <a:moveTo>
                    <a:pt x="12192000" y="0"/>
                  </a:moveTo>
                  <a:lnTo>
                    <a:pt x="0" y="0"/>
                  </a:lnTo>
                  <a:lnTo>
                    <a:pt x="0" y="769442"/>
                  </a:lnTo>
                  <a:lnTo>
                    <a:pt x="12192000" y="76944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2103" y="0"/>
              <a:ext cx="1347978" cy="1034033"/>
            </a:xfrm>
            <a:prstGeom prst="rect">
              <a:avLst/>
            </a:prstGeom>
          </p:spPr>
        </p:pic>
      </p:grp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8044" rIns="0" bIns="0" rtlCol="0">
            <a:spAutoFit/>
          </a:bodyPr>
          <a:lstStyle/>
          <a:p>
            <a:pPr marL="1609090">
              <a:lnSpc>
                <a:spcPct val="100000"/>
              </a:lnSpc>
              <a:spcBef>
                <a:spcPts val="100"/>
              </a:spcBef>
            </a:pPr>
            <a:r>
              <a:rPr dirty="0"/>
              <a:t>e.g:</a:t>
            </a:r>
            <a:r>
              <a:rPr spc="-165" dirty="0"/>
              <a:t> </a:t>
            </a:r>
            <a:r>
              <a:rPr spc="-20" dirty="0"/>
              <a:t>Ansible</a:t>
            </a:r>
            <a:r>
              <a:rPr spc="-180" dirty="0"/>
              <a:t> </a:t>
            </a:r>
            <a:r>
              <a:rPr dirty="0"/>
              <a:t>For</a:t>
            </a:r>
            <a:r>
              <a:rPr spc="-175" dirty="0"/>
              <a:t> </a:t>
            </a:r>
            <a:r>
              <a:rPr spc="-50" dirty="0"/>
              <a:t>System</a:t>
            </a:r>
            <a:r>
              <a:rPr spc="-200" dirty="0"/>
              <a:t> </a:t>
            </a:r>
            <a:r>
              <a:rPr spc="-35" dirty="0"/>
              <a:t>Configuration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034415"/>
            <a:chOff x="0" y="0"/>
            <a:chExt cx="12192000" cy="1034415"/>
          </a:xfrm>
        </p:grpSpPr>
        <p:sp>
          <p:nvSpPr>
            <p:cNvPr id="3" name="object 3"/>
            <p:cNvSpPr/>
            <p:nvPr/>
          </p:nvSpPr>
          <p:spPr>
            <a:xfrm>
              <a:off x="0" y="50"/>
              <a:ext cx="12192000" cy="769620"/>
            </a:xfrm>
            <a:custGeom>
              <a:avLst/>
              <a:gdLst/>
              <a:ahLst/>
              <a:cxnLst/>
              <a:rect l="l" t="t" r="r" b="b"/>
              <a:pathLst>
                <a:path w="12192000" h="769620">
                  <a:moveTo>
                    <a:pt x="12192000" y="0"/>
                  </a:moveTo>
                  <a:lnTo>
                    <a:pt x="0" y="0"/>
                  </a:lnTo>
                  <a:lnTo>
                    <a:pt x="0" y="769442"/>
                  </a:lnTo>
                  <a:lnTo>
                    <a:pt x="12192000" y="76944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103" y="0"/>
              <a:ext cx="1347978" cy="1034033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8044" rIns="0" bIns="0" rtlCol="0">
            <a:spAutoFit/>
          </a:bodyPr>
          <a:lstStyle/>
          <a:p>
            <a:pPr marL="1609090">
              <a:lnSpc>
                <a:spcPct val="100000"/>
              </a:lnSpc>
              <a:spcBef>
                <a:spcPts val="100"/>
              </a:spcBef>
            </a:pPr>
            <a:r>
              <a:rPr dirty="0"/>
              <a:t>e.g:</a:t>
            </a:r>
            <a:r>
              <a:rPr spc="-165" dirty="0"/>
              <a:t> </a:t>
            </a:r>
            <a:r>
              <a:rPr spc="-20" dirty="0"/>
              <a:t>Ansible</a:t>
            </a:r>
            <a:r>
              <a:rPr spc="-180" dirty="0"/>
              <a:t> </a:t>
            </a:r>
            <a:r>
              <a:rPr dirty="0"/>
              <a:t>For</a:t>
            </a:r>
            <a:r>
              <a:rPr spc="-175" dirty="0"/>
              <a:t> </a:t>
            </a:r>
            <a:r>
              <a:rPr spc="-50" dirty="0"/>
              <a:t>System</a:t>
            </a:r>
            <a:r>
              <a:rPr spc="-200" dirty="0"/>
              <a:t> </a:t>
            </a:r>
            <a:r>
              <a:rPr spc="-35" dirty="0"/>
              <a:t>Configuration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7561" y="1075816"/>
            <a:ext cx="7712075" cy="94922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3166" y="10669053"/>
            <a:ext cx="10905617" cy="41944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21868" y="11334114"/>
            <a:ext cx="99599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Ansible,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handlers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notified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another </a:t>
            </a:r>
            <a:r>
              <a:rPr sz="2400" dirty="0">
                <a:latin typeface="Calibri"/>
                <a:cs typeface="Calibri"/>
              </a:rPr>
              <a:t>task.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However,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changed_when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condition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properly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configured,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handler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trigger,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reports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change.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3166" y="13102538"/>
            <a:ext cx="10492105" cy="1200785"/>
          </a:xfrm>
          <a:prstGeom prst="rect">
            <a:avLst/>
          </a:prstGeom>
          <a:solidFill>
            <a:srgbClr val="D0CECE"/>
          </a:solidFill>
        </p:spPr>
        <p:txBody>
          <a:bodyPr vert="horz" wrap="square" lIns="0" tIns="26670" rIns="0" bIns="0" rtlCol="0">
            <a:spAutoFit/>
          </a:bodyPr>
          <a:lstStyle/>
          <a:p>
            <a:pPr marL="90805" marR="3566160">
              <a:lnSpc>
                <a:spcPct val="100000"/>
              </a:lnSpc>
              <a:spcBef>
                <a:spcPts val="210"/>
              </a:spcBef>
            </a:pPr>
            <a:r>
              <a:rPr sz="2400" spc="-25" dirty="0">
                <a:latin typeface="Calibri"/>
                <a:cs typeface="Calibri"/>
              </a:rPr>
              <a:t>Task: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Updates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config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detected. </a:t>
            </a:r>
            <a:r>
              <a:rPr sz="2400" dirty="0">
                <a:latin typeface="Calibri"/>
                <a:cs typeface="Calibri"/>
              </a:rPr>
              <a:t>Handler: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Restarts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service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notified.</a:t>
            </a:r>
            <a:endParaRPr sz="24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Verification: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v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--</a:t>
            </a:r>
            <a:r>
              <a:rPr sz="2400" dirty="0">
                <a:latin typeface="Calibri"/>
                <a:cs typeface="Calibri"/>
              </a:rPr>
              <a:t>check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validate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behavior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before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execution.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849" y="171068"/>
            <a:ext cx="5433060" cy="101600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2400" b="1" dirty="0">
                <a:latin typeface="Calibri"/>
                <a:cs typeface="Calibri"/>
              </a:rPr>
              <a:t>i.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Remove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changed_when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(Recommended)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2400" dirty="0">
                <a:latin typeface="Calibri"/>
                <a:cs typeface="Calibri"/>
              </a:rPr>
              <a:t>Let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Ansible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detect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naturally: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3422" y="1316100"/>
            <a:ext cx="71374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5"/>
              </a:lnSpc>
            </a:pPr>
            <a:r>
              <a:rPr sz="2400" spc="-10" dirty="0">
                <a:latin typeface="Calibri"/>
                <a:cs typeface="Calibri"/>
              </a:rPr>
              <a:t>tasks: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3422" y="1809876"/>
            <a:ext cx="6411595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37160">
              <a:lnSpc>
                <a:spcPts val="2775"/>
              </a:lnSpc>
              <a:tabLst>
                <a:tab pos="3469004" algn="l"/>
              </a:tabLst>
            </a:pPr>
            <a:r>
              <a:rPr sz="2400" dirty="0">
                <a:latin typeface="Calibri"/>
                <a:cs typeface="Calibri"/>
              </a:rPr>
              <a:t>-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Update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config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file</a:t>
            </a:r>
            <a:r>
              <a:rPr sz="2400" dirty="0">
                <a:latin typeface="Calibri"/>
                <a:cs typeface="Calibri"/>
              </a:rPr>
              <a:t>	#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Descriptive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name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3422" y="2305176"/>
            <a:ext cx="147574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ts val="2775"/>
              </a:lnSpc>
            </a:pPr>
            <a:r>
              <a:rPr sz="2400" spc="-10" dirty="0">
                <a:latin typeface="Calibri"/>
                <a:cs typeface="Calibri"/>
              </a:rPr>
              <a:t>template: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3422" y="2798952"/>
            <a:ext cx="564388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409575">
              <a:lnSpc>
                <a:spcPts val="2775"/>
              </a:lnSpc>
              <a:tabLst>
                <a:tab pos="2645410" algn="l"/>
              </a:tabLst>
            </a:pPr>
            <a:r>
              <a:rPr sz="2400" dirty="0">
                <a:latin typeface="Calibri"/>
                <a:cs typeface="Calibri"/>
              </a:rPr>
              <a:t>src: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config.j2</a:t>
            </a:r>
            <a:r>
              <a:rPr sz="2400" dirty="0">
                <a:latin typeface="Calibri"/>
                <a:cs typeface="Calibri"/>
              </a:rPr>
              <a:t>	#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Jinja2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template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source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3422" y="3292728"/>
            <a:ext cx="834263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409575">
              <a:lnSpc>
                <a:spcPts val="2775"/>
              </a:lnSpc>
              <a:tabLst>
                <a:tab pos="3771900" algn="l"/>
              </a:tabLst>
            </a:pPr>
            <a:r>
              <a:rPr sz="2400" dirty="0">
                <a:latin typeface="Calibri"/>
                <a:cs typeface="Calibri"/>
              </a:rPr>
              <a:t>dest: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/etc/app/config.conf</a:t>
            </a:r>
            <a:r>
              <a:rPr sz="2400" dirty="0">
                <a:latin typeface="Calibri"/>
                <a:cs typeface="Calibri"/>
              </a:rPr>
              <a:t>	#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Destination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path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remote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3422" y="3788028"/>
            <a:ext cx="6363335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409575">
              <a:lnSpc>
                <a:spcPts val="2775"/>
              </a:lnSpc>
              <a:tabLst>
                <a:tab pos="2698115" algn="l"/>
              </a:tabLst>
            </a:pPr>
            <a:r>
              <a:rPr sz="2400" dirty="0">
                <a:latin typeface="Calibri"/>
                <a:cs typeface="Calibri"/>
              </a:rPr>
              <a:t>owner: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root</a:t>
            </a:r>
            <a:r>
              <a:rPr sz="2400" dirty="0">
                <a:latin typeface="Calibri"/>
                <a:cs typeface="Calibri"/>
              </a:rPr>
              <a:t>	#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Optional: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ownership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3422" y="4281804"/>
            <a:ext cx="571881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409575">
              <a:lnSpc>
                <a:spcPts val="2775"/>
              </a:lnSpc>
              <a:tabLst>
                <a:tab pos="2628900" algn="l"/>
              </a:tabLst>
            </a:pPr>
            <a:r>
              <a:rPr sz="2400" dirty="0">
                <a:latin typeface="Calibri"/>
                <a:cs typeface="Calibri"/>
              </a:rPr>
              <a:t>group: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root</a:t>
            </a:r>
            <a:r>
              <a:rPr sz="2400" dirty="0">
                <a:latin typeface="Calibri"/>
                <a:cs typeface="Calibri"/>
              </a:rPr>
              <a:t>	#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Optional: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group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3422" y="4775580"/>
            <a:ext cx="8472805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409575">
              <a:lnSpc>
                <a:spcPts val="2775"/>
              </a:lnSpc>
              <a:tabLst>
                <a:tab pos="2776220" algn="l"/>
              </a:tabLst>
            </a:pPr>
            <a:r>
              <a:rPr sz="2400" dirty="0">
                <a:latin typeface="Calibri"/>
                <a:cs typeface="Calibri"/>
              </a:rPr>
              <a:t>mode: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'0644'</a:t>
            </a:r>
            <a:r>
              <a:rPr sz="2400" dirty="0">
                <a:latin typeface="Calibri"/>
                <a:cs typeface="Calibri"/>
              </a:rPr>
              <a:t>	#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Optional: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permissions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rw-</a:t>
            </a:r>
            <a:r>
              <a:rPr sz="2400" spc="-20" dirty="0">
                <a:latin typeface="Calibri"/>
                <a:cs typeface="Calibri"/>
              </a:rPr>
              <a:t>r--r--</a:t>
            </a:r>
            <a:r>
              <a:rPr sz="2400" spc="-50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3422" y="5270880"/>
            <a:ext cx="8049259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ts val="2775"/>
              </a:lnSpc>
              <a:tabLst>
                <a:tab pos="3101340" algn="l"/>
              </a:tabLst>
            </a:pPr>
            <a:r>
              <a:rPr sz="2400" dirty="0">
                <a:latin typeface="Calibri"/>
                <a:cs typeface="Calibri"/>
              </a:rPr>
              <a:t>notify: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Restart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service</a:t>
            </a:r>
            <a:r>
              <a:rPr sz="2400" dirty="0">
                <a:latin typeface="Calibri"/>
                <a:cs typeface="Calibri"/>
              </a:rPr>
              <a:t>	#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Notifies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handler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changes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0849" y="5940042"/>
            <a:ext cx="10137775" cy="200215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400" b="1" dirty="0">
                <a:latin typeface="Calibri"/>
                <a:cs typeface="Calibri"/>
              </a:rPr>
              <a:t>ii.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changed_when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Correctly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ts val="3900"/>
              </a:lnSpc>
              <a:spcBef>
                <a:spcPts val="290"/>
              </a:spcBef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changed_when,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ensure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evaluates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true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occurs: </a:t>
            </a:r>
            <a:r>
              <a:rPr sz="2400" spc="-20" dirty="0">
                <a:latin typeface="Calibri"/>
                <a:cs typeface="Calibri"/>
              </a:rPr>
              <a:t>yaml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spc="-10" dirty="0">
                <a:latin typeface="Calibri"/>
                <a:cs typeface="Calibri"/>
              </a:rPr>
              <a:t>tasks: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3422" y="7942452"/>
            <a:ext cx="592836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37160">
              <a:lnSpc>
                <a:spcPts val="2775"/>
              </a:lnSpc>
            </a:pPr>
            <a:r>
              <a:rPr sz="2400" dirty="0">
                <a:latin typeface="Calibri"/>
                <a:cs typeface="Calibri"/>
              </a:rPr>
              <a:t>-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name: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Update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config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(conditional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change)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3422" y="8436228"/>
            <a:ext cx="147574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ts val="2775"/>
              </a:lnSpc>
            </a:pPr>
            <a:r>
              <a:rPr sz="2400" spc="-10" dirty="0">
                <a:latin typeface="Calibri"/>
                <a:cs typeface="Calibri"/>
              </a:rPr>
              <a:t>template: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3422" y="8931528"/>
            <a:ext cx="196342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409575">
              <a:lnSpc>
                <a:spcPts val="2780"/>
              </a:lnSpc>
            </a:pPr>
            <a:r>
              <a:rPr sz="2400" dirty="0">
                <a:latin typeface="Calibri"/>
                <a:cs typeface="Calibri"/>
              </a:rPr>
              <a:t>src: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config.j2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3422" y="9425304"/>
            <a:ext cx="363347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409575">
              <a:lnSpc>
                <a:spcPts val="2780"/>
              </a:lnSpc>
            </a:pPr>
            <a:r>
              <a:rPr sz="2400" dirty="0">
                <a:latin typeface="Calibri"/>
                <a:cs typeface="Calibri"/>
              </a:rPr>
              <a:t>dest: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/etc/app/config.conf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3422" y="9919080"/>
            <a:ext cx="2966085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ts val="2780"/>
              </a:lnSpc>
            </a:pPr>
            <a:r>
              <a:rPr sz="2400" dirty="0">
                <a:latin typeface="Calibri"/>
                <a:cs typeface="Calibri"/>
              </a:rPr>
              <a:t>notify: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Restart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service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3422" y="10414380"/>
            <a:ext cx="615950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ts val="2780"/>
              </a:lnSpc>
            </a:pPr>
            <a:r>
              <a:rPr sz="2400" spc="-10" dirty="0">
                <a:latin typeface="Calibri"/>
                <a:cs typeface="Calibri"/>
              </a:rPr>
              <a:t>changed_when: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"'modified'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template_result"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0849" y="10882629"/>
            <a:ext cx="8963025" cy="187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00"/>
              </a:spcBef>
              <a:tabLst>
                <a:tab pos="3478529" algn="l"/>
              </a:tabLst>
            </a:pPr>
            <a:r>
              <a:rPr sz="2400" dirty="0">
                <a:latin typeface="Calibri"/>
                <a:cs typeface="Calibri"/>
              </a:rPr>
              <a:t>#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Custom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logic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detect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changes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iii.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Force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Handler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Execution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always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handler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(even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without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changes),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meta: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3422" y="12884784"/>
            <a:ext cx="71374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0"/>
              </a:lnSpc>
            </a:pPr>
            <a:r>
              <a:rPr sz="2400" spc="-10" dirty="0">
                <a:latin typeface="Calibri"/>
                <a:cs typeface="Calibri"/>
              </a:rPr>
              <a:t>tasks: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3422" y="13380084"/>
            <a:ext cx="414020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37160">
              <a:lnSpc>
                <a:spcPts val="2780"/>
              </a:lnSpc>
            </a:pPr>
            <a:r>
              <a:rPr sz="2400" dirty="0">
                <a:latin typeface="Calibri"/>
                <a:cs typeface="Calibri"/>
              </a:rPr>
              <a:t>-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name: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handler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3422" y="13873860"/>
            <a:ext cx="2896235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ts val="2780"/>
              </a:lnSpc>
            </a:pPr>
            <a:r>
              <a:rPr sz="2400" dirty="0">
                <a:latin typeface="Calibri"/>
                <a:cs typeface="Calibri"/>
              </a:rPr>
              <a:t>meta: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flush_handlers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034415"/>
            <a:chOff x="0" y="0"/>
            <a:chExt cx="12192000" cy="1034415"/>
          </a:xfrm>
        </p:grpSpPr>
        <p:sp>
          <p:nvSpPr>
            <p:cNvPr id="3" name="object 3"/>
            <p:cNvSpPr/>
            <p:nvPr/>
          </p:nvSpPr>
          <p:spPr>
            <a:xfrm>
              <a:off x="0" y="50"/>
              <a:ext cx="12192000" cy="769620"/>
            </a:xfrm>
            <a:custGeom>
              <a:avLst/>
              <a:gdLst/>
              <a:ahLst/>
              <a:cxnLst/>
              <a:rect l="l" t="t" r="r" b="b"/>
              <a:pathLst>
                <a:path w="12192000" h="769620">
                  <a:moveTo>
                    <a:pt x="12192000" y="0"/>
                  </a:moveTo>
                  <a:lnTo>
                    <a:pt x="0" y="0"/>
                  </a:lnTo>
                  <a:lnTo>
                    <a:pt x="0" y="769442"/>
                  </a:lnTo>
                  <a:lnTo>
                    <a:pt x="12192000" y="76944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103" y="0"/>
              <a:ext cx="1347978" cy="1034033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8044" rIns="0" bIns="0" rtlCol="0">
            <a:spAutoFit/>
          </a:bodyPr>
          <a:lstStyle/>
          <a:p>
            <a:pPr marL="160909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Infrastructure</a:t>
            </a:r>
            <a:r>
              <a:rPr spc="-190" dirty="0"/>
              <a:t> </a:t>
            </a:r>
            <a:r>
              <a:rPr spc="-45" dirty="0"/>
              <a:t>Management</a:t>
            </a:r>
            <a:r>
              <a:rPr spc="-175" dirty="0"/>
              <a:t> </a:t>
            </a:r>
            <a:r>
              <a:rPr dirty="0"/>
              <a:t>With</a:t>
            </a:r>
            <a:r>
              <a:rPr spc="-185" dirty="0"/>
              <a:t> </a:t>
            </a:r>
            <a:r>
              <a:rPr spc="-10" dirty="0"/>
              <a:t>Ansible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60" dirty="0"/>
              <a:t> </a:t>
            </a:r>
            <a:r>
              <a:rPr dirty="0"/>
              <a:t>Ansible</a:t>
            </a:r>
            <a:r>
              <a:rPr spc="-50" dirty="0"/>
              <a:t> </a:t>
            </a:r>
            <a:r>
              <a:rPr spc="-10" dirty="0"/>
              <a:t>Works</a:t>
            </a:r>
            <a:r>
              <a:rPr spc="-70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dirty="0"/>
              <a:t>Cloud</a:t>
            </a:r>
            <a:r>
              <a:rPr spc="-60" dirty="0"/>
              <a:t> </a:t>
            </a:r>
            <a:r>
              <a:rPr spc="-10" dirty="0"/>
              <a:t>Technologies</a:t>
            </a:r>
          </a:p>
          <a:p>
            <a:pPr marL="12700">
              <a:lnSpc>
                <a:spcPct val="100000"/>
              </a:lnSpc>
            </a:pPr>
            <a:r>
              <a:rPr dirty="0"/>
              <a:t>i.</a:t>
            </a:r>
            <a:r>
              <a:rPr spc="-25" dirty="0"/>
              <a:t> </a:t>
            </a:r>
            <a:r>
              <a:rPr dirty="0"/>
              <a:t>Build</a:t>
            </a:r>
            <a:r>
              <a:rPr spc="-25" dirty="0"/>
              <a:t> </a:t>
            </a:r>
            <a:r>
              <a:rPr dirty="0"/>
              <a:t>Cloud</a:t>
            </a:r>
            <a:r>
              <a:rPr spc="-30" dirty="0"/>
              <a:t> </a:t>
            </a:r>
            <a:r>
              <a:rPr spc="-10" dirty="0"/>
              <a:t>Infrastructure</a:t>
            </a:r>
            <a:r>
              <a:rPr spc="-25" dirty="0"/>
              <a:t> </a:t>
            </a:r>
            <a:r>
              <a:rPr spc="-10" dirty="0"/>
              <a:t>Automatically</a:t>
            </a: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/>
              <a:t>Use</a:t>
            </a:r>
            <a:r>
              <a:rPr spc="-65" dirty="0"/>
              <a:t> </a:t>
            </a:r>
            <a:r>
              <a:rPr dirty="0"/>
              <a:t>Ansible</a:t>
            </a:r>
            <a:r>
              <a:rPr spc="-65" dirty="0"/>
              <a:t> </a:t>
            </a:r>
            <a:r>
              <a:rPr dirty="0"/>
              <a:t>playbooks</a:t>
            </a:r>
            <a:r>
              <a:rPr spc="-80" dirty="0"/>
              <a:t> </a:t>
            </a:r>
            <a:r>
              <a:rPr dirty="0"/>
              <a:t>to</a:t>
            </a:r>
            <a:r>
              <a:rPr spc="-85" dirty="0"/>
              <a:t> </a:t>
            </a:r>
            <a:r>
              <a:rPr dirty="0"/>
              <a:t>create</a:t>
            </a:r>
            <a:r>
              <a:rPr spc="-70" dirty="0"/>
              <a:t> </a:t>
            </a:r>
            <a:r>
              <a:rPr dirty="0"/>
              <a:t>servers,</a:t>
            </a:r>
            <a:r>
              <a:rPr spc="-70" dirty="0"/>
              <a:t> </a:t>
            </a:r>
            <a:r>
              <a:rPr dirty="0"/>
              <a:t>networks,</a:t>
            </a:r>
            <a:r>
              <a:rPr spc="-85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storage</a:t>
            </a:r>
            <a:r>
              <a:rPr spc="-65" dirty="0"/>
              <a:t> </a:t>
            </a:r>
            <a:r>
              <a:rPr dirty="0"/>
              <a:t>in</a:t>
            </a:r>
            <a:r>
              <a:rPr spc="-7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spc="-10" dirty="0"/>
              <a:t>cloud—</a:t>
            </a:r>
            <a:r>
              <a:rPr dirty="0"/>
              <a:t>like</a:t>
            </a:r>
            <a:r>
              <a:rPr spc="-75" dirty="0"/>
              <a:t> </a:t>
            </a:r>
            <a:r>
              <a:rPr spc="-10" dirty="0"/>
              <a:t>magic!</a:t>
            </a: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/>
              <a:t>No</a:t>
            </a:r>
            <a:r>
              <a:rPr spc="-60" dirty="0"/>
              <a:t> </a:t>
            </a:r>
            <a:r>
              <a:rPr dirty="0"/>
              <a:t>manual</a:t>
            </a:r>
            <a:r>
              <a:rPr spc="-65" dirty="0"/>
              <a:t> </a:t>
            </a:r>
            <a:r>
              <a:rPr dirty="0"/>
              <a:t>setup:</a:t>
            </a:r>
            <a:r>
              <a:rPr spc="-60" dirty="0"/>
              <a:t> </a:t>
            </a:r>
            <a:r>
              <a:rPr dirty="0"/>
              <a:t>Ansible</a:t>
            </a:r>
            <a:r>
              <a:rPr spc="-50" dirty="0"/>
              <a:t> </a:t>
            </a:r>
            <a:r>
              <a:rPr dirty="0"/>
              <a:t>can</a:t>
            </a:r>
            <a:r>
              <a:rPr spc="-65" dirty="0"/>
              <a:t> </a:t>
            </a:r>
            <a:r>
              <a:rPr dirty="0"/>
              <a:t>provision</a:t>
            </a:r>
            <a:r>
              <a:rPr spc="-4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10" dirty="0"/>
              <a:t>hardware</a:t>
            </a:r>
            <a:r>
              <a:rPr spc="-65" dirty="0"/>
              <a:t> </a:t>
            </a:r>
            <a:r>
              <a:rPr dirty="0"/>
              <a:t>(VMs,</a:t>
            </a:r>
            <a:r>
              <a:rPr spc="-60" dirty="0"/>
              <a:t> </a:t>
            </a:r>
            <a:r>
              <a:rPr spc="-10" dirty="0"/>
              <a:t>containers,</a:t>
            </a:r>
            <a:r>
              <a:rPr spc="-70" dirty="0"/>
              <a:t> </a:t>
            </a:r>
            <a:r>
              <a:rPr dirty="0"/>
              <a:t>etc.)</a:t>
            </a:r>
            <a:r>
              <a:rPr spc="-8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spc="-20" dirty="0"/>
              <a:t>you.</a:t>
            </a:r>
          </a:p>
          <a:p>
            <a:pPr marL="294005" indent="-281305">
              <a:lnSpc>
                <a:spcPct val="100000"/>
              </a:lnSpc>
              <a:spcBef>
                <a:spcPts val="2880"/>
              </a:spcBef>
              <a:buAutoNum type="romanLcPeriod" startAt="2"/>
              <a:tabLst>
                <a:tab pos="294005" algn="l"/>
              </a:tabLst>
            </a:pPr>
            <a:r>
              <a:rPr dirty="0"/>
              <a:t>Dynamic</a:t>
            </a:r>
            <a:r>
              <a:rPr spc="-80" dirty="0"/>
              <a:t> </a:t>
            </a:r>
            <a:r>
              <a:rPr spc="-10" dirty="0"/>
              <a:t>Inventory</a:t>
            </a:r>
            <a:r>
              <a:rPr spc="-60" dirty="0"/>
              <a:t> </a:t>
            </a:r>
            <a:r>
              <a:rPr dirty="0"/>
              <a:t>=</a:t>
            </a:r>
            <a:r>
              <a:rPr spc="-45" dirty="0"/>
              <a:t> </a:t>
            </a:r>
            <a:r>
              <a:rPr dirty="0"/>
              <a:t>Real</a:t>
            </a:r>
            <a:r>
              <a:rPr spc="-75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spc="-10" dirty="0"/>
              <a:t>Tracking</a:t>
            </a:r>
          </a:p>
          <a:p>
            <a:pPr marL="354965" lvl="1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400" spc="-20" dirty="0">
                <a:latin typeface="Calibri"/>
                <a:cs typeface="Calibri"/>
              </a:rPr>
              <a:t>Ansible’s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dynamic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inventory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updates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itself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add/remove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cloud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servers.</a:t>
            </a:r>
            <a:endParaRPr sz="2400">
              <a:latin typeface="Calibri"/>
              <a:cs typeface="Calibri"/>
            </a:endParaRPr>
          </a:p>
          <a:p>
            <a:pPr marL="354965" lvl="1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Example: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AWS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creates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VM,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Ansible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instantly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it.</a:t>
            </a:r>
            <a:endParaRPr sz="2400">
              <a:latin typeface="Calibri"/>
              <a:cs typeface="Calibri"/>
            </a:endParaRPr>
          </a:p>
          <a:p>
            <a:pPr marL="364490" indent="-351790">
              <a:lnSpc>
                <a:spcPct val="100000"/>
              </a:lnSpc>
              <a:spcBef>
                <a:spcPts val="2880"/>
              </a:spcBef>
              <a:buAutoNum type="romanLcPeriod" startAt="3"/>
              <a:tabLst>
                <a:tab pos="364490" algn="l"/>
              </a:tabLst>
            </a:pPr>
            <a:r>
              <a:rPr dirty="0"/>
              <a:t>Manage</a:t>
            </a:r>
            <a:r>
              <a:rPr spc="-20" dirty="0"/>
              <a:t> </a:t>
            </a:r>
            <a:r>
              <a:rPr spc="-10" dirty="0"/>
              <a:t>Virtualization</a:t>
            </a:r>
            <a:r>
              <a:rPr spc="-40" dirty="0"/>
              <a:t> </a:t>
            </a:r>
            <a:r>
              <a:rPr spc="-10" dirty="0"/>
              <a:t>Easily</a:t>
            </a:r>
          </a:p>
          <a:p>
            <a:pPr marL="354965" lvl="1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Ansible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physical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(servers,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networks)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first.</a:t>
            </a:r>
            <a:endParaRPr sz="2400">
              <a:latin typeface="Calibri"/>
              <a:cs typeface="Calibri"/>
            </a:endParaRPr>
          </a:p>
          <a:p>
            <a:pPr marL="354965" lvl="1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Then,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automates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virtualization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(like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Docker,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Kubernetes,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VMware)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top.</a:t>
            </a:r>
            <a:endParaRPr sz="2400">
              <a:latin typeface="Calibri"/>
              <a:cs typeface="Calibri"/>
            </a:endParaRPr>
          </a:p>
          <a:p>
            <a:pPr marL="338455" indent="-325755">
              <a:lnSpc>
                <a:spcPct val="100000"/>
              </a:lnSpc>
              <a:spcBef>
                <a:spcPts val="2880"/>
              </a:spcBef>
              <a:buAutoNum type="romanLcPeriod" startAt="4"/>
              <a:tabLst>
                <a:tab pos="338455" algn="l"/>
              </a:tabLst>
            </a:pPr>
            <a:r>
              <a:rPr spc="-10" dirty="0"/>
              <a:t>Works</a:t>
            </a:r>
            <a:r>
              <a:rPr spc="-90" dirty="0"/>
              <a:t> </a:t>
            </a:r>
            <a:r>
              <a:rPr dirty="0"/>
              <a:t>with</a:t>
            </a:r>
            <a:r>
              <a:rPr spc="-80" dirty="0"/>
              <a:t> </a:t>
            </a:r>
            <a:r>
              <a:rPr dirty="0"/>
              <a:t>Any</a:t>
            </a:r>
            <a:r>
              <a:rPr spc="-65" dirty="0"/>
              <a:t> </a:t>
            </a:r>
            <a:r>
              <a:rPr spc="-25" dirty="0"/>
              <a:t>OS</a:t>
            </a:r>
          </a:p>
          <a:p>
            <a:pPr marL="354965" lvl="1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cloud,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might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Linux,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Windows,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macOS.</a:t>
            </a:r>
            <a:endParaRPr sz="2400">
              <a:latin typeface="Calibri"/>
              <a:cs typeface="Calibri"/>
            </a:endParaRPr>
          </a:p>
          <a:p>
            <a:pPr marL="354965" lvl="1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Ansible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them,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perfect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mixed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environments.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2557" y="1257299"/>
            <a:ext cx="5354828" cy="333273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355" y="3631818"/>
            <a:ext cx="11282680" cy="275336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 marR="182245">
              <a:lnSpc>
                <a:spcPct val="70000"/>
              </a:lnSpc>
              <a:spcBef>
                <a:spcPts val="960"/>
              </a:spcBef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ad-</a:t>
            </a:r>
            <a:r>
              <a:rPr sz="2400" dirty="0">
                <a:latin typeface="Calibri"/>
                <a:cs typeface="Calibri"/>
              </a:rPr>
              <a:t>hoc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quick,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one-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Ansible—</a:t>
            </a:r>
            <a:r>
              <a:rPr sz="2400" dirty="0">
                <a:latin typeface="Calibri"/>
                <a:cs typeface="Calibri"/>
              </a:rPr>
              <a:t>without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full </a:t>
            </a:r>
            <a:r>
              <a:rPr sz="2400" spc="-10" dirty="0">
                <a:latin typeface="Calibri"/>
                <a:cs typeface="Calibri"/>
              </a:rPr>
              <a:t>playbook.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400" dirty="0">
                <a:latin typeface="Calibri"/>
                <a:cs typeface="Calibri"/>
              </a:rPr>
              <a:t>Think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like:</a:t>
            </a:r>
            <a:endParaRPr sz="2400">
              <a:latin typeface="Calibri"/>
              <a:cs typeface="Calibri"/>
            </a:endParaRPr>
          </a:p>
          <a:p>
            <a:pPr marL="316865" indent="-304165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316865" algn="l"/>
              </a:tabLst>
            </a:pPr>
            <a:r>
              <a:rPr sz="2400" spc="-10" dirty="0">
                <a:latin typeface="Calibri"/>
                <a:cs typeface="Calibri"/>
              </a:rPr>
              <a:t>Typing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terminal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something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fast.</a:t>
            </a:r>
            <a:endParaRPr sz="2400">
              <a:latin typeface="Calibri"/>
              <a:cs typeface="Calibri"/>
            </a:endParaRPr>
          </a:p>
          <a:p>
            <a:pPr marL="316865" indent="-3041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16865" algn="l"/>
              </a:tabLst>
            </a:pPr>
            <a:r>
              <a:rPr sz="2400" dirty="0">
                <a:latin typeface="Calibri"/>
                <a:cs typeface="Calibri"/>
              </a:rPr>
              <a:t>Useful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quick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checks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restarting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service,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checking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space).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Example</a:t>
            </a:r>
            <a:r>
              <a:rPr sz="2400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Commands: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3966" y="6440550"/>
            <a:ext cx="446278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5"/>
              </a:lnSpc>
            </a:pPr>
            <a:r>
              <a:rPr sz="2400" dirty="0">
                <a:latin typeface="Calibri"/>
                <a:cs typeface="Calibri"/>
              </a:rPr>
              <a:t>Ping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servers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(check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connectivity):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1355" y="6690741"/>
            <a:ext cx="6384290" cy="1049655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400" dirty="0">
                <a:latin typeface="Calibri"/>
                <a:cs typeface="Calibri"/>
              </a:rPr>
              <a:t>ansible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sz="2400" spc="-20" dirty="0">
                <a:latin typeface="Calibri"/>
                <a:cs typeface="Calibri"/>
              </a:rPr>
              <a:t> ping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  <a:tabLst>
                <a:tab pos="315976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particular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inventory:</a:t>
            </a:r>
            <a:r>
              <a:rPr sz="2400" dirty="0">
                <a:latin typeface="Calibri"/>
                <a:cs typeface="Calibri"/>
              </a:rPr>
              <a:t>	add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“filename”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end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3966" y="8051418"/>
            <a:ext cx="3662679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0"/>
              </a:lnSpc>
            </a:pPr>
            <a:r>
              <a:rPr sz="2400" spc="-10" dirty="0">
                <a:latin typeface="Calibri"/>
                <a:cs typeface="Calibri"/>
              </a:rPr>
              <a:t>Restart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service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Nginx):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1355" y="8390000"/>
            <a:ext cx="8148320" cy="86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ansible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webservers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service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"name=nginx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state=restarted"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spc="-50" dirty="0">
                <a:latin typeface="Calibri"/>
                <a:cs typeface="Calibri"/>
              </a:rPr>
              <a:t>b </a:t>
            </a:r>
            <a:r>
              <a:rPr sz="2400" spc="-10" dirty="0">
                <a:latin typeface="Calibri"/>
                <a:cs typeface="Calibri"/>
              </a:rPr>
              <a:t>(-</a:t>
            </a:r>
            <a:r>
              <a:rPr sz="2400" dirty="0">
                <a:latin typeface="Calibri"/>
                <a:cs typeface="Calibri"/>
              </a:rPr>
              <a:t>b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admin/sudo)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3966" y="9735438"/>
            <a:ext cx="216789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0"/>
              </a:lnSpc>
            </a:pPr>
            <a:r>
              <a:rPr sz="2400" dirty="0">
                <a:latin typeface="Calibri"/>
                <a:cs typeface="Calibri"/>
              </a:rPr>
              <a:t>Check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space: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355" y="10131627"/>
            <a:ext cx="45669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ansible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db_servers</a:t>
            </a:r>
            <a:r>
              <a:rPr sz="2400" spc="-20" dirty="0">
                <a:latin typeface="Calibri"/>
                <a:cs typeface="Calibri"/>
              </a:rPr>
              <a:t> -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shell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"df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spc="-25" dirty="0">
                <a:latin typeface="Calibri"/>
                <a:cs typeface="Calibri"/>
              </a:rPr>
              <a:t>h“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3966" y="10998834"/>
            <a:ext cx="354584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0"/>
              </a:lnSpc>
            </a:pPr>
            <a:r>
              <a:rPr sz="2400" dirty="0">
                <a:latin typeface="Calibri"/>
                <a:cs typeface="Calibri"/>
              </a:rPr>
              <a:t>Install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package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htop):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1355" y="11395709"/>
            <a:ext cx="6283960" cy="1068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ansible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"name=htop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state=present"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spc="-50" dirty="0"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45"/>
              </a:spcBef>
            </a:pP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When</a:t>
            </a:r>
            <a:r>
              <a:rPr sz="2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4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Use</a:t>
            </a:r>
            <a:r>
              <a:rPr sz="24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Ad-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Hoc</a:t>
            </a:r>
            <a:r>
              <a:rPr sz="24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vs.</a:t>
            </a:r>
            <a:r>
              <a:rPr sz="24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Playbooks?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1355" y="12436601"/>
            <a:ext cx="2693670" cy="1711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10"/>
              </a:spcBef>
            </a:pPr>
            <a:r>
              <a:rPr sz="2400" b="1" spc="-10" dirty="0">
                <a:latin typeface="Calibri"/>
                <a:cs typeface="Calibri"/>
              </a:rPr>
              <a:t>Ad-</a:t>
            </a:r>
            <a:r>
              <a:rPr sz="2400" b="1" dirty="0">
                <a:latin typeface="Calibri"/>
                <a:cs typeface="Calibri"/>
              </a:rPr>
              <a:t>Hoc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Commands </a:t>
            </a:r>
            <a:r>
              <a:rPr sz="2400" dirty="0">
                <a:latin typeface="Calibri"/>
                <a:cs typeface="Calibri"/>
              </a:rPr>
              <a:t>Quick,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one-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tasks </a:t>
            </a:r>
            <a:r>
              <a:rPr sz="2400" spc="-10" dirty="0">
                <a:latin typeface="Calibri"/>
                <a:cs typeface="Calibri"/>
              </a:rPr>
              <a:t>Testing/debugging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now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39259" y="12436601"/>
            <a:ext cx="3485515" cy="171132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400" b="1" spc="-10" dirty="0">
                <a:latin typeface="Calibri"/>
                <a:cs typeface="Calibri"/>
              </a:rPr>
              <a:t>Playbooks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14999"/>
              </a:lnSpc>
              <a:spcBef>
                <a:spcPts val="15"/>
              </a:spcBef>
            </a:pPr>
            <a:r>
              <a:rPr sz="2400" spc="-10" dirty="0">
                <a:latin typeface="Calibri"/>
                <a:cs typeface="Calibri"/>
              </a:rPr>
              <a:t>Repeatable,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complex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setups </a:t>
            </a:r>
            <a:r>
              <a:rPr sz="2400" dirty="0">
                <a:latin typeface="Calibri"/>
                <a:cs typeface="Calibri"/>
              </a:rPr>
              <a:t>Full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automation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400" dirty="0">
                <a:latin typeface="Calibri"/>
                <a:cs typeface="Calibri"/>
              </a:rPr>
              <a:t>Always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correctly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0"/>
            <a:ext cx="12192000" cy="925830"/>
            <a:chOff x="0" y="0"/>
            <a:chExt cx="12192000" cy="925830"/>
          </a:xfrm>
        </p:grpSpPr>
        <p:sp>
          <p:nvSpPr>
            <p:cNvPr id="14" name="object 14"/>
            <p:cNvSpPr/>
            <p:nvPr/>
          </p:nvSpPr>
          <p:spPr>
            <a:xfrm>
              <a:off x="0" y="0"/>
              <a:ext cx="12192000" cy="661035"/>
            </a:xfrm>
            <a:custGeom>
              <a:avLst/>
              <a:gdLst/>
              <a:ahLst/>
              <a:cxnLst/>
              <a:rect l="l" t="t" r="r" b="b"/>
              <a:pathLst>
                <a:path w="12192000" h="661035">
                  <a:moveTo>
                    <a:pt x="0" y="660653"/>
                  </a:moveTo>
                  <a:lnTo>
                    <a:pt x="12192000" y="660653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60653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0183" y="0"/>
              <a:ext cx="1347978" cy="925829"/>
            </a:xfrm>
            <a:prstGeom prst="rect">
              <a:avLst/>
            </a:prstGeom>
          </p:spPr>
        </p:pic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204" rIns="0" bIns="0" rtlCol="0">
            <a:spAutoFit/>
          </a:bodyPr>
          <a:lstStyle/>
          <a:p>
            <a:pPr marL="148717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Repeating</a:t>
            </a:r>
            <a:r>
              <a:rPr spc="-204" dirty="0"/>
              <a:t> </a:t>
            </a:r>
            <a:r>
              <a:rPr spc="-100" dirty="0"/>
              <a:t>Tasks</a:t>
            </a:r>
            <a:r>
              <a:rPr spc="-150" dirty="0"/>
              <a:t> </a:t>
            </a:r>
            <a:r>
              <a:rPr spc="-30" dirty="0"/>
              <a:t>Across</a:t>
            </a:r>
            <a:r>
              <a:rPr spc="-215" dirty="0"/>
              <a:t> </a:t>
            </a:r>
            <a:r>
              <a:rPr spc="-10" dirty="0"/>
              <a:t>Fleets</a:t>
            </a:r>
            <a:r>
              <a:rPr spc="-185" dirty="0"/>
              <a:t> </a:t>
            </a:r>
            <a:r>
              <a:rPr dirty="0"/>
              <a:t>With</a:t>
            </a:r>
            <a:r>
              <a:rPr spc="-200" dirty="0"/>
              <a:t> </a:t>
            </a:r>
            <a:r>
              <a:rPr spc="-10" dirty="0"/>
              <a:t>Ansible</a:t>
            </a: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72177" y="880490"/>
            <a:ext cx="5220185" cy="268249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84974" y="14172310"/>
            <a:ext cx="437896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0"/>
              </a:lnSpc>
            </a:pPr>
            <a:r>
              <a:rPr sz="2400" spc="-10" dirty="0">
                <a:latin typeface="Calibri"/>
                <a:cs typeface="Calibri"/>
              </a:rPr>
              <a:t>Execute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playbook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servers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2236" y="14512797"/>
            <a:ext cx="4664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libri"/>
                <a:cs typeface="Calibri"/>
              </a:rPr>
              <a:t>ansible-</a:t>
            </a:r>
            <a:r>
              <a:rPr sz="2400" dirty="0">
                <a:latin typeface="Calibri"/>
                <a:cs typeface="Calibri"/>
              </a:rPr>
              <a:t>playbook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hosts.ini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main.yml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4974" y="14903829"/>
            <a:ext cx="481330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0"/>
              </a:lnSpc>
            </a:pPr>
            <a:r>
              <a:rPr sz="2400" spc="-10" dirty="0">
                <a:latin typeface="Calibri"/>
                <a:cs typeface="Calibri"/>
              </a:rPr>
              <a:t>Execute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playbook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single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servers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2236" y="15244317"/>
            <a:ext cx="69538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libri"/>
                <a:cs typeface="Calibri"/>
              </a:rPr>
              <a:t>ansible-</a:t>
            </a:r>
            <a:r>
              <a:rPr sz="2400" dirty="0">
                <a:latin typeface="Calibri"/>
                <a:cs typeface="Calibri"/>
              </a:rPr>
              <a:t>playbook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hosts.ini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main.yml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--</a:t>
            </a:r>
            <a:r>
              <a:rPr sz="2400" dirty="0">
                <a:latin typeface="Calibri"/>
                <a:cs typeface="Calibri"/>
              </a:rPr>
              <a:t>limit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webservers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544310" cy="451408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959855" y="213232"/>
            <a:ext cx="100076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775"/>
              </a:lnSpc>
            </a:pPr>
            <a:r>
              <a:rPr sz="2400" dirty="0">
                <a:latin typeface="Calibri"/>
                <a:cs typeface="Calibri"/>
              </a:rPr>
              <a:t>Serial: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47917" y="552702"/>
            <a:ext cx="61156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Everything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next host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59855" y="1676272"/>
            <a:ext cx="489204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775"/>
              </a:lnSpc>
              <a:tabLst>
                <a:tab pos="1872614" algn="l"/>
              </a:tabLst>
            </a:pPr>
            <a:r>
              <a:rPr sz="2400" spc="-10" dirty="0">
                <a:latin typeface="Calibri"/>
                <a:cs typeface="Calibri"/>
              </a:rPr>
              <a:t>Strategy: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free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(available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inside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ansible)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47917" y="2015743"/>
            <a:ext cx="593217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independently.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host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finishes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proceed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—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without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waiting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other hosts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9391" y="5803264"/>
            <a:ext cx="372745" cy="43434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3240"/>
              </a:lnSpc>
            </a:pP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0" y="4703190"/>
            <a:ext cx="6323965" cy="1666875"/>
          </a:xfrm>
          <a:prstGeom prst="rect">
            <a:avLst/>
          </a:prstGeom>
          <a:solidFill>
            <a:srgbClr val="4471C4"/>
          </a:solidFill>
          <a:ln w="12700">
            <a:solidFill>
              <a:srgbClr val="000000"/>
            </a:solidFill>
          </a:ln>
        </p:spPr>
        <p:txBody>
          <a:bodyPr vert="horz" wrap="square" lIns="0" tIns="107314" rIns="0" bIns="0" rtlCol="0">
            <a:spAutoFit/>
          </a:bodyPr>
          <a:lstStyle/>
          <a:p>
            <a:pPr marL="91440" marR="813435">
              <a:lnSpc>
                <a:spcPct val="100000"/>
              </a:lnSpc>
              <a:spcBef>
                <a:spcPts val="844"/>
              </a:spcBef>
              <a:tabLst>
                <a:tab pos="1562735" algn="l"/>
              </a:tabLst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Folk</a:t>
            </a:r>
            <a:r>
              <a:rPr sz="3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tell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	in</a:t>
            </a:r>
            <a:r>
              <a:rPr sz="3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32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3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systems,</a:t>
            </a:r>
            <a:r>
              <a:rPr sz="32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it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should</a:t>
            </a:r>
            <a:r>
              <a:rPr sz="3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execute:</a:t>
            </a:r>
            <a:endParaRPr sz="32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15"/>
              </a:spcBef>
              <a:tabLst>
                <a:tab pos="4723130" algn="l"/>
              </a:tabLst>
            </a:pP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Ansible-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playbook</a:t>
            </a:r>
            <a:r>
              <a:rPr sz="28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file.yml</a:t>
            </a:r>
            <a:r>
              <a:rPr sz="28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myhost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3278</TotalTime>
  <Words>2595</Words>
  <Application>Microsoft Office PowerPoint</Application>
  <PresentationFormat>Custom</PresentationFormat>
  <Paragraphs>291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Netmiko</vt:lpstr>
      <vt:lpstr>Playbooks</vt:lpstr>
      <vt:lpstr>PowerPoint Presentation</vt:lpstr>
      <vt:lpstr>PLUGINS AND ROLES</vt:lpstr>
      <vt:lpstr>Ansible Commands</vt:lpstr>
      <vt:lpstr>Working with hosts and Variables in Ansible Mainly used in inventory file for our hosts.</vt:lpstr>
      <vt:lpstr>Working With Playbooks in Ansible</vt:lpstr>
      <vt:lpstr>What is an Ansible Playbook?</vt:lpstr>
      <vt:lpstr>Ping other hosts</vt:lpstr>
      <vt:lpstr>How ansible access remote-system</vt:lpstr>
      <vt:lpstr>Automation vs. Orchestration: Key Differences &amp; Tools</vt:lpstr>
      <vt:lpstr>Orchestration in Ansible</vt:lpstr>
      <vt:lpstr>Orchestration</vt:lpstr>
      <vt:lpstr>e.g: Ansible For System Configuration</vt:lpstr>
      <vt:lpstr>e.g: Ansible For System Configuration</vt:lpstr>
      <vt:lpstr>PowerPoint Presentation</vt:lpstr>
      <vt:lpstr>Infrastructure Management With Ansible</vt:lpstr>
      <vt:lpstr>Repeating Tasks Across Fleets With Ansible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Shankar Pradhan</dc:creator>
  <cp:lastModifiedBy>Shankar Pradhan</cp:lastModifiedBy>
  <cp:revision>2</cp:revision>
  <dcterms:created xsi:type="dcterms:W3CDTF">2026-01-13T10:18:37Z</dcterms:created>
  <dcterms:modified xsi:type="dcterms:W3CDTF">2026-01-15T16:58:38Z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2025-06-01T00:00:00Z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2026-01-13T00:00:00Z</vt:filetime>
  </property>
  <property fmtid="{D5CDD505-2E9C-101B-9397-08002B2CF9AE}" pid="5" name="Producer">
    <vt:lpwstr>Microsoft® PowerPoint® 2019</vt:lpwstr>
  </property>
</Properties>
</file>