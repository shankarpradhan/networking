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6" r:id="rId19"/>
    <p:sldId id="274" r:id="rId20"/>
    <p:sldId id="277" r:id="rId21"/>
    <p:sldId id="278" r:id="rId22"/>
  </p:sldIdLst>
  <p:sldSz cx="6858000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2357" y="-134"/>
      </p:cViewPr>
      <p:guideLst>
        <p:guide orient="horz" pos="2722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14125"/>
            <a:ext cx="5829300" cy="300826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538401"/>
            <a:ext cx="5143500" cy="208618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B4D5-015F-4578-A2AC-BE0196FCA67C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81AC-0EE5-4539-A6FA-942B86185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2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B4D5-015F-4578-A2AC-BE0196FCA67C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81AC-0EE5-4539-A6FA-942B86185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224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154193"/>
            <a:ext cx="5915025" cy="35943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782513"/>
            <a:ext cx="5915025" cy="189016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B4D5-015F-4578-A2AC-BE0196FCA67C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81AC-0EE5-4539-A6FA-942B86185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198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300203"/>
            <a:ext cx="2914650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300203"/>
            <a:ext cx="2914650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B4D5-015F-4578-A2AC-BE0196FCA67C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81AC-0EE5-4539-A6FA-942B86185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765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60043"/>
            <a:ext cx="5915025" cy="16701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118188"/>
            <a:ext cx="2901255" cy="103809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156278"/>
            <a:ext cx="2901255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118188"/>
            <a:ext cx="2915543" cy="103809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156278"/>
            <a:ext cx="2915543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B4D5-015F-4578-A2AC-BE0196FCA67C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81AC-0EE5-4539-A6FA-942B86185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39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B4D5-015F-4578-A2AC-BE0196FCA67C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81AC-0EE5-4539-A6FA-942B86185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16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B4D5-015F-4578-A2AC-BE0196FCA67C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81AC-0EE5-4539-A6FA-942B86185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293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76051"/>
            <a:ext cx="2211884" cy="201617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244112"/>
            <a:ext cx="3471863" cy="614054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592229"/>
            <a:ext cx="2211884" cy="480242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B4D5-015F-4578-A2AC-BE0196FCA67C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81AC-0EE5-4539-A6FA-942B86185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55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76051"/>
            <a:ext cx="2211884" cy="201617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244112"/>
            <a:ext cx="3471863" cy="614054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592229"/>
            <a:ext cx="2211884" cy="480242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B4D5-015F-4578-A2AC-BE0196FCA67C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81AC-0EE5-4539-A6FA-942B86185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23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B4D5-015F-4578-A2AC-BE0196FCA67C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81AC-0EE5-4539-A6FA-942B86185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94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60041"/>
            <a:ext cx="1478756" cy="7322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60041"/>
            <a:ext cx="4350544" cy="7322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B4D5-015F-4578-A2AC-BE0196FCA67C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81AC-0EE5-4539-A6FA-942B86185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416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60043"/>
            <a:ext cx="5915025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300203"/>
            <a:ext cx="5915025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008709"/>
            <a:ext cx="1543050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9B4D5-015F-4578-A2AC-BE0196FCA67C}" type="datetimeFigureOut">
              <a:rPr lang="en-IN" smtClean="0"/>
              <a:t>14-09-2025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008709"/>
            <a:ext cx="2314575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008709"/>
            <a:ext cx="1543050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781AC-0EE5-4539-A6FA-942B86185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450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networking.org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9B40-601A-88C6-787E-5C52D61C5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70433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3CEE0-8B30-149D-6EB2-F00CECA76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96" y="843731"/>
            <a:ext cx="6672649" cy="7670074"/>
          </a:xfrm>
        </p:spPr>
        <p:txBody>
          <a:bodyPr/>
          <a:lstStyle/>
          <a:p>
            <a:r>
              <a:rPr lang="en-US" dirty="0"/>
              <a:t>v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D82B4-3A08-53B3-458E-E5CBAB641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42" y="843731"/>
            <a:ext cx="5686424" cy="753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06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F30D-8760-9436-FEA0-74DE8EFAC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6767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INTRODUCTION TO SDN</a:t>
            </a:r>
            <a:endParaRPr lang="en-IN" sz="40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F635D-FCE1-BDE9-76A9-6C040D0ADA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20"/>
          <a:stretch>
            <a:fillRect/>
          </a:stretch>
        </p:blipFill>
        <p:spPr>
          <a:xfrm>
            <a:off x="0" y="768962"/>
            <a:ext cx="6858000" cy="3021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4BFF3F-B004-D941-FC36-8F5A151D8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167" y="5123972"/>
            <a:ext cx="3558746" cy="33782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214F8C7-5342-B97A-50E2-A647B6A36A8D}"/>
              </a:ext>
            </a:extLst>
          </p:cNvPr>
          <p:cNvSpPr txBox="1">
            <a:spLocks/>
          </p:cNvSpPr>
          <p:nvPr/>
        </p:nvSpPr>
        <p:spPr>
          <a:xfrm>
            <a:off x="0" y="4336375"/>
            <a:ext cx="6858000" cy="67677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APPLICATION OF SDN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340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4D0CA-1EF2-BBD0-58C1-8B7A35E5D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9ED6-CD86-67B6-9894-E665E612B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6767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OS MODEL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87E3754-F8F2-0C86-8A92-DF50F395486B}"/>
              </a:ext>
            </a:extLst>
          </p:cNvPr>
          <p:cNvSpPr txBox="1">
            <a:spLocks/>
          </p:cNvSpPr>
          <p:nvPr/>
        </p:nvSpPr>
        <p:spPr>
          <a:xfrm>
            <a:off x="0" y="4336375"/>
            <a:ext cx="6858000" cy="67677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SDN MODEL</a:t>
            </a:r>
            <a:endParaRPr lang="en-IN" sz="4000" b="1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9371722-EE5E-B0B2-E9B1-30B681CEF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29" y="1104375"/>
            <a:ext cx="6035563" cy="280440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3CA9038-ED9D-1EE6-248E-B18B03965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59" y="5325983"/>
            <a:ext cx="6025282" cy="313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46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AFC1D-9D7D-7D14-AB1A-67DA29C5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01D-A8D2-1EE7-5390-A52A80A2D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6767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SDN MODEL</a:t>
            </a:r>
            <a:endParaRPr lang="en-IN" sz="40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93A11A-F20C-D3C3-1436-4CD3B186F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719" y="1233729"/>
            <a:ext cx="4868562" cy="23473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F4051B-435C-1205-43A8-8A1D69158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45" y="4651856"/>
            <a:ext cx="5399903" cy="2967642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8E5E2BD9-3A74-5A80-8D1A-327C94D2E597}"/>
              </a:ext>
            </a:extLst>
          </p:cNvPr>
          <p:cNvSpPr/>
          <p:nvPr/>
        </p:nvSpPr>
        <p:spPr>
          <a:xfrm>
            <a:off x="3194221" y="3719203"/>
            <a:ext cx="469557" cy="794522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EADEE2-BECE-D513-BE19-84547EDD05A3}"/>
              </a:ext>
            </a:extLst>
          </p:cNvPr>
          <p:cNvSpPr txBox="1"/>
          <p:nvPr/>
        </p:nvSpPr>
        <p:spPr>
          <a:xfrm>
            <a:off x="0" y="1099751"/>
            <a:ext cx="19770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controller, they will make their own decision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635E43-DF50-474E-BE2B-BC22EB09DC67}"/>
              </a:ext>
            </a:extLst>
          </p:cNvPr>
          <p:cNvSpPr txBox="1"/>
          <p:nvPr/>
        </p:nvSpPr>
        <p:spPr>
          <a:xfrm>
            <a:off x="0" y="7798890"/>
            <a:ext cx="6561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SDN, they will have central controller who has knowledge of whole topology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99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30FA1-5852-EF46-DAC7-86FECFF90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283" y="113057"/>
            <a:ext cx="6361798" cy="816597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SDN CONTROLLER / CONTROL PLANE COMPONENTS</a:t>
            </a:r>
          </a:p>
          <a:p>
            <a:pPr marL="0" indent="0" algn="just">
              <a:buNone/>
            </a:pPr>
            <a:r>
              <a:rPr lang="en-US" sz="2000" dirty="0"/>
              <a:t>An SDN Controller is the central component of the Software-Defined Networking (SDN) architecture. It manages and programs network devices (like switches and routers) by providing a global network view and central control. It communicates with the data plane (switches) using protocols such as OpenFlow, and provides APIs for applications.</a:t>
            </a:r>
            <a:endParaRPr lang="en-IN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AE4169-916B-07EA-7670-FF03D92B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06129"/>
            <a:ext cx="6858000" cy="6767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MAIN SERVICES OF SDN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9D6201-7C67-6D7F-2A79-16B27F1D1D09}"/>
              </a:ext>
            </a:extLst>
          </p:cNvPr>
          <p:cNvSpPr txBox="1"/>
          <p:nvPr/>
        </p:nvSpPr>
        <p:spPr>
          <a:xfrm>
            <a:off x="98854" y="3395265"/>
            <a:ext cx="657186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⭐ </a:t>
            </a:r>
            <a:r>
              <a:rPr lang="en-US" sz="2400" b="1" dirty="0"/>
              <a:t>Topology Service</a:t>
            </a:r>
          </a:p>
          <a:p>
            <a:pPr algn="just"/>
            <a:r>
              <a:rPr lang="en-US" sz="2000" dirty="0"/>
              <a:t>Maintains an up-to-date map of the network topology. Discovers network devices (switches, routers, links). Helps the controller understand how switches are interconnected.</a:t>
            </a:r>
            <a:br>
              <a:rPr lang="en-US" sz="2000" dirty="0"/>
            </a:br>
            <a:r>
              <a:rPr lang="en-US" sz="2000" dirty="0"/>
              <a:t>Supports efficient path computation and network visualization.</a:t>
            </a:r>
          </a:p>
          <a:p>
            <a:r>
              <a:rPr lang="en-US" sz="2000" dirty="0"/>
              <a:t>➔ Example: The controller detects that Switch A is connected to Switch B and learns link bandwidth.</a:t>
            </a:r>
            <a:br>
              <a:rPr lang="en-US" sz="2000" dirty="0"/>
            </a:br>
            <a:endParaRPr lang="en-US" sz="2000" dirty="0"/>
          </a:p>
          <a:p>
            <a:pPr algn="just"/>
            <a:r>
              <a:rPr lang="en-US" sz="2400" b="1" dirty="0"/>
              <a:t>📚 Inventory Service</a:t>
            </a:r>
          </a:p>
          <a:p>
            <a:pPr algn="just"/>
            <a:r>
              <a:rPr lang="en-US" sz="2000" dirty="0"/>
              <a:t>Keeps track of all network devices (switches, routers, hosts).</a:t>
            </a:r>
          </a:p>
          <a:p>
            <a:pPr algn="just"/>
            <a:r>
              <a:rPr lang="en-US" sz="2000" dirty="0"/>
              <a:t>Stores metadata such as device types, port information, capabilities, etc.</a:t>
            </a:r>
          </a:p>
          <a:p>
            <a:pPr algn="just"/>
            <a:r>
              <a:rPr lang="en-US" sz="2000" dirty="0"/>
              <a:t>Acts as a central registry of devices under control.</a:t>
            </a:r>
          </a:p>
          <a:p>
            <a:pPr algn="just"/>
            <a:r>
              <a:rPr lang="en-US" sz="2000" dirty="0"/>
              <a:t>➔ Example: The controller knows that Switch ID=1 has 24 ports and supports OpenFlow 1.5.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43376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B5FB4-329A-A02D-896E-F1BEEF0F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7743FC5-F0FA-E63C-5991-67AC9362F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6767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MAIN SERVICES OF SDN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F7D73-2493-A183-EEEC-E6C1EF2A0328}"/>
              </a:ext>
            </a:extLst>
          </p:cNvPr>
          <p:cNvSpPr txBox="1"/>
          <p:nvPr/>
        </p:nvSpPr>
        <p:spPr>
          <a:xfrm>
            <a:off x="0" y="689136"/>
            <a:ext cx="68580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📊 Statistics Service</a:t>
            </a:r>
          </a:p>
          <a:p>
            <a:pPr algn="just"/>
            <a:r>
              <a:rPr lang="en-US" sz="2000" dirty="0"/>
              <a:t>Collects real-time or periodic statistics from network devices. Monitors traffic counters, flow stats, port utilization, packet drops, errors. Enables traffic engineering decisions and performance monitoring.</a:t>
            </a:r>
          </a:p>
          <a:p>
            <a:pPr algn="just"/>
            <a:r>
              <a:rPr lang="en-US" sz="2000" dirty="0"/>
              <a:t>➔ Example: The controller pulls port statistics every 5 seconds to track bandwidth usage and detect congestion.</a:t>
            </a:r>
          </a:p>
          <a:p>
            <a:endParaRPr lang="en-US" sz="2400" dirty="0"/>
          </a:p>
          <a:p>
            <a:r>
              <a:rPr lang="en-US" sz="2400" b="1" dirty="0"/>
              <a:t>🏠 Host Tracking Service</a:t>
            </a:r>
          </a:p>
          <a:p>
            <a:pPr algn="just"/>
            <a:r>
              <a:rPr lang="en-US" sz="2000" dirty="0"/>
              <a:t>Tracks end-host devices (servers, clients) connected to the network. Maps IP/MAC addresses to switch ports. Helps in making forwarding decisions by knowing host locations.</a:t>
            </a:r>
          </a:p>
          <a:p>
            <a:pPr algn="just"/>
            <a:r>
              <a:rPr lang="en-US" sz="2000" dirty="0"/>
              <a:t>➔ Example: Host with IP 192.168.1.10 is attached to Switch 3, Port 5.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010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DB871A-0E2E-67A3-6E34-603627229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64" y="160638"/>
            <a:ext cx="6258472" cy="4534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219F04-83B8-2AAB-CB91-035547056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41" y="4991036"/>
            <a:ext cx="5276918" cy="348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977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95E07E-B4C0-CF37-1C50-9F6D9C603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70" y="258350"/>
            <a:ext cx="5869459" cy="4062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951D22-F1B0-0367-F4B3-8E3EA8BD0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59" y="4831659"/>
            <a:ext cx="5634681" cy="30816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625758-605E-CEA1-A88C-043A7CD2AB10}"/>
              </a:ext>
            </a:extLst>
          </p:cNvPr>
          <p:cNvSpPr txBox="1"/>
          <p:nvPr/>
        </p:nvSpPr>
        <p:spPr>
          <a:xfrm>
            <a:off x="370703" y="8019535"/>
            <a:ext cx="5993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SDN into different regions and they can communicate using East/West Protocol.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2013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0E4E3-98EB-B1C6-099C-909E25FFD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95AE9A-7F3D-4B74-7C23-7E5469C6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87" y="298221"/>
            <a:ext cx="5993026" cy="33596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74D06D-381D-DDBB-FCC3-9FF7C9DE6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524" y="3908368"/>
            <a:ext cx="3842951" cy="443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386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79869-0943-90C7-0135-02D8F1127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8D89B-A8C4-6CAB-C9ED-9849E7D5D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759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8E09B-DA12-97D9-400D-542BAD69B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4CAB-8E0F-5176-8AE4-05FDD0541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6767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MININET (mininet.org)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B00DFF-50DD-DF11-7430-77ECD3766DA7}"/>
              </a:ext>
            </a:extLst>
          </p:cNvPr>
          <p:cNvSpPr txBox="1"/>
          <p:nvPr/>
        </p:nvSpPr>
        <p:spPr>
          <a:xfrm>
            <a:off x="0" y="815546"/>
            <a:ext cx="685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Network emulation software that allows you to launch a virtual network with switches, hosts and an SDN controller all with a single command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Great way to start learning about SDN and </a:t>
            </a:r>
            <a:r>
              <a:rPr lang="en-US" dirty="0" err="1"/>
              <a:t>OpenFIow</a:t>
            </a:r>
            <a:r>
              <a:rPr lang="en-US" dirty="0"/>
              <a:t> as well as test SDN controllers and SDN applications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Go to mininet.org for full details, installation instructions, download a VM, tutorials, FAQs and to join the mailing list.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750871-1C2E-8B9F-6F4F-383839A26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07" y="3165089"/>
            <a:ext cx="5822185" cy="23105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B2B5AF-D19A-0E51-CC3F-52D9C0B79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05" y="5724446"/>
            <a:ext cx="654458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50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A7AE-61FD-3D7A-1A22-39E6B248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CA34E-A8ED-C899-0245-E30BA362C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6767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MININET (mininet.org)</a:t>
            </a:r>
            <a:endParaRPr lang="en-IN" sz="4000" b="1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FC5E55A-BF21-4F70-FB51-EEE479A02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082"/>
            <a:ext cx="4601217" cy="46202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1F3428-4FAF-EA99-FFAF-5399645A0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766" y="1861417"/>
            <a:ext cx="2362247" cy="2458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345A4C-2F9A-4AF1-9EFC-DAC59083C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66" y="5874012"/>
            <a:ext cx="5848667" cy="12028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D2B4F6-7A0B-CE40-FED6-32D2CD469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340" y="7238463"/>
            <a:ext cx="3191320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58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16929-C987-0906-1DC0-7F283C592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781C4-F3AC-B794-1AA9-CCCD0CBE4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6767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MININET (mininet.org)</a:t>
            </a:r>
            <a:endParaRPr lang="en-IN" sz="40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79D49F-7A8D-03CF-3D6D-712D8388A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64" y="1074000"/>
            <a:ext cx="6068272" cy="771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0AE454-D29B-7AB8-08CF-AE929A655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64" y="2037745"/>
            <a:ext cx="6068272" cy="1552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D10BCB-74F1-9EA3-90A6-9D1576F48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64" y="3782566"/>
            <a:ext cx="6068272" cy="190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562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BD4A7-828D-7A16-4ABB-DE2EB5C8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2DE39-FF0D-BD88-4A6D-E64A16E36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6767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PACKET FLOW</a:t>
            </a:r>
            <a:endParaRPr lang="en-IN" sz="4000" b="1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BA0BA42-79A2-E5D2-E944-29F37E3F0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56" y="1054548"/>
            <a:ext cx="2987299" cy="314580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2F88C2-7F83-01BE-7B3D-7835941DD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386" y="1054548"/>
            <a:ext cx="3005588" cy="314580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89C49A5-2FFB-57D4-14DA-EBE2CC602693}"/>
              </a:ext>
            </a:extLst>
          </p:cNvPr>
          <p:cNvSpPr txBox="1"/>
          <p:nvPr/>
        </p:nvSpPr>
        <p:spPr>
          <a:xfrm>
            <a:off x="161056" y="4321175"/>
            <a:ext cx="6355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Packet goes via controller               2</a:t>
            </a:r>
            <a:r>
              <a:rPr lang="en-US" baseline="30000" dirty="0"/>
              <a:t>nd</a:t>
            </a:r>
            <a:r>
              <a:rPr lang="en-US" dirty="0"/>
              <a:t> – last packet goes via S1</a:t>
            </a:r>
          </a:p>
          <a:p>
            <a:r>
              <a:rPr lang="en-US" dirty="0"/>
              <a:t>                (extra latency)</a:t>
            </a:r>
            <a:endParaRPr lang="en-IN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7DEAB70-335B-EAA0-D10D-AF53FCDA5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97" y="4968300"/>
            <a:ext cx="5962405" cy="28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751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297BB4-07A7-9B7B-6A15-59D23855B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28" y="435320"/>
            <a:ext cx="6151944" cy="17952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20C64B-2545-B074-553B-219BCB887D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01" b="5064"/>
          <a:stretch>
            <a:fillRect/>
          </a:stretch>
        </p:blipFill>
        <p:spPr>
          <a:xfrm>
            <a:off x="353029" y="2543736"/>
            <a:ext cx="6151944" cy="4888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936546-C0D7-881B-2D92-4740CA38A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30" y="3345699"/>
            <a:ext cx="6113542" cy="13775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A1BBCD-A333-CE3C-461B-FDFE2C78237A}"/>
              </a:ext>
            </a:extLst>
          </p:cNvPr>
          <p:cNvSpPr txBox="1"/>
          <p:nvPr/>
        </p:nvSpPr>
        <p:spPr>
          <a:xfrm>
            <a:off x="391430" y="4977114"/>
            <a:ext cx="64665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C00000"/>
                </a:solidFill>
              </a:rPr>
              <a:t>sudo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mn</a:t>
            </a:r>
            <a:r>
              <a:rPr lang="en-US" sz="2400" b="1" dirty="0">
                <a:solidFill>
                  <a:srgbClr val="C00000"/>
                </a:solidFill>
              </a:rPr>
              <a:t> –c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mininet@mininet-vm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:-$ </a:t>
            </a:r>
            <a:r>
              <a:rPr lang="en-US" sz="2400" b="1" dirty="0" err="1">
                <a:solidFill>
                  <a:srgbClr val="C00000"/>
                </a:solidFill>
              </a:rPr>
              <a:t>sudo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wireshark</a:t>
            </a:r>
            <a:r>
              <a:rPr lang="en-US" sz="2400" b="1" dirty="0">
                <a:solidFill>
                  <a:srgbClr val="C00000"/>
                </a:solidFill>
              </a:rPr>
              <a:t> &amp;</a:t>
            </a:r>
            <a:endParaRPr lang="en-IN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124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19CC6B-145F-BC55-1E87-74AD1E584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49" y="300942"/>
            <a:ext cx="6200102" cy="2959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10D444-AA90-2A39-6499-9276A6593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49" y="3557417"/>
            <a:ext cx="6200102" cy="9560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98D943-566C-3FC9-4F91-8F9EC2037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49" y="4706996"/>
            <a:ext cx="6200102" cy="67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967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B18ED8-77C4-A87B-077A-635EA6726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21" y="985668"/>
            <a:ext cx="2864735" cy="1704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8B1C1-70B1-3337-79A8-1FC127E02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243" y="817758"/>
            <a:ext cx="2635739" cy="2040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7B3560-1C2F-D212-B769-BF454DBA8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3668952"/>
            <a:ext cx="3428999" cy="1541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60B261-BBF7-F0B8-C09B-63B54741E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476093"/>
            <a:ext cx="3258037" cy="19275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DE6257-C0C0-D70B-D3EA-18F12556BA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6189166"/>
            <a:ext cx="3428999" cy="18371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A4DFFC-2D9D-D3CA-83DC-84754D17F4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171" y="6059850"/>
            <a:ext cx="1694268" cy="209574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1EC3093-4DF0-D8DC-C5E8-2776E8775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6767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UNDERSTAND TOPOLOGY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811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966F0-2B7E-7B3D-260E-E0478045C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0844C8-A3BC-28E3-63FB-3DA24F00C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21" y="985668"/>
            <a:ext cx="2864735" cy="1704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799511-A855-D645-253F-EB1A6859F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243" y="817758"/>
            <a:ext cx="2635739" cy="2040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02CAA1-1E99-A560-59CC-9DD4207A6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3668952"/>
            <a:ext cx="3428999" cy="1541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C2B806-FAD2-B509-C5CA-29B04A451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476093"/>
            <a:ext cx="3258037" cy="19275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D31A1E-0B29-8101-66A3-999B7CD52D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6189166"/>
            <a:ext cx="3428999" cy="18371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A585D3-0324-1559-C080-4B4C3153EA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171" y="6059850"/>
            <a:ext cx="1694268" cy="209574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D96D0439-AE1F-2D15-ACA1-447B55872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6767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UNDERSTAND TOPOLOGY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072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FA4C0-CF6E-4342-E056-1CA021C21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30016-4D25-05EE-422A-665F4791C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553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CC0D8-AA09-7E0F-D6C1-925071E3E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7D2D1E9-A6B6-791E-A77A-1DBF0AD6F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6767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INTRODUCTION TO OPENFLOW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7BAD10-4ACA-6A65-520F-3559775D8132}"/>
              </a:ext>
            </a:extLst>
          </p:cNvPr>
          <p:cNvSpPr txBox="1"/>
          <p:nvPr/>
        </p:nvSpPr>
        <p:spPr>
          <a:xfrm>
            <a:off x="0" y="804101"/>
            <a:ext cx="6858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How packets move through an OpenFlow network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See packets in flight using Mininet network emulation and </a:t>
            </a:r>
            <a:r>
              <a:rPr lang="en-US" dirty="0" err="1"/>
              <a:t>wireshark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Packet walkthrough of an example HTTP request and reply in an OpenFlow enabled network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Open Networking Foundation's (ONF) main features of what makes an OpenFlow switch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579380-29BD-8DE4-0719-DC1856F52EFD}"/>
              </a:ext>
            </a:extLst>
          </p:cNvPr>
          <p:cNvSpPr txBox="1"/>
          <p:nvPr/>
        </p:nvSpPr>
        <p:spPr>
          <a:xfrm>
            <a:off x="0" y="3750198"/>
            <a:ext cx="66438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OpenFlow</a:t>
            </a:r>
            <a:r>
              <a:rPr lang="en-US" dirty="0"/>
              <a:t> is a special language (protocol) that lets you control how network switches work.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Normally, switches from different companies have different ways of working. OpenFlow helps us control all of them in the same way.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This means we can change how switches send data in the network using a program, without doing it manually.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OpenFlow is very important for </a:t>
            </a:r>
            <a:r>
              <a:rPr lang="en-US" b="1" dirty="0"/>
              <a:t>SDN (Software-Defined Networking)</a:t>
            </a:r>
            <a:r>
              <a:rPr lang="en-US" dirty="0"/>
              <a:t>, which helps us manage networks more easily and flexibly.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With OpenFlow and SDN, we can control the whole network from one place using software.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For more information, you can visit:</a:t>
            </a:r>
            <a:br>
              <a:rPr lang="en-US" dirty="0"/>
            </a:br>
            <a:r>
              <a:rPr lang="en-US" dirty="0"/>
              <a:t>🌐 </a:t>
            </a:r>
            <a:r>
              <a:rPr lang="en-US" dirty="0">
                <a:hlinkClick r:id="rId2"/>
              </a:rPr>
              <a:t>https://www.opennetworking.org/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4A46473-EA39-6540-82AA-4E444DCDFEF9}"/>
              </a:ext>
            </a:extLst>
          </p:cNvPr>
          <p:cNvSpPr txBox="1">
            <a:spLocks/>
          </p:cNvSpPr>
          <p:nvPr/>
        </p:nvSpPr>
        <p:spPr>
          <a:xfrm>
            <a:off x="0" y="2946097"/>
            <a:ext cx="6858000" cy="676779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What is OPENFLOW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095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7A46-2642-8943-A413-437457688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0A5AC54-1CF1-079A-3B30-0972BC36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58000" cy="676779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Ransomware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312E0-63B0-7263-017A-75E2E898914E}"/>
              </a:ext>
            </a:extLst>
          </p:cNvPr>
          <p:cNvSpPr txBox="1"/>
          <p:nvPr/>
        </p:nvSpPr>
        <p:spPr>
          <a:xfrm>
            <a:off x="0" y="804101"/>
            <a:ext cx="6858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Ransomware is a type of harmful software (malware) that criminals use to make money or cause problems.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It works by locking or encrypting your personal files (like photos, documents) on your computer so that you can’t open them.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attacker then asks you to pay a ransom (money) in order to get your files back.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Ransomware can spread like a virus or worm, which means it can move from one computer to another.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Sometimes it encrypts just certain files, and other times it locks everything, even important parts of your computer like the master boot record (which helps your computer start)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r>
              <a:rPr lang="en-US" dirty="0"/>
              <a:t>Examples of well-known ransomware:</a:t>
            </a:r>
          </a:p>
          <a:p>
            <a:r>
              <a:rPr lang="en-US" dirty="0"/>
              <a:t>WannaCry</a:t>
            </a:r>
          </a:p>
          <a:p>
            <a:r>
              <a:rPr lang="en-US" dirty="0"/>
              <a:t>Petya</a:t>
            </a:r>
          </a:p>
          <a:p>
            <a:r>
              <a:rPr lang="en-US" dirty="0" err="1"/>
              <a:t>Sodinokibi</a:t>
            </a:r>
            <a:endParaRPr lang="en-US" dirty="0"/>
          </a:p>
          <a:p>
            <a:r>
              <a:rPr lang="en-US" dirty="0"/>
              <a:t>Bad Rabbit</a:t>
            </a:r>
          </a:p>
          <a:p>
            <a:r>
              <a:rPr lang="en-US" dirty="0" err="1"/>
              <a:t>Grandcrab</a:t>
            </a:r>
            <a:endParaRPr lang="en-US" dirty="0"/>
          </a:p>
          <a:p>
            <a:r>
              <a:rPr lang="en-US" dirty="0" err="1"/>
              <a:t>SamSam</a:t>
            </a:r>
            <a:endParaRPr lang="en-US" dirty="0"/>
          </a:p>
          <a:p>
            <a:r>
              <a:rPr lang="en-US" dirty="0" err="1"/>
              <a:t>CryptoLocker</a:t>
            </a:r>
            <a:endParaRPr lang="en-US" dirty="0"/>
          </a:p>
          <a:p>
            <a:r>
              <a:rPr lang="en-US" dirty="0" err="1"/>
              <a:t>CryptoDefense</a:t>
            </a:r>
            <a:endParaRPr lang="en-US" dirty="0"/>
          </a:p>
          <a:p>
            <a:r>
              <a:rPr lang="en-US" dirty="0" err="1"/>
              <a:t>CryptoWall</a:t>
            </a:r>
            <a:endParaRPr lang="en-US" dirty="0"/>
          </a:p>
          <a:p>
            <a:r>
              <a:rPr lang="en-US" dirty="0" err="1"/>
              <a:t>Spora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823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743</TotalTime>
  <Words>773</Words>
  <Application>Microsoft Office PowerPoint</Application>
  <PresentationFormat>Custom</PresentationFormat>
  <Paragraphs>70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Office Theme</vt:lpstr>
      <vt:lpstr>PowerPoint Presentation</vt:lpstr>
      <vt:lpstr>INTRODUCTION TO SDN</vt:lpstr>
      <vt:lpstr>OS MODEL</vt:lpstr>
      <vt:lpstr>SDN MODEL</vt:lpstr>
      <vt:lpstr>MAIN SERVICES OF SDN</vt:lpstr>
      <vt:lpstr>MAIN SERVICES OF SDN</vt:lpstr>
      <vt:lpstr>PowerPoint Presentation</vt:lpstr>
      <vt:lpstr>PowerPoint Presentation</vt:lpstr>
      <vt:lpstr>PowerPoint Presentation</vt:lpstr>
      <vt:lpstr>PowerPoint Presentation</vt:lpstr>
      <vt:lpstr>MININET (mininet.org)</vt:lpstr>
      <vt:lpstr>MININET (mininet.org)</vt:lpstr>
      <vt:lpstr>MININET (mininet.org)</vt:lpstr>
      <vt:lpstr>PACKET FLOW</vt:lpstr>
      <vt:lpstr>PowerPoint Presentation</vt:lpstr>
      <vt:lpstr>PowerPoint Presentation</vt:lpstr>
      <vt:lpstr>UNDERSTAND TOPOLOGY</vt:lpstr>
      <vt:lpstr>UNDERSTAND TOPOLOGY</vt:lpstr>
      <vt:lpstr>PowerPoint Presentation</vt:lpstr>
      <vt:lpstr>INTRODUCTION TO OPENFLOW</vt:lpstr>
      <vt:lpstr>Ransomware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Shankar Pradhan</dc:creator>
  <cp:lastModifiedBy>Shankar Pradhan</cp:lastModifiedBy>
  <cp:revision>48</cp:revision>
  <dcterms:created xsi:type="dcterms:W3CDTF">2025-09-13T13:46:48Z</dcterms:created>
  <dcterms:modified xsi:type="dcterms:W3CDTF">2025-09-14T10:22:34Z</dcterms:modified>
</cp:coreProperties>
</file>