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3" r:id="rId8"/>
    <p:sldId id="264" r:id="rId9"/>
    <p:sldId id="265" r:id="rId10"/>
    <p:sldId id="266" r:id="rId11"/>
    <p:sldId id="262" r:id="rId12"/>
    <p:sldId id="267" r:id="rId13"/>
    <p:sldId id="268" r:id="rId14"/>
    <p:sldId id="270" r:id="rId15"/>
    <p:sldId id="269" r:id="rId16"/>
    <p:sldId id="271" r:id="rId17"/>
    <p:sldId id="272" r:id="rId18"/>
    <p:sldId id="273" r:id="rId19"/>
    <p:sldId id="275" r:id="rId20"/>
    <p:sldId id="276" r:id="rId21"/>
    <p:sldId id="277" r:id="rId22"/>
    <p:sldId id="279" r:id="rId23"/>
    <p:sldId id="280" r:id="rId24"/>
    <p:sldId id="281" r:id="rId25"/>
    <p:sldId id="282" r:id="rId26"/>
    <p:sldId id="283" r:id="rId27"/>
    <p:sldId id="284" r:id="rId28"/>
    <p:sldId id="285" r:id="rId29"/>
    <p:sldId id="286" r:id="rId30"/>
    <p:sldId id="287" r:id="rId31"/>
    <p:sldId id="288" r:id="rId32"/>
  </p:sldIdLst>
  <p:sldSz cx="6858000" cy="93599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03"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584" autoAdjust="0"/>
    <p:restoredTop sz="94660"/>
  </p:normalViewPr>
  <p:slideViewPr>
    <p:cSldViewPr snapToGrid="0" showGuides="1">
      <p:cViewPr varScale="1">
        <p:scale>
          <a:sx n="58" d="100"/>
          <a:sy n="58" d="100"/>
        </p:scale>
        <p:origin x="2602" y="62"/>
      </p:cViewPr>
      <p:guideLst>
        <p:guide orient="horz" pos="2903"/>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C567E2E-290D-4AE0-A503-04AA2426DC3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380E8186-1AD4-4483-8813-7FD0177E9D46}">
      <dgm:prSet custT="1"/>
      <dgm:spPr/>
      <dgm:t>
        <a:bodyPr/>
        <a:lstStyle/>
        <a:p>
          <a:r>
            <a:rPr lang="en-US" sz="2400" dirty="0"/>
            <a:t>What is wide area networking?</a:t>
          </a:r>
          <a:endParaRPr lang="en-IN" sz="2400" dirty="0"/>
        </a:p>
      </dgm:t>
    </dgm:pt>
    <dgm:pt modelId="{FAC7EFA0-A983-44B0-BE60-98AFBAE1B5BC}" type="parTrans" cxnId="{E5544EE1-CE37-432C-A84E-DFB58F6B265D}">
      <dgm:prSet/>
      <dgm:spPr/>
      <dgm:t>
        <a:bodyPr/>
        <a:lstStyle/>
        <a:p>
          <a:endParaRPr lang="en-IN"/>
        </a:p>
      </dgm:t>
    </dgm:pt>
    <dgm:pt modelId="{81F75963-2DA5-43D0-8F2B-6C1FBDFE25EE}" type="sibTrans" cxnId="{E5544EE1-CE37-432C-A84E-DFB58F6B265D}">
      <dgm:prSet/>
      <dgm:spPr/>
      <dgm:t>
        <a:bodyPr/>
        <a:lstStyle/>
        <a:p>
          <a:endParaRPr lang="en-IN"/>
        </a:p>
      </dgm:t>
    </dgm:pt>
    <dgm:pt modelId="{8CCC3D31-AE93-4585-8730-ED37EE730635}">
      <dgm:prSet custT="1"/>
      <dgm:spPr/>
      <dgm:t>
        <a:bodyPr/>
        <a:lstStyle/>
        <a:p>
          <a:r>
            <a:rPr lang="en-US" sz="2400" dirty="0"/>
            <a:t>How wan has been evolving over years</a:t>
          </a:r>
          <a:endParaRPr lang="en-IN" sz="2400" dirty="0"/>
        </a:p>
      </dgm:t>
    </dgm:pt>
    <dgm:pt modelId="{18CF7756-77D6-4906-8549-48C423B537E0}" type="parTrans" cxnId="{71071A6B-536B-4B50-AC0C-6EAEFE9A14AC}">
      <dgm:prSet/>
      <dgm:spPr/>
      <dgm:t>
        <a:bodyPr/>
        <a:lstStyle/>
        <a:p>
          <a:endParaRPr lang="en-IN"/>
        </a:p>
      </dgm:t>
    </dgm:pt>
    <dgm:pt modelId="{D4A3179B-894C-4938-827C-78BD3DBDBC04}" type="sibTrans" cxnId="{71071A6B-536B-4B50-AC0C-6EAEFE9A14AC}">
      <dgm:prSet/>
      <dgm:spPr/>
      <dgm:t>
        <a:bodyPr/>
        <a:lstStyle/>
        <a:p>
          <a:endParaRPr lang="en-IN"/>
        </a:p>
      </dgm:t>
    </dgm:pt>
    <dgm:pt modelId="{CE03812A-BD48-4FA9-9788-9636632BAEC1}">
      <dgm:prSet custT="1"/>
      <dgm:spPr/>
      <dgm:t>
        <a:bodyPr/>
        <a:lstStyle/>
        <a:p>
          <a:r>
            <a:rPr lang="en-US" sz="2400" dirty="0"/>
            <a:t>Let’s design typical enterprise network</a:t>
          </a:r>
          <a:endParaRPr lang="en-IN" sz="2400" dirty="0"/>
        </a:p>
      </dgm:t>
    </dgm:pt>
    <dgm:pt modelId="{589F7F94-9439-4280-8FE1-0E5A1BE9811B}" type="parTrans" cxnId="{8ADA372A-CE8C-42EC-A492-445DDDE5A555}">
      <dgm:prSet/>
      <dgm:spPr/>
      <dgm:t>
        <a:bodyPr/>
        <a:lstStyle/>
        <a:p>
          <a:endParaRPr lang="en-IN"/>
        </a:p>
      </dgm:t>
    </dgm:pt>
    <dgm:pt modelId="{A9280094-C9DD-4B0D-85EF-B4BB53C30D6B}" type="sibTrans" cxnId="{8ADA372A-CE8C-42EC-A492-445DDDE5A555}">
      <dgm:prSet/>
      <dgm:spPr/>
      <dgm:t>
        <a:bodyPr/>
        <a:lstStyle/>
        <a:p>
          <a:endParaRPr lang="en-IN"/>
        </a:p>
      </dgm:t>
    </dgm:pt>
    <dgm:pt modelId="{565CD0C3-15C7-42DC-B8BD-2574A4A81B88}">
      <dgm:prSet custT="1"/>
      <dgm:spPr/>
      <dgm:t>
        <a:bodyPr/>
        <a:lstStyle/>
        <a:p>
          <a:r>
            <a:rPr lang="en-US" sz="2400" dirty="0"/>
            <a:t>Issue in traditional enterprises form wan perspective (why sometimes new??)</a:t>
          </a:r>
          <a:endParaRPr lang="en-IN" sz="2400" dirty="0"/>
        </a:p>
      </dgm:t>
    </dgm:pt>
    <dgm:pt modelId="{A455CC53-323A-4311-8935-CEA926B4AFC8}" type="parTrans" cxnId="{5038E49A-57DC-4282-A593-536388C62D85}">
      <dgm:prSet/>
      <dgm:spPr/>
      <dgm:t>
        <a:bodyPr/>
        <a:lstStyle/>
        <a:p>
          <a:endParaRPr lang="en-IN"/>
        </a:p>
      </dgm:t>
    </dgm:pt>
    <dgm:pt modelId="{FBCADD7A-08FC-438E-92D5-4C502D247B32}" type="sibTrans" cxnId="{5038E49A-57DC-4282-A593-536388C62D85}">
      <dgm:prSet/>
      <dgm:spPr/>
      <dgm:t>
        <a:bodyPr/>
        <a:lstStyle/>
        <a:p>
          <a:endParaRPr lang="en-IN"/>
        </a:p>
      </dgm:t>
    </dgm:pt>
    <dgm:pt modelId="{698A853E-F585-451D-BDB9-DFDC2E2DF0B4}">
      <dgm:prSet custT="1"/>
      <dgm:spPr/>
      <dgm:t>
        <a:bodyPr/>
        <a:lstStyle/>
        <a:p>
          <a:r>
            <a:rPr lang="en-US" sz="2400" dirty="0"/>
            <a:t>How these issues can be resolved? SD-WAN introduction</a:t>
          </a:r>
          <a:endParaRPr lang="en-IN" sz="2400" dirty="0"/>
        </a:p>
      </dgm:t>
    </dgm:pt>
    <dgm:pt modelId="{6AD7A5A9-EC1C-42C8-A5F2-5144900A2DBA}" type="parTrans" cxnId="{B8E1E346-12AC-43E0-ABF9-48F989D1A2EE}">
      <dgm:prSet/>
      <dgm:spPr/>
      <dgm:t>
        <a:bodyPr/>
        <a:lstStyle/>
        <a:p>
          <a:endParaRPr lang="en-IN"/>
        </a:p>
      </dgm:t>
    </dgm:pt>
    <dgm:pt modelId="{6E24BECE-B27F-449F-BFA1-9A244334DE14}" type="sibTrans" cxnId="{B8E1E346-12AC-43E0-ABF9-48F989D1A2EE}">
      <dgm:prSet/>
      <dgm:spPr/>
      <dgm:t>
        <a:bodyPr/>
        <a:lstStyle/>
        <a:p>
          <a:endParaRPr lang="en-IN"/>
        </a:p>
      </dgm:t>
    </dgm:pt>
    <dgm:pt modelId="{1F19003F-A3FE-47CA-8CA0-AD6E51690479}">
      <dgm:prSet custT="1"/>
      <dgm:spPr/>
      <dgm:t>
        <a:bodyPr/>
        <a:lstStyle/>
        <a:p>
          <a:endParaRPr lang="en-US" sz="2400" dirty="0"/>
        </a:p>
        <a:p>
          <a:r>
            <a:rPr lang="en-US" sz="2400" dirty="0"/>
            <a:t>SD-WAN solutions is a big puzzle. Let’s break it down,  control plane and data plane. Can we separate them? Any benefits? Concept of next route Tunneling</a:t>
          </a:r>
          <a:endParaRPr lang="en-IN" sz="2400" dirty="0"/>
        </a:p>
      </dgm:t>
    </dgm:pt>
    <dgm:pt modelId="{CCCCAB63-5C89-42D6-9CCE-BFAE709C8C40}" type="parTrans" cxnId="{94A2DF71-2770-4A5A-BA8C-961FF1497FEC}">
      <dgm:prSet/>
      <dgm:spPr/>
      <dgm:t>
        <a:bodyPr/>
        <a:lstStyle/>
        <a:p>
          <a:endParaRPr lang="en-IN"/>
        </a:p>
      </dgm:t>
    </dgm:pt>
    <dgm:pt modelId="{E40D1522-85A1-4377-871C-3EA04E24A7CA}" type="sibTrans" cxnId="{94A2DF71-2770-4A5A-BA8C-961FF1497FEC}">
      <dgm:prSet/>
      <dgm:spPr/>
      <dgm:t>
        <a:bodyPr/>
        <a:lstStyle/>
        <a:p>
          <a:endParaRPr lang="en-IN"/>
        </a:p>
      </dgm:t>
    </dgm:pt>
    <dgm:pt modelId="{6F81FF11-74B7-4A19-9F27-69199E63B87B}">
      <dgm:prSet custT="1"/>
      <dgm:spPr/>
      <dgm:t>
        <a:bodyPr/>
        <a:lstStyle/>
        <a:p>
          <a:r>
            <a:rPr lang="en-US" sz="2400" dirty="0"/>
            <a:t>Let’s combine all the process together for a complete solution</a:t>
          </a:r>
          <a:endParaRPr lang="en-IN" sz="2400" dirty="0"/>
        </a:p>
      </dgm:t>
    </dgm:pt>
    <dgm:pt modelId="{A816BAC0-0CA4-47E1-AC59-ABA5EE6E66BD}" type="parTrans" cxnId="{28170A4D-C43B-4BAF-B84B-98B3E44FFA5F}">
      <dgm:prSet/>
      <dgm:spPr/>
      <dgm:t>
        <a:bodyPr/>
        <a:lstStyle/>
        <a:p>
          <a:endParaRPr lang="en-IN"/>
        </a:p>
      </dgm:t>
    </dgm:pt>
    <dgm:pt modelId="{BC25008A-9AA4-4DFA-919C-9A1D37F1820F}" type="sibTrans" cxnId="{28170A4D-C43B-4BAF-B84B-98B3E44FFA5F}">
      <dgm:prSet/>
      <dgm:spPr/>
      <dgm:t>
        <a:bodyPr/>
        <a:lstStyle/>
        <a:p>
          <a:endParaRPr lang="en-IN"/>
        </a:p>
      </dgm:t>
    </dgm:pt>
    <dgm:pt modelId="{D85B9332-B623-4F7C-B1E2-93A94FAEA3A4}" type="pres">
      <dgm:prSet presAssocID="{AC567E2E-290D-4AE0-A503-04AA2426DC3B}" presName="linear" presStyleCnt="0">
        <dgm:presLayoutVars>
          <dgm:animLvl val="lvl"/>
          <dgm:resizeHandles val="exact"/>
        </dgm:presLayoutVars>
      </dgm:prSet>
      <dgm:spPr/>
    </dgm:pt>
    <dgm:pt modelId="{9B02FCE6-2D14-40EE-A177-657952EF4D44}" type="pres">
      <dgm:prSet presAssocID="{380E8186-1AD4-4483-8813-7FD0177E9D46}" presName="parentText" presStyleLbl="node1" presStyleIdx="0" presStyleCnt="7">
        <dgm:presLayoutVars>
          <dgm:chMax val="0"/>
          <dgm:bulletEnabled val="1"/>
        </dgm:presLayoutVars>
      </dgm:prSet>
      <dgm:spPr/>
    </dgm:pt>
    <dgm:pt modelId="{B1B71CE1-29A3-49E0-8231-2D4038C79F96}" type="pres">
      <dgm:prSet presAssocID="{81F75963-2DA5-43D0-8F2B-6C1FBDFE25EE}" presName="spacer" presStyleCnt="0"/>
      <dgm:spPr/>
    </dgm:pt>
    <dgm:pt modelId="{1A0D5837-CA7B-4D36-A7A6-F2914D6D2FD0}" type="pres">
      <dgm:prSet presAssocID="{8CCC3D31-AE93-4585-8730-ED37EE730635}" presName="parentText" presStyleLbl="node1" presStyleIdx="1" presStyleCnt="7">
        <dgm:presLayoutVars>
          <dgm:chMax val="0"/>
          <dgm:bulletEnabled val="1"/>
        </dgm:presLayoutVars>
      </dgm:prSet>
      <dgm:spPr/>
    </dgm:pt>
    <dgm:pt modelId="{B2E553EF-D392-4CDA-9F0C-60D04E707FCC}" type="pres">
      <dgm:prSet presAssocID="{D4A3179B-894C-4938-827C-78BD3DBDBC04}" presName="spacer" presStyleCnt="0"/>
      <dgm:spPr/>
    </dgm:pt>
    <dgm:pt modelId="{47B8BFB2-06C1-47D7-88BA-FA8B3DA05ECE}" type="pres">
      <dgm:prSet presAssocID="{CE03812A-BD48-4FA9-9788-9636632BAEC1}" presName="parentText" presStyleLbl="node1" presStyleIdx="2" presStyleCnt="7">
        <dgm:presLayoutVars>
          <dgm:chMax val="0"/>
          <dgm:bulletEnabled val="1"/>
        </dgm:presLayoutVars>
      </dgm:prSet>
      <dgm:spPr/>
    </dgm:pt>
    <dgm:pt modelId="{1993751B-6824-44C9-AE54-C94806840EDC}" type="pres">
      <dgm:prSet presAssocID="{A9280094-C9DD-4B0D-85EF-B4BB53C30D6B}" presName="spacer" presStyleCnt="0"/>
      <dgm:spPr/>
    </dgm:pt>
    <dgm:pt modelId="{397F2E8C-5AF4-4619-9039-55C45B7A0096}" type="pres">
      <dgm:prSet presAssocID="{565CD0C3-15C7-42DC-B8BD-2574A4A81B88}" presName="parentText" presStyleLbl="node1" presStyleIdx="3" presStyleCnt="7">
        <dgm:presLayoutVars>
          <dgm:chMax val="0"/>
          <dgm:bulletEnabled val="1"/>
        </dgm:presLayoutVars>
      </dgm:prSet>
      <dgm:spPr/>
    </dgm:pt>
    <dgm:pt modelId="{4A00D008-6ECC-477C-9DB2-F2111F65D911}" type="pres">
      <dgm:prSet presAssocID="{FBCADD7A-08FC-438E-92D5-4C502D247B32}" presName="spacer" presStyleCnt="0"/>
      <dgm:spPr/>
    </dgm:pt>
    <dgm:pt modelId="{77A544D1-826D-414F-8CFD-40E2CC94F5A3}" type="pres">
      <dgm:prSet presAssocID="{698A853E-F585-451D-BDB9-DFDC2E2DF0B4}" presName="parentText" presStyleLbl="node1" presStyleIdx="4" presStyleCnt="7">
        <dgm:presLayoutVars>
          <dgm:chMax val="0"/>
          <dgm:bulletEnabled val="1"/>
        </dgm:presLayoutVars>
      </dgm:prSet>
      <dgm:spPr/>
    </dgm:pt>
    <dgm:pt modelId="{2B1B2E24-F26D-43FA-B2A9-5ED59FF96292}" type="pres">
      <dgm:prSet presAssocID="{6E24BECE-B27F-449F-BFA1-9A244334DE14}" presName="spacer" presStyleCnt="0"/>
      <dgm:spPr/>
    </dgm:pt>
    <dgm:pt modelId="{1BA2D782-D8B4-481E-8B00-C0B33473D4B8}" type="pres">
      <dgm:prSet presAssocID="{1F19003F-A3FE-47CA-8CA0-AD6E51690479}" presName="parentText" presStyleLbl="node1" presStyleIdx="5" presStyleCnt="7">
        <dgm:presLayoutVars>
          <dgm:chMax val="0"/>
          <dgm:bulletEnabled val="1"/>
        </dgm:presLayoutVars>
      </dgm:prSet>
      <dgm:spPr/>
    </dgm:pt>
    <dgm:pt modelId="{8DD213DD-07CC-4AA6-897E-4DF23AFA424F}" type="pres">
      <dgm:prSet presAssocID="{E40D1522-85A1-4377-871C-3EA04E24A7CA}" presName="spacer" presStyleCnt="0"/>
      <dgm:spPr/>
    </dgm:pt>
    <dgm:pt modelId="{BD028A71-6486-42F7-AB4F-E118FF547032}" type="pres">
      <dgm:prSet presAssocID="{6F81FF11-74B7-4A19-9F27-69199E63B87B}" presName="parentText" presStyleLbl="node1" presStyleIdx="6" presStyleCnt="7">
        <dgm:presLayoutVars>
          <dgm:chMax val="0"/>
          <dgm:bulletEnabled val="1"/>
        </dgm:presLayoutVars>
      </dgm:prSet>
      <dgm:spPr/>
    </dgm:pt>
  </dgm:ptLst>
  <dgm:cxnLst>
    <dgm:cxn modelId="{D84A0D1C-0301-4F50-89C7-8FE9D0E98A61}" type="presOf" srcId="{1F19003F-A3FE-47CA-8CA0-AD6E51690479}" destId="{1BA2D782-D8B4-481E-8B00-C0B33473D4B8}" srcOrd="0" destOrd="0" presId="urn:microsoft.com/office/officeart/2005/8/layout/vList2"/>
    <dgm:cxn modelId="{8ADA372A-CE8C-42EC-A492-445DDDE5A555}" srcId="{AC567E2E-290D-4AE0-A503-04AA2426DC3B}" destId="{CE03812A-BD48-4FA9-9788-9636632BAEC1}" srcOrd="2" destOrd="0" parTransId="{589F7F94-9439-4280-8FE1-0E5A1BE9811B}" sibTransId="{A9280094-C9DD-4B0D-85EF-B4BB53C30D6B}"/>
    <dgm:cxn modelId="{0DEB2264-8DE1-4A42-A58C-4B50CFC558F4}" type="presOf" srcId="{AC567E2E-290D-4AE0-A503-04AA2426DC3B}" destId="{D85B9332-B623-4F7C-B1E2-93A94FAEA3A4}" srcOrd="0" destOrd="0" presId="urn:microsoft.com/office/officeart/2005/8/layout/vList2"/>
    <dgm:cxn modelId="{B8E1E346-12AC-43E0-ABF9-48F989D1A2EE}" srcId="{AC567E2E-290D-4AE0-A503-04AA2426DC3B}" destId="{698A853E-F585-451D-BDB9-DFDC2E2DF0B4}" srcOrd="4" destOrd="0" parTransId="{6AD7A5A9-EC1C-42C8-A5F2-5144900A2DBA}" sibTransId="{6E24BECE-B27F-449F-BFA1-9A244334DE14}"/>
    <dgm:cxn modelId="{71071A6B-536B-4B50-AC0C-6EAEFE9A14AC}" srcId="{AC567E2E-290D-4AE0-A503-04AA2426DC3B}" destId="{8CCC3D31-AE93-4585-8730-ED37EE730635}" srcOrd="1" destOrd="0" parTransId="{18CF7756-77D6-4906-8549-48C423B537E0}" sibTransId="{D4A3179B-894C-4938-827C-78BD3DBDBC04}"/>
    <dgm:cxn modelId="{28170A4D-C43B-4BAF-B84B-98B3E44FFA5F}" srcId="{AC567E2E-290D-4AE0-A503-04AA2426DC3B}" destId="{6F81FF11-74B7-4A19-9F27-69199E63B87B}" srcOrd="6" destOrd="0" parTransId="{A816BAC0-0CA4-47E1-AC59-ABA5EE6E66BD}" sibTransId="{BC25008A-9AA4-4DFA-919C-9A1D37F1820F}"/>
    <dgm:cxn modelId="{94A2DF71-2770-4A5A-BA8C-961FF1497FEC}" srcId="{AC567E2E-290D-4AE0-A503-04AA2426DC3B}" destId="{1F19003F-A3FE-47CA-8CA0-AD6E51690479}" srcOrd="5" destOrd="0" parTransId="{CCCCAB63-5C89-42D6-9CCE-BFAE709C8C40}" sibTransId="{E40D1522-85A1-4377-871C-3EA04E24A7CA}"/>
    <dgm:cxn modelId="{9C18B58D-796A-4E13-8109-7AD5D00DADA4}" type="presOf" srcId="{698A853E-F585-451D-BDB9-DFDC2E2DF0B4}" destId="{77A544D1-826D-414F-8CFD-40E2CC94F5A3}" srcOrd="0" destOrd="0" presId="urn:microsoft.com/office/officeart/2005/8/layout/vList2"/>
    <dgm:cxn modelId="{5038E49A-57DC-4282-A593-536388C62D85}" srcId="{AC567E2E-290D-4AE0-A503-04AA2426DC3B}" destId="{565CD0C3-15C7-42DC-B8BD-2574A4A81B88}" srcOrd="3" destOrd="0" parTransId="{A455CC53-323A-4311-8935-CEA926B4AFC8}" sibTransId="{FBCADD7A-08FC-438E-92D5-4C502D247B32}"/>
    <dgm:cxn modelId="{0A4501A9-52B4-4C6E-AE6F-31AD019FA89A}" type="presOf" srcId="{6F81FF11-74B7-4A19-9F27-69199E63B87B}" destId="{BD028A71-6486-42F7-AB4F-E118FF547032}" srcOrd="0" destOrd="0" presId="urn:microsoft.com/office/officeart/2005/8/layout/vList2"/>
    <dgm:cxn modelId="{49F689C2-1C24-4F9B-984B-4BFA6581649A}" type="presOf" srcId="{CE03812A-BD48-4FA9-9788-9636632BAEC1}" destId="{47B8BFB2-06C1-47D7-88BA-FA8B3DA05ECE}" srcOrd="0" destOrd="0" presId="urn:microsoft.com/office/officeart/2005/8/layout/vList2"/>
    <dgm:cxn modelId="{A0D41DDC-D4BD-4BFA-B079-8B132C0962BB}" type="presOf" srcId="{380E8186-1AD4-4483-8813-7FD0177E9D46}" destId="{9B02FCE6-2D14-40EE-A177-657952EF4D44}" srcOrd="0" destOrd="0" presId="urn:microsoft.com/office/officeart/2005/8/layout/vList2"/>
    <dgm:cxn modelId="{8D7741DF-48CA-4CB3-BB91-A5B680FAAC76}" type="presOf" srcId="{8CCC3D31-AE93-4585-8730-ED37EE730635}" destId="{1A0D5837-CA7B-4D36-A7A6-F2914D6D2FD0}" srcOrd="0" destOrd="0" presId="urn:microsoft.com/office/officeart/2005/8/layout/vList2"/>
    <dgm:cxn modelId="{E5544EE1-CE37-432C-A84E-DFB58F6B265D}" srcId="{AC567E2E-290D-4AE0-A503-04AA2426DC3B}" destId="{380E8186-1AD4-4483-8813-7FD0177E9D46}" srcOrd="0" destOrd="0" parTransId="{FAC7EFA0-A983-44B0-BE60-98AFBAE1B5BC}" sibTransId="{81F75963-2DA5-43D0-8F2B-6C1FBDFE25EE}"/>
    <dgm:cxn modelId="{A96D63E9-F107-40C5-BADC-0DFB63684A6E}" type="presOf" srcId="{565CD0C3-15C7-42DC-B8BD-2574A4A81B88}" destId="{397F2E8C-5AF4-4619-9039-55C45B7A0096}" srcOrd="0" destOrd="0" presId="urn:microsoft.com/office/officeart/2005/8/layout/vList2"/>
    <dgm:cxn modelId="{9255640E-0C27-4E2C-9BBF-4AEC808FB901}" type="presParOf" srcId="{D85B9332-B623-4F7C-B1E2-93A94FAEA3A4}" destId="{9B02FCE6-2D14-40EE-A177-657952EF4D44}" srcOrd="0" destOrd="0" presId="urn:microsoft.com/office/officeart/2005/8/layout/vList2"/>
    <dgm:cxn modelId="{DE315C89-40A6-44DA-B697-B6B69EECC44E}" type="presParOf" srcId="{D85B9332-B623-4F7C-B1E2-93A94FAEA3A4}" destId="{B1B71CE1-29A3-49E0-8231-2D4038C79F96}" srcOrd="1" destOrd="0" presId="urn:microsoft.com/office/officeart/2005/8/layout/vList2"/>
    <dgm:cxn modelId="{4AAD7C39-7402-43F2-BDD9-4BC2FB8665FC}" type="presParOf" srcId="{D85B9332-B623-4F7C-B1E2-93A94FAEA3A4}" destId="{1A0D5837-CA7B-4D36-A7A6-F2914D6D2FD0}" srcOrd="2" destOrd="0" presId="urn:microsoft.com/office/officeart/2005/8/layout/vList2"/>
    <dgm:cxn modelId="{94ED1AA6-D492-4254-8D8F-A5F103D415E6}" type="presParOf" srcId="{D85B9332-B623-4F7C-B1E2-93A94FAEA3A4}" destId="{B2E553EF-D392-4CDA-9F0C-60D04E707FCC}" srcOrd="3" destOrd="0" presId="urn:microsoft.com/office/officeart/2005/8/layout/vList2"/>
    <dgm:cxn modelId="{F6CEDD43-4A3A-46BB-AE80-240EA9F7E5CB}" type="presParOf" srcId="{D85B9332-B623-4F7C-B1E2-93A94FAEA3A4}" destId="{47B8BFB2-06C1-47D7-88BA-FA8B3DA05ECE}" srcOrd="4" destOrd="0" presId="urn:microsoft.com/office/officeart/2005/8/layout/vList2"/>
    <dgm:cxn modelId="{F8FCA7F7-6E08-4C28-9594-1D91DB5D1582}" type="presParOf" srcId="{D85B9332-B623-4F7C-B1E2-93A94FAEA3A4}" destId="{1993751B-6824-44C9-AE54-C94806840EDC}" srcOrd="5" destOrd="0" presId="urn:microsoft.com/office/officeart/2005/8/layout/vList2"/>
    <dgm:cxn modelId="{3DD2B599-AD46-40FA-8754-D75F42032ED3}" type="presParOf" srcId="{D85B9332-B623-4F7C-B1E2-93A94FAEA3A4}" destId="{397F2E8C-5AF4-4619-9039-55C45B7A0096}" srcOrd="6" destOrd="0" presId="urn:microsoft.com/office/officeart/2005/8/layout/vList2"/>
    <dgm:cxn modelId="{F7A17678-6BCB-486F-9C31-A904ACE33217}" type="presParOf" srcId="{D85B9332-B623-4F7C-B1E2-93A94FAEA3A4}" destId="{4A00D008-6ECC-477C-9DB2-F2111F65D911}" srcOrd="7" destOrd="0" presId="urn:microsoft.com/office/officeart/2005/8/layout/vList2"/>
    <dgm:cxn modelId="{3BBD6B1B-C4A2-4A45-8F07-345C3813D522}" type="presParOf" srcId="{D85B9332-B623-4F7C-B1E2-93A94FAEA3A4}" destId="{77A544D1-826D-414F-8CFD-40E2CC94F5A3}" srcOrd="8" destOrd="0" presId="urn:microsoft.com/office/officeart/2005/8/layout/vList2"/>
    <dgm:cxn modelId="{39D993D1-D502-4EE6-93B5-4F79B7CC45A6}" type="presParOf" srcId="{D85B9332-B623-4F7C-B1E2-93A94FAEA3A4}" destId="{2B1B2E24-F26D-43FA-B2A9-5ED59FF96292}" srcOrd="9" destOrd="0" presId="urn:microsoft.com/office/officeart/2005/8/layout/vList2"/>
    <dgm:cxn modelId="{257390BA-CFD9-4099-BCBE-13DAFFE48280}" type="presParOf" srcId="{D85B9332-B623-4F7C-B1E2-93A94FAEA3A4}" destId="{1BA2D782-D8B4-481E-8B00-C0B33473D4B8}" srcOrd="10" destOrd="0" presId="urn:microsoft.com/office/officeart/2005/8/layout/vList2"/>
    <dgm:cxn modelId="{D025165E-61CE-4CC5-9E46-99E5D74C1829}" type="presParOf" srcId="{D85B9332-B623-4F7C-B1E2-93A94FAEA3A4}" destId="{8DD213DD-07CC-4AA6-897E-4DF23AFA424F}" srcOrd="11" destOrd="0" presId="urn:microsoft.com/office/officeart/2005/8/layout/vList2"/>
    <dgm:cxn modelId="{16F52F51-FC3F-4E39-8D52-40F6CBC55EE2}" type="presParOf" srcId="{D85B9332-B623-4F7C-B1E2-93A94FAEA3A4}" destId="{BD028A71-6486-42F7-AB4F-E118FF547032}"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6D5C9F-CCAA-480C-8EE1-DCFC4884FF90}"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2A5DB88D-B105-49EB-9324-B71C5B20F48B}">
      <dgm:prSet custT="1"/>
      <dgm:spPr/>
      <dgm:t>
        <a:bodyPr/>
        <a:lstStyle/>
        <a:p>
          <a:r>
            <a:rPr lang="en-US" sz="2400" dirty="0"/>
            <a:t>TOPICS:</a:t>
          </a:r>
          <a:endParaRPr lang="en-IN" sz="2400" dirty="0"/>
        </a:p>
      </dgm:t>
    </dgm:pt>
    <dgm:pt modelId="{5C26629A-73B6-4155-B9D0-CE8D9D6B72FD}" type="parTrans" cxnId="{BE57CCA9-20B8-4679-9720-91303D60A861}">
      <dgm:prSet/>
      <dgm:spPr/>
      <dgm:t>
        <a:bodyPr/>
        <a:lstStyle/>
        <a:p>
          <a:endParaRPr lang="en-IN"/>
        </a:p>
      </dgm:t>
    </dgm:pt>
    <dgm:pt modelId="{65886100-C051-4129-B7CF-D10D74003DAD}" type="sibTrans" cxnId="{BE57CCA9-20B8-4679-9720-91303D60A861}">
      <dgm:prSet/>
      <dgm:spPr/>
      <dgm:t>
        <a:bodyPr/>
        <a:lstStyle/>
        <a:p>
          <a:endParaRPr lang="en-IN"/>
        </a:p>
      </dgm:t>
    </dgm:pt>
    <dgm:pt modelId="{523275BB-E626-4BB0-BEA0-E5CE4C614C10}">
      <dgm:prSet custT="1"/>
      <dgm:spPr/>
      <dgm:t>
        <a:bodyPr/>
        <a:lstStyle/>
        <a:p>
          <a:r>
            <a:rPr lang="en-US" sz="2400" dirty="0"/>
            <a:t>2. Let’s talk about Vmanage</a:t>
          </a:r>
          <a:endParaRPr lang="en-IN" sz="2400" dirty="0"/>
        </a:p>
      </dgm:t>
    </dgm:pt>
    <dgm:pt modelId="{4C53F9FF-1E80-47CC-A155-22B0B49A5E44}" type="parTrans" cxnId="{B0A284CA-EB46-4125-9BDC-8DBB8923481B}">
      <dgm:prSet/>
      <dgm:spPr/>
      <dgm:t>
        <a:bodyPr/>
        <a:lstStyle/>
        <a:p>
          <a:endParaRPr lang="en-IN"/>
        </a:p>
      </dgm:t>
    </dgm:pt>
    <dgm:pt modelId="{67F3ADA9-5124-494F-BACA-1E41507038CD}" type="sibTrans" cxnId="{B0A284CA-EB46-4125-9BDC-8DBB8923481B}">
      <dgm:prSet/>
      <dgm:spPr/>
      <dgm:t>
        <a:bodyPr/>
        <a:lstStyle/>
        <a:p>
          <a:endParaRPr lang="en-IN"/>
        </a:p>
      </dgm:t>
    </dgm:pt>
    <dgm:pt modelId="{278E77A5-9E6D-4935-8C2C-BC7DD540CC4C}">
      <dgm:prSet custT="1"/>
      <dgm:spPr/>
      <dgm:t>
        <a:bodyPr/>
        <a:lstStyle/>
        <a:p>
          <a:r>
            <a:rPr lang="en-US" sz="2400" dirty="0"/>
            <a:t>3. What we see in cisco’s documentation</a:t>
          </a:r>
          <a:endParaRPr lang="en-IN" sz="2400" dirty="0"/>
        </a:p>
      </dgm:t>
    </dgm:pt>
    <dgm:pt modelId="{9E8F105B-0EC7-413B-8FD7-92E715779355}" type="parTrans" cxnId="{1DC9E47C-38EF-4993-98D2-61946FB84919}">
      <dgm:prSet/>
      <dgm:spPr/>
      <dgm:t>
        <a:bodyPr/>
        <a:lstStyle/>
        <a:p>
          <a:endParaRPr lang="en-IN"/>
        </a:p>
      </dgm:t>
    </dgm:pt>
    <dgm:pt modelId="{44F28E56-9131-4425-A971-BD3C56C7E942}" type="sibTrans" cxnId="{1DC9E47C-38EF-4993-98D2-61946FB84919}">
      <dgm:prSet/>
      <dgm:spPr/>
      <dgm:t>
        <a:bodyPr/>
        <a:lstStyle/>
        <a:p>
          <a:endParaRPr lang="en-IN"/>
        </a:p>
      </dgm:t>
    </dgm:pt>
    <dgm:pt modelId="{03A9C8E1-ECA1-4932-86F6-70FE5F365248}">
      <dgm:prSet custT="1"/>
      <dgm:spPr/>
      <dgm:t>
        <a:bodyPr/>
        <a:lstStyle/>
        <a:p>
          <a:r>
            <a:rPr lang="en-US" sz="2400" dirty="0"/>
            <a:t>4. Why we are learning network security in SD-WAN?</a:t>
          </a:r>
          <a:endParaRPr lang="en-IN" sz="2400" dirty="0"/>
        </a:p>
      </dgm:t>
    </dgm:pt>
    <dgm:pt modelId="{999F3AA1-7336-4EA4-9DBD-92467C8A7798}" type="parTrans" cxnId="{FF1CFDA1-D9D8-4559-8955-2C39A72E5D65}">
      <dgm:prSet/>
      <dgm:spPr/>
      <dgm:t>
        <a:bodyPr/>
        <a:lstStyle/>
        <a:p>
          <a:endParaRPr lang="en-IN"/>
        </a:p>
      </dgm:t>
    </dgm:pt>
    <dgm:pt modelId="{5C4A79AF-0690-4B03-A560-FE007ED61A87}" type="sibTrans" cxnId="{FF1CFDA1-D9D8-4559-8955-2C39A72E5D65}">
      <dgm:prSet/>
      <dgm:spPr/>
      <dgm:t>
        <a:bodyPr/>
        <a:lstStyle/>
        <a:p>
          <a:endParaRPr lang="en-IN"/>
        </a:p>
      </dgm:t>
    </dgm:pt>
    <dgm:pt modelId="{47C6CAD3-D4B9-41DE-94F9-3542CBD5CDDA}">
      <dgm:prSet custT="1"/>
      <dgm:spPr/>
      <dgm:t>
        <a:bodyPr/>
        <a:lstStyle/>
        <a:p>
          <a:r>
            <a:rPr lang="en-US" sz="2400" dirty="0"/>
            <a:t>5. Basics of network security or CIA</a:t>
          </a:r>
          <a:endParaRPr lang="en-IN" sz="2400" dirty="0"/>
        </a:p>
      </dgm:t>
    </dgm:pt>
    <dgm:pt modelId="{4416A0B6-7EAD-415B-9B68-3658A0A9FD09}" type="parTrans" cxnId="{BB68EF4D-9254-434C-95DB-032ABCECF53E}">
      <dgm:prSet/>
      <dgm:spPr/>
      <dgm:t>
        <a:bodyPr/>
        <a:lstStyle/>
        <a:p>
          <a:endParaRPr lang="en-IN"/>
        </a:p>
      </dgm:t>
    </dgm:pt>
    <dgm:pt modelId="{DCEB068F-2AE1-4634-B6F8-D80C40831938}" type="sibTrans" cxnId="{BB68EF4D-9254-434C-95DB-032ABCECF53E}">
      <dgm:prSet/>
      <dgm:spPr/>
      <dgm:t>
        <a:bodyPr/>
        <a:lstStyle/>
        <a:p>
          <a:endParaRPr lang="en-IN"/>
        </a:p>
      </dgm:t>
    </dgm:pt>
    <dgm:pt modelId="{71EB75ED-5134-4602-ABEC-55A34B462FB6}">
      <dgm:prSet custT="1"/>
      <dgm:spPr/>
      <dgm:t>
        <a:bodyPr/>
        <a:lstStyle/>
        <a:p>
          <a:r>
            <a:rPr lang="en-US" sz="2400" dirty="0"/>
            <a:t>1. The orchestrator: </a:t>
          </a:r>
          <a:r>
            <a:rPr lang="en-US" sz="2400" dirty="0" err="1"/>
            <a:t>Vbond</a:t>
          </a:r>
          <a:endParaRPr lang="en-IN" sz="2400" dirty="0"/>
        </a:p>
      </dgm:t>
    </dgm:pt>
    <dgm:pt modelId="{BD5320FA-F43E-4FDB-A72E-5CC4183DB26A}" type="parTrans" cxnId="{0976435B-9742-4DB4-BE67-00AA08CAE3FF}">
      <dgm:prSet/>
      <dgm:spPr/>
      <dgm:t>
        <a:bodyPr/>
        <a:lstStyle/>
        <a:p>
          <a:endParaRPr lang="en-IN"/>
        </a:p>
      </dgm:t>
    </dgm:pt>
    <dgm:pt modelId="{869610DC-F786-4F73-862F-823F78F27109}" type="sibTrans" cxnId="{0976435B-9742-4DB4-BE67-00AA08CAE3FF}">
      <dgm:prSet/>
      <dgm:spPr/>
      <dgm:t>
        <a:bodyPr/>
        <a:lstStyle/>
        <a:p>
          <a:endParaRPr lang="en-IN"/>
        </a:p>
      </dgm:t>
    </dgm:pt>
    <dgm:pt modelId="{5B66954F-8D42-4F89-BF93-EE43CE45E4C5}" type="pres">
      <dgm:prSet presAssocID="{996D5C9F-CCAA-480C-8EE1-DCFC4884FF90}" presName="linear" presStyleCnt="0">
        <dgm:presLayoutVars>
          <dgm:animLvl val="lvl"/>
          <dgm:resizeHandles val="exact"/>
        </dgm:presLayoutVars>
      </dgm:prSet>
      <dgm:spPr/>
    </dgm:pt>
    <dgm:pt modelId="{F84E5843-C386-4E3E-9D7C-266BC78BEBFA}" type="pres">
      <dgm:prSet presAssocID="{2A5DB88D-B105-49EB-9324-B71C5B20F48B}" presName="parentText" presStyleLbl="node1" presStyleIdx="0" presStyleCnt="6">
        <dgm:presLayoutVars>
          <dgm:chMax val="0"/>
          <dgm:bulletEnabled val="1"/>
        </dgm:presLayoutVars>
      </dgm:prSet>
      <dgm:spPr/>
    </dgm:pt>
    <dgm:pt modelId="{05D7CC58-B0C7-4888-933A-236F28FE3319}" type="pres">
      <dgm:prSet presAssocID="{65886100-C051-4129-B7CF-D10D74003DAD}" presName="spacer" presStyleCnt="0"/>
      <dgm:spPr/>
    </dgm:pt>
    <dgm:pt modelId="{77F1D081-67F0-4113-91EE-441393B9ED7D}" type="pres">
      <dgm:prSet presAssocID="{71EB75ED-5134-4602-ABEC-55A34B462FB6}" presName="parentText" presStyleLbl="node1" presStyleIdx="1" presStyleCnt="6">
        <dgm:presLayoutVars>
          <dgm:chMax val="0"/>
          <dgm:bulletEnabled val="1"/>
        </dgm:presLayoutVars>
      </dgm:prSet>
      <dgm:spPr/>
    </dgm:pt>
    <dgm:pt modelId="{6D5683F8-245F-4E6E-90AA-FE53B7D7D80F}" type="pres">
      <dgm:prSet presAssocID="{869610DC-F786-4F73-862F-823F78F27109}" presName="spacer" presStyleCnt="0"/>
      <dgm:spPr/>
    </dgm:pt>
    <dgm:pt modelId="{7F4DF675-26B2-4946-B6C4-9500AF6C9F30}" type="pres">
      <dgm:prSet presAssocID="{523275BB-E626-4BB0-BEA0-E5CE4C614C10}" presName="parentText" presStyleLbl="node1" presStyleIdx="2" presStyleCnt="6">
        <dgm:presLayoutVars>
          <dgm:chMax val="0"/>
          <dgm:bulletEnabled val="1"/>
        </dgm:presLayoutVars>
      </dgm:prSet>
      <dgm:spPr/>
    </dgm:pt>
    <dgm:pt modelId="{FBC80E4E-EEBF-442B-8280-B54E91846888}" type="pres">
      <dgm:prSet presAssocID="{67F3ADA9-5124-494F-BACA-1E41507038CD}" presName="spacer" presStyleCnt="0"/>
      <dgm:spPr/>
    </dgm:pt>
    <dgm:pt modelId="{F921CB7B-ACD0-48B2-8616-9DE83D53AD1C}" type="pres">
      <dgm:prSet presAssocID="{278E77A5-9E6D-4935-8C2C-BC7DD540CC4C}" presName="parentText" presStyleLbl="node1" presStyleIdx="3" presStyleCnt="6">
        <dgm:presLayoutVars>
          <dgm:chMax val="0"/>
          <dgm:bulletEnabled val="1"/>
        </dgm:presLayoutVars>
      </dgm:prSet>
      <dgm:spPr/>
    </dgm:pt>
    <dgm:pt modelId="{C6F4A0DA-2BBF-4F52-B6B8-78C6A56C17D8}" type="pres">
      <dgm:prSet presAssocID="{44F28E56-9131-4425-A971-BD3C56C7E942}" presName="spacer" presStyleCnt="0"/>
      <dgm:spPr/>
    </dgm:pt>
    <dgm:pt modelId="{994CAA2B-2966-47BD-882B-277D7E3956C5}" type="pres">
      <dgm:prSet presAssocID="{03A9C8E1-ECA1-4932-86F6-70FE5F365248}" presName="parentText" presStyleLbl="node1" presStyleIdx="4" presStyleCnt="6">
        <dgm:presLayoutVars>
          <dgm:chMax val="0"/>
          <dgm:bulletEnabled val="1"/>
        </dgm:presLayoutVars>
      </dgm:prSet>
      <dgm:spPr/>
    </dgm:pt>
    <dgm:pt modelId="{E6D247A8-5AE9-4DF6-B551-8BC92AF30EEF}" type="pres">
      <dgm:prSet presAssocID="{5C4A79AF-0690-4B03-A560-FE007ED61A87}" presName="spacer" presStyleCnt="0"/>
      <dgm:spPr/>
    </dgm:pt>
    <dgm:pt modelId="{50042A61-A18F-48D2-9AE7-B1E8D8202497}" type="pres">
      <dgm:prSet presAssocID="{47C6CAD3-D4B9-41DE-94F9-3542CBD5CDDA}" presName="parentText" presStyleLbl="node1" presStyleIdx="5" presStyleCnt="6" custLinFactY="16810" custLinFactNeighborX="2157" custLinFactNeighborY="100000">
        <dgm:presLayoutVars>
          <dgm:chMax val="0"/>
          <dgm:bulletEnabled val="1"/>
        </dgm:presLayoutVars>
      </dgm:prSet>
      <dgm:spPr/>
    </dgm:pt>
  </dgm:ptLst>
  <dgm:cxnLst>
    <dgm:cxn modelId="{33D4620D-F03C-4452-A76A-473A47373687}" type="presOf" srcId="{523275BB-E626-4BB0-BEA0-E5CE4C614C10}" destId="{7F4DF675-26B2-4946-B6C4-9500AF6C9F30}" srcOrd="0" destOrd="0" presId="urn:microsoft.com/office/officeart/2005/8/layout/vList2"/>
    <dgm:cxn modelId="{0976435B-9742-4DB4-BE67-00AA08CAE3FF}" srcId="{996D5C9F-CCAA-480C-8EE1-DCFC4884FF90}" destId="{71EB75ED-5134-4602-ABEC-55A34B462FB6}" srcOrd="1" destOrd="0" parTransId="{BD5320FA-F43E-4FDB-A72E-5CC4183DB26A}" sibTransId="{869610DC-F786-4F73-862F-823F78F27109}"/>
    <dgm:cxn modelId="{BB68EF4D-9254-434C-95DB-032ABCECF53E}" srcId="{996D5C9F-CCAA-480C-8EE1-DCFC4884FF90}" destId="{47C6CAD3-D4B9-41DE-94F9-3542CBD5CDDA}" srcOrd="5" destOrd="0" parTransId="{4416A0B6-7EAD-415B-9B68-3658A0A9FD09}" sibTransId="{DCEB068F-2AE1-4634-B6F8-D80C40831938}"/>
    <dgm:cxn modelId="{0868B076-9297-42F0-A830-B0D4DC0CB326}" type="presOf" srcId="{71EB75ED-5134-4602-ABEC-55A34B462FB6}" destId="{77F1D081-67F0-4113-91EE-441393B9ED7D}" srcOrd="0" destOrd="0" presId="urn:microsoft.com/office/officeart/2005/8/layout/vList2"/>
    <dgm:cxn modelId="{1DC9E47C-38EF-4993-98D2-61946FB84919}" srcId="{996D5C9F-CCAA-480C-8EE1-DCFC4884FF90}" destId="{278E77A5-9E6D-4935-8C2C-BC7DD540CC4C}" srcOrd="3" destOrd="0" parTransId="{9E8F105B-0EC7-413B-8FD7-92E715779355}" sibTransId="{44F28E56-9131-4425-A971-BD3C56C7E942}"/>
    <dgm:cxn modelId="{FF1CFDA1-D9D8-4559-8955-2C39A72E5D65}" srcId="{996D5C9F-CCAA-480C-8EE1-DCFC4884FF90}" destId="{03A9C8E1-ECA1-4932-86F6-70FE5F365248}" srcOrd="4" destOrd="0" parTransId="{999F3AA1-7336-4EA4-9DBD-92467C8A7798}" sibTransId="{5C4A79AF-0690-4B03-A560-FE007ED61A87}"/>
    <dgm:cxn modelId="{BE57CCA9-20B8-4679-9720-91303D60A861}" srcId="{996D5C9F-CCAA-480C-8EE1-DCFC4884FF90}" destId="{2A5DB88D-B105-49EB-9324-B71C5B20F48B}" srcOrd="0" destOrd="0" parTransId="{5C26629A-73B6-4155-B9D0-CE8D9D6B72FD}" sibTransId="{65886100-C051-4129-B7CF-D10D74003DAD}"/>
    <dgm:cxn modelId="{E0C597B9-6DD7-4702-9EEA-E0D5B478077C}" type="presOf" srcId="{2A5DB88D-B105-49EB-9324-B71C5B20F48B}" destId="{F84E5843-C386-4E3E-9D7C-266BC78BEBFA}" srcOrd="0" destOrd="0" presId="urn:microsoft.com/office/officeart/2005/8/layout/vList2"/>
    <dgm:cxn modelId="{AD9688BF-8B37-4A2B-A182-C72D626ED469}" type="presOf" srcId="{278E77A5-9E6D-4935-8C2C-BC7DD540CC4C}" destId="{F921CB7B-ACD0-48B2-8616-9DE83D53AD1C}" srcOrd="0" destOrd="0" presId="urn:microsoft.com/office/officeart/2005/8/layout/vList2"/>
    <dgm:cxn modelId="{4B1560C5-3CAC-423C-8416-4B2D8CCD57F7}" type="presOf" srcId="{996D5C9F-CCAA-480C-8EE1-DCFC4884FF90}" destId="{5B66954F-8D42-4F89-BF93-EE43CE45E4C5}" srcOrd="0" destOrd="0" presId="urn:microsoft.com/office/officeart/2005/8/layout/vList2"/>
    <dgm:cxn modelId="{B0A284CA-EB46-4125-9BDC-8DBB8923481B}" srcId="{996D5C9F-CCAA-480C-8EE1-DCFC4884FF90}" destId="{523275BB-E626-4BB0-BEA0-E5CE4C614C10}" srcOrd="2" destOrd="0" parTransId="{4C53F9FF-1E80-47CC-A155-22B0B49A5E44}" sibTransId="{67F3ADA9-5124-494F-BACA-1E41507038CD}"/>
    <dgm:cxn modelId="{020ACBD9-334F-4759-A83D-4702AE41149F}" type="presOf" srcId="{03A9C8E1-ECA1-4932-86F6-70FE5F365248}" destId="{994CAA2B-2966-47BD-882B-277D7E3956C5}" srcOrd="0" destOrd="0" presId="urn:microsoft.com/office/officeart/2005/8/layout/vList2"/>
    <dgm:cxn modelId="{BDFCABE9-905A-490C-870A-89CB5058F174}" type="presOf" srcId="{47C6CAD3-D4B9-41DE-94F9-3542CBD5CDDA}" destId="{50042A61-A18F-48D2-9AE7-B1E8D8202497}" srcOrd="0" destOrd="0" presId="urn:microsoft.com/office/officeart/2005/8/layout/vList2"/>
    <dgm:cxn modelId="{8B4D2C2E-2133-4643-A9A3-F887205F53AD}" type="presParOf" srcId="{5B66954F-8D42-4F89-BF93-EE43CE45E4C5}" destId="{F84E5843-C386-4E3E-9D7C-266BC78BEBFA}" srcOrd="0" destOrd="0" presId="urn:microsoft.com/office/officeart/2005/8/layout/vList2"/>
    <dgm:cxn modelId="{AF894A9B-D46A-49B6-9DAC-2E5A9A8FEB5D}" type="presParOf" srcId="{5B66954F-8D42-4F89-BF93-EE43CE45E4C5}" destId="{05D7CC58-B0C7-4888-933A-236F28FE3319}" srcOrd="1" destOrd="0" presId="urn:microsoft.com/office/officeart/2005/8/layout/vList2"/>
    <dgm:cxn modelId="{44717B6C-D00D-4C17-857A-A8CFB095BAAB}" type="presParOf" srcId="{5B66954F-8D42-4F89-BF93-EE43CE45E4C5}" destId="{77F1D081-67F0-4113-91EE-441393B9ED7D}" srcOrd="2" destOrd="0" presId="urn:microsoft.com/office/officeart/2005/8/layout/vList2"/>
    <dgm:cxn modelId="{A65EEF29-510A-499C-A4BF-7057C325769F}" type="presParOf" srcId="{5B66954F-8D42-4F89-BF93-EE43CE45E4C5}" destId="{6D5683F8-245F-4E6E-90AA-FE53B7D7D80F}" srcOrd="3" destOrd="0" presId="urn:microsoft.com/office/officeart/2005/8/layout/vList2"/>
    <dgm:cxn modelId="{F1D4879F-3A77-4A3A-8D44-A2B2489E2C6C}" type="presParOf" srcId="{5B66954F-8D42-4F89-BF93-EE43CE45E4C5}" destId="{7F4DF675-26B2-4946-B6C4-9500AF6C9F30}" srcOrd="4" destOrd="0" presId="urn:microsoft.com/office/officeart/2005/8/layout/vList2"/>
    <dgm:cxn modelId="{C4E7C9C4-D70D-40F0-AA22-FB971EEB68F5}" type="presParOf" srcId="{5B66954F-8D42-4F89-BF93-EE43CE45E4C5}" destId="{FBC80E4E-EEBF-442B-8280-B54E91846888}" srcOrd="5" destOrd="0" presId="urn:microsoft.com/office/officeart/2005/8/layout/vList2"/>
    <dgm:cxn modelId="{41076BCB-4676-450E-975B-FD63BCC9FCBB}" type="presParOf" srcId="{5B66954F-8D42-4F89-BF93-EE43CE45E4C5}" destId="{F921CB7B-ACD0-48B2-8616-9DE83D53AD1C}" srcOrd="6" destOrd="0" presId="urn:microsoft.com/office/officeart/2005/8/layout/vList2"/>
    <dgm:cxn modelId="{0F28248E-28D4-4BDA-80AC-F06E643A3568}" type="presParOf" srcId="{5B66954F-8D42-4F89-BF93-EE43CE45E4C5}" destId="{C6F4A0DA-2BBF-4F52-B6B8-78C6A56C17D8}" srcOrd="7" destOrd="0" presId="urn:microsoft.com/office/officeart/2005/8/layout/vList2"/>
    <dgm:cxn modelId="{5AB0F51E-FD27-469C-9615-DDE8ABA9E1A0}" type="presParOf" srcId="{5B66954F-8D42-4F89-BF93-EE43CE45E4C5}" destId="{994CAA2B-2966-47BD-882B-277D7E3956C5}" srcOrd="8" destOrd="0" presId="urn:microsoft.com/office/officeart/2005/8/layout/vList2"/>
    <dgm:cxn modelId="{1D133253-F5F2-4A4B-84C0-B52C3167AB3C}" type="presParOf" srcId="{5B66954F-8D42-4F89-BF93-EE43CE45E4C5}" destId="{E6D247A8-5AE9-4DF6-B551-8BC92AF30EEF}" srcOrd="9" destOrd="0" presId="urn:microsoft.com/office/officeart/2005/8/layout/vList2"/>
    <dgm:cxn modelId="{6FA17E1D-FE80-4CC5-8922-4457EFD12501}" type="presParOf" srcId="{5B66954F-8D42-4F89-BF93-EE43CE45E4C5}" destId="{50042A61-A18F-48D2-9AE7-B1E8D8202497}"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665B73E-5B64-4185-A967-6F79D018A29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CBD60554-5B1B-48F1-81BD-525308AA7AF5}">
      <dgm:prSet/>
      <dgm:spPr/>
      <dgm:t>
        <a:bodyPr/>
        <a:lstStyle/>
        <a:p>
          <a:r>
            <a:rPr lang="en-IN"/>
            <a:t>Authentication (Public Key Infrastructure)</a:t>
          </a:r>
        </a:p>
      </dgm:t>
    </dgm:pt>
    <dgm:pt modelId="{2F7146DA-B983-485C-BF4C-407D28A7C168}" type="parTrans" cxnId="{CE840E4F-33ED-407C-AD0D-8F46353F0E22}">
      <dgm:prSet/>
      <dgm:spPr/>
      <dgm:t>
        <a:bodyPr/>
        <a:lstStyle/>
        <a:p>
          <a:endParaRPr lang="en-IN"/>
        </a:p>
      </dgm:t>
    </dgm:pt>
    <dgm:pt modelId="{5214859D-6198-4F6C-9AE4-061F46C1D44E}" type="sibTrans" cxnId="{CE840E4F-33ED-407C-AD0D-8F46353F0E22}">
      <dgm:prSet/>
      <dgm:spPr/>
      <dgm:t>
        <a:bodyPr/>
        <a:lstStyle/>
        <a:p>
          <a:endParaRPr lang="en-IN"/>
        </a:p>
      </dgm:t>
    </dgm:pt>
    <dgm:pt modelId="{A6ECF3D9-1C94-4B89-9735-DF68E07018CC}">
      <dgm:prSet/>
      <dgm:spPr/>
      <dgm:t>
        <a:bodyPr/>
        <a:lstStyle/>
        <a:p>
          <a:r>
            <a:rPr lang="en-IN"/>
            <a:t>Confidentiality vs Authentication</a:t>
          </a:r>
        </a:p>
      </dgm:t>
    </dgm:pt>
    <dgm:pt modelId="{EAB4EDCA-0A82-4F1E-8E6B-044F86C541C6}" type="parTrans" cxnId="{1DB499EF-CC4B-4DF2-BE8A-560895794C6C}">
      <dgm:prSet/>
      <dgm:spPr/>
      <dgm:t>
        <a:bodyPr/>
        <a:lstStyle/>
        <a:p>
          <a:endParaRPr lang="en-IN"/>
        </a:p>
      </dgm:t>
    </dgm:pt>
    <dgm:pt modelId="{FA01FEA9-FAE6-47CA-9C6F-B132400F0CD6}" type="sibTrans" cxnId="{1DB499EF-CC4B-4DF2-BE8A-560895794C6C}">
      <dgm:prSet/>
      <dgm:spPr/>
      <dgm:t>
        <a:bodyPr/>
        <a:lstStyle/>
        <a:p>
          <a:endParaRPr lang="en-IN"/>
        </a:p>
      </dgm:t>
    </dgm:pt>
    <dgm:pt modelId="{CD1BC546-A590-4E79-8385-3A7612D6AFF8}">
      <dgm:prSet/>
      <dgm:spPr/>
      <dgm:t>
        <a:bodyPr/>
        <a:lstStyle/>
        <a:p>
          <a:r>
            <a:rPr lang="en-IN" dirty="0"/>
            <a:t>Let’s combine CIA to get a complete picture of severity</a:t>
          </a:r>
        </a:p>
      </dgm:t>
    </dgm:pt>
    <dgm:pt modelId="{F1E9E80D-0400-4F6A-A38A-55900117AE2C}" type="parTrans" cxnId="{109256AC-9185-4935-A81B-258F4F21270A}">
      <dgm:prSet/>
      <dgm:spPr/>
      <dgm:t>
        <a:bodyPr/>
        <a:lstStyle/>
        <a:p>
          <a:endParaRPr lang="en-IN"/>
        </a:p>
      </dgm:t>
    </dgm:pt>
    <dgm:pt modelId="{98E3822D-C047-4AD3-8BC1-7F8FA0595CBC}" type="sibTrans" cxnId="{109256AC-9185-4935-A81B-258F4F21270A}">
      <dgm:prSet/>
      <dgm:spPr/>
      <dgm:t>
        <a:bodyPr/>
        <a:lstStyle/>
        <a:p>
          <a:endParaRPr lang="en-IN"/>
        </a:p>
      </dgm:t>
    </dgm:pt>
    <dgm:pt modelId="{F66EC8BD-8C8B-48F7-82AD-91859FBC8DD1}">
      <dgm:prSet/>
      <dgm:spPr/>
      <dgm:t>
        <a:bodyPr/>
        <a:lstStyle/>
        <a:p>
          <a:r>
            <a:rPr lang="en-IN" dirty="0"/>
            <a:t>Transport Layer Security (Our Control Connections)</a:t>
          </a:r>
        </a:p>
      </dgm:t>
    </dgm:pt>
    <dgm:pt modelId="{C1484899-1204-4B35-BF0B-5745747BC5DC}" type="parTrans" cxnId="{810F9F13-3958-46A1-9C64-4514C87F6EE1}">
      <dgm:prSet/>
      <dgm:spPr/>
      <dgm:t>
        <a:bodyPr/>
        <a:lstStyle/>
        <a:p>
          <a:endParaRPr lang="en-IN"/>
        </a:p>
      </dgm:t>
    </dgm:pt>
    <dgm:pt modelId="{E01AE10C-E945-465D-BC91-74822211932F}" type="sibTrans" cxnId="{810F9F13-3958-46A1-9C64-4514C87F6EE1}">
      <dgm:prSet/>
      <dgm:spPr/>
      <dgm:t>
        <a:bodyPr/>
        <a:lstStyle/>
        <a:p>
          <a:endParaRPr lang="en-IN"/>
        </a:p>
      </dgm:t>
    </dgm:pt>
    <dgm:pt modelId="{CCDA642F-8A7C-4F1A-B9A7-50025719A4E1}">
      <dgm:prSet/>
      <dgm:spPr/>
      <dgm:t>
        <a:bodyPr/>
        <a:lstStyle/>
        <a:p>
          <a:r>
            <a:rPr lang="en-IN"/>
            <a:t>Internet Protocol Security (Our  Data Tunnels)</a:t>
          </a:r>
        </a:p>
      </dgm:t>
    </dgm:pt>
    <dgm:pt modelId="{E9EF8101-83EB-46A3-AF02-77F6B2C007FC}" type="parTrans" cxnId="{ACED561F-A228-4B74-B538-67D593F837DC}">
      <dgm:prSet/>
      <dgm:spPr/>
      <dgm:t>
        <a:bodyPr/>
        <a:lstStyle/>
        <a:p>
          <a:endParaRPr lang="en-IN"/>
        </a:p>
      </dgm:t>
    </dgm:pt>
    <dgm:pt modelId="{8381BCA0-5DC6-4EB5-8746-7B60E8279128}" type="sibTrans" cxnId="{ACED561F-A228-4B74-B538-67D593F837DC}">
      <dgm:prSet/>
      <dgm:spPr/>
      <dgm:t>
        <a:bodyPr/>
        <a:lstStyle/>
        <a:p>
          <a:endParaRPr lang="en-IN"/>
        </a:p>
      </dgm:t>
    </dgm:pt>
    <dgm:pt modelId="{74141440-2991-4203-BBCB-3E2C44E0D46B}">
      <dgm:prSet/>
      <dgm:spPr/>
      <dgm:t>
        <a:bodyPr/>
        <a:lstStyle/>
        <a:p>
          <a:r>
            <a:rPr lang="en-IN" dirty="0"/>
            <a:t>Let’s start talking about our LAB (If Time Permits)</a:t>
          </a:r>
        </a:p>
      </dgm:t>
    </dgm:pt>
    <dgm:pt modelId="{CD58E567-CF86-424F-AA97-6042B6729B08}" type="parTrans" cxnId="{785533B0-E506-4554-B44C-33A0F4706B30}">
      <dgm:prSet/>
      <dgm:spPr/>
      <dgm:t>
        <a:bodyPr/>
        <a:lstStyle/>
        <a:p>
          <a:endParaRPr lang="en-IN"/>
        </a:p>
      </dgm:t>
    </dgm:pt>
    <dgm:pt modelId="{38F13772-3730-4B00-8FB4-936CA8DC1733}" type="sibTrans" cxnId="{785533B0-E506-4554-B44C-33A0F4706B30}">
      <dgm:prSet/>
      <dgm:spPr/>
      <dgm:t>
        <a:bodyPr/>
        <a:lstStyle/>
        <a:p>
          <a:endParaRPr lang="en-IN"/>
        </a:p>
      </dgm:t>
    </dgm:pt>
    <dgm:pt modelId="{D9559BE8-C27A-4E5D-BB42-36F23F70CA09}" type="pres">
      <dgm:prSet presAssocID="{8665B73E-5B64-4185-A967-6F79D018A292}" presName="linear" presStyleCnt="0">
        <dgm:presLayoutVars>
          <dgm:animLvl val="lvl"/>
          <dgm:resizeHandles val="exact"/>
        </dgm:presLayoutVars>
      </dgm:prSet>
      <dgm:spPr/>
    </dgm:pt>
    <dgm:pt modelId="{720AE584-44EB-4802-B077-3F58B814E7C0}" type="pres">
      <dgm:prSet presAssocID="{CBD60554-5B1B-48F1-81BD-525308AA7AF5}" presName="parentText" presStyleLbl="node1" presStyleIdx="0" presStyleCnt="6">
        <dgm:presLayoutVars>
          <dgm:chMax val="0"/>
          <dgm:bulletEnabled val="1"/>
        </dgm:presLayoutVars>
      </dgm:prSet>
      <dgm:spPr/>
    </dgm:pt>
    <dgm:pt modelId="{F57EA961-E107-42B5-818C-5DE94EF665EB}" type="pres">
      <dgm:prSet presAssocID="{5214859D-6198-4F6C-9AE4-061F46C1D44E}" presName="spacer" presStyleCnt="0"/>
      <dgm:spPr/>
    </dgm:pt>
    <dgm:pt modelId="{63511099-6CE2-433B-B606-860C12382790}" type="pres">
      <dgm:prSet presAssocID="{A6ECF3D9-1C94-4B89-9735-DF68E07018CC}" presName="parentText" presStyleLbl="node1" presStyleIdx="1" presStyleCnt="6">
        <dgm:presLayoutVars>
          <dgm:chMax val="0"/>
          <dgm:bulletEnabled val="1"/>
        </dgm:presLayoutVars>
      </dgm:prSet>
      <dgm:spPr/>
    </dgm:pt>
    <dgm:pt modelId="{9A654854-31A5-4B82-A236-E4A2DCCBDFBA}" type="pres">
      <dgm:prSet presAssocID="{FA01FEA9-FAE6-47CA-9C6F-B132400F0CD6}" presName="spacer" presStyleCnt="0"/>
      <dgm:spPr/>
    </dgm:pt>
    <dgm:pt modelId="{5A9AADC1-2EE4-435B-B5B7-BF5F831BC781}" type="pres">
      <dgm:prSet presAssocID="{CD1BC546-A590-4E79-8385-3A7612D6AFF8}" presName="parentText" presStyleLbl="node1" presStyleIdx="2" presStyleCnt="6">
        <dgm:presLayoutVars>
          <dgm:chMax val="0"/>
          <dgm:bulletEnabled val="1"/>
        </dgm:presLayoutVars>
      </dgm:prSet>
      <dgm:spPr/>
    </dgm:pt>
    <dgm:pt modelId="{7AA07A23-AFCF-4282-A7FB-65A3657BEC37}" type="pres">
      <dgm:prSet presAssocID="{98E3822D-C047-4AD3-8BC1-7F8FA0595CBC}" presName="spacer" presStyleCnt="0"/>
      <dgm:spPr/>
    </dgm:pt>
    <dgm:pt modelId="{CBE45419-BCCA-45D6-9064-4B65B030F3AF}" type="pres">
      <dgm:prSet presAssocID="{F66EC8BD-8C8B-48F7-82AD-91859FBC8DD1}" presName="parentText" presStyleLbl="node1" presStyleIdx="3" presStyleCnt="6">
        <dgm:presLayoutVars>
          <dgm:chMax val="0"/>
          <dgm:bulletEnabled val="1"/>
        </dgm:presLayoutVars>
      </dgm:prSet>
      <dgm:spPr/>
    </dgm:pt>
    <dgm:pt modelId="{A41A0873-FF5F-4EE8-AE81-683D67D74EF1}" type="pres">
      <dgm:prSet presAssocID="{E01AE10C-E945-465D-BC91-74822211932F}" presName="spacer" presStyleCnt="0"/>
      <dgm:spPr/>
    </dgm:pt>
    <dgm:pt modelId="{A49357D5-2096-4AC5-882E-84A2B6FAB8CA}" type="pres">
      <dgm:prSet presAssocID="{CCDA642F-8A7C-4F1A-B9A7-50025719A4E1}" presName="parentText" presStyleLbl="node1" presStyleIdx="4" presStyleCnt="6" custLinFactNeighborX="2806" custLinFactNeighborY="41831">
        <dgm:presLayoutVars>
          <dgm:chMax val="0"/>
          <dgm:bulletEnabled val="1"/>
        </dgm:presLayoutVars>
      </dgm:prSet>
      <dgm:spPr/>
    </dgm:pt>
    <dgm:pt modelId="{059DED90-CE18-4DFC-94B9-34798A63DDCD}" type="pres">
      <dgm:prSet presAssocID="{8381BCA0-5DC6-4EB5-8746-7B60E8279128}" presName="spacer" presStyleCnt="0"/>
      <dgm:spPr/>
    </dgm:pt>
    <dgm:pt modelId="{9C85B65F-B288-42FB-A451-C9C9F5E47829}" type="pres">
      <dgm:prSet presAssocID="{74141440-2991-4203-BBCB-3E2C44E0D46B}" presName="parentText" presStyleLbl="node1" presStyleIdx="5" presStyleCnt="6">
        <dgm:presLayoutVars>
          <dgm:chMax val="0"/>
          <dgm:bulletEnabled val="1"/>
        </dgm:presLayoutVars>
      </dgm:prSet>
      <dgm:spPr/>
    </dgm:pt>
  </dgm:ptLst>
  <dgm:cxnLst>
    <dgm:cxn modelId="{810F9F13-3958-46A1-9C64-4514C87F6EE1}" srcId="{8665B73E-5B64-4185-A967-6F79D018A292}" destId="{F66EC8BD-8C8B-48F7-82AD-91859FBC8DD1}" srcOrd="3" destOrd="0" parTransId="{C1484899-1204-4B35-BF0B-5745747BC5DC}" sibTransId="{E01AE10C-E945-465D-BC91-74822211932F}"/>
    <dgm:cxn modelId="{ACED561F-A228-4B74-B538-67D593F837DC}" srcId="{8665B73E-5B64-4185-A967-6F79D018A292}" destId="{CCDA642F-8A7C-4F1A-B9A7-50025719A4E1}" srcOrd="4" destOrd="0" parTransId="{E9EF8101-83EB-46A3-AF02-77F6B2C007FC}" sibTransId="{8381BCA0-5DC6-4EB5-8746-7B60E8279128}"/>
    <dgm:cxn modelId="{DF041B34-5E8C-4831-A3EF-5C2D3A07AAA1}" type="presOf" srcId="{74141440-2991-4203-BBCB-3E2C44E0D46B}" destId="{9C85B65F-B288-42FB-A451-C9C9F5E47829}" srcOrd="0" destOrd="0" presId="urn:microsoft.com/office/officeart/2005/8/layout/vList2"/>
    <dgm:cxn modelId="{47156447-C1A5-4736-8B3F-7312B8675D79}" type="presOf" srcId="{8665B73E-5B64-4185-A967-6F79D018A292}" destId="{D9559BE8-C27A-4E5D-BB42-36F23F70CA09}" srcOrd="0" destOrd="0" presId="urn:microsoft.com/office/officeart/2005/8/layout/vList2"/>
    <dgm:cxn modelId="{BF2C464A-6506-4A78-827B-FE79369280F8}" type="presOf" srcId="{A6ECF3D9-1C94-4B89-9735-DF68E07018CC}" destId="{63511099-6CE2-433B-B606-860C12382790}" srcOrd="0" destOrd="0" presId="urn:microsoft.com/office/officeart/2005/8/layout/vList2"/>
    <dgm:cxn modelId="{CE840E4F-33ED-407C-AD0D-8F46353F0E22}" srcId="{8665B73E-5B64-4185-A967-6F79D018A292}" destId="{CBD60554-5B1B-48F1-81BD-525308AA7AF5}" srcOrd="0" destOrd="0" parTransId="{2F7146DA-B983-485C-BF4C-407D28A7C168}" sibTransId="{5214859D-6198-4F6C-9AE4-061F46C1D44E}"/>
    <dgm:cxn modelId="{7B8FF955-E98D-43A1-B55C-3CE776AF1A88}" type="presOf" srcId="{F66EC8BD-8C8B-48F7-82AD-91859FBC8DD1}" destId="{CBE45419-BCCA-45D6-9064-4B65B030F3AF}" srcOrd="0" destOrd="0" presId="urn:microsoft.com/office/officeart/2005/8/layout/vList2"/>
    <dgm:cxn modelId="{65977C98-CA2B-4B98-8A7E-2E9B4AC0557A}" type="presOf" srcId="{CBD60554-5B1B-48F1-81BD-525308AA7AF5}" destId="{720AE584-44EB-4802-B077-3F58B814E7C0}" srcOrd="0" destOrd="0" presId="urn:microsoft.com/office/officeart/2005/8/layout/vList2"/>
    <dgm:cxn modelId="{FC91B7A5-9DB4-46A2-9918-5AA39A5AA630}" type="presOf" srcId="{CD1BC546-A590-4E79-8385-3A7612D6AFF8}" destId="{5A9AADC1-2EE4-435B-B5B7-BF5F831BC781}" srcOrd="0" destOrd="0" presId="urn:microsoft.com/office/officeart/2005/8/layout/vList2"/>
    <dgm:cxn modelId="{109256AC-9185-4935-A81B-258F4F21270A}" srcId="{8665B73E-5B64-4185-A967-6F79D018A292}" destId="{CD1BC546-A590-4E79-8385-3A7612D6AFF8}" srcOrd="2" destOrd="0" parTransId="{F1E9E80D-0400-4F6A-A38A-55900117AE2C}" sibTransId="{98E3822D-C047-4AD3-8BC1-7F8FA0595CBC}"/>
    <dgm:cxn modelId="{54EBD7AD-8780-491C-A2AF-291319F0DC3C}" type="presOf" srcId="{CCDA642F-8A7C-4F1A-B9A7-50025719A4E1}" destId="{A49357D5-2096-4AC5-882E-84A2B6FAB8CA}" srcOrd="0" destOrd="0" presId="urn:microsoft.com/office/officeart/2005/8/layout/vList2"/>
    <dgm:cxn modelId="{785533B0-E506-4554-B44C-33A0F4706B30}" srcId="{8665B73E-5B64-4185-A967-6F79D018A292}" destId="{74141440-2991-4203-BBCB-3E2C44E0D46B}" srcOrd="5" destOrd="0" parTransId="{CD58E567-CF86-424F-AA97-6042B6729B08}" sibTransId="{38F13772-3730-4B00-8FB4-936CA8DC1733}"/>
    <dgm:cxn modelId="{1DB499EF-CC4B-4DF2-BE8A-560895794C6C}" srcId="{8665B73E-5B64-4185-A967-6F79D018A292}" destId="{A6ECF3D9-1C94-4B89-9735-DF68E07018CC}" srcOrd="1" destOrd="0" parTransId="{EAB4EDCA-0A82-4F1E-8E6B-044F86C541C6}" sibTransId="{FA01FEA9-FAE6-47CA-9C6F-B132400F0CD6}"/>
    <dgm:cxn modelId="{BEEA93E9-9038-4580-90F8-D7455C668FB8}" type="presParOf" srcId="{D9559BE8-C27A-4E5D-BB42-36F23F70CA09}" destId="{720AE584-44EB-4802-B077-3F58B814E7C0}" srcOrd="0" destOrd="0" presId="urn:microsoft.com/office/officeart/2005/8/layout/vList2"/>
    <dgm:cxn modelId="{5847336B-A0DD-47F9-9D2B-C7C71E86B69B}" type="presParOf" srcId="{D9559BE8-C27A-4E5D-BB42-36F23F70CA09}" destId="{F57EA961-E107-42B5-818C-5DE94EF665EB}" srcOrd="1" destOrd="0" presId="urn:microsoft.com/office/officeart/2005/8/layout/vList2"/>
    <dgm:cxn modelId="{02ADDC57-272A-4B81-B4E5-92CAAF10390F}" type="presParOf" srcId="{D9559BE8-C27A-4E5D-BB42-36F23F70CA09}" destId="{63511099-6CE2-433B-B606-860C12382790}" srcOrd="2" destOrd="0" presId="urn:microsoft.com/office/officeart/2005/8/layout/vList2"/>
    <dgm:cxn modelId="{E1E12A27-3E7A-496B-8951-ACF43D1BABE7}" type="presParOf" srcId="{D9559BE8-C27A-4E5D-BB42-36F23F70CA09}" destId="{9A654854-31A5-4B82-A236-E4A2DCCBDFBA}" srcOrd="3" destOrd="0" presId="urn:microsoft.com/office/officeart/2005/8/layout/vList2"/>
    <dgm:cxn modelId="{0234683B-11DE-4A64-ACE0-E85FC832208A}" type="presParOf" srcId="{D9559BE8-C27A-4E5D-BB42-36F23F70CA09}" destId="{5A9AADC1-2EE4-435B-B5B7-BF5F831BC781}" srcOrd="4" destOrd="0" presId="urn:microsoft.com/office/officeart/2005/8/layout/vList2"/>
    <dgm:cxn modelId="{3595E29E-FE72-4AC1-9B94-0B3C49E9797F}" type="presParOf" srcId="{D9559BE8-C27A-4E5D-BB42-36F23F70CA09}" destId="{7AA07A23-AFCF-4282-A7FB-65A3657BEC37}" srcOrd="5" destOrd="0" presId="urn:microsoft.com/office/officeart/2005/8/layout/vList2"/>
    <dgm:cxn modelId="{7C57DD9A-6E72-4FE5-8450-D3C816963D16}" type="presParOf" srcId="{D9559BE8-C27A-4E5D-BB42-36F23F70CA09}" destId="{CBE45419-BCCA-45D6-9064-4B65B030F3AF}" srcOrd="6" destOrd="0" presId="urn:microsoft.com/office/officeart/2005/8/layout/vList2"/>
    <dgm:cxn modelId="{23D93932-4231-444E-927A-42856728A589}" type="presParOf" srcId="{D9559BE8-C27A-4E5D-BB42-36F23F70CA09}" destId="{A41A0873-FF5F-4EE8-AE81-683D67D74EF1}" srcOrd="7" destOrd="0" presId="urn:microsoft.com/office/officeart/2005/8/layout/vList2"/>
    <dgm:cxn modelId="{19D0AD54-CCB2-440F-AE1E-A8BC26D6464B}" type="presParOf" srcId="{D9559BE8-C27A-4E5D-BB42-36F23F70CA09}" destId="{A49357D5-2096-4AC5-882E-84A2B6FAB8CA}" srcOrd="8" destOrd="0" presId="urn:microsoft.com/office/officeart/2005/8/layout/vList2"/>
    <dgm:cxn modelId="{D1EFBB4E-5DE3-4A1D-9746-450A297EE7ED}" type="presParOf" srcId="{D9559BE8-C27A-4E5D-BB42-36F23F70CA09}" destId="{059DED90-CE18-4DFC-94B9-34798A63DDCD}" srcOrd="9" destOrd="0" presId="urn:microsoft.com/office/officeart/2005/8/layout/vList2"/>
    <dgm:cxn modelId="{477A4E57-8364-4A28-A2D3-0D3829B52528}" type="presParOf" srcId="{D9559BE8-C27A-4E5D-BB42-36F23F70CA09}" destId="{9C85B65F-B288-42FB-A451-C9C9F5E47829}"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97709CC-9C29-4440-886E-1D6D7A55BC1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IN"/>
        </a:p>
      </dgm:t>
    </dgm:pt>
    <dgm:pt modelId="{52B17622-D6DD-42D3-A959-4AF6660EBCEA}">
      <dgm:prSet/>
      <dgm:spPr/>
      <dgm:t>
        <a:bodyPr/>
        <a:lstStyle/>
        <a:p>
          <a:r>
            <a:rPr lang="en-US"/>
            <a:t>Let’s create our lab from scratch in GCP Server</a:t>
          </a:r>
          <a:endParaRPr lang="en-IN"/>
        </a:p>
      </dgm:t>
    </dgm:pt>
    <dgm:pt modelId="{1A0AD108-7E5C-4DA1-9B28-7FD08A3211C3}" type="parTrans" cxnId="{BB3EC2B6-E2AD-4F63-B213-7F4A685D4F67}">
      <dgm:prSet/>
      <dgm:spPr/>
      <dgm:t>
        <a:bodyPr/>
        <a:lstStyle/>
        <a:p>
          <a:endParaRPr lang="en-IN"/>
        </a:p>
      </dgm:t>
    </dgm:pt>
    <dgm:pt modelId="{FF99F46C-5557-476F-AA36-372DD011ED79}" type="sibTrans" cxnId="{BB3EC2B6-E2AD-4F63-B213-7F4A685D4F67}">
      <dgm:prSet/>
      <dgm:spPr/>
      <dgm:t>
        <a:bodyPr/>
        <a:lstStyle/>
        <a:p>
          <a:endParaRPr lang="en-IN"/>
        </a:p>
      </dgm:t>
    </dgm:pt>
    <dgm:pt modelId="{2AB2A725-39A2-47D2-BDB4-EEC68C23E90C}">
      <dgm:prSet/>
      <dgm:spPr/>
      <dgm:t>
        <a:bodyPr/>
        <a:lstStyle/>
        <a:p>
          <a:r>
            <a:rPr lang="en-US"/>
            <a:t>Some basics of GCP</a:t>
          </a:r>
          <a:endParaRPr lang="en-IN"/>
        </a:p>
      </dgm:t>
    </dgm:pt>
    <dgm:pt modelId="{DCDD7F67-9021-41C0-A6F3-C3D2849FBBD3}" type="parTrans" cxnId="{72ABBA1C-2D1E-456D-80D2-24457F5DCF99}">
      <dgm:prSet/>
      <dgm:spPr/>
      <dgm:t>
        <a:bodyPr/>
        <a:lstStyle/>
        <a:p>
          <a:endParaRPr lang="en-IN"/>
        </a:p>
      </dgm:t>
    </dgm:pt>
    <dgm:pt modelId="{57FE0895-992E-44B3-8B52-71DB9E88412A}" type="sibTrans" cxnId="{72ABBA1C-2D1E-456D-80D2-24457F5DCF99}">
      <dgm:prSet/>
      <dgm:spPr/>
      <dgm:t>
        <a:bodyPr/>
        <a:lstStyle/>
        <a:p>
          <a:endParaRPr lang="en-IN"/>
        </a:p>
      </dgm:t>
    </dgm:pt>
    <dgm:pt modelId="{66E7CD00-9A5E-43F5-B4A2-BD04F17D1AAC}">
      <dgm:prSet/>
      <dgm:spPr/>
      <dgm:t>
        <a:bodyPr/>
        <a:lstStyle/>
        <a:p>
          <a:r>
            <a:rPr lang="en-US"/>
            <a:t>Understanding Eve-Ng</a:t>
          </a:r>
          <a:endParaRPr lang="en-IN"/>
        </a:p>
      </dgm:t>
    </dgm:pt>
    <dgm:pt modelId="{A3804FB4-E18F-4CDB-AA49-C9BFD98BF2E3}" type="parTrans" cxnId="{F5551D02-65B7-4EBE-9499-B9A244FB0A66}">
      <dgm:prSet/>
      <dgm:spPr/>
      <dgm:t>
        <a:bodyPr/>
        <a:lstStyle/>
        <a:p>
          <a:endParaRPr lang="en-IN"/>
        </a:p>
      </dgm:t>
    </dgm:pt>
    <dgm:pt modelId="{A5B00261-9F49-48BB-B946-723406BC5070}" type="sibTrans" cxnId="{F5551D02-65B7-4EBE-9499-B9A244FB0A66}">
      <dgm:prSet/>
      <dgm:spPr/>
      <dgm:t>
        <a:bodyPr/>
        <a:lstStyle/>
        <a:p>
          <a:endParaRPr lang="en-IN"/>
        </a:p>
      </dgm:t>
    </dgm:pt>
    <dgm:pt modelId="{D94B0801-0B3E-4E1F-B998-26CD0C1A19B3}">
      <dgm:prSet/>
      <dgm:spPr/>
      <dgm:t>
        <a:bodyPr/>
        <a:lstStyle/>
        <a:p>
          <a:r>
            <a:rPr lang="en-US"/>
            <a:t>Let’s understand our lab and its various componenets</a:t>
          </a:r>
          <a:endParaRPr lang="en-IN"/>
        </a:p>
      </dgm:t>
    </dgm:pt>
    <dgm:pt modelId="{21C414BC-8F97-40AE-9F98-A90F8FFAFEB3}" type="parTrans" cxnId="{A33FFE80-5DBE-4E2F-954E-5068E6733D48}">
      <dgm:prSet/>
      <dgm:spPr/>
      <dgm:t>
        <a:bodyPr/>
        <a:lstStyle/>
        <a:p>
          <a:endParaRPr lang="en-IN"/>
        </a:p>
      </dgm:t>
    </dgm:pt>
    <dgm:pt modelId="{6CFF9F22-D710-4B9D-9BF9-64C1B5FF79F1}" type="sibTrans" cxnId="{A33FFE80-5DBE-4E2F-954E-5068E6733D48}">
      <dgm:prSet/>
      <dgm:spPr/>
      <dgm:t>
        <a:bodyPr/>
        <a:lstStyle/>
        <a:p>
          <a:endParaRPr lang="en-IN"/>
        </a:p>
      </dgm:t>
    </dgm:pt>
    <dgm:pt modelId="{0CDCCCF7-ACCB-4A98-A81C-F6F5DCBEA348}">
      <dgm:prSet/>
      <dgm:spPr/>
      <dgm:t>
        <a:bodyPr/>
        <a:lstStyle/>
        <a:p>
          <a:r>
            <a:rPr lang="en-US"/>
            <a:t>Vmanage as certificate authority</a:t>
          </a:r>
          <a:endParaRPr lang="en-IN"/>
        </a:p>
      </dgm:t>
    </dgm:pt>
    <dgm:pt modelId="{C4B46941-7642-42A5-A81C-6DEBC9B5B101}" type="parTrans" cxnId="{02B189C5-3617-433E-8B3F-EFEA5315FAB6}">
      <dgm:prSet/>
      <dgm:spPr/>
      <dgm:t>
        <a:bodyPr/>
        <a:lstStyle/>
        <a:p>
          <a:endParaRPr lang="en-IN"/>
        </a:p>
      </dgm:t>
    </dgm:pt>
    <dgm:pt modelId="{E9F366CD-5BA8-4B01-988B-CC6D15AF6521}" type="sibTrans" cxnId="{02B189C5-3617-433E-8B3F-EFEA5315FAB6}">
      <dgm:prSet/>
      <dgm:spPr/>
      <dgm:t>
        <a:bodyPr/>
        <a:lstStyle/>
        <a:p>
          <a:endParaRPr lang="en-IN"/>
        </a:p>
      </dgm:t>
    </dgm:pt>
    <dgm:pt modelId="{68FA8526-466F-49D9-B4AD-049EFEF295D3}">
      <dgm:prSet/>
      <dgm:spPr/>
      <dgm:t>
        <a:bodyPr/>
        <a:lstStyle/>
        <a:p>
          <a:r>
            <a:rPr lang="en-US"/>
            <a:t>Virtual Routing and Forwarding aka VPN’s</a:t>
          </a:r>
          <a:endParaRPr lang="en-IN"/>
        </a:p>
      </dgm:t>
    </dgm:pt>
    <dgm:pt modelId="{36F77AFA-99BD-4F8D-86AF-F7E061E40657}" type="parTrans" cxnId="{93B7334D-8430-46AA-AE78-3F43C1860E91}">
      <dgm:prSet/>
      <dgm:spPr/>
      <dgm:t>
        <a:bodyPr/>
        <a:lstStyle/>
        <a:p>
          <a:endParaRPr lang="en-IN"/>
        </a:p>
      </dgm:t>
    </dgm:pt>
    <dgm:pt modelId="{B586A0B1-D290-415B-A0D8-C61D6C6597C8}" type="sibTrans" cxnId="{93B7334D-8430-46AA-AE78-3F43C1860E91}">
      <dgm:prSet/>
      <dgm:spPr/>
      <dgm:t>
        <a:bodyPr/>
        <a:lstStyle/>
        <a:p>
          <a:endParaRPr lang="en-IN"/>
        </a:p>
      </dgm:t>
    </dgm:pt>
    <dgm:pt modelId="{E2B3CD93-2587-44E0-8E36-EC5E711EA67B}">
      <dgm:prSet/>
      <dgm:spPr/>
      <dgm:t>
        <a:bodyPr/>
        <a:lstStyle/>
        <a:p>
          <a:r>
            <a:rPr lang="en-IN"/>
            <a:t>Vmanage Demonstration if time permits</a:t>
          </a:r>
        </a:p>
      </dgm:t>
    </dgm:pt>
    <dgm:pt modelId="{6956F30C-1A0E-4C28-A764-0C38FB2541C7}" type="parTrans" cxnId="{3C4154EC-3FCD-4299-9DE5-57A98F594928}">
      <dgm:prSet/>
      <dgm:spPr/>
      <dgm:t>
        <a:bodyPr/>
        <a:lstStyle/>
        <a:p>
          <a:endParaRPr lang="en-IN"/>
        </a:p>
      </dgm:t>
    </dgm:pt>
    <dgm:pt modelId="{FCFFB337-B9E0-4E90-ADFD-8867A18CDFC7}" type="sibTrans" cxnId="{3C4154EC-3FCD-4299-9DE5-57A98F594928}">
      <dgm:prSet/>
      <dgm:spPr/>
      <dgm:t>
        <a:bodyPr/>
        <a:lstStyle/>
        <a:p>
          <a:endParaRPr lang="en-IN"/>
        </a:p>
      </dgm:t>
    </dgm:pt>
    <dgm:pt modelId="{9A768CEC-A08B-42E4-B80B-D711A7947B85}" type="pres">
      <dgm:prSet presAssocID="{A97709CC-9C29-4440-886E-1D6D7A55BC12}" presName="linear" presStyleCnt="0">
        <dgm:presLayoutVars>
          <dgm:animLvl val="lvl"/>
          <dgm:resizeHandles val="exact"/>
        </dgm:presLayoutVars>
      </dgm:prSet>
      <dgm:spPr/>
    </dgm:pt>
    <dgm:pt modelId="{915EF4D3-3910-407F-B108-2B5214F8A072}" type="pres">
      <dgm:prSet presAssocID="{52B17622-D6DD-42D3-A959-4AF6660EBCEA}" presName="parentText" presStyleLbl="node1" presStyleIdx="0" presStyleCnt="7">
        <dgm:presLayoutVars>
          <dgm:chMax val="0"/>
          <dgm:bulletEnabled val="1"/>
        </dgm:presLayoutVars>
      </dgm:prSet>
      <dgm:spPr/>
    </dgm:pt>
    <dgm:pt modelId="{FA6BAED9-A053-42AF-87A6-12A2E19D242F}" type="pres">
      <dgm:prSet presAssocID="{FF99F46C-5557-476F-AA36-372DD011ED79}" presName="spacer" presStyleCnt="0"/>
      <dgm:spPr/>
    </dgm:pt>
    <dgm:pt modelId="{D1EC1619-A428-483D-9475-984808BB0B6F}" type="pres">
      <dgm:prSet presAssocID="{2AB2A725-39A2-47D2-BDB4-EEC68C23E90C}" presName="parentText" presStyleLbl="node1" presStyleIdx="1" presStyleCnt="7">
        <dgm:presLayoutVars>
          <dgm:chMax val="0"/>
          <dgm:bulletEnabled val="1"/>
        </dgm:presLayoutVars>
      </dgm:prSet>
      <dgm:spPr/>
    </dgm:pt>
    <dgm:pt modelId="{850F5E66-24C6-4A36-ABE7-7F1A9F24E8D7}" type="pres">
      <dgm:prSet presAssocID="{57FE0895-992E-44B3-8B52-71DB9E88412A}" presName="spacer" presStyleCnt="0"/>
      <dgm:spPr/>
    </dgm:pt>
    <dgm:pt modelId="{4CE5BF42-35C9-4E8D-A048-36D224346A1A}" type="pres">
      <dgm:prSet presAssocID="{66E7CD00-9A5E-43F5-B4A2-BD04F17D1AAC}" presName="parentText" presStyleLbl="node1" presStyleIdx="2" presStyleCnt="7">
        <dgm:presLayoutVars>
          <dgm:chMax val="0"/>
          <dgm:bulletEnabled val="1"/>
        </dgm:presLayoutVars>
      </dgm:prSet>
      <dgm:spPr/>
    </dgm:pt>
    <dgm:pt modelId="{02A1385A-CAC3-40C2-848C-EAF4745390E7}" type="pres">
      <dgm:prSet presAssocID="{A5B00261-9F49-48BB-B946-723406BC5070}" presName="spacer" presStyleCnt="0"/>
      <dgm:spPr/>
    </dgm:pt>
    <dgm:pt modelId="{CE615A9D-361D-4A45-B6D7-81346DB43DA0}" type="pres">
      <dgm:prSet presAssocID="{D94B0801-0B3E-4E1F-B998-26CD0C1A19B3}" presName="parentText" presStyleLbl="node1" presStyleIdx="3" presStyleCnt="7">
        <dgm:presLayoutVars>
          <dgm:chMax val="0"/>
          <dgm:bulletEnabled val="1"/>
        </dgm:presLayoutVars>
      </dgm:prSet>
      <dgm:spPr/>
    </dgm:pt>
    <dgm:pt modelId="{ED7DB29B-64D7-43F1-B74E-B26F6590F19B}" type="pres">
      <dgm:prSet presAssocID="{6CFF9F22-D710-4B9D-9BF9-64C1B5FF79F1}" presName="spacer" presStyleCnt="0"/>
      <dgm:spPr/>
    </dgm:pt>
    <dgm:pt modelId="{1DD9F93E-44CF-4E25-A8E7-23251D26CFD6}" type="pres">
      <dgm:prSet presAssocID="{0CDCCCF7-ACCB-4A98-A81C-F6F5DCBEA348}" presName="parentText" presStyleLbl="node1" presStyleIdx="4" presStyleCnt="7">
        <dgm:presLayoutVars>
          <dgm:chMax val="0"/>
          <dgm:bulletEnabled val="1"/>
        </dgm:presLayoutVars>
      </dgm:prSet>
      <dgm:spPr/>
    </dgm:pt>
    <dgm:pt modelId="{CBDD03B0-A68A-4602-AEF1-E15CE4F5038A}" type="pres">
      <dgm:prSet presAssocID="{E9F366CD-5BA8-4B01-988B-CC6D15AF6521}" presName="spacer" presStyleCnt="0"/>
      <dgm:spPr/>
    </dgm:pt>
    <dgm:pt modelId="{F5C77060-B3A1-4405-A2FF-A256B188EB20}" type="pres">
      <dgm:prSet presAssocID="{68FA8526-466F-49D9-B4AD-049EFEF295D3}" presName="parentText" presStyleLbl="node1" presStyleIdx="5" presStyleCnt="7">
        <dgm:presLayoutVars>
          <dgm:chMax val="0"/>
          <dgm:bulletEnabled val="1"/>
        </dgm:presLayoutVars>
      </dgm:prSet>
      <dgm:spPr/>
    </dgm:pt>
    <dgm:pt modelId="{2E325A1F-3E00-4308-A919-A1AB084AEE17}" type="pres">
      <dgm:prSet presAssocID="{B586A0B1-D290-415B-A0D8-C61D6C6597C8}" presName="spacer" presStyleCnt="0"/>
      <dgm:spPr/>
    </dgm:pt>
    <dgm:pt modelId="{26F5797D-B062-4BEB-B080-A67A7AF0E998}" type="pres">
      <dgm:prSet presAssocID="{E2B3CD93-2587-44E0-8E36-EC5E711EA67B}" presName="parentText" presStyleLbl="node1" presStyleIdx="6" presStyleCnt="7">
        <dgm:presLayoutVars>
          <dgm:chMax val="0"/>
          <dgm:bulletEnabled val="1"/>
        </dgm:presLayoutVars>
      </dgm:prSet>
      <dgm:spPr/>
    </dgm:pt>
  </dgm:ptLst>
  <dgm:cxnLst>
    <dgm:cxn modelId="{F5551D02-65B7-4EBE-9499-B9A244FB0A66}" srcId="{A97709CC-9C29-4440-886E-1D6D7A55BC12}" destId="{66E7CD00-9A5E-43F5-B4A2-BD04F17D1AAC}" srcOrd="2" destOrd="0" parTransId="{A3804FB4-E18F-4CDB-AA49-C9BFD98BF2E3}" sibTransId="{A5B00261-9F49-48BB-B946-723406BC5070}"/>
    <dgm:cxn modelId="{BDE32313-807C-4276-A726-E5A687C42F96}" type="presOf" srcId="{52B17622-D6DD-42D3-A959-4AF6660EBCEA}" destId="{915EF4D3-3910-407F-B108-2B5214F8A072}" srcOrd="0" destOrd="0" presId="urn:microsoft.com/office/officeart/2005/8/layout/vList2"/>
    <dgm:cxn modelId="{EF26F514-D629-44DD-810D-328CA7594F4D}" type="presOf" srcId="{66E7CD00-9A5E-43F5-B4A2-BD04F17D1AAC}" destId="{4CE5BF42-35C9-4E8D-A048-36D224346A1A}" srcOrd="0" destOrd="0" presId="urn:microsoft.com/office/officeart/2005/8/layout/vList2"/>
    <dgm:cxn modelId="{4720261C-376A-465E-B88D-C07331374E15}" type="presOf" srcId="{0CDCCCF7-ACCB-4A98-A81C-F6F5DCBEA348}" destId="{1DD9F93E-44CF-4E25-A8E7-23251D26CFD6}" srcOrd="0" destOrd="0" presId="urn:microsoft.com/office/officeart/2005/8/layout/vList2"/>
    <dgm:cxn modelId="{72ABBA1C-2D1E-456D-80D2-24457F5DCF99}" srcId="{A97709CC-9C29-4440-886E-1D6D7A55BC12}" destId="{2AB2A725-39A2-47D2-BDB4-EEC68C23E90C}" srcOrd="1" destOrd="0" parTransId="{DCDD7F67-9021-41C0-A6F3-C3D2849FBBD3}" sibTransId="{57FE0895-992E-44B3-8B52-71DB9E88412A}"/>
    <dgm:cxn modelId="{D836883D-08DF-4016-BA66-9166D3F1AC75}" type="presOf" srcId="{D94B0801-0B3E-4E1F-B998-26CD0C1A19B3}" destId="{CE615A9D-361D-4A45-B6D7-81346DB43DA0}" srcOrd="0" destOrd="0" presId="urn:microsoft.com/office/officeart/2005/8/layout/vList2"/>
    <dgm:cxn modelId="{30B59A6C-A1C3-45BE-88BD-F644F101F56F}" type="presOf" srcId="{E2B3CD93-2587-44E0-8E36-EC5E711EA67B}" destId="{26F5797D-B062-4BEB-B080-A67A7AF0E998}" srcOrd="0" destOrd="0" presId="urn:microsoft.com/office/officeart/2005/8/layout/vList2"/>
    <dgm:cxn modelId="{93B7334D-8430-46AA-AE78-3F43C1860E91}" srcId="{A97709CC-9C29-4440-886E-1D6D7A55BC12}" destId="{68FA8526-466F-49D9-B4AD-049EFEF295D3}" srcOrd="5" destOrd="0" parTransId="{36F77AFA-99BD-4F8D-86AF-F7E061E40657}" sibTransId="{B586A0B1-D290-415B-A0D8-C61D6C6597C8}"/>
    <dgm:cxn modelId="{A33FFE80-5DBE-4E2F-954E-5068E6733D48}" srcId="{A97709CC-9C29-4440-886E-1D6D7A55BC12}" destId="{D94B0801-0B3E-4E1F-B998-26CD0C1A19B3}" srcOrd="3" destOrd="0" parTransId="{21C414BC-8F97-40AE-9F98-A90F8FFAFEB3}" sibTransId="{6CFF9F22-D710-4B9D-9BF9-64C1B5FF79F1}"/>
    <dgm:cxn modelId="{ED68D49B-F537-4584-A2E6-21F38AF87898}" type="presOf" srcId="{2AB2A725-39A2-47D2-BDB4-EEC68C23E90C}" destId="{D1EC1619-A428-483D-9475-984808BB0B6F}" srcOrd="0" destOrd="0" presId="urn:microsoft.com/office/officeart/2005/8/layout/vList2"/>
    <dgm:cxn modelId="{3CC135AB-9FB3-4F53-8F4E-FD271EF819BD}" type="presOf" srcId="{A97709CC-9C29-4440-886E-1D6D7A55BC12}" destId="{9A768CEC-A08B-42E4-B80B-D711A7947B85}" srcOrd="0" destOrd="0" presId="urn:microsoft.com/office/officeart/2005/8/layout/vList2"/>
    <dgm:cxn modelId="{BB3EC2B6-E2AD-4F63-B213-7F4A685D4F67}" srcId="{A97709CC-9C29-4440-886E-1D6D7A55BC12}" destId="{52B17622-D6DD-42D3-A959-4AF6660EBCEA}" srcOrd="0" destOrd="0" parTransId="{1A0AD108-7E5C-4DA1-9B28-7FD08A3211C3}" sibTransId="{FF99F46C-5557-476F-AA36-372DD011ED79}"/>
    <dgm:cxn modelId="{02B189C5-3617-433E-8B3F-EFEA5315FAB6}" srcId="{A97709CC-9C29-4440-886E-1D6D7A55BC12}" destId="{0CDCCCF7-ACCB-4A98-A81C-F6F5DCBEA348}" srcOrd="4" destOrd="0" parTransId="{C4B46941-7642-42A5-A81C-6DEBC9B5B101}" sibTransId="{E9F366CD-5BA8-4B01-988B-CC6D15AF6521}"/>
    <dgm:cxn modelId="{8E9D98E6-8537-41E7-B856-5F2DF507E667}" type="presOf" srcId="{68FA8526-466F-49D9-B4AD-049EFEF295D3}" destId="{F5C77060-B3A1-4405-A2FF-A256B188EB20}" srcOrd="0" destOrd="0" presId="urn:microsoft.com/office/officeart/2005/8/layout/vList2"/>
    <dgm:cxn modelId="{3C4154EC-3FCD-4299-9DE5-57A98F594928}" srcId="{A97709CC-9C29-4440-886E-1D6D7A55BC12}" destId="{E2B3CD93-2587-44E0-8E36-EC5E711EA67B}" srcOrd="6" destOrd="0" parTransId="{6956F30C-1A0E-4C28-A764-0C38FB2541C7}" sibTransId="{FCFFB337-B9E0-4E90-ADFD-8867A18CDFC7}"/>
    <dgm:cxn modelId="{D24CC723-47FA-4068-9352-D55F74FA5EBA}" type="presParOf" srcId="{9A768CEC-A08B-42E4-B80B-D711A7947B85}" destId="{915EF4D3-3910-407F-B108-2B5214F8A072}" srcOrd="0" destOrd="0" presId="urn:microsoft.com/office/officeart/2005/8/layout/vList2"/>
    <dgm:cxn modelId="{670E8B63-0E75-4BFA-BB77-EB00D564AAE7}" type="presParOf" srcId="{9A768CEC-A08B-42E4-B80B-D711A7947B85}" destId="{FA6BAED9-A053-42AF-87A6-12A2E19D242F}" srcOrd="1" destOrd="0" presId="urn:microsoft.com/office/officeart/2005/8/layout/vList2"/>
    <dgm:cxn modelId="{CD79C08D-142E-4DA5-A117-8030568CCB95}" type="presParOf" srcId="{9A768CEC-A08B-42E4-B80B-D711A7947B85}" destId="{D1EC1619-A428-483D-9475-984808BB0B6F}" srcOrd="2" destOrd="0" presId="urn:microsoft.com/office/officeart/2005/8/layout/vList2"/>
    <dgm:cxn modelId="{EAB7C16A-A419-4DBF-B63B-584769391702}" type="presParOf" srcId="{9A768CEC-A08B-42E4-B80B-D711A7947B85}" destId="{850F5E66-24C6-4A36-ABE7-7F1A9F24E8D7}" srcOrd="3" destOrd="0" presId="urn:microsoft.com/office/officeart/2005/8/layout/vList2"/>
    <dgm:cxn modelId="{C3171CF5-4438-45AC-A50C-BAF261DA660B}" type="presParOf" srcId="{9A768CEC-A08B-42E4-B80B-D711A7947B85}" destId="{4CE5BF42-35C9-4E8D-A048-36D224346A1A}" srcOrd="4" destOrd="0" presId="urn:microsoft.com/office/officeart/2005/8/layout/vList2"/>
    <dgm:cxn modelId="{54B38493-B137-45C6-BB4A-3D4D8926588C}" type="presParOf" srcId="{9A768CEC-A08B-42E4-B80B-D711A7947B85}" destId="{02A1385A-CAC3-40C2-848C-EAF4745390E7}" srcOrd="5" destOrd="0" presId="urn:microsoft.com/office/officeart/2005/8/layout/vList2"/>
    <dgm:cxn modelId="{6E0E4C96-A1FF-4C78-B9CD-9BF0291B5C20}" type="presParOf" srcId="{9A768CEC-A08B-42E4-B80B-D711A7947B85}" destId="{CE615A9D-361D-4A45-B6D7-81346DB43DA0}" srcOrd="6" destOrd="0" presId="urn:microsoft.com/office/officeart/2005/8/layout/vList2"/>
    <dgm:cxn modelId="{A5F1A8FA-1830-47DB-8562-79A6C8FB411E}" type="presParOf" srcId="{9A768CEC-A08B-42E4-B80B-D711A7947B85}" destId="{ED7DB29B-64D7-43F1-B74E-B26F6590F19B}" srcOrd="7" destOrd="0" presId="urn:microsoft.com/office/officeart/2005/8/layout/vList2"/>
    <dgm:cxn modelId="{323D79D4-EFDF-4C33-917E-2D3FE081ACE8}" type="presParOf" srcId="{9A768CEC-A08B-42E4-B80B-D711A7947B85}" destId="{1DD9F93E-44CF-4E25-A8E7-23251D26CFD6}" srcOrd="8" destOrd="0" presId="urn:microsoft.com/office/officeart/2005/8/layout/vList2"/>
    <dgm:cxn modelId="{EF45B4F2-D602-4878-9C25-FE34690C3D4A}" type="presParOf" srcId="{9A768CEC-A08B-42E4-B80B-D711A7947B85}" destId="{CBDD03B0-A68A-4602-AEF1-E15CE4F5038A}" srcOrd="9" destOrd="0" presId="urn:microsoft.com/office/officeart/2005/8/layout/vList2"/>
    <dgm:cxn modelId="{2A550008-4A87-484C-8210-DF2B967DD792}" type="presParOf" srcId="{9A768CEC-A08B-42E4-B80B-D711A7947B85}" destId="{F5C77060-B3A1-4405-A2FF-A256B188EB20}" srcOrd="10" destOrd="0" presId="urn:microsoft.com/office/officeart/2005/8/layout/vList2"/>
    <dgm:cxn modelId="{95613A1B-83B1-46A7-A316-B72B0CFFB90F}" type="presParOf" srcId="{9A768CEC-A08B-42E4-B80B-D711A7947B85}" destId="{2E325A1F-3E00-4308-A919-A1AB084AEE17}" srcOrd="11" destOrd="0" presId="urn:microsoft.com/office/officeart/2005/8/layout/vList2"/>
    <dgm:cxn modelId="{3849D3CA-3BFD-4CEA-9F23-D6CD450222C8}" type="presParOf" srcId="{9A768CEC-A08B-42E4-B80B-D711A7947B85}" destId="{26F5797D-B062-4BEB-B080-A67A7AF0E998}"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02FCE6-2D14-40EE-A177-657952EF4D44}">
      <dsp:nvSpPr>
        <dsp:cNvPr id="0" name=""/>
        <dsp:cNvSpPr/>
      </dsp:nvSpPr>
      <dsp:spPr>
        <a:xfrm>
          <a:off x="0" y="2273"/>
          <a:ext cx="6391690" cy="10858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What is wide area networking?</a:t>
          </a:r>
          <a:endParaRPr lang="en-IN" sz="2400" kern="1200" dirty="0"/>
        </a:p>
      </dsp:txBody>
      <dsp:txXfrm>
        <a:off x="53008" y="55281"/>
        <a:ext cx="6285674" cy="979857"/>
      </dsp:txXfrm>
    </dsp:sp>
    <dsp:sp modelId="{1A0D5837-CA7B-4D36-A7A6-F2914D6D2FD0}">
      <dsp:nvSpPr>
        <dsp:cNvPr id="0" name=""/>
        <dsp:cNvSpPr/>
      </dsp:nvSpPr>
      <dsp:spPr>
        <a:xfrm>
          <a:off x="0" y="1095072"/>
          <a:ext cx="6391690" cy="10858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How wan has been evolving over years</a:t>
          </a:r>
          <a:endParaRPr lang="en-IN" sz="2400" kern="1200" dirty="0"/>
        </a:p>
      </dsp:txBody>
      <dsp:txXfrm>
        <a:off x="53008" y="1148080"/>
        <a:ext cx="6285674" cy="979857"/>
      </dsp:txXfrm>
    </dsp:sp>
    <dsp:sp modelId="{47B8BFB2-06C1-47D7-88BA-FA8B3DA05ECE}">
      <dsp:nvSpPr>
        <dsp:cNvPr id="0" name=""/>
        <dsp:cNvSpPr/>
      </dsp:nvSpPr>
      <dsp:spPr>
        <a:xfrm>
          <a:off x="0" y="2187871"/>
          <a:ext cx="6391690" cy="10858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Let’s design typical enterprise network</a:t>
          </a:r>
          <a:endParaRPr lang="en-IN" sz="2400" kern="1200" dirty="0"/>
        </a:p>
      </dsp:txBody>
      <dsp:txXfrm>
        <a:off x="53008" y="2240879"/>
        <a:ext cx="6285674" cy="979857"/>
      </dsp:txXfrm>
    </dsp:sp>
    <dsp:sp modelId="{397F2E8C-5AF4-4619-9039-55C45B7A0096}">
      <dsp:nvSpPr>
        <dsp:cNvPr id="0" name=""/>
        <dsp:cNvSpPr/>
      </dsp:nvSpPr>
      <dsp:spPr>
        <a:xfrm>
          <a:off x="0" y="3280670"/>
          <a:ext cx="6391690" cy="10858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Issue in traditional enterprises form wan perspective (why sometimes new??)</a:t>
          </a:r>
          <a:endParaRPr lang="en-IN" sz="2400" kern="1200" dirty="0"/>
        </a:p>
      </dsp:txBody>
      <dsp:txXfrm>
        <a:off x="53008" y="3333678"/>
        <a:ext cx="6285674" cy="979857"/>
      </dsp:txXfrm>
    </dsp:sp>
    <dsp:sp modelId="{77A544D1-826D-414F-8CFD-40E2CC94F5A3}">
      <dsp:nvSpPr>
        <dsp:cNvPr id="0" name=""/>
        <dsp:cNvSpPr/>
      </dsp:nvSpPr>
      <dsp:spPr>
        <a:xfrm>
          <a:off x="0" y="4373469"/>
          <a:ext cx="6391690" cy="10858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How these issues can be resolved? SD-WAN introduction</a:t>
          </a:r>
          <a:endParaRPr lang="en-IN" sz="2400" kern="1200" dirty="0"/>
        </a:p>
      </dsp:txBody>
      <dsp:txXfrm>
        <a:off x="53008" y="4426477"/>
        <a:ext cx="6285674" cy="979857"/>
      </dsp:txXfrm>
    </dsp:sp>
    <dsp:sp modelId="{1BA2D782-D8B4-481E-8B00-C0B33473D4B8}">
      <dsp:nvSpPr>
        <dsp:cNvPr id="0" name=""/>
        <dsp:cNvSpPr/>
      </dsp:nvSpPr>
      <dsp:spPr>
        <a:xfrm>
          <a:off x="0" y="5466268"/>
          <a:ext cx="6391690" cy="10858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endParaRPr lang="en-US" sz="2400" kern="1200" dirty="0"/>
        </a:p>
        <a:p>
          <a:pPr marL="0" lvl="0" indent="0" algn="l" defTabSz="1066800">
            <a:lnSpc>
              <a:spcPct val="90000"/>
            </a:lnSpc>
            <a:spcBef>
              <a:spcPct val="0"/>
            </a:spcBef>
            <a:spcAft>
              <a:spcPct val="35000"/>
            </a:spcAft>
            <a:buNone/>
          </a:pPr>
          <a:r>
            <a:rPr lang="en-US" sz="2400" kern="1200" dirty="0"/>
            <a:t>SD-WAN solutions is a big puzzle. Let’s break it down,  control plane and data plane. Can we separate them? Any benefits? Concept of next route Tunneling</a:t>
          </a:r>
          <a:endParaRPr lang="en-IN" sz="2400" kern="1200" dirty="0"/>
        </a:p>
      </dsp:txBody>
      <dsp:txXfrm>
        <a:off x="53008" y="5519276"/>
        <a:ext cx="6285674" cy="979857"/>
      </dsp:txXfrm>
    </dsp:sp>
    <dsp:sp modelId="{BD028A71-6486-42F7-AB4F-E118FF547032}">
      <dsp:nvSpPr>
        <dsp:cNvPr id="0" name=""/>
        <dsp:cNvSpPr/>
      </dsp:nvSpPr>
      <dsp:spPr>
        <a:xfrm>
          <a:off x="0" y="6559067"/>
          <a:ext cx="6391690" cy="108587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Let’s combine all the process together for a complete solution</a:t>
          </a:r>
          <a:endParaRPr lang="en-IN" sz="2400" kern="1200" dirty="0"/>
        </a:p>
      </dsp:txBody>
      <dsp:txXfrm>
        <a:off x="53008" y="6612075"/>
        <a:ext cx="6285674" cy="9798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4E5843-C386-4E3E-9D7C-266BC78BEBFA}">
      <dsp:nvSpPr>
        <dsp:cNvPr id="0" name=""/>
        <dsp:cNvSpPr/>
      </dsp:nvSpPr>
      <dsp:spPr>
        <a:xfrm>
          <a:off x="0" y="1103"/>
          <a:ext cx="6758609" cy="723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TOPICS:</a:t>
          </a:r>
          <a:endParaRPr lang="en-IN" sz="2400" kern="1200" dirty="0"/>
        </a:p>
      </dsp:txBody>
      <dsp:txXfrm>
        <a:off x="35303" y="36406"/>
        <a:ext cx="6688003" cy="652574"/>
      </dsp:txXfrm>
    </dsp:sp>
    <dsp:sp modelId="{77F1D081-67F0-4113-91EE-441393B9ED7D}">
      <dsp:nvSpPr>
        <dsp:cNvPr id="0" name=""/>
        <dsp:cNvSpPr/>
      </dsp:nvSpPr>
      <dsp:spPr>
        <a:xfrm>
          <a:off x="0" y="735238"/>
          <a:ext cx="6758609" cy="723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1. The orchestrator: </a:t>
          </a:r>
          <a:r>
            <a:rPr lang="en-US" sz="2400" kern="1200" dirty="0" err="1"/>
            <a:t>Vbond</a:t>
          </a:r>
          <a:endParaRPr lang="en-IN" sz="2400" kern="1200" dirty="0"/>
        </a:p>
      </dsp:txBody>
      <dsp:txXfrm>
        <a:off x="35303" y="770541"/>
        <a:ext cx="6688003" cy="652574"/>
      </dsp:txXfrm>
    </dsp:sp>
    <dsp:sp modelId="{7F4DF675-26B2-4946-B6C4-9500AF6C9F30}">
      <dsp:nvSpPr>
        <dsp:cNvPr id="0" name=""/>
        <dsp:cNvSpPr/>
      </dsp:nvSpPr>
      <dsp:spPr>
        <a:xfrm>
          <a:off x="0" y="1469374"/>
          <a:ext cx="6758609" cy="723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2. Let’s talk about Vmanage</a:t>
          </a:r>
          <a:endParaRPr lang="en-IN" sz="2400" kern="1200" dirty="0"/>
        </a:p>
      </dsp:txBody>
      <dsp:txXfrm>
        <a:off x="35303" y="1504677"/>
        <a:ext cx="6688003" cy="652574"/>
      </dsp:txXfrm>
    </dsp:sp>
    <dsp:sp modelId="{F921CB7B-ACD0-48B2-8616-9DE83D53AD1C}">
      <dsp:nvSpPr>
        <dsp:cNvPr id="0" name=""/>
        <dsp:cNvSpPr/>
      </dsp:nvSpPr>
      <dsp:spPr>
        <a:xfrm>
          <a:off x="0" y="2203509"/>
          <a:ext cx="6758609" cy="723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3. What we see in cisco’s documentation</a:t>
          </a:r>
          <a:endParaRPr lang="en-IN" sz="2400" kern="1200" dirty="0"/>
        </a:p>
      </dsp:txBody>
      <dsp:txXfrm>
        <a:off x="35303" y="2238812"/>
        <a:ext cx="6688003" cy="652574"/>
      </dsp:txXfrm>
    </dsp:sp>
    <dsp:sp modelId="{994CAA2B-2966-47BD-882B-277D7E3956C5}">
      <dsp:nvSpPr>
        <dsp:cNvPr id="0" name=""/>
        <dsp:cNvSpPr/>
      </dsp:nvSpPr>
      <dsp:spPr>
        <a:xfrm>
          <a:off x="0" y="2937644"/>
          <a:ext cx="6758609" cy="723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4. Why we are learning network security in SD-WAN?</a:t>
          </a:r>
          <a:endParaRPr lang="en-IN" sz="2400" kern="1200" dirty="0"/>
        </a:p>
      </dsp:txBody>
      <dsp:txXfrm>
        <a:off x="35303" y="2972947"/>
        <a:ext cx="6688003" cy="652574"/>
      </dsp:txXfrm>
    </dsp:sp>
    <dsp:sp modelId="{50042A61-A18F-48D2-9AE7-B1E8D8202497}">
      <dsp:nvSpPr>
        <dsp:cNvPr id="0" name=""/>
        <dsp:cNvSpPr/>
      </dsp:nvSpPr>
      <dsp:spPr>
        <a:xfrm>
          <a:off x="0" y="3672883"/>
          <a:ext cx="6758609" cy="7231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dirty="0"/>
            <a:t>5. Basics of network security or CIA</a:t>
          </a:r>
          <a:endParaRPr lang="en-IN" sz="2400" kern="1200" dirty="0"/>
        </a:p>
      </dsp:txBody>
      <dsp:txXfrm>
        <a:off x="35303" y="3708186"/>
        <a:ext cx="6688003" cy="6525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0AE584-44EB-4802-B077-3F58B814E7C0}">
      <dsp:nvSpPr>
        <dsp:cNvPr id="0" name=""/>
        <dsp:cNvSpPr/>
      </dsp:nvSpPr>
      <dsp:spPr>
        <a:xfrm>
          <a:off x="0" y="272920"/>
          <a:ext cx="6493565"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kern="1200"/>
            <a:t>Authentication (Public Key Infrastructure)</a:t>
          </a:r>
        </a:p>
      </dsp:txBody>
      <dsp:txXfrm>
        <a:off x="25759" y="298679"/>
        <a:ext cx="6442047" cy="476152"/>
      </dsp:txXfrm>
    </dsp:sp>
    <dsp:sp modelId="{63511099-6CE2-433B-B606-860C12382790}">
      <dsp:nvSpPr>
        <dsp:cNvPr id="0" name=""/>
        <dsp:cNvSpPr/>
      </dsp:nvSpPr>
      <dsp:spPr>
        <a:xfrm>
          <a:off x="0" y="863950"/>
          <a:ext cx="6493565"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kern="1200"/>
            <a:t>Confidentiality vs Authentication</a:t>
          </a:r>
        </a:p>
      </dsp:txBody>
      <dsp:txXfrm>
        <a:off x="25759" y="889709"/>
        <a:ext cx="6442047" cy="476152"/>
      </dsp:txXfrm>
    </dsp:sp>
    <dsp:sp modelId="{5A9AADC1-2EE4-435B-B5B7-BF5F831BC781}">
      <dsp:nvSpPr>
        <dsp:cNvPr id="0" name=""/>
        <dsp:cNvSpPr/>
      </dsp:nvSpPr>
      <dsp:spPr>
        <a:xfrm>
          <a:off x="0" y="1454980"/>
          <a:ext cx="6493565"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kern="1200" dirty="0"/>
            <a:t>Let’s combine CIA to get a complete picture of severity</a:t>
          </a:r>
        </a:p>
      </dsp:txBody>
      <dsp:txXfrm>
        <a:off x="25759" y="1480739"/>
        <a:ext cx="6442047" cy="476152"/>
      </dsp:txXfrm>
    </dsp:sp>
    <dsp:sp modelId="{CBE45419-BCCA-45D6-9064-4B65B030F3AF}">
      <dsp:nvSpPr>
        <dsp:cNvPr id="0" name=""/>
        <dsp:cNvSpPr/>
      </dsp:nvSpPr>
      <dsp:spPr>
        <a:xfrm>
          <a:off x="0" y="2046010"/>
          <a:ext cx="6493565"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kern="1200" dirty="0"/>
            <a:t>Transport Layer Security (Our Control Connections)</a:t>
          </a:r>
        </a:p>
      </dsp:txBody>
      <dsp:txXfrm>
        <a:off x="25759" y="2071769"/>
        <a:ext cx="6442047" cy="476152"/>
      </dsp:txXfrm>
    </dsp:sp>
    <dsp:sp modelId="{A49357D5-2096-4AC5-882E-84A2B6FAB8CA}">
      <dsp:nvSpPr>
        <dsp:cNvPr id="0" name=""/>
        <dsp:cNvSpPr/>
      </dsp:nvSpPr>
      <dsp:spPr>
        <a:xfrm>
          <a:off x="0" y="2663544"/>
          <a:ext cx="6493565"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kern="1200"/>
            <a:t>Internet Protocol Security (Our  Data Tunnels)</a:t>
          </a:r>
        </a:p>
      </dsp:txBody>
      <dsp:txXfrm>
        <a:off x="25759" y="2689303"/>
        <a:ext cx="6442047" cy="476152"/>
      </dsp:txXfrm>
    </dsp:sp>
    <dsp:sp modelId="{9C85B65F-B288-42FB-A451-C9C9F5E47829}">
      <dsp:nvSpPr>
        <dsp:cNvPr id="0" name=""/>
        <dsp:cNvSpPr/>
      </dsp:nvSpPr>
      <dsp:spPr>
        <a:xfrm>
          <a:off x="0" y="3228070"/>
          <a:ext cx="6493565" cy="5276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IN" sz="2200" kern="1200" dirty="0"/>
            <a:t>Let’s start talking about our LAB (If Time Permits)</a:t>
          </a:r>
        </a:p>
      </dsp:txBody>
      <dsp:txXfrm>
        <a:off x="25759" y="3253829"/>
        <a:ext cx="6442047" cy="4761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EF4D3-3910-407F-B108-2B5214F8A072}">
      <dsp:nvSpPr>
        <dsp:cNvPr id="0" name=""/>
        <dsp:cNvSpPr/>
      </dsp:nvSpPr>
      <dsp:spPr>
        <a:xfrm>
          <a:off x="0" y="170580"/>
          <a:ext cx="685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Let’s create our lab from scratch in GCP Server</a:t>
          </a:r>
          <a:endParaRPr lang="en-IN" sz="2400" kern="1200"/>
        </a:p>
      </dsp:txBody>
      <dsp:txXfrm>
        <a:off x="28100" y="198680"/>
        <a:ext cx="6801800" cy="519439"/>
      </dsp:txXfrm>
    </dsp:sp>
    <dsp:sp modelId="{D1EC1619-A428-483D-9475-984808BB0B6F}">
      <dsp:nvSpPr>
        <dsp:cNvPr id="0" name=""/>
        <dsp:cNvSpPr/>
      </dsp:nvSpPr>
      <dsp:spPr>
        <a:xfrm>
          <a:off x="0" y="815340"/>
          <a:ext cx="685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Some basics of GCP</a:t>
          </a:r>
          <a:endParaRPr lang="en-IN" sz="2400" kern="1200"/>
        </a:p>
      </dsp:txBody>
      <dsp:txXfrm>
        <a:off x="28100" y="843440"/>
        <a:ext cx="6801800" cy="519439"/>
      </dsp:txXfrm>
    </dsp:sp>
    <dsp:sp modelId="{4CE5BF42-35C9-4E8D-A048-36D224346A1A}">
      <dsp:nvSpPr>
        <dsp:cNvPr id="0" name=""/>
        <dsp:cNvSpPr/>
      </dsp:nvSpPr>
      <dsp:spPr>
        <a:xfrm>
          <a:off x="0" y="1460100"/>
          <a:ext cx="685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Understanding Eve-Ng</a:t>
          </a:r>
          <a:endParaRPr lang="en-IN" sz="2400" kern="1200"/>
        </a:p>
      </dsp:txBody>
      <dsp:txXfrm>
        <a:off x="28100" y="1488200"/>
        <a:ext cx="6801800" cy="519439"/>
      </dsp:txXfrm>
    </dsp:sp>
    <dsp:sp modelId="{CE615A9D-361D-4A45-B6D7-81346DB43DA0}">
      <dsp:nvSpPr>
        <dsp:cNvPr id="0" name=""/>
        <dsp:cNvSpPr/>
      </dsp:nvSpPr>
      <dsp:spPr>
        <a:xfrm>
          <a:off x="0" y="2104860"/>
          <a:ext cx="685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Let’s understand our lab and its various componenets</a:t>
          </a:r>
          <a:endParaRPr lang="en-IN" sz="2400" kern="1200"/>
        </a:p>
      </dsp:txBody>
      <dsp:txXfrm>
        <a:off x="28100" y="2132960"/>
        <a:ext cx="6801800" cy="519439"/>
      </dsp:txXfrm>
    </dsp:sp>
    <dsp:sp modelId="{1DD9F93E-44CF-4E25-A8E7-23251D26CFD6}">
      <dsp:nvSpPr>
        <dsp:cNvPr id="0" name=""/>
        <dsp:cNvSpPr/>
      </dsp:nvSpPr>
      <dsp:spPr>
        <a:xfrm>
          <a:off x="0" y="2749620"/>
          <a:ext cx="685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Vmanage as certificate authority</a:t>
          </a:r>
          <a:endParaRPr lang="en-IN" sz="2400" kern="1200"/>
        </a:p>
      </dsp:txBody>
      <dsp:txXfrm>
        <a:off x="28100" y="2777720"/>
        <a:ext cx="6801800" cy="519439"/>
      </dsp:txXfrm>
    </dsp:sp>
    <dsp:sp modelId="{F5C77060-B3A1-4405-A2FF-A256B188EB20}">
      <dsp:nvSpPr>
        <dsp:cNvPr id="0" name=""/>
        <dsp:cNvSpPr/>
      </dsp:nvSpPr>
      <dsp:spPr>
        <a:xfrm>
          <a:off x="0" y="3394380"/>
          <a:ext cx="685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Virtual Routing and Forwarding aka VPN’s</a:t>
          </a:r>
          <a:endParaRPr lang="en-IN" sz="2400" kern="1200"/>
        </a:p>
      </dsp:txBody>
      <dsp:txXfrm>
        <a:off x="28100" y="3422480"/>
        <a:ext cx="6801800" cy="519439"/>
      </dsp:txXfrm>
    </dsp:sp>
    <dsp:sp modelId="{26F5797D-B062-4BEB-B080-A67A7AF0E998}">
      <dsp:nvSpPr>
        <dsp:cNvPr id="0" name=""/>
        <dsp:cNvSpPr/>
      </dsp:nvSpPr>
      <dsp:spPr>
        <a:xfrm>
          <a:off x="0" y="4039140"/>
          <a:ext cx="6858000" cy="57563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IN" sz="2400" kern="1200"/>
            <a:t>Vmanage Demonstration if time permits</a:t>
          </a:r>
        </a:p>
      </dsp:txBody>
      <dsp:txXfrm>
        <a:off x="28100" y="4067240"/>
        <a:ext cx="6801800" cy="51943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531818"/>
            <a:ext cx="5829300" cy="325863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916115"/>
            <a:ext cx="5143500" cy="2259809"/>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B54B2D-4D41-4EA5-AEF5-E65D243B1403}"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2486395422"/>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B54B2D-4D41-4EA5-AEF5-E65D243B1403}"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953640232"/>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333478"/>
            <a:ext cx="5915025" cy="3893458"/>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263769"/>
            <a:ext cx="5915025" cy="204747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B54B2D-4D41-4EA5-AEF5-E65D243B1403}"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179430927"/>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91640"/>
            <a:ext cx="2914650" cy="59387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91640"/>
            <a:ext cx="2914650" cy="59387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B54B2D-4D41-4EA5-AEF5-E65D243B1403}" type="datetimeFigureOut">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455919657"/>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98330"/>
            <a:ext cx="5915025" cy="18091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94476"/>
            <a:ext cx="2901255" cy="11244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418964"/>
            <a:ext cx="2901255" cy="50287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94476"/>
            <a:ext cx="2915543" cy="1124487"/>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418964"/>
            <a:ext cx="2915543" cy="50287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B54B2D-4D41-4EA5-AEF5-E65D243B1403}" type="datetimeFigureOut">
              <a:rPr lang="en-IN" smtClean="0"/>
              <a:t>22-10-2025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531346925"/>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B54B2D-4D41-4EA5-AEF5-E65D243B1403}" type="datetimeFigureOut">
              <a:rPr lang="en-IN" smtClean="0"/>
              <a:t>22-10-2025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3768453947"/>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B54B2D-4D41-4EA5-AEF5-E65D243B1403}" type="datetimeFigureOut">
              <a:rPr lang="en-IN" smtClean="0"/>
              <a:t>22-10-2025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3605322425"/>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23993"/>
            <a:ext cx="2211884" cy="2183977"/>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47654"/>
            <a:ext cx="3471863" cy="665159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807970"/>
            <a:ext cx="2211884" cy="520211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8B54B2D-4D41-4EA5-AEF5-E65D243B1403}" type="datetimeFigureOut">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2939597792"/>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23993"/>
            <a:ext cx="2211884" cy="2183977"/>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47654"/>
            <a:ext cx="3471863" cy="6651596"/>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807970"/>
            <a:ext cx="2211884" cy="520211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8B54B2D-4D41-4EA5-AEF5-E65D243B1403}" type="datetimeFigureOut">
              <a:rPr lang="en-IN" smtClean="0"/>
              <a:t>22-10-2025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658225860"/>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8B54B2D-4D41-4EA5-AEF5-E65D243B1403}"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3A6C2E-D1B8-408C-8C11-CAE672901AE3}" type="slidenum">
              <a:rPr lang="en-IN" smtClean="0"/>
              <a:t>‹#›</a:t>
            </a:fld>
            <a:endParaRPr lang="en-IN"/>
          </a:p>
        </p:txBody>
      </p:sp>
      <p:sp>
        <p:nvSpPr>
          <p:cNvPr id="9" name="Title 8">
            <a:extLst>
              <a:ext uri="{FF2B5EF4-FFF2-40B4-BE49-F238E27FC236}">
                <a16:creationId xmlns:a16="http://schemas.microsoft.com/office/drawing/2014/main" id="{ABB43EFF-A251-D614-7A80-8C0C9FB76277}"/>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628523655"/>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98328"/>
            <a:ext cx="1478756" cy="793208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98328"/>
            <a:ext cx="4350544" cy="793208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B54B2D-4D41-4EA5-AEF5-E65D243B1403}" type="datetimeFigureOut">
              <a:rPr lang="en-IN" smtClean="0"/>
              <a:t>22-10-2025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C3A6C2E-D1B8-408C-8C11-CAE672901AE3}" type="slidenum">
              <a:rPr lang="en-IN" smtClean="0"/>
              <a:t>‹#›</a:t>
            </a:fld>
            <a:endParaRPr lang="en-IN"/>
          </a:p>
        </p:txBody>
      </p:sp>
    </p:spTree>
    <p:extLst>
      <p:ext uri="{BB962C8B-B14F-4D97-AF65-F5344CB8AC3E}">
        <p14:creationId xmlns:p14="http://schemas.microsoft.com/office/powerpoint/2010/main" val="4100235692"/>
      </p:ext>
    </p:extLst>
  </p:cSld>
  <p:clrMapOvr>
    <a:masterClrMapping/>
  </p:clrMapOvr>
  <p:extLst>
    <p:ext uri="{DCECCB84-F9BA-43D5-87BE-67443E8EF086}">
      <p15:sldGuideLst xmlns:p15="http://schemas.microsoft.com/office/powerpoint/2012/main">
        <p15:guide id="1" orient="horz" pos="2948"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98330"/>
            <a:ext cx="5915025" cy="180914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91640"/>
            <a:ext cx="5915025" cy="593877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675243"/>
            <a:ext cx="1543050" cy="498328"/>
          </a:xfrm>
          <a:prstGeom prst="rect">
            <a:avLst/>
          </a:prstGeom>
        </p:spPr>
        <p:txBody>
          <a:bodyPr vert="horz" lIns="91440" tIns="45720" rIns="91440" bIns="45720" rtlCol="0" anchor="ctr"/>
          <a:lstStyle>
            <a:lvl1pPr algn="l">
              <a:defRPr sz="900">
                <a:solidFill>
                  <a:schemeClr val="tx1">
                    <a:tint val="75000"/>
                  </a:schemeClr>
                </a:solidFill>
              </a:defRPr>
            </a:lvl1pPr>
          </a:lstStyle>
          <a:p>
            <a:fld id="{88B54B2D-4D41-4EA5-AEF5-E65D243B1403}" type="datetimeFigureOut">
              <a:rPr lang="en-IN" smtClean="0"/>
              <a:t>22-10-2025</a:t>
            </a:fld>
            <a:endParaRPr lang="en-IN"/>
          </a:p>
        </p:txBody>
      </p:sp>
      <p:sp>
        <p:nvSpPr>
          <p:cNvPr id="5" name="Footer Placeholder 4"/>
          <p:cNvSpPr>
            <a:spLocks noGrp="1"/>
          </p:cNvSpPr>
          <p:nvPr>
            <p:ph type="ftr" sz="quarter" idx="3"/>
          </p:nvPr>
        </p:nvSpPr>
        <p:spPr>
          <a:xfrm>
            <a:off x="2271713" y="8675243"/>
            <a:ext cx="2314575" cy="498328"/>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43463" y="8675243"/>
            <a:ext cx="1543050" cy="498328"/>
          </a:xfrm>
          <a:prstGeom prst="rect">
            <a:avLst/>
          </a:prstGeom>
        </p:spPr>
        <p:txBody>
          <a:bodyPr vert="horz" lIns="91440" tIns="45720" rIns="91440" bIns="45720" rtlCol="0" anchor="ctr"/>
          <a:lstStyle>
            <a:lvl1pPr algn="r">
              <a:defRPr sz="900">
                <a:solidFill>
                  <a:schemeClr val="tx1">
                    <a:tint val="75000"/>
                  </a:schemeClr>
                </a:solidFill>
              </a:defRPr>
            </a:lvl1pPr>
          </a:lstStyle>
          <a:p>
            <a:fld id="{CC3A6C2E-D1B8-408C-8C11-CAE672901AE3}" type="slidenum">
              <a:rPr lang="en-IN" smtClean="0"/>
              <a:t>‹#›</a:t>
            </a:fld>
            <a:endParaRPr lang="en-IN"/>
          </a:p>
        </p:txBody>
      </p:sp>
    </p:spTree>
    <p:extLst>
      <p:ext uri="{BB962C8B-B14F-4D97-AF65-F5344CB8AC3E}">
        <p14:creationId xmlns:p14="http://schemas.microsoft.com/office/powerpoint/2010/main" val="2395499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9000" r="-10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953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F557639B-6836-DA95-55B5-7CA94DC44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FCC476-D248-43C7-A5E5-3BF3182545C4}"/>
              </a:ext>
            </a:extLst>
          </p:cNvPr>
          <p:cNvSpPr>
            <a:spLocks noGrp="1"/>
          </p:cNvSpPr>
          <p:nvPr>
            <p:ph type="ctrTitle"/>
          </p:nvPr>
        </p:nvSpPr>
        <p:spPr>
          <a:xfrm>
            <a:off x="282229" y="265045"/>
            <a:ext cx="6293541" cy="1046212"/>
          </a:xfrm>
          <a:solidFill>
            <a:schemeClr val="accent1"/>
          </a:solidFill>
        </p:spPr>
        <p:txBody>
          <a:bodyPr>
            <a:normAutofit/>
          </a:bodyPr>
          <a:lstStyle/>
          <a:p>
            <a:pPr algn="l"/>
            <a:r>
              <a:rPr lang="en-US" sz="5400" b="1" dirty="0">
                <a:solidFill>
                  <a:schemeClr val="bg1"/>
                </a:solidFill>
              </a:rPr>
              <a:t>TOPICS</a:t>
            </a:r>
            <a:endParaRPr lang="en-IN" sz="5400" b="1" dirty="0">
              <a:solidFill>
                <a:schemeClr val="bg1"/>
              </a:solidFill>
            </a:endParaRPr>
          </a:p>
        </p:txBody>
      </p:sp>
      <p:graphicFrame>
        <p:nvGraphicFramePr>
          <p:cNvPr id="8" name="Diagram 7">
            <a:extLst>
              <a:ext uri="{FF2B5EF4-FFF2-40B4-BE49-F238E27FC236}">
                <a16:creationId xmlns:a16="http://schemas.microsoft.com/office/drawing/2014/main" id="{A3BD2A44-AFCD-1676-4005-AD6659A88819}"/>
              </a:ext>
            </a:extLst>
          </p:cNvPr>
          <p:cNvGraphicFramePr/>
          <p:nvPr>
            <p:extLst>
              <p:ext uri="{D42A27DB-BD31-4B8C-83A1-F6EECF244321}">
                <p14:modId xmlns:p14="http://schemas.microsoft.com/office/powerpoint/2010/main" val="396651046"/>
              </p:ext>
            </p:extLst>
          </p:nvPr>
        </p:nvGraphicFramePr>
        <p:xfrm>
          <a:off x="233155" y="1576299"/>
          <a:ext cx="6391690" cy="76472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3366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9AA76-F62F-6F30-FAFA-25F930C083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D566B-C27C-B3D4-AEFF-445172616F43}"/>
              </a:ext>
            </a:extLst>
          </p:cNvPr>
          <p:cNvSpPr>
            <a:spLocks noGrp="1"/>
          </p:cNvSpPr>
          <p:nvPr>
            <p:ph type="ctrTitle"/>
          </p:nvPr>
        </p:nvSpPr>
        <p:spPr>
          <a:xfrm>
            <a:off x="0" y="0"/>
            <a:ext cx="6858000" cy="747557"/>
          </a:xfrm>
          <a:solidFill>
            <a:schemeClr val="accent2"/>
          </a:solidFill>
        </p:spPr>
        <p:txBody>
          <a:bodyPr>
            <a:normAutofit/>
          </a:bodyPr>
          <a:lstStyle/>
          <a:p>
            <a:r>
              <a:rPr lang="en-US" b="1" dirty="0">
                <a:solidFill>
                  <a:schemeClr val="bg1"/>
                </a:solidFill>
              </a:rPr>
              <a:t>1-CAMPUS AREA NETWORK</a:t>
            </a:r>
            <a:endParaRPr lang="en-IN" b="1" dirty="0">
              <a:solidFill>
                <a:schemeClr val="bg1"/>
              </a:solidFill>
            </a:endParaRPr>
          </a:p>
        </p:txBody>
      </p:sp>
      <p:sp>
        <p:nvSpPr>
          <p:cNvPr id="6" name="TextBox 5">
            <a:extLst>
              <a:ext uri="{FF2B5EF4-FFF2-40B4-BE49-F238E27FC236}">
                <a16:creationId xmlns:a16="http://schemas.microsoft.com/office/drawing/2014/main" id="{93E9C899-F5E0-1B2C-C748-9F85B5B61606}"/>
              </a:ext>
            </a:extLst>
          </p:cNvPr>
          <p:cNvSpPr txBox="1"/>
          <p:nvPr/>
        </p:nvSpPr>
        <p:spPr>
          <a:xfrm>
            <a:off x="-1" y="747557"/>
            <a:ext cx="6857999" cy="2954655"/>
          </a:xfrm>
          <a:prstGeom prst="rect">
            <a:avLst/>
          </a:prstGeom>
          <a:noFill/>
        </p:spPr>
        <p:txBody>
          <a:bodyPr wrap="square" rtlCol="0">
            <a:spAutoFit/>
          </a:bodyPr>
          <a:lstStyle/>
          <a:p>
            <a:r>
              <a:rPr lang="en-US" sz="2400" b="1" dirty="0">
                <a:solidFill>
                  <a:schemeClr val="accent1"/>
                </a:solidFill>
              </a:rPr>
              <a:t>What is CAN (Campus Area Network)?</a:t>
            </a:r>
          </a:p>
          <a:p>
            <a:r>
              <a:rPr lang="en-US" sz="2000" dirty="0"/>
              <a:t>A Campus Area Network (CAN) connects multiple Local Area Networks (LANs) within a limited area like a college campus, business park, or military base. It links buildings that are close to each other (usually within a few kilometers).</a:t>
            </a:r>
          </a:p>
          <a:p>
            <a:endParaRPr lang="en-US" dirty="0"/>
          </a:p>
          <a:p>
            <a:r>
              <a:rPr lang="en-US" sz="2400" b="1" dirty="0">
                <a:solidFill>
                  <a:schemeClr val="accent1"/>
                </a:solidFill>
              </a:rPr>
              <a:t>Example:</a:t>
            </a:r>
          </a:p>
          <a:p>
            <a:r>
              <a:rPr lang="en-US" sz="2000" dirty="0"/>
              <a:t>A university network that connects the library, labs, and admin office together — all sharing printers, internet, and resources.</a:t>
            </a:r>
            <a:endParaRPr lang="en-IN" sz="2000" dirty="0"/>
          </a:p>
        </p:txBody>
      </p:sp>
      <p:pic>
        <p:nvPicPr>
          <p:cNvPr id="4" name="Picture 3">
            <a:extLst>
              <a:ext uri="{FF2B5EF4-FFF2-40B4-BE49-F238E27FC236}">
                <a16:creationId xmlns:a16="http://schemas.microsoft.com/office/drawing/2014/main" id="{6E3F783C-DCE6-1EE5-043B-4D8996701937}"/>
              </a:ext>
            </a:extLst>
          </p:cNvPr>
          <p:cNvPicPr>
            <a:picLocks noChangeAspect="1"/>
          </p:cNvPicPr>
          <p:nvPr/>
        </p:nvPicPr>
        <p:blipFill>
          <a:blip r:embed="rId2"/>
          <a:stretch>
            <a:fillRect/>
          </a:stretch>
        </p:blipFill>
        <p:spPr>
          <a:xfrm>
            <a:off x="324676" y="6568929"/>
            <a:ext cx="6208643" cy="1848686"/>
          </a:xfrm>
          <a:prstGeom prst="rect">
            <a:avLst/>
          </a:prstGeom>
        </p:spPr>
      </p:pic>
      <p:pic>
        <p:nvPicPr>
          <p:cNvPr id="9" name="Picture 8">
            <a:extLst>
              <a:ext uri="{FF2B5EF4-FFF2-40B4-BE49-F238E27FC236}">
                <a16:creationId xmlns:a16="http://schemas.microsoft.com/office/drawing/2014/main" id="{62A14C06-B905-D209-9A81-1388C08E6B4C}"/>
              </a:ext>
            </a:extLst>
          </p:cNvPr>
          <p:cNvPicPr>
            <a:picLocks noChangeAspect="1"/>
          </p:cNvPicPr>
          <p:nvPr/>
        </p:nvPicPr>
        <p:blipFill>
          <a:blip r:embed="rId3"/>
          <a:stretch>
            <a:fillRect/>
          </a:stretch>
        </p:blipFill>
        <p:spPr>
          <a:xfrm>
            <a:off x="899759" y="3815635"/>
            <a:ext cx="5058481" cy="2591162"/>
          </a:xfrm>
          <a:prstGeom prst="rect">
            <a:avLst/>
          </a:prstGeom>
        </p:spPr>
      </p:pic>
    </p:spTree>
    <p:extLst>
      <p:ext uri="{BB962C8B-B14F-4D97-AF65-F5344CB8AC3E}">
        <p14:creationId xmlns:p14="http://schemas.microsoft.com/office/powerpoint/2010/main" val="2717193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F8596-AA15-C386-9B8C-840786DD1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0B030-1155-09F9-870E-2AFCDFE9AECC}"/>
              </a:ext>
            </a:extLst>
          </p:cNvPr>
          <p:cNvSpPr>
            <a:spLocks noGrp="1"/>
          </p:cNvSpPr>
          <p:nvPr>
            <p:ph type="ctrTitle"/>
          </p:nvPr>
        </p:nvSpPr>
        <p:spPr>
          <a:xfrm>
            <a:off x="0" y="0"/>
            <a:ext cx="6858000" cy="747557"/>
          </a:xfrm>
          <a:solidFill>
            <a:schemeClr val="accent2"/>
          </a:solidFill>
        </p:spPr>
        <p:txBody>
          <a:bodyPr>
            <a:normAutofit/>
          </a:bodyPr>
          <a:lstStyle/>
          <a:p>
            <a:r>
              <a:rPr lang="en-US" b="1" dirty="0">
                <a:solidFill>
                  <a:schemeClr val="bg1"/>
                </a:solidFill>
              </a:rPr>
              <a:t>2-WIDE AREA NETWORK</a:t>
            </a:r>
            <a:endParaRPr lang="en-IN" b="1" dirty="0">
              <a:solidFill>
                <a:schemeClr val="bg1"/>
              </a:solidFill>
            </a:endParaRPr>
          </a:p>
        </p:txBody>
      </p:sp>
      <p:sp>
        <p:nvSpPr>
          <p:cNvPr id="6" name="TextBox 5">
            <a:extLst>
              <a:ext uri="{FF2B5EF4-FFF2-40B4-BE49-F238E27FC236}">
                <a16:creationId xmlns:a16="http://schemas.microsoft.com/office/drawing/2014/main" id="{160228D5-B63C-5F43-9BE6-285095BB8C9F}"/>
              </a:ext>
            </a:extLst>
          </p:cNvPr>
          <p:cNvSpPr txBox="1"/>
          <p:nvPr/>
        </p:nvSpPr>
        <p:spPr>
          <a:xfrm>
            <a:off x="-1" y="747557"/>
            <a:ext cx="6857999" cy="2646878"/>
          </a:xfrm>
          <a:prstGeom prst="rect">
            <a:avLst/>
          </a:prstGeom>
          <a:noFill/>
        </p:spPr>
        <p:txBody>
          <a:bodyPr wrap="square" rtlCol="0">
            <a:spAutoFit/>
          </a:bodyPr>
          <a:lstStyle/>
          <a:p>
            <a:r>
              <a:rPr lang="en-US" sz="2400" b="1" dirty="0">
                <a:solidFill>
                  <a:schemeClr val="accent1"/>
                </a:solidFill>
              </a:rPr>
              <a:t>What is WAN (Wide Area Network)?</a:t>
            </a:r>
          </a:p>
          <a:p>
            <a:r>
              <a:rPr lang="en-US" sz="2000" dirty="0"/>
              <a:t>A Wide Area Network (WAN) connects networks over large distances, like between different cities or countries. It uses public networks (like the internet) or private leased lines.</a:t>
            </a:r>
          </a:p>
          <a:p>
            <a:endParaRPr lang="en-US" dirty="0"/>
          </a:p>
          <a:p>
            <a:r>
              <a:rPr lang="en-US" sz="2400" b="1" dirty="0">
                <a:solidFill>
                  <a:schemeClr val="accent1"/>
                </a:solidFill>
              </a:rPr>
              <a:t>Example:</a:t>
            </a:r>
          </a:p>
          <a:p>
            <a:r>
              <a:rPr lang="en-US" sz="2000" dirty="0"/>
              <a:t>A bank network connecting its branches in Delhi, Mumbai, and Bangalore using leased lines or VPN over the internet.</a:t>
            </a:r>
            <a:endParaRPr lang="en-IN" sz="2000" dirty="0"/>
          </a:p>
        </p:txBody>
      </p:sp>
      <p:pic>
        <p:nvPicPr>
          <p:cNvPr id="7" name="Picture 6">
            <a:extLst>
              <a:ext uri="{FF2B5EF4-FFF2-40B4-BE49-F238E27FC236}">
                <a16:creationId xmlns:a16="http://schemas.microsoft.com/office/drawing/2014/main" id="{6BD37AED-207C-2F96-0F21-D9088C4380FC}"/>
              </a:ext>
            </a:extLst>
          </p:cNvPr>
          <p:cNvPicPr>
            <a:picLocks noChangeAspect="1"/>
          </p:cNvPicPr>
          <p:nvPr/>
        </p:nvPicPr>
        <p:blipFill>
          <a:blip r:embed="rId2"/>
          <a:stretch>
            <a:fillRect/>
          </a:stretch>
        </p:blipFill>
        <p:spPr>
          <a:xfrm>
            <a:off x="483705" y="5469583"/>
            <a:ext cx="6208643" cy="3646642"/>
          </a:xfrm>
          <a:prstGeom prst="rect">
            <a:avLst/>
          </a:prstGeom>
        </p:spPr>
      </p:pic>
      <p:pic>
        <p:nvPicPr>
          <p:cNvPr id="12" name="Picture 11">
            <a:extLst>
              <a:ext uri="{FF2B5EF4-FFF2-40B4-BE49-F238E27FC236}">
                <a16:creationId xmlns:a16="http://schemas.microsoft.com/office/drawing/2014/main" id="{B82143EF-4DA0-B9DB-8F6F-04E79A4072B7}"/>
              </a:ext>
            </a:extLst>
          </p:cNvPr>
          <p:cNvPicPr>
            <a:picLocks noChangeAspect="1"/>
          </p:cNvPicPr>
          <p:nvPr/>
        </p:nvPicPr>
        <p:blipFill>
          <a:blip r:embed="rId3"/>
          <a:stretch>
            <a:fillRect/>
          </a:stretch>
        </p:blipFill>
        <p:spPr>
          <a:xfrm>
            <a:off x="225286" y="3789822"/>
            <a:ext cx="6208643" cy="890128"/>
          </a:xfrm>
          <a:prstGeom prst="rect">
            <a:avLst/>
          </a:prstGeom>
        </p:spPr>
      </p:pic>
    </p:spTree>
    <p:extLst>
      <p:ext uri="{BB962C8B-B14F-4D97-AF65-F5344CB8AC3E}">
        <p14:creationId xmlns:p14="http://schemas.microsoft.com/office/powerpoint/2010/main" val="1745187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EDE3A1-481C-3E80-3DBE-604A70FCF5E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8013FF4F-0A66-8472-F876-1E36A567FAC4}"/>
              </a:ext>
            </a:extLst>
          </p:cNvPr>
          <p:cNvSpPr/>
          <p:nvPr/>
        </p:nvSpPr>
        <p:spPr>
          <a:xfrm>
            <a:off x="82826" y="880079"/>
            <a:ext cx="6692348" cy="190287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4D04BB82-CF3A-89A3-1C1F-B91AB6CDBCA3}"/>
              </a:ext>
            </a:extLst>
          </p:cNvPr>
          <p:cNvSpPr>
            <a:spLocks noGrp="1"/>
          </p:cNvSpPr>
          <p:nvPr>
            <p:ph type="ctrTitle"/>
          </p:nvPr>
        </p:nvSpPr>
        <p:spPr>
          <a:xfrm>
            <a:off x="0" y="0"/>
            <a:ext cx="6858000" cy="747557"/>
          </a:xfrm>
          <a:solidFill>
            <a:schemeClr val="accent2"/>
          </a:solidFill>
        </p:spPr>
        <p:txBody>
          <a:bodyPr>
            <a:normAutofit/>
          </a:bodyPr>
          <a:lstStyle/>
          <a:p>
            <a:r>
              <a:rPr lang="en-US" b="1" dirty="0">
                <a:solidFill>
                  <a:schemeClr val="bg1"/>
                </a:solidFill>
              </a:rPr>
              <a:t>WAN-EVOLUTION</a:t>
            </a:r>
            <a:endParaRPr lang="en-IN" b="1" dirty="0">
              <a:solidFill>
                <a:schemeClr val="bg1"/>
              </a:solidFill>
            </a:endParaRPr>
          </a:p>
        </p:txBody>
      </p:sp>
      <p:sp>
        <p:nvSpPr>
          <p:cNvPr id="6" name="TextBox 5">
            <a:extLst>
              <a:ext uri="{FF2B5EF4-FFF2-40B4-BE49-F238E27FC236}">
                <a16:creationId xmlns:a16="http://schemas.microsoft.com/office/drawing/2014/main" id="{7C24FD42-A018-D9F7-29BD-A278B5052240}"/>
              </a:ext>
            </a:extLst>
          </p:cNvPr>
          <p:cNvSpPr txBox="1"/>
          <p:nvPr/>
        </p:nvSpPr>
        <p:spPr>
          <a:xfrm>
            <a:off x="82826" y="880079"/>
            <a:ext cx="6857999" cy="6309420"/>
          </a:xfrm>
          <a:prstGeom prst="rect">
            <a:avLst/>
          </a:prstGeom>
          <a:noFill/>
        </p:spPr>
        <p:txBody>
          <a:bodyPr wrap="square" rtlCol="0">
            <a:spAutoFit/>
          </a:bodyPr>
          <a:lstStyle/>
          <a:p>
            <a:r>
              <a:rPr lang="en-US" sz="2000" dirty="0">
                <a:solidFill>
                  <a:schemeClr val="bg1"/>
                </a:solidFill>
              </a:rPr>
              <a:t>1. Leased lines</a:t>
            </a:r>
            <a:br>
              <a:rPr lang="en-US" sz="2000" dirty="0">
                <a:solidFill>
                  <a:schemeClr val="bg1"/>
                </a:solidFill>
              </a:rPr>
            </a:br>
            <a:r>
              <a:rPr lang="en-US" sz="2000" dirty="0">
                <a:solidFill>
                  <a:schemeClr val="bg1"/>
                </a:solidFill>
              </a:rPr>
              <a:t>2. ATMs and FR</a:t>
            </a:r>
            <a:br>
              <a:rPr lang="en-US" sz="2000" dirty="0">
                <a:solidFill>
                  <a:schemeClr val="bg1"/>
                </a:solidFill>
              </a:rPr>
            </a:br>
            <a:r>
              <a:rPr lang="en-US" sz="2000" dirty="0">
                <a:solidFill>
                  <a:schemeClr val="bg1"/>
                </a:solidFill>
              </a:rPr>
              <a:t>3. MPLS</a:t>
            </a:r>
            <a:br>
              <a:rPr lang="en-US" sz="2000" dirty="0">
                <a:solidFill>
                  <a:schemeClr val="bg1"/>
                </a:solidFill>
              </a:rPr>
            </a:br>
            <a:r>
              <a:rPr lang="en-US" sz="2000" dirty="0">
                <a:solidFill>
                  <a:schemeClr val="bg1"/>
                </a:solidFill>
              </a:rPr>
              <a:t>4. Internet</a:t>
            </a:r>
            <a:br>
              <a:rPr lang="en-US" sz="2000" dirty="0">
                <a:solidFill>
                  <a:schemeClr val="bg1"/>
                </a:solidFill>
              </a:rPr>
            </a:br>
            <a:r>
              <a:rPr lang="en-US" sz="2000" dirty="0">
                <a:solidFill>
                  <a:schemeClr val="bg1"/>
                </a:solidFill>
              </a:rPr>
              <a:t>5. GRE</a:t>
            </a:r>
            <a:br>
              <a:rPr lang="en-US" sz="2000" dirty="0">
                <a:solidFill>
                  <a:schemeClr val="bg1"/>
                </a:solidFill>
              </a:rPr>
            </a:br>
            <a:r>
              <a:rPr lang="en-US" sz="2000" dirty="0">
                <a:solidFill>
                  <a:schemeClr val="bg1"/>
                </a:solidFill>
              </a:rPr>
              <a:t>6. IPSEC DMVPN</a:t>
            </a:r>
          </a:p>
          <a:p>
            <a:r>
              <a:rPr lang="en-US" sz="2000" dirty="0">
                <a:solidFill>
                  <a:schemeClr val="bg1"/>
                </a:solidFill>
              </a:rPr>
              <a:t>7. SD-WAN</a:t>
            </a:r>
            <a:endParaRPr lang="en-US" sz="2400" b="1" dirty="0">
              <a:solidFill>
                <a:schemeClr val="accent1"/>
              </a:solidFill>
            </a:endParaRPr>
          </a:p>
          <a:p>
            <a:r>
              <a:rPr lang="en-US" sz="2400" b="1" dirty="0">
                <a:solidFill>
                  <a:schemeClr val="accent1"/>
                </a:solidFill>
              </a:rPr>
              <a:t>1. LEASED LINES:</a:t>
            </a:r>
          </a:p>
          <a:p>
            <a:pPr algn="just"/>
            <a:r>
              <a:rPr lang="en-US" sz="2000" dirty="0"/>
              <a:t>A leased line is a dedicated, private connection between two locations that is always active and not shared with anyone else.</a:t>
            </a:r>
            <a:br>
              <a:rPr lang="en-US" sz="2000" dirty="0"/>
            </a:br>
            <a:r>
              <a:rPr lang="en-US" sz="2000" dirty="0"/>
              <a:t>It’s used by businesses to connect offices in different places with fast and reliable internet or data transfer.</a:t>
            </a:r>
          </a:p>
          <a:p>
            <a:endParaRPr lang="en-US" sz="2000" dirty="0"/>
          </a:p>
          <a:p>
            <a:r>
              <a:rPr lang="en-US" sz="2200" b="1" dirty="0"/>
              <a:t>How It Works:</a:t>
            </a:r>
          </a:p>
          <a:p>
            <a:r>
              <a:rPr lang="en-US" sz="2000" dirty="0"/>
              <a:t>• The telecom company (like Airtel, BSNL, or Jio) provides a </a:t>
            </a:r>
            <a:br>
              <a:rPr lang="en-US" sz="2000" dirty="0"/>
            </a:br>
            <a:r>
              <a:rPr lang="en-US" sz="2000" dirty="0"/>
              <a:t>   direct cable connection between two sites.</a:t>
            </a:r>
          </a:p>
          <a:p>
            <a:r>
              <a:rPr lang="en-US" sz="2000" dirty="0"/>
              <a:t>• Unlike normal internet, the bandwidth is fixed and guaranteed </a:t>
            </a:r>
            <a:br>
              <a:rPr lang="en-US" sz="2000" dirty="0"/>
            </a:br>
            <a:r>
              <a:rPr lang="en-US" sz="2000" dirty="0"/>
              <a:t>   (e.g., 100 Mbps always).</a:t>
            </a:r>
          </a:p>
          <a:p>
            <a:r>
              <a:rPr lang="en-US" sz="2000" dirty="0"/>
              <a:t>• It’s secure because no other user shares that line.</a:t>
            </a:r>
          </a:p>
          <a:p>
            <a:endParaRPr lang="en-US" sz="2000" dirty="0"/>
          </a:p>
        </p:txBody>
      </p:sp>
      <p:pic>
        <p:nvPicPr>
          <p:cNvPr id="5" name="Picture 4">
            <a:extLst>
              <a:ext uri="{FF2B5EF4-FFF2-40B4-BE49-F238E27FC236}">
                <a16:creationId xmlns:a16="http://schemas.microsoft.com/office/drawing/2014/main" id="{E0AAFB73-9A5A-BD51-E751-03B46EED52E5}"/>
              </a:ext>
            </a:extLst>
          </p:cNvPr>
          <p:cNvPicPr>
            <a:picLocks noChangeAspect="1"/>
          </p:cNvPicPr>
          <p:nvPr/>
        </p:nvPicPr>
        <p:blipFill>
          <a:blip r:embed="rId2"/>
          <a:stretch>
            <a:fillRect/>
          </a:stretch>
        </p:blipFill>
        <p:spPr>
          <a:xfrm>
            <a:off x="0" y="7189499"/>
            <a:ext cx="3779164" cy="1769699"/>
          </a:xfrm>
          <a:prstGeom prst="rect">
            <a:avLst/>
          </a:prstGeom>
        </p:spPr>
      </p:pic>
      <p:sp>
        <p:nvSpPr>
          <p:cNvPr id="8" name="TextBox 7">
            <a:extLst>
              <a:ext uri="{FF2B5EF4-FFF2-40B4-BE49-F238E27FC236}">
                <a16:creationId xmlns:a16="http://schemas.microsoft.com/office/drawing/2014/main" id="{E19AEF5E-4605-EA7E-1EAC-CC6037A88CAB}"/>
              </a:ext>
            </a:extLst>
          </p:cNvPr>
          <p:cNvSpPr txBox="1"/>
          <p:nvPr/>
        </p:nvSpPr>
        <p:spPr>
          <a:xfrm>
            <a:off x="3644348" y="6950964"/>
            <a:ext cx="3213652" cy="2246769"/>
          </a:xfrm>
          <a:prstGeom prst="rect">
            <a:avLst/>
          </a:prstGeom>
          <a:noFill/>
        </p:spPr>
        <p:txBody>
          <a:bodyPr wrap="square" rtlCol="0">
            <a:spAutoFit/>
          </a:bodyPr>
          <a:lstStyle/>
          <a:p>
            <a:pPr algn="just"/>
            <a:r>
              <a:rPr lang="en-US" sz="2000" dirty="0"/>
              <a:t>The routers of both branches are connected through an ISP (has their routers in between this two branches), but they function as if they are directly connected to each other.</a:t>
            </a:r>
            <a:endParaRPr lang="en-IN" sz="2000" dirty="0"/>
          </a:p>
        </p:txBody>
      </p:sp>
    </p:spTree>
    <p:extLst>
      <p:ext uri="{BB962C8B-B14F-4D97-AF65-F5344CB8AC3E}">
        <p14:creationId xmlns:p14="http://schemas.microsoft.com/office/powerpoint/2010/main" val="2032977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8CDAE0-CDF4-07CC-D6C6-37E3F5BADD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84D272F-0347-158D-76CB-07AA105542ED}"/>
              </a:ext>
            </a:extLst>
          </p:cNvPr>
          <p:cNvSpPr txBox="1"/>
          <p:nvPr/>
        </p:nvSpPr>
        <p:spPr>
          <a:xfrm>
            <a:off x="0" y="94079"/>
            <a:ext cx="6858000" cy="5139869"/>
          </a:xfrm>
          <a:prstGeom prst="rect">
            <a:avLst/>
          </a:prstGeom>
          <a:noFill/>
        </p:spPr>
        <p:txBody>
          <a:bodyPr wrap="square" rtlCol="0">
            <a:spAutoFit/>
          </a:bodyPr>
          <a:lstStyle/>
          <a:p>
            <a:r>
              <a:rPr lang="en-US" sz="2400" b="1" dirty="0">
                <a:solidFill>
                  <a:schemeClr val="accent1"/>
                </a:solidFill>
              </a:rPr>
              <a:t>2. ATMs and FR:</a:t>
            </a:r>
          </a:p>
          <a:p>
            <a:r>
              <a:rPr lang="en-US" sz="2200" b="1" dirty="0"/>
              <a:t>What is Frame relay</a:t>
            </a:r>
          </a:p>
          <a:p>
            <a:pPr algn="just"/>
            <a:r>
              <a:rPr lang="en-US" sz="2000" dirty="0"/>
              <a:t>Frame Relay is a Wide Area Network (WAN) technology that was used before modern systems like MPLS or SD-WAN.</a:t>
            </a:r>
          </a:p>
          <a:p>
            <a:pPr algn="just"/>
            <a:endParaRPr lang="en-US" sz="2000" dirty="0"/>
          </a:p>
          <a:p>
            <a:pPr algn="just"/>
            <a:r>
              <a:rPr lang="en-US" sz="2000" dirty="0"/>
              <a:t>It allows multiple offices to share a single physical connection to an ISP’s network, while still communicating as if they have private links between them.</a:t>
            </a:r>
          </a:p>
          <a:p>
            <a:pPr algn="just"/>
            <a:endParaRPr lang="en-US" sz="2000" dirty="0"/>
          </a:p>
          <a:p>
            <a:pPr algn="just"/>
            <a:r>
              <a:rPr lang="en-US" sz="2200" b="1" dirty="0"/>
              <a:t>How It Works:</a:t>
            </a:r>
          </a:p>
          <a:p>
            <a:pPr algn="just"/>
            <a:r>
              <a:rPr lang="en-US" sz="2000" dirty="0"/>
              <a:t>Each site connects to the Frame Relay network using a router.</a:t>
            </a:r>
          </a:p>
          <a:p>
            <a:pPr algn="just"/>
            <a:r>
              <a:rPr lang="en-US" sz="2000" dirty="0"/>
              <a:t>Inside the provider’s cloud, virtual connections called DLCIs (Data Link Connection Identifiers) link the sites together.</a:t>
            </a:r>
          </a:p>
          <a:p>
            <a:pPr algn="just"/>
            <a:r>
              <a:rPr lang="en-US" sz="2000" dirty="0"/>
              <a:t>Data is sent in small units called frames (hence the name Frame Relay).  </a:t>
            </a:r>
          </a:p>
          <a:p>
            <a:pPr algn="just"/>
            <a:r>
              <a:rPr lang="en-US" sz="2000" dirty="0"/>
              <a:t>Cost: expensive</a:t>
            </a:r>
            <a:endParaRPr lang="en-IN" sz="2000" dirty="0"/>
          </a:p>
        </p:txBody>
      </p:sp>
      <p:pic>
        <p:nvPicPr>
          <p:cNvPr id="11" name="Picture 10">
            <a:extLst>
              <a:ext uri="{FF2B5EF4-FFF2-40B4-BE49-F238E27FC236}">
                <a16:creationId xmlns:a16="http://schemas.microsoft.com/office/drawing/2014/main" id="{1298874B-6086-BAB5-8FC1-DAD41962A73C}"/>
              </a:ext>
            </a:extLst>
          </p:cNvPr>
          <p:cNvPicPr>
            <a:picLocks noChangeAspect="1"/>
          </p:cNvPicPr>
          <p:nvPr/>
        </p:nvPicPr>
        <p:blipFill>
          <a:blip r:embed="rId2"/>
          <a:stretch>
            <a:fillRect/>
          </a:stretch>
        </p:blipFill>
        <p:spPr>
          <a:xfrm>
            <a:off x="178801" y="5381384"/>
            <a:ext cx="3250199" cy="2382783"/>
          </a:xfrm>
          <a:prstGeom prst="rect">
            <a:avLst/>
          </a:prstGeom>
        </p:spPr>
      </p:pic>
      <p:sp>
        <p:nvSpPr>
          <p:cNvPr id="12" name="TextBox 11">
            <a:extLst>
              <a:ext uri="{FF2B5EF4-FFF2-40B4-BE49-F238E27FC236}">
                <a16:creationId xmlns:a16="http://schemas.microsoft.com/office/drawing/2014/main" id="{0A67499B-BA7B-D2D8-152C-B3B74DA41DA1}"/>
              </a:ext>
            </a:extLst>
          </p:cNvPr>
          <p:cNvSpPr txBox="1"/>
          <p:nvPr/>
        </p:nvSpPr>
        <p:spPr>
          <a:xfrm>
            <a:off x="3429000" y="4987726"/>
            <a:ext cx="3429000" cy="3170099"/>
          </a:xfrm>
          <a:prstGeom prst="rect">
            <a:avLst/>
          </a:prstGeom>
          <a:noFill/>
        </p:spPr>
        <p:txBody>
          <a:bodyPr wrap="square" rtlCol="0">
            <a:spAutoFit/>
          </a:bodyPr>
          <a:lstStyle/>
          <a:p>
            <a:r>
              <a:rPr lang="en-US" sz="2000" dirty="0"/>
              <a:t>A company has three offices — Delhi, Mumbai, and Chennai.</a:t>
            </a:r>
            <a:br>
              <a:rPr lang="en-US" sz="2000" dirty="0"/>
            </a:br>
            <a:r>
              <a:rPr lang="en-US" sz="2000" dirty="0"/>
              <a:t>Each office connects to the service provider’s Frame Relay network through one physical</a:t>
            </a:r>
            <a:br>
              <a:rPr lang="en-US" sz="2000" dirty="0"/>
            </a:br>
            <a:r>
              <a:rPr lang="en-US" sz="2000" dirty="0"/>
              <a:t>line.</a:t>
            </a:r>
            <a:br>
              <a:rPr lang="en-US" sz="2000" dirty="0"/>
            </a:br>
            <a:r>
              <a:rPr lang="en-US" sz="2000" dirty="0"/>
              <a:t>Inside the provider’s network, virtual circuits are created between each office, so they can exchange data efficiently.</a:t>
            </a:r>
            <a:endParaRPr lang="en-IN" sz="2000" dirty="0"/>
          </a:p>
        </p:txBody>
      </p:sp>
    </p:spTree>
    <p:extLst>
      <p:ext uri="{BB962C8B-B14F-4D97-AF65-F5344CB8AC3E}">
        <p14:creationId xmlns:p14="http://schemas.microsoft.com/office/powerpoint/2010/main" val="2030318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91563-D72F-0A16-812A-B2A4CFBF03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8DDDDD7-7EA8-13F8-6C5F-14A58F146A2F}"/>
              </a:ext>
            </a:extLst>
          </p:cNvPr>
          <p:cNvSpPr txBox="1"/>
          <p:nvPr/>
        </p:nvSpPr>
        <p:spPr>
          <a:xfrm>
            <a:off x="0" y="94079"/>
            <a:ext cx="6858000" cy="4524315"/>
          </a:xfrm>
          <a:prstGeom prst="rect">
            <a:avLst/>
          </a:prstGeom>
          <a:noFill/>
        </p:spPr>
        <p:txBody>
          <a:bodyPr wrap="square" rtlCol="0">
            <a:spAutoFit/>
          </a:bodyPr>
          <a:lstStyle/>
          <a:p>
            <a:r>
              <a:rPr lang="en-US" sz="2400" b="1" dirty="0">
                <a:solidFill>
                  <a:schemeClr val="accent1"/>
                </a:solidFill>
              </a:rPr>
              <a:t>3. MPLS:</a:t>
            </a:r>
          </a:p>
          <a:p>
            <a:r>
              <a:rPr lang="en-US" sz="2200" b="1" dirty="0"/>
              <a:t>What is MPLS</a:t>
            </a:r>
          </a:p>
          <a:p>
            <a:pPr algn="just"/>
            <a:r>
              <a:rPr lang="en-US" sz="2000" dirty="0"/>
              <a:t>MPLS is a high-speed, reliable WAN technology that sends data using labels instead of IP addresses.</a:t>
            </a:r>
            <a:br>
              <a:rPr lang="en-US" sz="2000" dirty="0"/>
            </a:br>
            <a:r>
              <a:rPr lang="en-US" sz="2000" dirty="0"/>
              <a:t>It helps route packets faster and more efficiently through a service provider’s network — like express lanes on a highway for your data.</a:t>
            </a:r>
          </a:p>
          <a:p>
            <a:pPr algn="just"/>
            <a:r>
              <a:rPr lang="en-US" sz="2200" b="1" dirty="0"/>
              <a:t>How It Works:</a:t>
            </a:r>
          </a:p>
          <a:p>
            <a:pPr algn="just"/>
            <a:r>
              <a:rPr lang="en-US" sz="2000" dirty="0"/>
              <a:t>When data enters the MPLS network, it gets a label (a short number).</a:t>
            </a:r>
          </a:p>
          <a:p>
            <a:pPr algn="just"/>
            <a:r>
              <a:rPr lang="en-US" sz="2000" dirty="0">
                <a:highlight>
                  <a:srgbClr val="FFFF00"/>
                </a:highlight>
              </a:rPr>
              <a:t>Routers in the provider’s network use this label </a:t>
            </a:r>
            <a:r>
              <a:rPr lang="en-US" sz="2000" dirty="0"/>
              <a:t>to forward data quickly — they don’t need to check the IP address every time.</a:t>
            </a:r>
          </a:p>
          <a:p>
            <a:pPr algn="just"/>
            <a:r>
              <a:rPr lang="en-US" sz="2000" dirty="0"/>
              <a:t>This creates label-switched paths (LSPs) — fixed routes that ensure speed and reliability. </a:t>
            </a:r>
            <a:endParaRPr lang="en-IN" sz="2000" dirty="0"/>
          </a:p>
        </p:txBody>
      </p:sp>
      <p:sp>
        <p:nvSpPr>
          <p:cNvPr id="12" name="TextBox 11">
            <a:extLst>
              <a:ext uri="{FF2B5EF4-FFF2-40B4-BE49-F238E27FC236}">
                <a16:creationId xmlns:a16="http://schemas.microsoft.com/office/drawing/2014/main" id="{40330EC9-E618-0AB3-6A3E-EA24D4507909}"/>
              </a:ext>
            </a:extLst>
          </p:cNvPr>
          <p:cNvSpPr txBox="1"/>
          <p:nvPr/>
        </p:nvSpPr>
        <p:spPr>
          <a:xfrm>
            <a:off x="3429000" y="4987726"/>
            <a:ext cx="3429000" cy="3170099"/>
          </a:xfrm>
          <a:prstGeom prst="rect">
            <a:avLst/>
          </a:prstGeom>
          <a:noFill/>
        </p:spPr>
        <p:txBody>
          <a:bodyPr wrap="square" rtlCol="0">
            <a:spAutoFit/>
          </a:bodyPr>
          <a:lstStyle/>
          <a:p>
            <a:r>
              <a:rPr lang="en-US" sz="2000" dirty="0"/>
              <a:t>A company has offices in Delhi, Mumbai, and Bangalore.</a:t>
            </a:r>
          </a:p>
          <a:p>
            <a:r>
              <a:rPr lang="en-US" sz="2000" dirty="0"/>
              <a:t>Each office connects to the service provider’s MPLS cloud.</a:t>
            </a:r>
          </a:p>
          <a:p>
            <a:r>
              <a:rPr lang="en-US" sz="2000" dirty="0"/>
              <a:t>When data travels from Delhi to Mumbai, it follows a label-switched path inside the MPLS network — providing QoS (Quality of Service) for voice, video, or critical applications.</a:t>
            </a:r>
            <a:endParaRPr lang="en-IN" sz="2000" dirty="0"/>
          </a:p>
        </p:txBody>
      </p:sp>
      <p:pic>
        <p:nvPicPr>
          <p:cNvPr id="3" name="Picture 2">
            <a:extLst>
              <a:ext uri="{FF2B5EF4-FFF2-40B4-BE49-F238E27FC236}">
                <a16:creationId xmlns:a16="http://schemas.microsoft.com/office/drawing/2014/main" id="{24737B88-54FF-55DB-BDF1-5651E4A4AD1F}"/>
              </a:ext>
            </a:extLst>
          </p:cNvPr>
          <p:cNvPicPr>
            <a:picLocks noChangeAspect="1"/>
          </p:cNvPicPr>
          <p:nvPr/>
        </p:nvPicPr>
        <p:blipFill>
          <a:blip r:embed="rId2"/>
          <a:stretch>
            <a:fillRect/>
          </a:stretch>
        </p:blipFill>
        <p:spPr>
          <a:xfrm>
            <a:off x="370456" y="5192276"/>
            <a:ext cx="2724530" cy="2314898"/>
          </a:xfrm>
          <a:prstGeom prst="rect">
            <a:avLst/>
          </a:prstGeom>
        </p:spPr>
      </p:pic>
    </p:spTree>
    <p:extLst>
      <p:ext uri="{BB962C8B-B14F-4D97-AF65-F5344CB8AC3E}">
        <p14:creationId xmlns:p14="http://schemas.microsoft.com/office/powerpoint/2010/main" val="968545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4A06A-C126-106F-51D4-A8D0474C879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471A7E3-E9D7-7430-072E-04C6978AA942}"/>
              </a:ext>
            </a:extLst>
          </p:cNvPr>
          <p:cNvSpPr txBox="1"/>
          <p:nvPr/>
        </p:nvSpPr>
        <p:spPr>
          <a:xfrm>
            <a:off x="0" y="94079"/>
            <a:ext cx="6858000" cy="7294305"/>
          </a:xfrm>
          <a:prstGeom prst="rect">
            <a:avLst/>
          </a:prstGeom>
          <a:noFill/>
        </p:spPr>
        <p:txBody>
          <a:bodyPr wrap="square" rtlCol="0">
            <a:spAutoFit/>
          </a:bodyPr>
          <a:lstStyle/>
          <a:p>
            <a:r>
              <a:rPr lang="en-US" sz="2400" b="1" dirty="0">
                <a:solidFill>
                  <a:schemeClr val="accent1"/>
                </a:solidFill>
              </a:rPr>
              <a:t>4. INTERNET: 18:02</a:t>
            </a:r>
          </a:p>
          <a:p>
            <a:r>
              <a:rPr lang="en-US" sz="2200" b="1" dirty="0"/>
              <a:t>What is INTERNET</a:t>
            </a:r>
          </a:p>
          <a:p>
            <a:pPr algn="just"/>
            <a:r>
              <a:rPr lang="en-US" sz="2000" dirty="0"/>
              <a:t>When branches use the </a:t>
            </a:r>
            <a:r>
              <a:rPr lang="en-US" sz="2000" b="1" dirty="0"/>
              <a:t>internet without SD-WAN or VLAN</a:t>
            </a:r>
            <a:r>
              <a:rPr lang="en-US" sz="2000" dirty="0"/>
              <a:t>, it means each branch uses the </a:t>
            </a:r>
            <a:r>
              <a:rPr lang="en-US" sz="2000" b="1" dirty="0"/>
              <a:t>normal public internet</a:t>
            </a:r>
            <a:r>
              <a:rPr lang="en-US" sz="2000" dirty="0"/>
              <a:t> connection — just like your home Wi-Fi — to access </a:t>
            </a:r>
            <a:r>
              <a:rPr lang="en-US" sz="2000" b="1" dirty="0"/>
              <a:t>online services</a:t>
            </a:r>
            <a:r>
              <a:rPr lang="en-US" sz="2000" dirty="0"/>
              <a:t>, but </a:t>
            </a:r>
            <a:r>
              <a:rPr lang="en-US" sz="2000" b="1" dirty="0"/>
              <a:t>not to connect directly to each other’s local networks</a:t>
            </a:r>
            <a:r>
              <a:rPr lang="en-US" sz="2000" dirty="0"/>
              <a:t>. </a:t>
            </a:r>
          </a:p>
          <a:p>
            <a:pPr algn="just"/>
            <a:r>
              <a:rPr lang="en-US" sz="2200" b="1" dirty="0"/>
              <a:t>How It Works:</a:t>
            </a:r>
          </a:p>
          <a:p>
            <a:pPr algn="just"/>
            <a:r>
              <a:rPr lang="en-US" sz="2000" dirty="0">
                <a:sym typeface="Wingdings" panose="05000000000000000000" pitchFamily="2" charset="2"/>
              </a:rPr>
              <a:t> </a:t>
            </a:r>
            <a:r>
              <a:rPr lang="en-US" sz="2000" dirty="0"/>
              <a:t>Each Branch Has Its Own ISP Connection</a:t>
            </a:r>
          </a:p>
          <a:p>
            <a:pPr algn="just"/>
            <a:r>
              <a:rPr lang="en-US" sz="2000" dirty="0"/>
              <a:t>Every branch (like Delhi, Mumbai, Chennai) buys an internet connection from a local ISP (Internet Service Provider)</a:t>
            </a:r>
          </a:p>
          <a:p>
            <a:pPr algn="just"/>
            <a:r>
              <a:rPr lang="en-US" sz="2000" dirty="0"/>
              <a:t>Example: Airtel in Delhi, Jio in Mumbai.</a:t>
            </a:r>
          </a:p>
          <a:p>
            <a:pPr algn="just"/>
            <a:r>
              <a:rPr lang="en-US" sz="2000" dirty="0">
                <a:sym typeface="Wingdings" panose="05000000000000000000" pitchFamily="2" charset="2"/>
              </a:rPr>
              <a:t> </a:t>
            </a:r>
            <a:r>
              <a:rPr lang="en-US" sz="2000" dirty="0"/>
              <a:t>Access Cloud Services or Websites</a:t>
            </a:r>
          </a:p>
          <a:p>
            <a:pPr algn="just"/>
            <a:r>
              <a:rPr lang="en-US" sz="2000" dirty="0"/>
              <a:t>Employees in each branch use the internet to access email, cloud storage (like Google Drive), CRM systems, or company websites.</a:t>
            </a:r>
          </a:p>
          <a:p>
            <a:pPr algn="just"/>
            <a:r>
              <a:rPr lang="en-US" sz="2000" dirty="0"/>
              <a:t>These services are hosted on the internet, so every branch can use them without needing a private link.</a:t>
            </a:r>
          </a:p>
          <a:p>
            <a:pPr algn="just"/>
            <a:r>
              <a:rPr lang="en-US" sz="2000" dirty="0">
                <a:sym typeface="Wingdings" panose="05000000000000000000" pitchFamily="2" charset="2"/>
              </a:rPr>
              <a:t> </a:t>
            </a:r>
            <a:r>
              <a:rPr lang="en-US" sz="2000" dirty="0"/>
              <a:t>Communication Through Online Platforms</a:t>
            </a:r>
          </a:p>
          <a:p>
            <a:pPr algn="just"/>
            <a:r>
              <a:rPr lang="en-US" sz="2000" dirty="0"/>
              <a:t>Branch employees communicate using Zoom, Google Meet, or Teams, which all work over the public internet.</a:t>
            </a:r>
          </a:p>
          <a:p>
            <a:pPr algn="just"/>
            <a:r>
              <a:rPr lang="en-US" sz="2000" dirty="0">
                <a:sym typeface="Wingdings" panose="05000000000000000000" pitchFamily="2" charset="2"/>
              </a:rPr>
              <a:t> </a:t>
            </a:r>
            <a:r>
              <a:rPr lang="en-US" sz="2000" dirty="0"/>
              <a:t>No Direct LAN-to-LAN Connection</a:t>
            </a:r>
          </a:p>
          <a:p>
            <a:pPr algn="just"/>
            <a:r>
              <a:rPr lang="en-US" sz="2000" dirty="0"/>
              <a:t>Branches cannot access each other’s local files or printers because there’s </a:t>
            </a:r>
            <a:r>
              <a:rPr lang="en-US" sz="2000" dirty="0">
                <a:highlight>
                  <a:srgbClr val="FFFF00"/>
                </a:highlight>
              </a:rPr>
              <a:t>no VPN or VLAN connecting them privately.</a:t>
            </a:r>
            <a:endParaRPr lang="en-IN" sz="2000" dirty="0">
              <a:highlight>
                <a:srgbClr val="FFFF00"/>
              </a:highlight>
            </a:endParaRPr>
          </a:p>
        </p:txBody>
      </p:sp>
    </p:spTree>
    <p:extLst>
      <p:ext uri="{BB962C8B-B14F-4D97-AF65-F5344CB8AC3E}">
        <p14:creationId xmlns:p14="http://schemas.microsoft.com/office/powerpoint/2010/main" val="2515047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6D7D8-632D-2BFC-CE61-84D6F05CCF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B0E5A8-2281-44F9-286A-A33EF14C985A}"/>
              </a:ext>
            </a:extLst>
          </p:cNvPr>
          <p:cNvSpPr txBox="1"/>
          <p:nvPr/>
        </p:nvSpPr>
        <p:spPr>
          <a:xfrm>
            <a:off x="0" y="94079"/>
            <a:ext cx="6858000" cy="4216539"/>
          </a:xfrm>
          <a:prstGeom prst="rect">
            <a:avLst/>
          </a:prstGeom>
          <a:noFill/>
        </p:spPr>
        <p:txBody>
          <a:bodyPr wrap="square" rtlCol="0">
            <a:spAutoFit/>
          </a:bodyPr>
          <a:lstStyle/>
          <a:p>
            <a:r>
              <a:rPr lang="en-US" sz="2400" b="1" dirty="0">
                <a:solidFill>
                  <a:schemeClr val="accent1"/>
                </a:solidFill>
              </a:rPr>
              <a:t>5. GRE (traffic forwarded based routing table)</a:t>
            </a:r>
          </a:p>
          <a:p>
            <a:r>
              <a:rPr lang="en-US" sz="2200" b="1" dirty="0"/>
              <a:t>What is INTERNET</a:t>
            </a:r>
          </a:p>
          <a:p>
            <a:r>
              <a:rPr lang="en-US" sz="2000" dirty="0"/>
              <a:t>GRE is a tunneling protocol that allows you to encapsulate one network protocol inside another. It is commonly used to connect two networks over the internet or WAN, making them appear as if they are directly connected, even if the connection goes over a public network.</a:t>
            </a:r>
          </a:p>
          <a:p>
            <a:pPr algn="just"/>
            <a:r>
              <a:rPr lang="en-US" sz="2200" b="1" dirty="0"/>
              <a:t>How It Works:</a:t>
            </a:r>
          </a:p>
          <a:p>
            <a:r>
              <a:rPr lang="en-US" sz="2000" dirty="0"/>
              <a:t>GRE creates a “tunnel” between two routers. Packets from one network are wrapped (encapsulated) in GRE and sent through the tunnel. At the other end, the packets are unwrapped and delivered to the destination network. Works with any Layer 3 protocol (not just IP).</a:t>
            </a:r>
          </a:p>
        </p:txBody>
      </p:sp>
      <p:sp>
        <p:nvSpPr>
          <p:cNvPr id="12" name="TextBox 11">
            <a:extLst>
              <a:ext uri="{FF2B5EF4-FFF2-40B4-BE49-F238E27FC236}">
                <a16:creationId xmlns:a16="http://schemas.microsoft.com/office/drawing/2014/main" id="{684A3E8A-9C24-D418-B457-F7B543C37FA6}"/>
              </a:ext>
            </a:extLst>
          </p:cNvPr>
          <p:cNvSpPr txBox="1"/>
          <p:nvPr/>
        </p:nvSpPr>
        <p:spPr>
          <a:xfrm>
            <a:off x="2902226" y="4708602"/>
            <a:ext cx="3770243" cy="4093428"/>
          </a:xfrm>
          <a:prstGeom prst="rect">
            <a:avLst/>
          </a:prstGeom>
          <a:noFill/>
        </p:spPr>
        <p:txBody>
          <a:bodyPr wrap="square" rtlCol="0">
            <a:spAutoFit/>
          </a:bodyPr>
          <a:lstStyle/>
          <a:p>
            <a:pPr algn="just"/>
            <a:r>
              <a:rPr lang="en-US" sz="2000" dirty="0"/>
              <a:t>A company has offices in Delhi and Mumbai, and both offices are connected to the internet. A GRE tunnel is established between the routers at the Delhi and Mumbai offices. This tunnel makes it appear as if the two offices are directly connected, allowing employees to access internal servers and resources securely over the tunnel, even though the data travels through the public internet.</a:t>
            </a:r>
            <a:endParaRPr lang="en-IN" sz="2000" dirty="0"/>
          </a:p>
        </p:txBody>
      </p:sp>
      <p:pic>
        <p:nvPicPr>
          <p:cNvPr id="5" name="Picture 4">
            <a:extLst>
              <a:ext uri="{FF2B5EF4-FFF2-40B4-BE49-F238E27FC236}">
                <a16:creationId xmlns:a16="http://schemas.microsoft.com/office/drawing/2014/main" id="{9BF6F1C9-86EC-97A9-25CA-8F6277761E24}"/>
              </a:ext>
            </a:extLst>
          </p:cNvPr>
          <p:cNvPicPr>
            <a:picLocks noChangeAspect="1"/>
          </p:cNvPicPr>
          <p:nvPr/>
        </p:nvPicPr>
        <p:blipFill>
          <a:blip r:embed="rId2"/>
          <a:stretch>
            <a:fillRect/>
          </a:stretch>
        </p:blipFill>
        <p:spPr>
          <a:xfrm>
            <a:off x="313996" y="4584657"/>
            <a:ext cx="2336439" cy="3937092"/>
          </a:xfrm>
          <a:prstGeom prst="rect">
            <a:avLst/>
          </a:prstGeom>
        </p:spPr>
      </p:pic>
    </p:spTree>
    <p:extLst>
      <p:ext uri="{BB962C8B-B14F-4D97-AF65-F5344CB8AC3E}">
        <p14:creationId xmlns:p14="http://schemas.microsoft.com/office/powerpoint/2010/main" val="4021222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A1D50-EDE5-920F-891D-BE523AA2D77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B00620D-8BC5-3EF7-7689-0262B3DBD065}"/>
              </a:ext>
            </a:extLst>
          </p:cNvPr>
          <p:cNvSpPr txBox="1"/>
          <p:nvPr/>
        </p:nvSpPr>
        <p:spPr>
          <a:xfrm>
            <a:off x="0" y="94079"/>
            <a:ext cx="6858000" cy="4832092"/>
          </a:xfrm>
          <a:prstGeom prst="rect">
            <a:avLst/>
          </a:prstGeom>
          <a:noFill/>
        </p:spPr>
        <p:txBody>
          <a:bodyPr wrap="square" rtlCol="0">
            <a:spAutoFit/>
          </a:bodyPr>
          <a:lstStyle/>
          <a:p>
            <a:r>
              <a:rPr lang="en-US" sz="2400" b="1" dirty="0">
                <a:solidFill>
                  <a:schemeClr val="accent1"/>
                </a:solidFill>
              </a:rPr>
              <a:t>5. IPSEC  (ACL controls the tunnel traffic)</a:t>
            </a:r>
          </a:p>
          <a:p>
            <a:r>
              <a:rPr lang="en-US" sz="2200" b="1" dirty="0"/>
              <a:t>What is INTERNET</a:t>
            </a:r>
          </a:p>
          <a:p>
            <a:pPr algn="just"/>
            <a:r>
              <a:rPr lang="en-US" sz="2000" dirty="0"/>
              <a:t>IPSec is a security protocol used to encrypt and protect data sent over a network, especially over the internet or WAN.</a:t>
            </a:r>
            <a:br>
              <a:rPr lang="en-US" sz="2000" dirty="0"/>
            </a:br>
            <a:r>
              <a:rPr lang="en-US" sz="2000" dirty="0"/>
              <a:t>It ensures that data is confidential, authentic, and tamper-proof while traveling between two locations.</a:t>
            </a:r>
          </a:p>
          <a:p>
            <a:pPr algn="just"/>
            <a:r>
              <a:rPr lang="en-US" sz="2200" b="1" dirty="0"/>
              <a:t>How It Works:</a:t>
            </a:r>
          </a:p>
          <a:p>
            <a:r>
              <a:rPr lang="en-US" sz="2000" dirty="0"/>
              <a:t>IPSec creates a secure tunnel between two devices (usually routers or firewalls). All traffic passing through the tunnel is encrypted, so outsiders cannot read it.</a:t>
            </a:r>
          </a:p>
          <a:p>
            <a:endParaRPr lang="en-US" sz="2000" dirty="0"/>
          </a:p>
          <a:p>
            <a:r>
              <a:rPr lang="en-US" sz="2000" dirty="0"/>
              <a:t>It provides:</a:t>
            </a:r>
          </a:p>
          <a:p>
            <a:r>
              <a:rPr lang="en-US" sz="2000" b="1" dirty="0"/>
              <a:t>- </a:t>
            </a:r>
            <a:r>
              <a:rPr lang="en-US" sz="2000" dirty="0"/>
              <a:t>Encryption – keeps data private.</a:t>
            </a:r>
          </a:p>
          <a:p>
            <a:r>
              <a:rPr lang="en-US" sz="2000" b="1" dirty="0"/>
              <a:t>- </a:t>
            </a:r>
            <a:r>
              <a:rPr lang="en-US" sz="2000" dirty="0"/>
              <a:t>Authentication – ensures data comes from the correct source.</a:t>
            </a:r>
          </a:p>
          <a:p>
            <a:r>
              <a:rPr lang="en-US" sz="2000" b="1" dirty="0"/>
              <a:t>- </a:t>
            </a:r>
            <a:r>
              <a:rPr lang="en-US" sz="2000" dirty="0"/>
              <a:t>Integrity – ensures data isn’t changed in transit.</a:t>
            </a:r>
          </a:p>
        </p:txBody>
      </p:sp>
      <p:sp>
        <p:nvSpPr>
          <p:cNvPr id="12" name="TextBox 11">
            <a:extLst>
              <a:ext uri="{FF2B5EF4-FFF2-40B4-BE49-F238E27FC236}">
                <a16:creationId xmlns:a16="http://schemas.microsoft.com/office/drawing/2014/main" id="{5C8E590C-71FB-77EA-87C2-805010D031B9}"/>
              </a:ext>
            </a:extLst>
          </p:cNvPr>
          <p:cNvSpPr txBox="1"/>
          <p:nvPr/>
        </p:nvSpPr>
        <p:spPr>
          <a:xfrm>
            <a:off x="3244126" y="5063692"/>
            <a:ext cx="3429000" cy="3785652"/>
          </a:xfrm>
          <a:prstGeom prst="rect">
            <a:avLst/>
          </a:prstGeom>
          <a:noFill/>
        </p:spPr>
        <p:txBody>
          <a:bodyPr wrap="square" rtlCol="0">
            <a:spAutoFit/>
          </a:bodyPr>
          <a:lstStyle/>
          <a:p>
            <a:pPr algn="just"/>
            <a:r>
              <a:rPr lang="en-US" sz="2000" dirty="0"/>
              <a:t>A company has offices in Delhi and Mumbai, and both offices are connected to the internet. An IPSec VPN tunnel is established between the routers at the Delhi and Mumbai offices. All data traveling through this tunnel is encrypted, allowing employees to securely access internal servers and resources over the public internet.</a:t>
            </a:r>
            <a:endParaRPr lang="en-IN" sz="2000" dirty="0"/>
          </a:p>
        </p:txBody>
      </p:sp>
      <p:pic>
        <p:nvPicPr>
          <p:cNvPr id="6" name="Picture 5">
            <a:extLst>
              <a:ext uri="{FF2B5EF4-FFF2-40B4-BE49-F238E27FC236}">
                <a16:creationId xmlns:a16="http://schemas.microsoft.com/office/drawing/2014/main" id="{3F3E25DE-507B-0D40-BDCE-E217B7306B7D}"/>
              </a:ext>
            </a:extLst>
          </p:cNvPr>
          <p:cNvPicPr>
            <a:picLocks noChangeAspect="1"/>
          </p:cNvPicPr>
          <p:nvPr/>
        </p:nvPicPr>
        <p:blipFill>
          <a:blip r:embed="rId2"/>
          <a:stretch>
            <a:fillRect/>
          </a:stretch>
        </p:blipFill>
        <p:spPr>
          <a:xfrm>
            <a:off x="227603" y="5153351"/>
            <a:ext cx="3049653" cy="3606335"/>
          </a:xfrm>
          <a:prstGeom prst="rect">
            <a:avLst/>
          </a:prstGeom>
        </p:spPr>
      </p:pic>
    </p:spTree>
    <p:extLst>
      <p:ext uri="{BB962C8B-B14F-4D97-AF65-F5344CB8AC3E}">
        <p14:creationId xmlns:p14="http://schemas.microsoft.com/office/powerpoint/2010/main" val="1787881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93C1E-984A-736F-A05B-41E781D74E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90A86-6F8B-5AF0-472B-B30E9B7376CF}"/>
              </a:ext>
            </a:extLst>
          </p:cNvPr>
          <p:cNvSpPr>
            <a:spLocks noGrp="1"/>
          </p:cNvSpPr>
          <p:nvPr>
            <p:ph type="ctrTitle"/>
          </p:nvPr>
        </p:nvSpPr>
        <p:spPr>
          <a:xfrm>
            <a:off x="0" y="0"/>
            <a:ext cx="6858000" cy="1378226"/>
          </a:xfrm>
          <a:solidFill>
            <a:schemeClr val="accent2"/>
          </a:solidFill>
        </p:spPr>
        <p:txBody>
          <a:bodyPr>
            <a:normAutofit/>
          </a:bodyPr>
          <a:lstStyle/>
          <a:p>
            <a:r>
              <a:rPr lang="en-US" b="1" dirty="0">
                <a:solidFill>
                  <a:schemeClr val="bg1"/>
                </a:solidFill>
              </a:rPr>
              <a:t>3-Design Of An Enterprise network</a:t>
            </a:r>
            <a:endParaRPr lang="en-IN" b="1" dirty="0">
              <a:solidFill>
                <a:schemeClr val="bg1"/>
              </a:solidFill>
            </a:endParaRPr>
          </a:p>
        </p:txBody>
      </p:sp>
      <p:sp>
        <p:nvSpPr>
          <p:cNvPr id="12" name="TextBox 11">
            <a:extLst>
              <a:ext uri="{FF2B5EF4-FFF2-40B4-BE49-F238E27FC236}">
                <a16:creationId xmlns:a16="http://schemas.microsoft.com/office/drawing/2014/main" id="{54126401-BC0B-C8B8-D657-F530B9D65252}"/>
              </a:ext>
            </a:extLst>
          </p:cNvPr>
          <p:cNvSpPr txBox="1"/>
          <p:nvPr/>
        </p:nvSpPr>
        <p:spPr>
          <a:xfrm>
            <a:off x="0" y="1470991"/>
            <a:ext cx="6758609" cy="1569660"/>
          </a:xfrm>
          <a:prstGeom prst="rect">
            <a:avLst/>
          </a:prstGeom>
          <a:noFill/>
        </p:spPr>
        <p:txBody>
          <a:bodyPr wrap="square" rtlCol="0">
            <a:spAutoFit/>
          </a:bodyPr>
          <a:lstStyle/>
          <a:p>
            <a:r>
              <a:rPr lang="en-US" sz="2400" b="1" dirty="0">
                <a:solidFill>
                  <a:schemeClr val="accent1"/>
                </a:solidFill>
              </a:rPr>
              <a:t>What is Datacenter?</a:t>
            </a:r>
          </a:p>
          <a:p>
            <a:r>
              <a:rPr lang="en-US" dirty="0"/>
              <a:t>A Data Center is a special facility where a large number of servers, storage systems, and networking equipment are kept together to store, manage, and process data for organizations or online services.</a:t>
            </a:r>
            <a:endParaRPr lang="en-IN" dirty="0"/>
          </a:p>
          <a:p>
            <a:endParaRPr lang="en-IN" dirty="0"/>
          </a:p>
        </p:txBody>
      </p:sp>
      <p:sp>
        <p:nvSpPr>
          <p:cNvPr id="15" name="TextBox 14">
            <a:extLst>
              <a:ext uri="{FF2B5EF4-FFF2-40B4-BE49-F238E27FC236}">
                <a16:creationId xmlns:a16="http://schemas.microsoft.com/office/drawing/2014/main" id="{3796F454-B720-9702-5E9B-C5D590C7C0E6}"/>
              </a:ext>
            </a:extLst>
          </p:cNvPr>
          <p:cNvSpPr txBox="1"/>
          <p:nvPr/>
        </p:nvSpPr>
        <p:spPr>
          <a:xfrm>
            <a:off x="2093843" y="6970643"/>
            <a:ext cx="3286540" cy="369332"/>
          </a:xfrm>
          <a:prstGeom prst="rect">
            <a:avLst/>
          </a:prstGeom>
          <a:noFill/>
        </p:spPr>
        <p:txBody>
          <a:bodyPr wrap="square" rtlCol="0">
            <a:spAutoFit/>
          </a:bodyPr>
          <a:lstStyle/>
          <a:p>
            <a:r>
              <a:rPr lang="en-US" dirty="0"/>
              <a:t>1000-typical enterprise design</a:t>
            </a:r>
            <a:endParaRPr lang="en-IN" dirty="0"/>
          </a:p>
        </p:txBody>
      </p:sp>
      <p:pic>
        <p:nvPicPr>
          <p:cNvPr id="17" name="Picture 16">
            <a:extLst>
              <a:ext uri="{FF2B5EF4-FFF2-40B4-BE49-F238E27FC236}">
                <a16:creationId xmlns:a16="http://schemas.microsoft.com/office/drawing/2014/main" id="{24FD361D-280C-9207-AB65-E9331E2392C1}"/>
              </a:ext>
            </a:extLst>
          </p:cNvPr>
          <p:cNvPicPr>
            <a:picLocks noChangeAspect="1"/>
          </p:cNvPicPr>
          <p:nvPr/>
        </p:nvPicPr>
        <p:blipFill>
          <a:blip r:embed="rId2"/>
          <a:stretch>
            <a:fillRect/>
          </a:stretch>
        </p:blipFill>
        <p:spPr>
          <a:xfrm>
            <a:off x="349330" y="3040651"/>
            <a:ext cx="6159339" cy="3698077"/>
          </a:xfrm>
          <a:prstGeom prst="rect">
            <a:avLst/>
          </a:prstGeom>
        </p:spPr>
      </p:pic>
      <p:sp>
        <p:nvSpPr>
          <p:cNvPr id="18" name="TextBox 17">
            <a:extLst>
              <a:ext uri="{FF2B5EF4-FFF2-40B4-BE49-F238E27FC236}">
                <a16:creationId xmlns:a16="http://schemas.microsoft.com/office/drawing/2014/main" id="{CBE19022-F2DF-85D4-8DB1-3895E8BC85C6}"/>
              </a:ext>
            </a:extLst>
          </p:cNvPr>
          <p:cNvSpPr txBox="1"/>
          <p:nvPr/>
        </p:nvSpPr>
        <p:spPr>
          <a:xfrm>
            <a:off x="349330" y="7387224"/>
            <a:ext cx="3644348" cy="369332"/>
          </a:xfrm>
          <a:prstGeom prst="rect">
            <a:avLst/>
          </a:prstGeom>
          <a:noFill/>
        </p:spPr>
        <p:txBody>
          <a:bodyPr wrap="square" rtlCol="0">
            <a:spAutoFit/>
          </a:bodyPr>
          <a:lstStyle/>
          <a:p>
            <a:r>
              <a:rPr lang="en-US" dirty="0"/>
              <a:t>3tier (Acc, </a:t>
            </a:r>
            <a:r>
              <a:rPr lang="en-US" dirty="0" err="1"/>
              <a:t>Dist</a:t>
            </a:r>
            <a:r>
              <a:rPr lang="en-US" dirty="0"/>
              <a:t>, Multi), VXLAN, ACI</a:t>
            </a:r>
            <a:endParaRPr lang="en-IN" dirty="0"/>
          </a:p>
        </p:txBody>
      </p:sp>
    </p:spTree>
    <p:extLst>
      <p:ext uri="{BB962C8B-B14F-4D97-AF65-F5344CB8AC3E}">
        <p14:creationId xmlns:p14="http://schemas.microsoft.com/office/powerpoint/2010/main" val="581319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6F5E3-9013-B150-0444-392714D246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0F23E-A95D-3FC5-CD27-645A7A567BFF}"/>
              </a:ext>
            </a:extLst>
          </p:cNvPr>
          <p:cNvSpPr>
            <a:spLocks noGrp="1"/>
          </p:cNvSpPr>
          <p:nvPr>
            <p:ph type="ctrTitle"/>
          </p:nvPr>
        </p:nvSpPr>
        <p:spPr>
          <a:xfrm>
            <a:off x="0" y="0"/>
            <a:ext cx="6858000" cy="1378226"/>
          </a:xfrm>
          <a:solidFill>
            <a:schemeClr val="accent2"/>
          </a:solidFill>
        </p:spPr>
        <p:txBody>
          <a:bodyPr>
            <a:normAutofit/>
          </a:bodyPr>
          <a:lstStyle/>
          <a:p>
            <a:r>
              <a:rPr lang="en-US" b="1" dirty="0">
                <a:solidFill>
                  <a:schemeClr val="bg1"/>
                </a:solidFill>
              </a:rPr>
              <a:t>Issues Of Traditional</a:t>
            </a:r>
            <a:br>
              <a:rPr lang="en-US" b="1" dirty="0">
                <a:solidFill>
                  <a:schemeClr val="bg1"/>
                </a:solidFill>
              </a:rPr>
            </a:br>
            <a:r>
              <a:rPr lang="en-US" b="1" dirty="0">
                <a:solidFill>
                  <a:schemeClr val="bg1"/>
                </a:solidFill>
              </a:rPr>
              <a:t>Enterprise network (WAN)</a:t>
            </a:r>
            <a:endParaRPr lang="en-IN" b="1" dirty="0">
              <a:solidFill>
                <a:schemeClr val="bg1"/>
              </a:solidFill>
            </a:endParaRPr>
          </a:p>
        </p:txBody>
      </p:sp>
      <p:pic>
        <p:nvPicPr>
          <p:cNvPr id="6" name="Picture 5">
            <a:extLst>
              <a:ext uri="{FF2B5EF4-FFF2-40B4-BE49-F238E27FC236}">
                <a16:creationId xmlns:a16="http://schemas.microsoft.com/office/drawing/2014/main" id="{9BBCC204-5DF0-476E-236B-A7B521991426}"/>
              </a:ext>
            </a:extLst>
          </p:cNvPr>
          <p:cNvPicPr>
            <a:picLocks noChangeAspect="1"/>
          </p:cNvPicPr>
          <p:nvPr/>
        </p:nvPicPr>
        <p:blipFill>
          <a:blip r:embed="rId2"/>
          <a:stretch>
            <a:fillRect/>
          </a:stretch>
        </p:blipFill>
        <p:spPr>
          <a:xfrm>
            <a:off x="258417" y="1508594"/>
            <a:ext cx="6341165" cy="3413939"/>
          </a:xfrm>
          <a:prstGeom prst="rect">
            <a:avLst/>
          </a:prstGeom>
        </p:spPr>
      </p:pic>
      <p:sp>
        <p:nvSpPr>
          <p:cNvPr id="8" name="TextBox 7">
            <a:extLst>
              <a:ext uri="{FF2B5EF4-FFF2-40B4-BE49-F238E27FC236}">
                <a16:creationId xmlns:a16="http://schemas.microsoft.com/office/drawing/2014/main" id="{BED7A3D6-A692-B822-80FF-25886E3A026E}"/>
              </a:ext>
            </a:extLst>
          </p:cNvPr>
          <p:cNvSpPr txBox="1"/>
          <p:nvPr/>
        </p:nvSpPr>
        <p:spPr>
          <a:xfrm>
            <a:off x="1762539" y="4922533"/>
            <a:ext cx="4505739" cy="369332"/>
          </a:xfrm>
          <a:prstGeom prst="rect">
            <a:avLst/>
          </a:prstGeom>
          <a:noFill/>
        </p:spPr>
        <p:txBody>
          <a:bodyPr wrap="square" rtlCol="0">
            <a:spAutoFit/>
          </a:bodyPr>
          <a:lstStyle/>
          <a:p>
            <a:r>
              <a:rPr lang="en-US" dirty="0"/>
              <a:t>IWAN,  Performance routing</a:t>
            </a:r>
            <a:endParaRPr lang="en-IN" dirty="0"/>
          </a:p>
        </p:txBody>
      </p:sp>
    </p:spTree>
    <p:extLst>
      <p:ext uri="{BB962C8B-B14F-4D97-AF65-F5344CB8AC3E}">
        <p14:creationId xmlns:p14="http://schemas.microsoft.com/office/powerpoint/2010/main" val="1307179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48AD0-5E1C-9D7F-A9E6-90CB004489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E69606-82A8-AEFD-C56B-3B870877BA07}"/>
              </a:ext>
            </a:extLst>
          </p:cNvPr>
          <p:cNvSpPr>
            <a:spLocks noGrp="1"/>
          </p:cNvSpPr>
          <p:nvPr>
            <p:ph type="ctrTitle"/>
          </p:nvPr>
        </p:nvSpPr>
        <p:spPr>
          <a:xfrm>
            <a:off x="0" y="0"/>
            <a:ext cx="6858000" cy="1378226"/>
          </a:xfrm>
          <a:solidFill>
            <a:schemeClr val="accent2"/>
          </a:solidFill>
        </p:spPr>
        <p:txBody>
          <a:bodyPr>
            <a:normAutofit/>
          </a:bodyPr>
          <a:lstStyle/>
          <a:p>
            <a:r>
              <a:rPr lang="en-US" b="1" dirty="0">
                <a:solidFill>
                  <a:schemeClr val="bg1"/>
                </a:solidFill>
              </a:rPr>
              <a:t>Issues Of Traditional</a:t>
            </a:r>
            <a:br>
              <a:rPr lang="en-US" b="1" dirty="0">
                <a:solidFill>
                  <a:schemeClr val="bg1"/>
                </a:solidFill>
              </a:rPr>
            </a:br>
            <a:r>
              <a:rPr lang="en-US" b="1" dirty="0">
                <a:solidFill>
                  <a:schemeClr val="bg1"/>
                </a:solidFill>
              </a:rPr>
              <a:t>Enterprise network (WAN)</a:t>
            </a:r>
            <a:endParaRPr lang="en-IN" b="1" dirty="0">
              <a:solidFill>
                <a:schemeClr val="bg1"/>
              </a:solidFill>
            </a:endParaRPr>
          </a:p>
        </p:txBody>
      </p:sp>
      <p:sp>
        <p:nvSpPr>
          <p:cNvPr id="8" name="TextBox 7">
            <a:extLst>
              <a:ext uri="{FF2B5EF4-FFF2-40B4-BE49-F238E27FC236}">
                <a16:creationId xmlns:a16="http://schemas.microsoft.com/office/drawing/2014/main" id="{1561FAA6-75CF-5A4C-8964-350488F11A38}"/>
              </a:ext>
            </a:extLst>
          </p:cNvPr>
          <p:cNvSpPr txBox="1"/>
          <p:nvPr/>
        </p:nvSpPr>
        <p:spPr>
          <a:xfrm>
            <a:off x="357809" y="5611646"/>
            <a:ext cx="6082747" cy="369332"/>
          </a:xfrm>
          <a:prstGeom prst="rect">
            <a:avLst/>
          </a:prstGeom>
          <a:noFill/>
        </p:spPr>
        <p:txBody>
          <a:bodyPr wrap="square" rtlCol="0">
            <a:spAutoFit/>
          </a:bodyPr>
          <a:lstStyle/>
          <a:p>
            <a:r>
              <a:rPr lang="en-US" dirty="0"/>
              <a:t>BR1 and 2 data center, but br3 needs a </a:t>
            </a:r>
            <a:r>
              <a:rPr lang="en-US" dirty="0" err="1"/>
              <a:t>vpn</a:t>
            </a:r>
            <a:r>
              <a:rPr lang="en-US" dirty="0"/>
              <a:t> to go to data center</a:t>
            </a:r>
            <a:endParaRPr lang="en-IN" dirty="0"/>
          </a:p>
        </p:txBody>
      </p:sp>
      <p:pic>
        <p:nvPicPr>
          <p:cNvPr id="10" name="Picture 9">
            <a:extLst>
              <a:ext uri="{FF2B5EF4-FFF2-40B4-BE49-F238E27FC236}">
                <a16:creationId xmlns:a16="http://schemas.microsoft.com/office/drawing/2014/main" id="{4C01F442-72EA-CBD2-D4A2-0084E61537C7}"/>
              </a:ext>
            </a:extLst>
          </p:cNvPr>
          <p:cNvPicPr>
            <a:picLocks noChangeAspect="1"/>
          </p:cNvPicPr>
          <p:nvPr/>
        </p:nvPicPr>
        <p:blipFill>
          <a:blip r:embed="rId2"/>
          <a:stretch>
            <a:fillRect/>
          </a:stretch>
        </p:blipFill>
        <p:spPr>
          <a:xfrm>
            <a:off x="274982" y="1555616"/>
            <a:ext cx="6308035" cy="3604591"/>
          </a:xfrm>
          <a:prstGeom prst="rect">
            <a:avLst/>
          </a:prstGeom>
        </p:spPr>
      </p:pic>
    </p:spTree>
    <p:extLst>
      <p:ext uri="{BB962C8B-B14F-4D97-AF65-F5344CB8AC3E}">
        <p14:creationId xmlns:p14="http://schemas.microsoft.com/office/powerpoint/2010/main" val="35968869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D4676-D9F5-B624-513F-D38D94C29FF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39E562A-FCC8-82FA-BE59-254CEA5C0CF0}"/>
              </a:ext>
            </a:extLst>
          </p:cNvPr>
          <p:cNvSpPr txBox="1"/>
          <p:nvPr/>
        </p:nvSpPr>
        <p:spPr>
          <a:xfrm>
            <a:off x="0" y="825293"/>
            <a:ext cx="6758609" cy="2031325"/>
          </a:xfrm>
          <a:prstGeom prst="rect">
            <a:avLst/>
          </a:prstGeom>
          <a:noFill/>
        </p:spPr>
        <p:txBody>
          <a:bodyPr wrap="square" rtlCol="0">
            <a:spAutoFit/>
          </a:bodyPr>
          <a:lstStyle/>
          <a:p>
            <a:pPr marL="185738" indent="-185738">
              <a:buAutoNum type="arabicPeriod"/>
            </a:pPr>
            <a:r>
              <a:rPr lang="en-US" dirty="0"/>
              <a:t>  Delay (Latency)</a:t>
            </a:r>
          </a:p>
          <a:p>
            <a:pPr marL="265113" indent="-265113">
              <a:buAutoNum type="arabicPeriod"/>
            </a:pPr>
            <a:r>
              <a:rPr lang="en-US" dirty="0"/>
              <a:t> Jitter</a:t>
            </a:r>
          </a:p>
          <a:p>
            <a:pPr marL="265113" indent="-265113">
              <a:buAutoNum type="arabicPeriod"/>
            </a:pPr>
            <a:r>
              <a:rPr lang="en-US" dirty="0"/>
              <a:t> Packet  Loss</a:t>
            </a:r>
          </a:p>
          <a:p>
            <a:endParaRPr lang="en-US" dirty="0"/>
          </a:p>
          <a:p>
            <a:r>
              <a:rPr lang="en-US" dirty="0"/>
              <a:t>We need to feed something on smart devices and need someone to observe on this. </a:t>
            </a:r>
          </a:p>
          <a:p>
            <a:endParaRPr lang="en-IN" dirty="0"/>
          </a:p>
        </p:txBody>
      </p:sp>
      <p:pic>
        <p:nvPicPr>
          <p:cNvPr id="38" name="Picture 37">
            <a:extLst>
              <a:ext uri="{FF2B5EF4-FFF2-40B4-BE49-F238E27FC236}">
                <a16:creationId xmlns:a16="http://schemas.microsoft.com/office/drawing/2014/main" id="{7F6B2B7F-0CA2-EA3F-B8B6-BA19ED080643}"/>
              </a:ext>
            </a:extLst>
          </p:cNvPr>
          <p:cNvPicPr>
            <a:picLocks noChangeAspect="1"/>
          </p:cNvPicPr>
          <p:nvPr/>
        </p:nvPicPr>
        <p:blipFill>
          <a:blip r:embed="rId2"/>
          <a:stretch>
            <a:fillRect/>
          </a:stretch>
        </p:blipFill>
        <p:spPr>
          <a:xfrm>
            <a:off x="637306" y="6809240"/>
            <a:ext cx="5901439" cy="2145978"/>
          </a:xfrm>
          <a:prstGeom prst="rect">
            <a:avLst/>
          </a:prstGeom>
        </p:spPr>
      </p:pic>
      <p:pic>
        <p:nvPicPr>
          <p:cNvPr id="47" name="Picture 46">
            <a:extLst>
              <a:ext uri="{FF2B5EF4-FFF2-40B4-BE49-F238E27FC236}">
                <a16:creationId xmlns:a16="http://schemas.microsoft.com/office/drawing/2014/main" id="{424F8DC9-5C33-D079-1A82-9894CBB37EBC}"/>
              </a:ext>
            </a:extLst>
          </p:cNvPr>
          <p:cNvPicPr>
            <a:picLocks noChangeAspect="1"/>
          </p:cNvPicPr>
          <p:nvPr/>
        </p:nvPicPr>
        <p:blipFill>
          <a:blip r:embed="rId3"/>
          <a:stretch>
            <a:fillRect/>
          </a:stretch>
        </p:blipFill>
        <p:spPr>
          <a:xfrm>
            <a:off x="532225" y="2550660"/>
            <a:ext cx="5694158" cy="3731075"/>
          </a:xfrm>
          <a:prstGeom prst="rect">
            <a:avLst/>
          </a:prstGeom>
        </p:spPr>
      </p:pic>
      <p:sp>
        <p:nvSpPr>
          <p:cNvPr id="4" name="Title 3">
            <a:extLst>
              <a:ext uri="{FF2B5EF4-FFF2-40B4-BE49-F238E27FC236}">
                <a16:creationId xmlns:a16="http://schemas.microsoft.com/office/drawing/2014/main" id="{56279173-77CB-3516-D2F0-7A9F2062C46C}"/>
              </a:ext>
            </a:extLst>
          </p:cNvPr>
          <p:cNvSpPr>
            <a:spLocks noGrp="1"/>
          </p:cNvSpPr>
          <p:nvPr>
            <p:ph type="ctrTitle"/>
          </p:nvPr>
        </p:nvSpPr>
        <p:spPr>
          <a:xfrm>
            <a:off x="0" y="1"/>
            <a:ext cx="6858000" cy="650350"/>
          </a:xfrm>
          <a:solidFill>
            <a:schemeClr val="accent2"/>
          </a:solidFill>
        </p:spPr>
        <p:txBody>
          <a:bodyPr>
            <a:normAutofit fontScale="90000"/>
          </a:bodyPr>
          <a:lstStyle/>
          <a:p>
            <a:r>
              <a:rPr lang="en-US" b="1" dirty="0">
                <a:solidFill>
                  <a:schemeClr val="bg1"/>
                </a:solidFill>
              </a:rPr>
              <a:t>SD-WAN INTRO</a:t>
            </a:r>
            <a:endParaRPr lang="en-IN" b="1" dirty="0">
              <a:solidFill>
                <a:schemeClr val="bg1"/>
              </a:solidFill>
            </a:endParaRPr>
          </a:p>
        </p:txBody>
      </p:sp>
    </p:spTree>
    <p:extLst>
      <p:ext uri="{BB962C8B-B14F-4D97-AF65-F5344CB8AC3E}">
        <p14:creationId xmlns:p14="http://schemas.microsoft.com/office/powerpoint/2010/main" val="327394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992AC-395D-629E-F295-89CBDEF90F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F3139-F690-64A6-2A7C-18BC84DCDB3D}"/>
              </a:ext>
            </a:extLst>
          </p:cNvPr>
          <p:cNvSpPr>
            <a:spLocks noGrp="1"/>
          </p:cNvSpPr>
          <p:nvPr>
            <p:ph type="ctrTitle"/>
          </p:nvPr>
        </p:nvSpPr>
        <p:spPr>
          <a:xfrm>
            <a:off x="0" y="0"/>
            <a:ext cx="6858000" cy="834887"/>
          </a:xfrm>
          <a:solidFill>
            <a:schemeClr val="accent2"/>
          </a:solidFill>
        </p:spPr>
        <p:txBody>
          <a:bodyPr>
            <a:normAutofit/>
          </a:bodyPr>
          <a:lstStyle/>
          <a:p>
            <a:r>
              <a:rPr lang="en-US" b="1" dirty="0">
                <a:solidFill>
                  <a:schemeClr val="bg1"/>
                </a:solidFill>
              </a:rPr>
              <a:t>SDWAN – D1 (INTRO – V </a:t>
            </a:r>
            <a:r>
              <a:rPr lang="en-US" b="1" dirty="0" err="1">
                <a:solidFill>
                  <a:schemeClr val="bg1"/>
                </a:solidFill>
              </a:rPr>
              <a:t>V</a:t>
            </a:r>
            <a:r>
              <a:rPr lang="en-US" b="1" dirty="0">
                <a:solidFill>
                  <a:schemeClr val="bg1"/>
                </a:solidFill>
              </a:rPr>
              <a:t> V)</a:t>
            </a:r>
            <a:endParaRPr lang="en-IN" b="1" dirty="0">
              <a:solidFill>
                <a:schemeClr val="bg1"/>
              </a:solidFill>
            </a:endParaRPr>
          </a:p>
        </p:txBody>
      </p:sp>
      <p:sp>
        <p:nvSpPr>
          <p:cNvPr id="8" name="TextBox 7">
            <a:extLst>
              <a:ext uri="{FF2B5EF4-FFF2-40B4-BE49-F238E27FC236}">
                <a16:creationId xmlns:a16="http://schemas.microsoft.com/office/drawing/2014/main" id="{58CCB091-16FC-8936-4A69-5BA2EAF0CE3B}"/>
              </a:ext>
            </a:extLst>
          </p:cNvPr>
          <p:cNvSpPr txBox="1"/>
          <p:nvPr/>
        </p:nvSpPr>
        <p:spPr>
          <a:xfrm>
            <a:off x="0" y="825293"/>
            <a:ext cx="6758609" cy="4647426"/>
          </a:xfrm>
          <a:prstGeom prst="rect">
            <a:avLst/>
          </a:prstGeom>
          <a:noFill/>
        </p:spPr>
        <p:txBody>
          <a:bodyPr wrap="square" rtlCol="0">
            <a:spAutoFit/>
          </a:bodyPr>
          <a:lstStyle/>
          <a:p>
            <a:r>
              <a:rPr lang="en-US" sz="2000" b="1" dirty="0">
                <a:solidFill>
                  <a:schemeClr val="accent1"/>
                </a:solidFill>
              </a:rPr>
              <a:t>TOPICS:</a:t>
            </a:r>
            <a:br>
              <a:rPr lang="en-US" sz="2000" dirty="0"/>
            </a:br>
            <a:r>
              <a:rPr lang="en-US" sz="2000" dirty="0"/>
              <a:t>1. SD-WAN solution is a big puzzle:</a:t>
            </a:r>
            <a:br>
              <a:rPr lang="en-US" sz="2000" dirty="0"/>
            </a:br>
            <a:r>
              <a:rPr lang="en-US" sz="2000" dirty="0"/>
              <a:t>• Control plane and Date plane. Can we separate them? Any Benefit?</a:t>
            </a:r>
            <a:br>
              <a:rPr lang="en-US" sz="2000" dirty="0"/>
            </a:br>
            <a:r>
              <a:rPr lang="en-US" sz="2000" dirty="0"/>
              <a:t>• concept of next-hop of a route </a:t>
            </a:r>
          </a:p>
          <a:p>
            <a:r>
              <a:rPr lang="en-US" sz="2000" dirty="0"/>
              <a:t>• Tunneling</a:t>
            </a:r>
          </a:p>
          <a:p>
            <a:endParaRPr lang="en-US" sz="2000" dirty="0"/>
          </a:p>
          <a:p>
            <a:r>
              <a:rPr lang="en-IN" sz="2000" dirty="0"/>
              <a:t>2. Let’s combine all the pieces together for a complete solution</a:t>
            </a:r>
          </a:p>
          <a:p>
            <a:r>
              <a:rPr lang="en-IN" sz="2000" dirty="0"/>
              <a:t>3. Looking slightly deeper into SD-WAN solution. Let’s introduce terms   </a:t>
            </a:r>
            <a:br>
              <a:rPr lang="en-IN" sz="2000" dirty="0"/>
            </a:br>
            <a:r>
              <a:rPr lang="en-IN" sz="2000" dirty="0"/>
              <a:t>    now.</a:t>
            </a:r>
          </a:p>
          <a:p>
            <a:r>
              <a:rPr lang="en-IN" sz="2000" dirty="0"/>
              <a:t>4. The orchestrator: VBOND</a:t>
            </a:r>
          </a:p>
          <a:p>
            <a:r>
              <a:rPr lang="en-IN" sz="2000" dirty="0"/>
              <a:t>5. Let’s talk about: </a:t>
            </a:r>
            <a:r>
              <a:rPr lang="en-IN" sz="2000" dirty="0" err="1"/>
              <a:t>Vmanage</a:t>
            </a:r>
            <a:endParaRPr lang="en-IN" sz="2000" dirty="0"/>
          </a:p>
          <a:p>
            <a:endParaRPr lang="en-IN" dirty="0"/>
          </a:p>
          <a:p>
            <a:endParaRPr lang="en-IN" dirty="0"/>
          </a:p>
        </p:txBody>
      </p:sp>
    </p:spTree>
    <p:extLst>
      <p:ext uri="{BB962C8B-B14F-4D97-AF65-F5344CB8AC3E}">
        <p14:creationId xmlns:p14="http://schemas.microsoft.com/office/powerpoint/2010/main" val="3094907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0E44F-56FF-AE29-5647-0CA58BA8C494}"/>
              </a:ext>
            </a:extLst>
          </p:cNvPr>
          <p:cNvSpPr>
            <a:spLocks noGrp="1"/>
          </p:cNvSpPr>
          <p:nvPr>
            <p:ph type="title"/>
          </p:nvPr>
        </p:nvSpPr>
        <p:spPr>
          <a:xfrm>
            <a:off x="246201" y="109883"/>
            <a:ext cx="6459399" cy="725004"/>
          </a:xfrm>
          <a:solidFill>
            <a:schemeClr val="accent2">
              <a:lumMod val="60000"/>
              <a:lumOff val="40000"/>
            </a:schemeClr>
          </a:solidFill>
        </p:spPr>
        <p:txBody>
          <a:bodyPr/>
          <a:lstStyle/>
          <a:p>
            <a:r>
              <a:rPr lang="en-US" dirty="0"/>
              <a:t>1. SD-WAN solution a big puzzle</a:t>
            </a:r>
            <a:endParaRPr lang="en-IN" dirty="0"/>
          </a:p>
        </p:txBody>
      </p:sp>
      <p:sp>
        <p:nvSpPr>
          <p:cNvPr id="3" name="Content Placeholder 2">
            <a:extLst>
              <a:ext uri="{FF2B5EF4-FFF2-40B4-BE49-F238E27FC236}">
                <a16:creationId xmlns:a16="http://schemas.microsoft.com/office/drawing/2014/main" id="{B5D9B2CB-5C8C-E13C-7CAD-AA9FA1573C95}"/>
              </a:ext>
            </a:extLst>
          </p:cNvPr>
          <p:cNvSpPr>
            <a:spLocks noGrp="1"/>
          </p:cNvSpPr>
          <p:nvPr>
            <p:ph idx="1"/>
          </p:nvPr>
        </p:nvSpPr>
        <p:spPr>
          <a:xfrm>
            <a:off x="1" y="940905"/>
            <a:ext cx="6858000" cy="3326296"/>
          </a:xfrm>
        </p:spPr>
        <p:txBody>
          <a:bodyPr/>
          <a:lstStyle/>
          <a:p>
            <a:pPr marL="0" indent="0">
              <a:buNone/>
            </a:pPr>
            <a:r>
              <a:rPr lang="en-US" b="1" dirty="0" err="1">
                <a:solidFill>
                  <a:schemeClr val="accent1"/>
                </a:solidFill>
              </a:rPr>
              <a:t>i</a:t>
            </a:r>
            <a:r>
              <a:rPr lang="en-US" b="1" dirty="0">
                <a:solidFill>
                  <a:schemeClr val="accent1"/>
                </a:solidFill>
              </a:rPr>
              <a:t>. CEF</a:t>
            </a:r>
            <a:r>
              <a:rPr lang="en-US" dirty="0">
                <a:solidFill>
                  <a:schemeClr val="accent1"/>
                </a:solidFill>
              </a:rPr>
              <a:t> </a:t>
            </a:r>
            <a:r>
              <a:rPr lang="en-US" dirty="0"/>
              <a:t>– Cisco Express Forwarding, FIB, LFIB</a:t>
            </a:r>
          </a:p>
          <a:p>
            <a:pPr marL="0" indent="0">
              <a:buNone/>
            </a:pPr>
            <a:r>
              <a:rPr lang="en-IN" b="1" dirty="0">
                <a:solidFill>
                  <a:schemeClr val="accent1"/>
                </a:solidFill>
              </a:rPr>
              <a:t>ii. Source Controller,</a:t>
            </a:r>
            <a:r>
              <a:rPr lang="en-IN" dirty="0"/>
              <a:t> other network devices (Router, Switch)</a:t>
            </a:r>
          </a:p>
          <a:p>
            <a:pPr marL="0" indent="0">
              <a:buNone/>
            </a:pPr>
            <a:r>
              <a:rPr lang="en-IN" dirty="0"/>
              <a:t>     Source Controller – handles all control information of </a:t>
            </a:r>
            <a:br>
              <a:rPr lang="en-IN" dirty="0"/>
            </a:br>
            <a:r>
              <a:rPr lang="en-IN" dirty="0"/>
              <a:t>     those routers.</a:t>
            </a:r>
            <a:br>
              <a:rPr lang="en-IN" dirty="0"/>
            </a:br>
            <a:r>
              <a:rPr lang="en-IN" dirty="0"/>
              <a:t>     Other devices – handles all data plane by themselves </a:t>
            </a:r>
            <a:br>
              <a:rPr lang="en-IN" dirty="0"/>
            </a:br>
            <a:r>
              <a:rPr lang="en-IN" dirty="0"/>
              <a:t>     after getting information from the Source controller </a:t>
            </a:r>
          </a:p>
          <a:p>
            <a:pPr marL="0" indent="0">
              <a:buNone/>
            </a:pPr>
            <a:r>
              <a:rPr lang="en-IN" dirty="0"/>
              <a:t>     How it works:</a:t>
            </a:r>
            <a:br>
              <a:rPr lang="en-IN" dirty="0"/>
            </a:br>
            <a:r>
              <a:rPr lang="en-IN" dirty="0"/>
              <a:t>     Each of the routers sends their routing table. Source   </a:t>
            </a:r>
            <a:br>
              <a:rPr lang="en-IN" dirty="0"/>
            </a:br>
            <a:r>
              <a:rPr lang="en-IN" dirty="0"/>
              <a:t>     device process the information and send appropriate or </a:t>
            </a:r>
            <a:br>
              <a:rPr lang="en-IN" dirty="0"/>
            </a:br>
            <a:r>
              <a:rPr lang="en-IN" dirty="0"/>
              <a:t>     whole routing table to routers.</a:t>
            </a:r>
          </a:p>
          <a:p>
            <a:pPr marL="0" indent="0">
              <a:buNone/>
            </a:pPr>
            <a:endParaRPr lang="en-IN" dirty="0"/>
          </a:p>
        </p:txBody>
      </p:sp>
      <p:sp>
        <p:nvSpPr>
          <p:cNvPr id="4" name="Title 1">
            <a:extLst>
              <a:ext uri="{FF2B5EF4-FFF2-40B4-BE49-F238E27FC236}">
                <a16:creationId xmlns:a16="http://schemas.microsoft.com/office/drawing/2014/main" id="{DEC3BDC8-E7DD-3A19-762E-C6AE397DE11E}"/>
              </a:ext>
            </a:extLst>
          </p:cNvPr>
          <p:cNvSpPr txBox="1">
            <a:spLocks/>
          </p:cNvSpPr>
          <p:nvPr/>
        </p:nvSpPr>
        <p:spPr>
          <a:xfrm>
            <a:off x="199300" y="4603681"/>
            <a:ext cx="6459399" cy="725004"/>
          </a:xfrm>
          <a:prstGeom prst="rect">
            <a:avLst/>
          </a:prstGeom>
          <a:solidFill>
            <a:schemeClr val="accent2">
              <a:lumMod val="60000"/>
              <a:lumOff val="40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2. Concept of Next-Hop</a:t>
            </a:r>
            <a:endParaRPr lang="en-IN" dirty="0"/>
          </a:p>
        </p:txBody>
      </p:sp>
      <p:sp>
        <p:nvSpPr>
          <p:cNvPr id="5" name="Content Placeholder 2">
            <a:extLst>
              <a:ext uri="{FF2B5EF4-FFF2-40B4-BE49-F238E27FC236}">
                <a16:creationId xmlns:a16="http://schemas.microsoft.com/office/drawing/2014/main" id="{7027B372-B198-2A35-C614-3C44107F52E3}"/>
              </a:ext>
            </a:extLst>
          </p:cNvPr>
          <p:cNvSpPr txBox="1">
            <a:spLocks/>
          </p:cNvSpPr>
          <p:nvPr/>
        </p:nvSpPr>
        <p:spPr>
          <a:xfrm>
            <a:off x="46900" y="5453271"/>
            <a:ext cx="6858000" cy="3326296"/>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b="1" dirty="0"/>
              <a:t> </a:t>
            </a:r>
            <a:endParaRPr lang="en-IN" dirty="0"/>
          </a:p>
        </p:txBody>
      </p:sp>
      <p:pic>
        <p:nvPicPr>
          <p:cNvPr id="11" name="Picture 10">
            <a:extLst>
              <a:ext uri="{FF2B5EF4-FFF2-40B4-BE49-F238E27FC236}">
                <a16:creationId xmlns:a16="http://schemas.microsoft.com/office/drawing/2014/main" id="{FD13F7F6-2890-5E06-60EA-A9BDFF65A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9531" y="5453271"/>
            <a:ext cx="3953910" cy="2755755"/>
          </a:xfrm>
          <a:prstGeom prst="rect">
            <a:avLst/>
          </a:prstGeom>
        </p:spPr>
      </p:pic>
      <p:sp>
        <p:nvSpPr>
          <p:cNvPr id="12" name="TextBox 11">
            <a:extLst>
              <a:ext uri="{FF2B5EF4-FFF2-40B4-BE49-F238E27FC236}">
                <a16:creationId xmlns:a16="http://schemas.microsoft.com/office/drawing/2014/main" id="{7B74B6C3-DFE1-A283-B3BC-0740CD08E546}"/>
              </a:ext>
            </a:extLst>
          </p:cNvPr>
          <p:cNvSpPr txBox="1"/>
          <p:nvPr/>
        </p:nvSpPr>
        <p:spPr>
          <a:xfrm>
            <a:off x="246201" y="8209026"/>
            <a:ext cx="6075086" cy="923330"/>
          </a:xfrm>
          <a:prstGeom prst="rect">
            <a:avLst/>
          </a:prstGeom>
          <a:noFill/>
        </p:spPr>
        <p:txBody>
          <a:bodyPr wrap="square" rtlCol="0">
            <a:spAutoFit/>
          </a:bodyPr>
          <a:lstStyle/>
          <a:p>
            <a:r>
              <a:rPr lang="en-US" dirty="0"/>
              <a:t>I want that R2 should always reach R2 via R1.</a:t>
            </a:r>
            <a:br>
              <a:rPr lang="en-US" dirty="0"/>
            </a:br>
            <a:r>
              <a:rPr lang="en-US" dirty="0"/>
              <a:t>Full Mesh – already running –  1.1.1.0/24 via IP1</a:t>
            </a:r>
            <a:br>
              <a:rPr lang="en-US" dirty="0"/>
            </a:br>
            <a:r>
              <a:rPr lang="en-US" dirty="0"/>
              <a:t>Hub &amp; Spoke – Update need – 1.1.1.0/24 via IP3</a:t>
            </a:r>
            <a:endParaRPr lang="en-IN" dirty="0"/>
          </a:p>
        </p:txBody>
      </p:sp>
    </p:spTree>
    <p:extLst>
      <p:ext uri="{BB962C8B-B14F-4D97-AF65-F5344CB8AC3E}">
        <p14:creationId xmlns:p14="http://schemas.microsoft.com/office/powerpoint/2010/main" val="4279148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BAF58-D46A-8900-1941-B4823ED79378}"/>
            </a:ext>
          </a:extLst>
        </p:cNvPr>
        <p:cNvGrpSpPr/>
        <p:nvPr/>
      </p:nvGrpSpPr>
      <p:grpSpPr>
        <a:xfrm>
          <a:off x="0" y="0"/>
          <a:ext cx="0" cy="0"/>
          <a:chOff x="0" y="0"/>
          <a:chExt cx="0" cy="0"/>
        </a:xfrm>
      </p:grpSpPr>
      <p:pic>
        <p:nvPicPr>
          <p:cNvPr id="13" name="Content Placeholder 12">
            <a:extLst>
              <a:ext uri="{FF2B5EF4-FFF2-40B4-BE49-F238E27FC236}">
                <a16:creationId xmlns:a16="http://schemas.microsoft.com/office/drawing/2014/main" id="{1981584E-2F5F-2614-62B9-ACD9897A42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9357" y="521895"/>
            <a:ext cx="5971837" cy="3546523"/>
          </a:xfrm>
        </p:spPr>
      </p:pic>
      <p:sp>
        <p:nvSpPr>
          <p:cNvPr id="14" name="TextBox 13">
            <a:extLst>
              <a:ext uri="{FF2B5EF4-FFF2-40B4-BE49-F238E27FC236}">
                <a16:creationId xmlns:a16="http://schemas.microsoft.com/office/drawing/2014/main" id="{66DD4618-3E1C-F6A9-5328-D3B3CE4DA733}"/>
              </a:ext>
            </a:extLst>
          </p:cNvPr>
          <p:cNvSpPr txBox="1"/>
          <p:nvPr/>
        </p:nvSpPr>
        <p:spPr>
          <a:xfrm>
            <a:off x="1391478" y="3207026"/>
            <a:ext cx="2544418" cy="369332"/>
          </a:xfrm>
          <a:prstGeom prst="rect">
            <a:avLst/>
          </a:prstGeom>
          <a:noFill/>
        </p:spPr>
        <p:txBody>
          <a:bodyPr wrap="square" rtlCol="0">
            <a:spAutoFit/>
          </a:bodyPr>
          <a:lstStyle/>
          <a:p>
            <a:r>
              <a:rPr lang="en-US" dirty="0"/>
              <a:t>BGP</a:t>
            </a:r>
            <a:endParaRPr lang="en-IN" dirty="0"/>
          </a:p>
        </p:txBody>
      </p:sp>
      <p:sp>
        <p:nvSpPr>
          <p:cNvPr id="15" name="TextBox 14">
            <a:extLst>
              <a:ext uri="{FF2B5EF4-FFF2-40B4-BE49-F238E27FC236}">
                <a16:creationId xmlns:a16="http://schemas.microsoft.com/office/drawing/2014/main" id="{DD6C5007-181E-2B96-C12B-E0D722119F4D}"/>
              </a:ext>
            </a:extLst>
          </p:cNvPr>
          <p:cNvSpPr txBox="1"/>
          <p:nvPr/>
        </p:nvSpPr>
        <p:spPr>
          <a:xfrm>
            <a:off x="0" y="4452730"/>
            <a:ext cx="6621194" cy="2246769"/>
          </a:xfrm>
          <a:prstGeom prst="rect">
            <a:avLst/>
          </a:prstGeom>
          <a:noFill/>
        </p:spPr>
        <p:txBody>
          <a:bodyPr wrap="square" rtlCol="0">
            <a:spAutoFit/>
          </a:bodyPr>
          <a:lstStyle/>
          <a:p>
            <a:r>
              <a:rPr lang="en-US" sz="2000" dirty="0"/>
              <a:t>What is the next-hop for 10.1.1.0 network on every router?</a:t>
            </a:r>
          </a:p>
          <a:p>
            <a:r>
              <a:rPr lang="en-IN" sz="2000" dirty="0"/>
              <a:t>R2 – IP1, R3 – IP1, R4 – IP1</a:t>
            </a:r>
          </a:p>
          <a:p>
            <a:endParaRPr lang="en-IN" sz="2000" dirty="0"/>
          </a:p>
          <a:p>
            <a:r>
              <a:rPr lang="en-IN" sz="2000" dirty="0"/>
              <a:t>BGP isn’t about sharing routes between two router, it is about sharing routes between 2As.</a:t>
            </a:r>
          </a:p>
          <a:p>
            <a:endParaRPr lang="en-IN" sz="2000" dirty="0"/>
          </a:p>
          <a:p>
            <a:endParaRPr lang="en-IN" sz="2000" dirty="0"/>
          </a:p>
        </p:txBody>
      </p:sp>
    </p:spTree>
    <p:extLst>
      <p:ext uri="{BB962C8B-B14F-4D97-AF65-F5344CB8AC3E}">
        <p14:creationId xmlns:p14="http://schemas.microsoft.com/office/powerpoint/2010/main" val="895181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D6B12-215E-E659-C117-DF18119A7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3ADFFA-AEBB-FA3C-CBAE-0D8546693FDE}"/>
              </a:ext>
            </a:extLst>
          </p:cNvPr>
          <p:cNvSpPr>
            <a:spLocks noGrp="1"/>
          </p:cNvSpPr>
          <p:nvPr>
            <p:ph type="title"/>
          </p:nvPr>
        </p:nvSpPr>
        <p:spPr>
          <a:xfrm>
            <a:off x="246201" y="109883"/>
            <a:ext cx="6459399" cy="725004"/>
          </a:xfrm>
          <a:solidFill>
            <a:schemeClr val="accent2">
              <a:lumMod val="60000"/>
              <a:lumOff val="40000"/>
            </a:schemeClr>
          </a:solidFill>
        </p:spPr>
        <p:txBody>
          <a:bodyPr/>
          <a:lstStyle/>
          <a:p>
            <a:r>
              <a:rPr lang="en-US" dirty="0"/>
              <a:t>3. Tunneling (</a:t>
            </a:r>
            <a:r>
              <a:rPr lang="en-US" dirty="0" err="1"/>
              <a:t>gre</a:t>
            </a:r>
            <a:r>
              <a:rPr lang="en-US" dirty="0"/>
              <a:t>) – Already done</a:t>
            </a:r>
            <a:endParaRPr lang="en-IN" dirty="0"/>
          </a:p>
        </p:txBody>
      </p:sp>
      <p:sp>
        <p:nvSpPr>
          <p:cNvPr id="4" name="Title 1">
            <a:extLst>
              <a:ext uri="{FF2B5EF4-FFF2-40B4-BE49-F238E27FC236}">
                <a16:creationId xmlns:a16="http://schemas.microsoft.com/office/drawing/2014/main" id="{374C3A22-7009-B095-5379-B72D19A13743}"/>
              </a:ext>
            </a:extLst>
          </p:cNvPr>
          <p:cNvSpPr txBox="1">
            <a:spLocks/>
          </p:cNvSpPr>
          <p:nvPr/>
        </p:nvSpPr>
        <p:spPr>
          <a:xfrm>
            <a:off x="246200" y="1012342"/>
            <a:ext cx="6459399" cy="725004"/>
          </a:xfrm>
          <a:prstGeom prst="rect">
            <a:avLst/>
          </a:prstGeom>
          <a:solidFill>
            <a:schemeClr val="accent2">
              <a:lumMod val="60000"/>
              <a:lumOff val="40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4. Let’s combine all the above</a:t>
            </a:r>
            <a:endParaRPr lang="en-IN" dirty="0"/>
          </a:p>
        </p:txBody>
      </p:sp>
      <p:pic>
        <p:nvPicPr>
          <p:cNvPr id="7" name="Picture 6">
            <a:extLst>
              <a:ext uri="{FF2B5EF4-FFF2-40B4-BE49-F238E27FC236}">
                <a16:creationId xmlns:a16="http://schemas.microsoft.com/office/drawing/2014/main" id="{6A1B8F11-932B-B7A3-8E68-4FD39FAB7F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14801"/>
            <a:ext cx="6858000" cy="3752491"/>
          </a:xfrm>
          <a:prstGeom prst="rect">
            <a:avLst/>
          </a:prstGeom>
        </p:spPr>
      </p:pic>
      <p:sp>
        <p:nvSpPr>
          <p:cNvPr id="8" name="TextBox 7">
            <a:extLst>
              <a:ext uri="{FF2B5EF4-FFF2-40B4-BE49-F238E27FC236}">
                <a16:creationId xmlns:a16="http://schemas.microsoft.com/office/drawing/2014/main" id="{57F3D32F-652F-2CD2-3C57-7A9F1A2B24E0}"/>
              </a:ext>
            </a:extLst>
          </p:cNvPr>
          <p:cNvSpPr txBox="1"/>
          <p:nvPr/>
        </p:nvSpPr>
        <p:spPr>
          <a:xfrm>
            <a:off x="246200" y="6029739"/>
            <a:ext cx="6287122" cy="3693319"/>
          </a:xfrm>
          <a:prstGeom prst="rect">
            <a:avLst/>
          </a:prstGeom>
          <a:noFill/>
        </p:spPr>
        <p:txBody>
          <a:bodyPr wrap="square" rtlCol="0">
            <a:spAutoFit/>
          </a:bodyPr>
          <a:lstStyle/>
          <a:p>
            <a:pPr algn="just"/>
            <a:r>
              <a:rPr lang="en-US" dirty="0"/>
              <a:t>When the routers connected to the </a:t>
            </a:r>
            <a:r>
              <a:rPr lang="en-US" dirty="0" err="1"/>
              <a:t>vSmart</a:t>
            </a:r>
            <a:r>
              <a:rPr lang="en-US" dirty="0"/>
              <a:t> become active, they establish secure control tunnels with the </a:t>
            </a:r>
            <a:r>
              <a:rPr lang="en-US" dirty="0" err="1"/>
              <a:t>vSmart</a:t>
            </a:r>
            <a:r>
              <a:rPr lang="en-US" dirty="0"/>
              <a:t> controller. The </a:t>
            </a:r>
            <a:r>
              <a:rPr lang="en-US" dirty="0" err="1">
                <a:highlight>
                  <a:srgbClr val="FFFF00"/>
                </a:highlight>
              </a:rPr>
              <a:t>vSmart</a:t>
            </a:r>
            <a:r>
              <a:rPr lang="en-US" dirty="0"/>
              <a:t> then processes the received control connections and propagates the routes, setting the data center as the next-hop.</a:t>
            </a:r>
          </a:p>
          <a:p>
            <a:pPr algn="just"/>
            <a:endParaRPr lang="en-US" dirty="0"/>
          </a:p>
          <a:p>
            <a:pPr algn="just"/>
            <a:r>
              <a:rPr lang="en-US" dirty="0" err="1">
                <a:highlight>
                  <a:srgbClr val="FFFF00"/>
                </a:highlight>
              </a:rPr>
              <a:t>Vmanagement</a:t>
            </a:r>
            <a:r>
              <a:rPr lang="en-US" dirty="0"/>
              <a:t> – It is application which is used to control the </a:t>
            </a:r>
            <a:r>
              <a:rPr lang="en-US" dirty="0" err="1"/>
              <a:t>vsmart</a:t>
            </a:r>
            <a:r>
              <a:rPr lang="en-US" dirty="0"/>
              <a:t> like configuration, monitoring, and troubleshooting. Configurations are pushed from </a:t>
            </a:r>
            <a:r>
              <a:rPr lang="en-US" dirty="0" err="1"/>
              <a:t>Vmanagement</a:t>
            </a:r>
            <a:r>
              <a:rPr lang="en-US" dirty="0"/>
              <a:t> to </a:t>
            </a:r>
            <a:r>
              <a:rPr lang="en-US" dirty="0" err="1"/>
              <a:t>vsmart</a:t>
            </a:r>
            <a:r>
              <a:rPr lang="en-US" dirty="0"/>
              <a:t>. </a:t>
            </a:r>
          </a:p>
          <a:p>
            <a:pPr algn="just"/>
            <a:endParaRPr lang="en-US" dirty="0"/>
          </a:p>
          <a:p>
            <a:r>
              <a:rPr lang="en-US" dirty="0" err="1">
                <a:highlight>
                  <a:srgbClr val="FFFF00"/>
                </a:highlight>
              </a:rPr>
              <a:t>Vbond</a:t>
            </a:r>
            <a:r>
              <a:rPr lang="en-US" dirty="0"/>
              <a:t> – It is responsible to give the </a:t>
            </a:r>
            <a:r>
              <a:rPr lang="en-US" dirty="0" err="1"/>
              <a:t>ip</a:t>
            </a:r>
            <a:r>
              <a:rPr lang="en-US" dirty="0"/>
              <a:t> address of </a:t>
            </a:r>
            <a:r>
              <a:rPr lang="en-US" dirty="0" err="1"/>
              <a:t>Vsmart</a:t>
            </a:r>
            <a:r>
              <a:rPr lang="en-US" dirty="0"/>
              <a:t> and </a:t>
            </a:r>
            <a:r>
              <a:rPr lang="en-US" dirty="0" err="1"/>
              <a:t>Vmanagement</a:t>
            </a:r>
            <a:r>
              <a:rPr lang="en-US" dirty="0"/>
              <a:t> to the </a:t>
            </a:r>
            <a:r>
              <a:rPr lang="en-US" b="1" dirty="0"/>
              <a:t>Branch and </a:t>
            </a:r>
            <a:r>
              <a:rPr lang="en-US" b="1" dirty="0" err="1"/>
              <a:t>DataCenter</a:t>
            </a:r>
            <a:r>
              <a:rPr lang="en-US" b="1" dirty="0"/>
              <a:t>. </a:t>
            </a:r>
            <a:br>
              <a:rPr lang="en-US" b="1" dirty="0"/>
            </a:br>
            <a:br>
              <a:rPr lang="en-US" dirty="0"/>
            </a:br>
            <a:r>
              <a:rPr lang="en-US" dirty="0"/>
              <a:t>Branches has a Gateway and DNS </a:t>
            </a:r>
            <a:r>
              <a:rPr lang="en-US" dirty="0" err="1"/>
              <a:t>ip</a:t>
            </a:r>
            <a:r>
              <a:rPr lang="en-US" dirty="0"/>
              <a:t> as V-Bond.</a:t>
            </a:r>
            <a:endParaRPr lang="en-IN" dirty="0"/>
          </a:p>
        </p:txBody>
      </p:sp>
    </p:spTree>
    <p:extLst>
      <p:ext uri="{BB962C8B-B14F-4D97-AF65-F5344CB8AC3E}">
        <p14:creationId xmlns:p14="http://schemas.microsoft.com/office/powerpoint/2010/main" val="197271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14051-C974-5E40-1584-AF74A686F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B8EEE-486D-E539-8B24-36D77216F4A2}"/>
              </a:ext>
            </a:extLst>
          </p:cNvPr>
          <p:cNvSpPr>
            <a:spLocks noGrp="1"/>
          </p:cNvSpPr>
          <p:nvPr>
            <p:ph type="ctrTitle"/>
          </p:nvPr>
        </p:nvSpPr>
        <p:spPr>
          <a:xfrm>
            <a:off x="0" y="0"/>
            <a:ext cx="6858000" cy="834887"/>
          </a:xfrm>
          <a:solidFill>
            <a:schemeClr val="accent2"/>
          </a:solidFill>
        </p:spPr>
        <p:txBody>
          <a:bodyPr>
            <a:normAutofit/>
          </a:bodyPr>
          <a:lstStyle/>
          <a:p>
            <a:r>
              <a:rPr lang="en-US" b="1" dirty="0">
                <a:solidFill>
                  <a:schemeClr val="bg1"/>
                </a:solidFill>
              </a:rPr>
              <a:t>SD-WAN (D-2)</a:t>
            </a:r>
            <a:endParaRPr lang="en-IN" b="1" dirty="0">
              <a:solidFill>
                <a:schemeClr val="bg1"/>
              </a:solidFill>
            </a:endParaRPr>
          </a:p>
        </p:txBody>
      </p:sp>
      <p:graphicFrame>
        <p:nvGraphicFramePr>
          <p:cNvPr id="4" name="Diagram 3">
            <a:extLst>
              <a:ext uri="{FF2B5EF4-FFF2-40B4-BE49-F238E27FC236}">
                <a16:creationId xmlns:a16="http://schemas.microsoft.com/office/drawing/2014/main" id="{84703810-0659-85AE-2E35-C8C96A42398E}"/>
              </a:ext>
            </a:extLst>
          </p:cNvPr>
          <p:cNvGraphicFramePr/>
          <p:nvPr>
            <p:extLst>
              <p:ext uri="{D42A27DB-BD31-4B8C-83A1-F6EECF244321}">
                <p14:modId xmlns:p14="http://schemas.microsoft.com/office/powerpoint/2010/main" val="3414956405"/>
              </p:ext>
            </p:extLst>
          </p:nvPr>
        </p:nvGraphicFramePr>
        <p:xfrm>
          <a:off x="49695" y="971067"/>
          <a:ext cx="6758609" cy="4396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0154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0DC4E3-1DF0-432A-DD0D-EF6FE00256EE}"/>
              </a:ext>
            </a:extLst>
          </p:cNvPr>
          <p:cNvSpPr>
            <a:spLocks noGrp="1"/>
          </p:cNvSpPr>
          <p:nvPr>
            <p:ph idx="1"/>
          </p:nvPr>
        </p:nvSpPr>
        <p:spPr>
          <a:xfrm>
            <a:off x="0" y="1"/>
            <a:ext cx="6858000" cy="503075"/>
          </a:xfrm>
          <a:solidFill>
            <a:schemeClr val="accent1"/>
          </a:solidFill>
          <a:ln>
            <a:solidFill>
              <a:schemeClr val="accent1"/>
            </a:solidFill>
          </a:ln>
        </p:spPr>
        <p:txBody>
          <a:bodyPr>
            <a:normAutofit/>
          </a:bodyPr>
          <a:lstStyle/>
          <a:p>
            <a:pPr marL="0" indent="0">
              <a:buNone/>
            </a:pPr>
            <a:r>
              <a:rPr lang="en-US" sz="2400" b="1" dirty="0">
                <a:solidFill>
                  <a:schemeClr val="bg1"/>
                </a:solidFill>
              </a:rPr>
              <a:t>1. The orchestration: </a:t>
            </a:r>
            <a:r>
              <a:rPr lang="en-US" sz="2400" b="1" dirty="0" err="1">
                <a:solidFill>
                  <a:schemeClr val="bg1"/>
                </a:solidFill>
              </a:rPr>
              <a:t>VBond</a:t>
            </a:r>
            <a:endParaRPr lang="en-IN" sz="2400" b="1" dirty="0">
              <a:solidFill>
                <a:schemeClr val="bg1"/>
              </a:solidFill>
            </a:endParaRPr>
          </a:p>
        </p:txBody>
      </p:sp>
      <p:pic>
        <p:nvPicPr>
          <p:cNvPr id="5" name="Picture 4">
            <a:extLst>
              <a:ext uri="{FF2B5EF4-FFF2-40B4-BE49-F238E27FC236}">
                <a16:creationId xmlns:a16="http://schemas.microsoft.com/office/drawing/2014/main" id="{F329FC0E-B28E-BBBF-DA48-293DCE20EB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895" y="503076"/>
            <a:ext cx="6606209" cy="3614719"/>
          </a:xfrm>
          <a:prstGeom prst="rect">
            <a:avLst/>
          </a:prstGeom>
        </p:spPr>
      </p:pic>
      <p:sp>
        <p:nvSpPr>
          <p:cNvPr id="8" name="Content Placeholder 2">
            <a:extLst>
              <a:ext uri="{FF2B5EF4-FFF2-40B4-BE49-F238E27FC236}">
                <a16:creationId xmlns:a16="http://schemas.microsoft.com/office/drawing/2014/main" id="{2B5951F7-B58B-F603-88F1-90581CC06565}"/>
              </a:ext>
            </a:extLst>
          </p:cNvPr>
          <p:cNvSpPr txBox="1">
            <a:spLocks/>
          </p:cNvSpPr>
          <p:nvPr/>
        </p:nvSpPr>
        <p:spPr>
          <a:xfrm>
            <a:off x="0" y="7311845"/>
            <a:ext cx="6858000" cy="1845407"/>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US" sz="2000" b="1" dirty="0"/>
              <a:t>Orchestration: </a:t>
            </a:r>
            <a:r>
              <a:rPr lang="en-US" sz="2000" dirty="0"/>
              <a:t>Someone who can arrange things or combine things to get desired result.</a:t>
            </a:r>
          </a:p>
          <a:p>
            <a:pPr marL="0" indent="0">
              <a:buFont typeface="Arial" panose="020B0604020202020204" pitchFamily="34" charset="0"/>
              <a:buNone/>
            </a:pPr>
            <a:endParaRPr lang="en-US" sz="2000" dirty="0"/>
          </a:p>
          <a:p>
            <a:pPr marL="0" indent="0">
              <a:buNone/>
            </a:pPr>
            <a:r>
              <a:rPr lang="en-US" dirty="0"/>
              <a:t>Zero-Touch solution, plug and play -- when we power on this device, it create tunnel and connection everything by itself</a:t>
            </a:r>
            <a:r>
              <a:rPr lang="en-IN" sz="2000" dirty="0"/>
              <a:t>.</a:t>
            </a:r>
            <a:endParaRPr lang="en-US" sz="2000" dirty="0"/>
          </a:p>
        </p:txBody>
      </p:sp>
      <p:sp>
        <p:nvSpPr>
          <p:cNvPr id="6" name="TextBox 5">
            <a:extLst>
              <a:ext uri="{FF2B5EF4-FFF2-40B4-BE49-F238E27FC236}">
                <a16:creationId xmlns:a16="http://schemas.microsoft.com/office/drawing/2014/main" id="{151CDC16-B5E3-CB2F-4A50-1323C4482601}"/>
              </a:ext>
            </a:extLst>
          </p:cNvPr>
          <p:cNvSpPr txBox="1"/>
          <p:nvPr/>
        </p:nvSpPr>
        <p:spPr>
          <a:xfrm>
            <a:off x="2160105" y="3273286"/>
            <a:ext cx="1630018" cy="307777"/>
          </a:xfrm>
          <a:prstGeom prst="rect">
            <a:avLst/>
          </a:prstGeom>
          <a:noFill/>
        </p:spPr>
        <p:txBody>
          <a:bodyPr wrap="square" rtlCol="0">
            <a:spAutoFit/>
          </a:bodyPr>
          <a:lstStyle/>
          <a:p>
            <a:pPr marL="285750" indent="-285750">
              <a:buClr>
                <a:srgbClr val="C00000"/>
              </a:buClr>
              <a:buSzPct val="150000"/>
              <a:buFont typeface="Calibri" panose="020F0502020204030204" pitchFamily="34" charset="0"/>
              <a:buChar char="―"/>
            </a:pPr>
            <a:r>
              <a:rPr lang="en-US" sz="1400" dirty="0"/>
              <a:t>IPSEC VPN</a:t>
            </a:r>
            <a:endParaRPr lang="en-IN" sz="1400" dirty="0"/>
          </a:p>
        </p:txBody>
      </p:sp>
      <p:sp>
        <p:nvSpPr>
          <p:cNvPr id="11" name="TextBox 10">
            <a:extLst>
              <a:ext uri="{FF2B5EF4-FFF2-40B4-BE49-F238E27FC236}">
                <a16:creationId xmlns:a16="http://schemas.microsoft.com/office/drawing/2014/main" id="{B3B23E25-476E-F51A-1CC7-4BE03013460F}"/>
              </a:ext>
            </a:extLst>
          </p:cNvPr>
          <p:cNvSpPr txBox="1"/>
          <p:nvPr/>
        </p:nvSpPr>
        <p:spPr>
          <a:xfrm>
            <a:off x="2160105" y="3541652"/>
            <a:ext cx="2915478" cy="307777"/>
          </a:xfrm>
          <a:prstGeom prst="rect">
            <a:avLst/>
          </a:prstGeom>
          <a:noFill/>
        </p:spPr>
        <p:txBody>
          <a:bodyPr wrap="square" rtlCol="0">
            <a:spAutoFit/>
          </a:bodyPr>
          <a:lstStyle/>
          <a:p>
            <a:pPr marL="285750" indent="-285750">
              <a:buClr>
                <a:schemeClr val="accent6"/>
              </a:buClr>
              <a:buSzPct val="150000"/>
              <a:buFont typeface="Calibri" panose="020F0502020204030204" pitchFamily="34" charset="0"/>
              <a:buChar char="―"/>
            </a:pPr>
            <a:r>
              <a:rPr lang="en-US" sz="1400" dirty="0"/>
              <a:t>Control connection + (TLS/DTLS)</a:t>
            </a:r>
            <a:endParaRPr lang="en-IN" sz="1400" dirty="0"/>
          </a:p>
        </p:txBody>
      </p:sp>
      <p:pic>
        <p:nvPicPr>
          <p:cNvPr id="4" name="Picture 3">
            <a:extLst>
              <a:ext uri="{FF2B5EF4-FFF2-40B4-BE49-F238E27FC236}">
                <a16:creationId xmlns:a16="http://schemas.microsoft.com/office/drawing/2014/main" id="{D3C36F9E-4492-5BCA-D82E-4239F60BA8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895" y="4180812"/>
            <a:ext cx="6531715" cy="2975559"/>
          </a:xfrm>
          <a:prstGeom prst="rect">
            <a:avLst/>
          </a:prstGeom>
        </p:spPr>
      </p:pic>
    </p:spTree>
    <p:extLst>
      <p:ext uri="{BB962C8B-B14F-4D97-AF65-F5344CB8AC3E}">
        <p14:creationId xmlns:p14="http://schemas.microsoft.com/office/powerpoint/2010/main" val="863112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50163-29FC-8970-01DB-2D274D7221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1C2874-730A-808E-492F-6BAF9C263264}"/>
              </a:ext>
            </a:extLst>
          </p:cNvPr>
          <p:cNvSpPr>
            <a:spLocks noGrp="1"/>
          </p:cNvSpPr>
          <p:nvPr>
            <p:ph idx="1"/>
          </p:nvPr>
        </p:nvSpPr>
        <p:spPr>
          <a:xfrm>
            <a:off x="0" y="1"/>
            <a:ext cx="6858000" cy="993912"/>
          </a:xfrm>
          <a:solidFill>
            <a:schemeClr val="accent1"/>
          </a:solidFill>
        </p:spPr>
        <p:txBody>
          <a:bodyPr>
            <a:normAutofit/>
          </a:bodyPr>
          <a:lstStyle/>
          <a:p>
            <a:pPr marL="0" indent="0">
              <a:buNone/>
            </a:pPr>
            <a:r>
              <a:rPr lang="en-US" sz="2400" b="1" dirty="0">
                <a:solidFill>
                  <a:schemeClr val="bg1"/>
                </a:solidFill>
              </a:rPr>
              <a:t>How a device get configuration after attaching to </a:t>
            </a:r>
            <a:br>
              <a:rPr lang="en-US" sz="2400" b="1" dirty="0">
                <a:solidFill>
                  <a:schemeClr val="bg1"/>
                </a:solidFill>
              </a:rPr>
            </a:br>
            <a:r>
              <a:rPr lang="en-US" sz="2400" b="1" dirty="0">
                <a:solidFill>
                  <a:schemeClr val="bg1"/>
                </a:solidFill>
              </a:rPr>
              <a:t>     SD-WAN?</a:t>
            </a:r>
            <a:endParaRPr lang="en-IN" sz="2400" b="1" dirty="0">
              <a:solidFill>
                <a:schemeClr val="bg1"/>
              </a:solidFill>
            </a:endParaRPr>
          </a:p>
        </p:txBody>
      </p:sp>
      <p:sp>
        <p:nvSpPr>
          <p:cNvPr id="2" name="TextBox 1">
            <a:extLst>
              <a:ext uri="{FF2B5EF4-FFF2-40B4-BE49-F238E27FC236}">
                <a16:creationId xmlns:a16="http://schemas.microsoft.com/office/drawing/2014/main" id="{FD8E8E12-8291-D3BB-308A-3189D8DCE373}"/>
              </a:ext>
            </a:extLst>
          </p:cNvPr>
          <p:cNvSpPr txBox="1"/>
          <p:nvPr/>
        </p:nvSpPr>
        <p:spPr>
          <a:xfrm>
            <a:off x="0" y="1173458"/>
            <a:ext cx="6858000" cy="8032968"/>
          </a:xfrm>
          <a:prstGeom prst="rect">
            <a:avLst/>
          </a:prstGeom>
          <a:noFill/>
        </p:spPr>
        <p:txBody>
          <a:bodyPr wrap="square" rtlCol="0">
            <a:spAutoFit/>
          </a:bodyPr>
          <a:lstStyle/>
          <a:p>
            <a:r>
              <a:rPr lang="en-US" sz="2400" b="1" dirty="0"/>
              <a:t>1. Device Boot &amp; Initial Setup</a:t>
            </a:r>
            <a:endParaRPr lang="en-US" sz="2400" dirty="0"/>
          </a:p>
          <a:p>
            <a:r>
              <a:rPr lang="en-US" sz="2000" dirty="0"/>
              <a:t>When a new device is powered on:</a:t>
            </a:r>
          </a:p>
          <a:p>
            <a:endParaRPr lang="en-US" sz="2000" dirty="0"/>
          </a:p>
          <a:p>
            <a:r>
              <a:rPr lang="en-US" sz="2000" dirty="0"/>
              <a:t>You manually configure only a few bootstrap parameters, like:</a:t>
            </a:r>
          </a:p>
          <a:p>
            <a:r>
              <a:rPr lang="en-US" sz="2000" dirty="0"/>
              <a:t>system-</a:t>
            </a:r>
            <a:r>
              <a:rPr lang="en-US" sz="2000" dirty="0" err="1"/>
              <a:t>ip</a:t>
            </a:r>
            <a:r>
              <a:rPr lang="en-US" sz="2000" dirty="0"/>
              <a:t> 10.10.10.10</a:t>
            </a:r>
          </a:p>
          <a:p>
            <a:r>
              <a:rPr lang="en-US" sz="2000" dirty="0"/>
              <a:t>site-id 100</a:t>
            </a:r>
          </a:p>
          <a:p>
            <a:r>
              <a:rPr lang="en-US" sz="2000" dirty="0"/>
              <a:t>organization-name </a:t>
            </a:r>
            <a:r>
              <a:rPr lang="en-US" sz="2000" dirty="0" err="1"/>
              <a:t>MyOrg</a:t>
            </a:r>
            <a:endParaRPr lang="en-US" sz="2000" dirty="0"/>
          </a:p>
          <a:p>
            <a:r>
              <a:rPr lang="en-US" sz="2000" dirty="0" err="1"/>
              <a:t>vbond</a:t>
            </a:r>
            <a:r>
              <a:rPr lang="en-US" sz="2000" dirty="0"/>
              <a:t> &lt;</a:t>
            </a:r>
            <a:r>
              <a:rPr lang="en-US" sz="2000" dirty="0" err="1"/>
              <a:t>vbond-ip</a:t>
            </a:r>
            <a:r>
              <a:rPr lang="en-US" sz="2000" dirty="0"/>
              <a:t>&gt; </a:t>
            </a:r>
          </a:p>
          <a:p>
            <a:r>
              <a:rPr lang="en-US" sz="2000" dirty="0"/>
              <a:t>This minimal config allows the device to find and authenticate with the SD-WAN controllers.</a:t>
            </a:r>
          </a:p>
          <a:p>
            <a:endParaRPr lang="en-US" sz="2400" b="1" dirty="0"/>
          </a:p>
          <a:p>
            <a:r>
              <a:rPr lang="en-US" sz="2400" b="1" dirty="0"/>
              <a:t>2. </a:t>
            </a:r>
            <a:r>
              <a:rPr lang="en-US" sz="2400" b="1" dirty="0" err="1"/>
              <a:t>vBond</a:t>
            </a:r>
            <a:r>
              <a:rPr lang="en-US" sz="2400" b="1" dirty="0"/>
              <a:t> Orchestration – Authentication &amp; Control Setup</a:t>
            </a:r>
          </a:p>
          <a:p>
            <a:r>
              <a:rPr lang="en-US" sz="2000" dirty="0"/>
              <a:t>The </a:t>
            </a:r>
            <a:r>
              <a:rPr lang="en-US" sz="2000" dirty="0" err="1"/>
              <a:t>vBond</a:t>
            </a:r>
            <a:r>
              <a:rPr lang="en-US" sz="2000" dirty="0"/>
              <a:t> orchestrator is the first controller the device contacts.</a:t>
            </a:r>
          </a:p>
          <a:p>
            <a:endParaRPr lang="en-US" sz="2000" dirty="0"/>
          </a:p>
          <a:p>
            <a:r>
              <a:rPr lang="en-US" sz="2000" dirty="0"/>
              <a:t>It helps the device discover and authenticate with:</a:t>
            </a:r>
          </a:p>
          <a:p>
            <a:r>
              <a:rPr lang="en-US" sz="2000" dirty="0" err="1"/>
              <a:t>vManage</a:t>
            </a:r>
            <a:r>
              <a:rPr lang="en-US" sz="2000" dirty="0"/>
              <a:t> (management plane)</a:t>
            </a:r>
          </a:p>
          <a:p>
            <a:r>
              <a:rPr lang="en-US" sz="2000" dirty="0" err="1"/>
              <a:t>vSmart</a:t>
            </a:r>
            <a:r>
              <a:rPr lang="en-US" sz="2000" dirty="0"/>
              <a:t> (control plane)</a:t>
            </a:r>
          </a:p>
          <a:p>
            <a:r>
              <a:rPr lang="en-US" sz="2000" dirty="0" err="1"/>
              <a:t>vBond</a:t>
            </a:r>
            <a:r>
              <a:rPr lang="en-US" sz="2000" dirty="0"/>
              <a:t> ensures all devices trust each other using certificates issued by the SD-WAN PKI.</a:t>
            </a:r>
          </a:p>
          <a:p>
            <a:endParaRPr lang="en-US" sz="2000" dirty="0"/>
          </a:p>
          <a:p>
            <a:r>
              <a:rPr lang="en-US" sz="2000" dirty="0">
                <a:highlight>
                  <a:srgbClr val="FFFF00"/>
                </a:highlight>
              </a:rPr>
              <a:t>Result:</a:t>
            </a:r>
          </a:p>
          <a:p>
            <a:r>
              <a:rPr lang="en-US" sz="2000" dirty="0"/>
              <a:t>Device now forms secure DTLS/TLS control connections to </a:t>
            </a:r>
            <a:r>
              <a:rPr lang="en-US" sz="2000" dirty="0" err="1"/>
              <a:t>vSmart</a:t>
            </a:r>
            <a:r>
              <a:rPr lang="en-US" sz="2000" dirty="0"/>
              <a:t> and </a:t>
            </a:r>
            <a:r>
              <a:rPr lang="en-US" sz="2000" dirty="0" err="1"/>
              <a:t>vManage</a:t>
            </a:r>
            <a:r>
              <a:rPr lang="en-US" sz="2000" dirty="0"/>
              <a:t>.</a:t>
            </a:r>
          </a:p>
        </p:txBody>
      </p:sp>
    </p:spTree>
    <p:extLst>
      <p:ext uri="{BB962C8B-B14F-4D97-AF65-F5344CB8AC3E}">
        <p14:creationId xmlns:p14="http://schemas.microsoft.com/office/powerpoint/2010/main" val="4244861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236F1-8105-CB57-C194-DE3FDFEF810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04DE96-D918-F8F3-8D72-4537173BD47C}"/>
              </a:ext>
            </a:extLst>
          </p:cNvPr>
          <p:cNvSpPr txBox="1"/>
          <p:nvPr/>
        </p:nvSpPr>
        <p:spPr>
          <a:xfrm>
            <a:off x="0" y="100032"/>
            <a:ext cx="6858000" cy="8894743"/>
          </a:xfrm>
          <a:prstGeom prst="rect">
            <a:avLst/>
          </a:prstGeom>
          <a:noFill/>
        </p:spPr>
        <p:txBody>
          <a:bodyPr wrap="square" rtlCol="0">
            <a:spAutoFit/>
          </a:bodyPr>
          <a:lstStyle/>
          <a:p>
            <a:r>
              <a:rPr lang="en-US" sz="2400" b="1" dirty="0"/>
              <a:t>3. </a:t>
            </a:r>
            <a:r>
              <a:rPr lang="en-US" sz="2400" b="1" dirty="0" err="1"/>
              <a:t>vManage</a:t>
            </a:r>
            <a:r>
              <a:rPr lang="en-US" sz="2400" b="1" dirty="0"/>
              <a:t> Delivers Configuration (via NETCONF)</a:t>
            </a:r>
            <a:endParaRPr lang="en-US" sz="2000" dirty="0"/>
          </a:p>
          <a:p>
            <a:r>
              <a:rPr lang="en-US" sz="2000" dirty="0"/>
              <a:t>Once authenticated:</a:t>
            </a:r>
          </a:p>
          <a:p>
            <a:r>
              <a:rPr lang="en-US" sz="2000" dirty="0" err="1"/>
              <a:t>vManage</a:t>
            </a:r>
            <a:r>
              <a:rPr lang="en-US" sz="2000" dirty="0"/>
              <a:t> detects the new device (by its UUID and serial number) in its inventory (pre-added via the Smart Account or PnP portal).</a:t>
            </a:r>
          </a:p>
          <a:p>
            <a:r>
              <a:rPr lang="en-US" sz="2000" dirty="0"/>
              <a:t>Admin associates a Device Template and Feature Templates to that router.</a:t>
            </a:r>
          </a:p>
          <a:p>
            <a:r>
              <a:rPr lang="en-US" sz="2000" dirty="0" err="1"/>
              <a:t>vManage</a:t>
            </a:r>
            <a:r>
              <a:rPr lang="en-US" sz="2000" dirty="0"/>
              <a:t> generates XML configuration from those templates.</a:t>
            </a:r>
          </a:p>
          <a:p>
            <a:r>
              <a:rPr lang="en-US" sz="2000" dirty="0"/>
              <a:t>It then pushes this config to the router using NETCONF over TLS.</a:t>
            </a:r>
          </a:p>
          <a:p>
            <a:endParaRPr lang="en-US" sz="2000" dirty="0">
              <a:highlight>
                <a:srgbClr val="FFFF00"/>
              </a:highlight>
            </a:endParaRPr>
          </a:p>
          <a:p>
            <a:r>
              <a:rPr lang="en-US" sz="2000" dirty="0">
                <a:highlight>
                  <a:srgbClr val="FFFF00"/>
                </a:highlight>
              </a:rPr>
              <a:t>Protocol used:</a:t>
            </a:r>
          </a:p>
          <a:p>
            <a:r>
              <a:rPr lang="en-US" sz="2000" dirty="0"/>
              <a:t>NETCONF (TCP port 830) → secure configuration channel.</a:t>
            </a:r>
          </a:p>
          <a:p>
            <a:endParaRPr lang="en-US" sz="2000" dirty="0"/>
          </a:p>
          <a:p>
            <a:r>
              <a:rPr lang="en-US" sz="2000" dirty="0">
                <a:highlight>
                  <a:srgbClr val="FFFF00"/>
                </a:highlight>
              </a:rPr>
              <a:t>Configuration includes:</a:t>
            </a:r>
          </a:p>
          <a:p>
            <a:r>
              <a:rPr lang="en-US" sz="2000" dirty="0"/>
              <a:t>Interface settings (VPN 0, VPN 512, etc.)</a:t>
            </a:r>
          </a:p>
          <a:p>
            <a:r>
              <a:rPr lang="en-US" sz="2000" dirty="0"/>
              <a:t>Routing (OMP, BGP, static)</a:t>
            </a:r>
          </a:p>
          <a:p>
            <a:r>
              <a:rPr lang="en-US" sz="2000" dirty="0"/>
              <a:t>Policies (control/data plane)</a:t>
            </a:r>
          </a:p>
          <a:p>
            <a:r>
              <a:rPr lang="en-US" sz="2000" dirty="0"/>
              <a:t>System parameters</a:t>
            </a:r>
          </a:p>
          <a:p>
            <a:endParaRPr lang="en-US" sz="2400" b="1" dirty="0"/>
          </a:p>
          <a:p>
            <a:r>
              <a:rPr lang="en-US" sz="2400" b="1" dirty="0"/>
              <a:t>4. </a:t>
            </a:r>
            <a:r>
              <a:rPr lang="en-US" sz="2400" b="1" dirty="0" err="1"/>
              <a:t>vSmart</a:t>
            </a:r>
            <a:r>
              <a:rPr lang="en-US" sz="2400" b="1" dirty="0"/>
              <a:t> Delivers Routing &amp; Policy (via OMP)</a:t>
            </a:r>
          </a:p>
          <a:p>
            <a:r>
              <a:rPr lang="en-US" sz="2000" dirty="0"/>
              <a:t>After configuration is applied:</a:t>
            </a:r>
          </a:p>
          <a:p>
            <a:r>
              <a:rPr lang="en-US" sz="2000" dirty="0"/>
              <a:t>The router forms an OMP (Overlay Management Protocol) session with </a:t>
            </a:r>
            <a:r>
              <a:rPr lang="en-US" sz="2000" dirty="0" err="1"/>
              <a:t>vSmart</a:t>
            </a:r>
            <a:r>
              <a:rPr lang="en-US" sz="2000" dirty="0"/>
              <a:t>.</a:t>
            </a:r>
          </a:p>
          <a:p>
            <a:r>
              <a:rPr lang="en-US" sz="2000" dirty="0" err="1"/>
              <a:t>vSmart</a:t>
            </a:r>
            <a:r>
              <a:rPr lang="en-US" sz="2000" dirty="0"/>
              <a:t> then sends routes and policies (centralized control policies, TLOCs, etc.) to the router.</a:t>
            </a:r>
          </a:p>
          <a:p>
            <a:endParaRPr lang="en-US" sz="2000" dirty="0"/>
          </a:p>
          <a:p>
            <a:r>
              <a:rPr lang="en-US" sz="2000" dirty="0"/>
              <a:t>Protocol used:</a:t>
            </a:r>
          </a:p>
          <a:p>
            <a:r>
              <a:rPr lang="en-US" sz="2000" dirty="0"/>
              <a:t>OMP over DTLS/TLS (control plane communication)</a:t>
            </a:r>
            <a:endParaRPr lang="en-US" dirty="0">
              <a:highlight>
                <a:srgbClr val="FFFF00"/>
              </a:highlight>
            </a:endParaRPr>
          </a:p>
        </p:txBody>
      </p:sp>
    </p:spTree>
    <p:extLst>
      <p:ext uri="{BB962C8B-B14F-4D97-AF65-F5344CB8AC3E}">
        <p14:creationId xmlns:p14="http://schemas.microsoft.com/office/powerpoint/2010/main" val="2048621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D7312-1F80-A703-C9F4-122BB6024E5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32D740-0D0B-5F8E-068C-F55F4380F21B}"/>
              </a:ext>
            </a:extLst>
          </p:cNvPr>
          <p:cNvSpPr txBox="1"/>
          <p:nvPr/>
        </p:nvSpPr>
        <p:spPr>
          <a:xfrm>
            <a:off x="0" y="100032"/>
            <a:ext cx="6858000" cy="5940088"/>
          </a:xfrm>
          <a:prstGeom prst="rect">
            <a:avLst/>
          </a:prstGeom>
          <a:noFill/>
        </p:spPr>
        <p:txBody>
          <a:bodyPr wrap="square" rtlCol="0">
            <a:spAutoFit/>
          </a:bodyPr>
          <a:lstStyle/>
          <a:p>
            <a:r>
              <a:rPr lang="en-US" sz="2400" b="1" dirty="0"/>
              <a:t>5. Operational State</a:t>
            </a:r>
          </a:p>
          <a:p>
            <a:r>
              <a:rPr lang="en-US" sz="2000" dirty="0"/>
              <a:t>Now the device:</a:t>
            </a:r>
          </a:p>
          <a:p>
            <a:r>
              <a:rPr lang="en-US" sz="2000" dirty="0"/>
              <a:t>Has its full configuration (from </a:t>
            </a:r>
            <a:r>
              <a:rPr lang="en-US" sz="2000" dirty="0" err="1"/>
              <a:t>vManage</a:t>
            </a:r>
            <a:r>
              <a:rPr lang="en-US" sz="2000" dirty="0"/>
              <a:t>)</a:t>
            </a:r>
          </a:p>
          <a:p>
            <a:r>
              <a:rPr lang="en-US" sz="2000" dirty="0"/>
              <a:t>Knows routing and policy information (from </a:t>
            </a:r>
            <a:r>
              <a:rPr lang="en-US" sz="2000" dirty="0" err="1"/>
              <a:t>vSmart</a:t>
            </a:r>
            <a:r>
              <a:rPr lang="en-US" sz="2000" dirty="0"/>
              <a:t>)</a:t>
            </a:r>
          </a:p>
          <a:p>
            <a:r>
              <a:rPr lang="en-US" sz="2000" dirty="0"/>
              <a:t>Can form secure IPsec data tunnels with other SD-WAN sites.</a:t>
            </a:r>
          </a:p>
          <a:p>
            <a:endParaRPr lang="en-US" sz="2000" dirty="0"/>
          </a:p>
          <a:p>
            <a:r>
              <a:rPr lang="en-US" sz="2000" dirty="0">
                <a:highlight>
                  <a:srgbClr val="FFFF00"/>
                </a:highlight>
              </a:rPr>
              <a:t>Data Plane Protocol:</a:t>
            </a:r>
          </a:p>
          <a:p>
            <a:r>
              <a:rPr lang="en-US" sz="2000" dirty="0"/>
              <a:t>IPsec tunnels built automatically based on OMP TLOC advertisements.</a:t>
            </a:r>
          </a:p>
          <a:p>
            <a:endParaRPr lang="en-US" sz="2000" dirty="0"/>
          </a:p>
          <a:p>
            <a:r>
              <a:rPr lang="en-US" sz="2000" dirty="0"/>
              <a:t>Summary Table</a:t>
            </a:r>
          </a:p>
          <a:p>
            <a:r>
              <a:rPr lang="en-US" sz="2000" dirty="0"/>
              <a:t>Step Component	Function	Protocol</a:t>
            </a:r>
          </a:p>
          <a:p>
            <a:r>
              <a:rPr lang="en-US" sz="2000" dirty="0"/>
              <a:t>1	Device Boot	Bootstrap config	—</a:t>
            </a:r>
          </a:p>
          <a:p>
            <a:r>
              <a:rPr lang="en-US" sz="2000" dirty="0"/>
              <a:t>2	</a:t>
            </a:r>
            <a:r>
              <a:rPr lang="en-US" sz="2000" dirty="0" err="1"/>
              <a:t>vBond</a:t>
            </a:r>
            <a:r>
              <a:rPr lang="en-US" sz="2000" dirty="0"/>
              <a:t>	Authentication &amp; controller discovery	DTLS/TLS</a:t>
            </a:r>
          </a:p>
          <a:p>
            <a:r>
              <a:rPr lang="en-US" sz="2000" dirty="0"/>
              <a:t>3	</a:t>
            </a:r>
            <a:r>
              <a:rPr lang="en-US" sz="2000" dirty="0" err="1"/>
              <a:t>vManage</a:t>
            </a:r>
            <a:r>
              <a:rPr lang="en-US" sz="2000" dirty="0"/>
              <a:t>	Push configuration	NETCONF</a:t>
            </a:r>
          </a:p>
          <a:p>
            <a:r>
              <a:rPr lang="en-US" sz="2000" dirty="0"/>
              <a:t>4	</a:t>
            </a:r>
            <a:r>
              <a:rPr lang="en-US" sz="2000" dirty="0" err="1"/>
              <a:t>vSmart</a:t>
            </a:r>
            <a:r>
              <a:rPr lang="en-US" sz="2000" dirty="0"/>
              <a:t>	Distribute routes/policies	OMP</a:t>
            </a:r>
          </a:p>
          <a:p>
            <a:pPr marL="457200" indent="-457200">
              <a:buAutoNum type="arabicPlain" startAt="5"/>
            </a:pPr>
            <a:r>
              <a:rPr lang="en-US" sz="2000" dirty="0"/>
              <a:t>Data Plane	Site-to-site encrypted tunnels	</a:t>
            </a:r>
            <a:r>
              <a:rPr lang="en-US" sz="2000" dirty="0" err="1"/>
              <a:t>Ipsec</a:t>
            </a:r>
            <a:endParaRPr lang="en-US" sz="2000" dirty="0"/>
          </a:p>
          <a:p>
            <a:r>
              <a:rPr lang="en-US" dirty="0"/>
              <a:t>                        </a:t>
            </a:r>
          </a:p>
          <a:p>
            <a:r>
              <a:rPr lang="en-US" dirty="0"/>
              <a:t>                                ------------------XXXXXXXXXX---------------</a:t>
            </a:r>
          </a:p>
        </p:txBody>
      </p:sp>
      <p:pic>
        <p:nvPicPr>
          <p:cNvPr id="4" name="Picture 3">
            <a:extLst>
              <a:ext uri="{FF2B5EF4-FFF2-40B4-BE49-F238E27FC236}">
                <a16:creationId xmlns:a16="http://schemas.microsoft.com/office/drawing/2014/main" id="{5C2CB60A-1852-4230-CE74-8D6629BC2026}"/>
              </a:ext>
            </a:extLst>
          </p:cNvPr>
          <p:cNvPicPr>
            <a:picLocks noChangeAspect="1"/>
          </p:cNvPicPr>
          <p:nvPr/>
        </p:nvPicPr>
        <p:blipFill>
          <a:blip r:embed="rId2"/>
          <a:stretch>
            <a:fillRect/>
          </a:stretch>
        </p:blipFill>
        <p:spPr>
          <a:xfrm>
            <a:off x="0" y="6428745"/>
            <a:ext cx="6858000" cy="2831123"/>
          </a:xfrm>
          <a:prstGeom prst="rect">
            <a:avLst/>
          </a:prstGeom>
        </p:spPr>
      </p:pic>
      <p:sp>
        <p:nvSpPr>
          <p:cNvPr id="5" name="TextBox 4">
            <a:extLst>
              <a:ext uri="{FF2B5EF4-FFF2-40B4-BE49-F238E27FC236}">
                <a16:creationId xmlns:a16="http://schemas.microsoft.com/office/drawing/2014/main" id="{3417DCFD-B5EF-E0B8-F430-FC03F4EB5B6A}"/>
              </a:ext>
            </a:extLst>
          </p:cNvPr>
          <p:cNvSpPr txBox="1"/>
          <p:nvPr/>
        </p:nvSpPr>
        <p:spPr>
          <a:xfrm>
            <a:off x="0" y="5870713"/>
            <a:ext cx="2372139" cy="461665"/>
          </a:xfrm>
          <a:prstGeom prst="rect">
            <a:avLst/>
          </a:prstGeom>
          <a:noFill/>
        </p:spPr>
        <p:txBody>
          <a:bodyPr wrap="square" rtlCol="0">
            <a:spAutoFit/>
          </a:bodyPr>
          <a:lstStyle/>
          <a:p>
            <a:r>
              <a:rPr lang="en-US" sz="2400" b="1" dirty="0">
                <a:solidFill>
                  <a:schemeClr val="accent1"/>
                </a:solidFill>
              </a:rPr>
              <a:t>All together:</a:t>
            </a:r>
            <a:endParaRPr lang="en-IN" sz="2400" b="1" dirty="0">
              <a:solidFill>
                <a:schemeClr val="accent1"/>
              </a:solidFill>
            </a:endParaRPr>
          </a:p>
        </p:txBody>
      </p:sp>
    </p:spTree>
    <p:extLst>
      <p:ext uri="{BB962C8B-B14F-4D97-AF65-F5344CB8AC3E}">
        <p14:creationId xmlns:p14="http://schemas.microsoft.com/office/powerpoint/2010/main" val="3430669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952EB-6FCE-A2E5-F1DD-C496D5BEDD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217A28-A246-1EEC-462B-4CE213F182B6}"/>
              </a:ext>
            </a:extLst>
          </p:cNvPr>
          <p:cNvSpPr>
            <a:spLocks noGrp="1"/>
          </p:cNvSpPr>
          <p:nvPr>
            <p:ph idx="1"/>
          </p:nvPr>
        </p:nvSpPr>
        <p:spPr>
          <a:xfrm>
            <a:off x="0" y="1"/>
            <a:ext cx="6858000" cy="583095"/>
          </a:xfrm>
          <a:solidFill>
            <a:schemeClr val="accent1"/>
          </a:solidFill>
        </p:spPr>
        <p:txBody>
          <a:bodyPr>
            <a:normAutofit/>
          </a:bodyPr>
          <a:lstStyle/>
          <a:p>
            <a:pPr marL="0" indent="0">
              <a:buNone/>
            </a:pPr>
            <a:r>
              <a:rPr lang="en-US" sz="2400" b="1" dirty="0">
                <a:solidFill>
                  <a:schemeClr val="bg1"/>
                </a:solidFill>
              </a:rPr>
              <a:t>2. Vmanage: Single pane of Glass</a:t>
            </a:r>
            <a:endParaRPr lang="en-IN" sz="2400" b="1" dirty="0">
              <a:solidFill>
                <a:schemeClr val="bg1"/>
              </a:solidFill>
            </a:endParaRPr>
          </a:p>
        </p:txBody>
      </p:sp>
      <p:pic>
        <p:nvPicPr>
          <p:cNvPr id="5" name="Picture 4">
            <a:extLst>
              <a:ext uri="{FF2B5EF4-FFF2-40B4-BE49-F238E27FC236}">
                <a16:creationId xmlns:a16="http://schemas.microsoft.com/office/drawing/2014/main" id="{D513E241-7466-C6FB-26AA-769BFE53A9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83096"/>
            <a:ext cx="6858000" cy="3358747"/>
          </a:xfrm>
          <a:prstGeom prst="rect">
            <a:avLst/>
          </a:prstGeom>
        </p:spPr>
      </p:pic>
      <p:sp>
        <p:nvSpPr>
          <p:cNvPr id="7" name="TextBox 6">
            <a:extLst>
              <a:ext uri="{FF2B5EF4-FFF2-40B4-BE49-F238E27FC236}">
                <a16:creationId xmlns:a16="http://schemas.microsoft.com/office/drawing/2014/main" id="{81CB8474-E740-1165-17CF-07A9283AB648}"/>
              </a:ext>
            </a:extLst>
          </p:cNvPr>
          <p:cNvSpPr txBox="1"/>
          <p:nvPr/>
        </p:nvSpPr>
        <p:spPr>
          <a:xfrm>
            <a:off x="0" y="4142385"/>
            <a:ext cx="6858000" cy="4093428"/>
          </a:xfrm>
          <a:prstGeom prst="rect">
            <a:avLst/>
          </a:prstGeom>
          <a:noFill/>
        </p:spPr>
        <p:txBody>
          <a:bodyPr wrap="square">
            <a:spAutoFit/>
          </a:bodyPr>
          <a:lstStyle/>
          <a:p>
            <a:pPr algn="just"/>
            <a:r>
              <a:rPr lang="en-US" sz="2000" dirty="0"/>
              <a:t>The </a:t>
            </a:r>
            <a:r>
              <a:rPr lang="en-US" sz="2000" b="1" dirty="0" err="1"/>
              <a:t>vManage</a:t>
            </a:r>
            <a:r>
              <a:rPr lang="en-US" sz="2000" dirty="0"/>
              <a:t> platform is the centralized Network Management System (NMS) for the Cisco SD-WAN (Software-Defined Wide Area Network) solution. It serves as the single pane of glass for all day-to-day operations, including deployment, configuration, monitoring, and troubleshooting of the entire SD-WAN fabric.</a:t>
            </a:r>
          </a:p>
          <a:p>
            <a:pPr algn="just"/>
            <a:endParaRPr lang="en-US" sz="2000" dirty="0"/>
          </a:p>
          <a:p>
            <a:pPr algn="just"/>
            <a:r>
              <a:rPr lang="en-US" sz="2000" dirty="0"/>
              <a:t>In the SD-WAN architecture, </a:t>
            </a:r>
            <a:r>
              <a:rPr lang="en-US" sz="2000" dirty="0" err="1"/>
              <a:t>vManage</a:t>
            </a:r>
            <a:r>
              <a:rPr lang="en-US" sz="2000" dirty="0"/>
              <a:t> is the component that belongs to the </a:t>
            </a:r>
            <a:r>
              <a:rPr lang="en-US" sz="2000" b="1" dirty="0"/>
              <a:t>Management Plane</a:t>
            </a:r>
            <a:r>
              <a:rPr lang="en-US" sz="2000" dirty="0"/>
              <a:t>.</a:t>
            </a:r>
          </a:p>
          <a:p>
            <a:pPr algn="just"/>
            <a:endParaRPr lang="en-US" sz="2000" dirty="0"/>
          </a:p>
          <a:p>
            <a:pPr algn="just"/>
            <a:r>
              <a:rPr lang="en-US" sz="2000" dirty="0"/>
              <a:t>It provides a single graphical user interface (GUI) to configure and manage all devices in the SD-WAN overlay network, including WAN Edge routers, </a:t>
            </a:r>
            <a:r>
              <a:rPr lang="en-US" sz="2000" dirty="0" err="1"/>
              <a:t>vSmart</a:t>
            </a:r>
            <a:r>
              <a:rPr lang="en-US" sz="2000" dirty="0"/>
              <a:t> Controllers, and </a:t>
            </a:r>
            <a:r>
              <a:rPr lang="en-US" sz="2000" dirty="0" err="1"/>
              <a:t>vBond</a:t>
            </a:r>
            <a:r>
              <a:rPr lang="en-US" sz="2000" dirty="0"/>
              <a:t> Orchestrators.</a:t>
            </a:r>
            <a:endParaRPr lang="en-IN" sz="2000" dirty="0"/>
          </a:p>
        </p:txBody>
      </p:sp>
    </p:spTree>
    <p:extLst>
      <p:ext uri="{BB962C8B-B14F-4D97-AF65-F5344CB8AC3E}">
        <p14:creationId xmlns:p14="http://schemas.microsoft.com/office/powerpoint/2010/main" val="846851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DAF7B-C16E-AB1E-8B4A-24C515C8E4B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EF0F4AB-65C2-72D4-540B-2BC5C2DE7B48}"/>
              </a:ext>
            </a:extLst>
          </p:cNvPr>
          <p:cNvSpPr txBox="1"/>
          <p:nvPr/>
        </p:nvSpPr>
        <p:spPr>
          <a:xfrm>
            <a:off x="0" y="129185"/>
            <a:ext cx="6858000" cy="3170099"/>
          </a:xfrm>
          <a:prstGeom prst="rect">
            <a:avLst/>
          </a:prstGeom>
          <a:noFill/>
        </p:spPr>
        <p:txBody>
          <a:bodyPr wrap="square">
            <a:spAutoFit/>
          </a:bodyPr>
          <a:lstStyle/>
          <a:p>
            <a:pPr algn="just"/>
            <a:r>
              <a:rPr lang="en-US" sz="2000" dirty="0"/>
              <a:t>Administrators use </a:t>
            </a:r>
            <a:r>
              <a:rPr lang="en-US" sz="2000" dirty="0" err="1">
                <a:highlight>
                  <a:srgbClr val="FFFF00"/>
                </a:highlight>
              </a:rPr>
              <a:t>vManage</a:t>
            </a:r>
            <a:r>
              <a:rPr lang="en-US" sz="2000" dirty="0"/>
              <a:t> to create configuration templates and policies, which are then pushed out to the devices. By applying a template, a device is switched to </a:t>
            </a:r>
            <a:r>
              <a:rPr lang="en-US" sz="2000" b="1" dirty="0" err="1">
                <a:highlight>
                  <a:srgbClr val="FFFF00"/>
                </a:highlight>
              </a:rPr>
              <a:t>vManaged</a:t>
            </a:r>
            <a:r>
              <a:rPr lang="en-US" sz="2000" b="1" dirty="0">
                <a:highlight>
                  <a:srgbClr val="FFFF00"/>
                </a:highlight>
              </a:rPr>
              <a:t> mode</a:t>
            </a:r>
            <a:r>
              <a:rPr lang="en-US" sz="2000" dirty="0"/>
              <a:t>, where its configuration is centrally controlled by </a:t>
            </a:r>
            <a:r>
              <a:rPr lang="en-US" sz="2000" dirty="0" err="1"/>
              <a:t>vManage</a:t>
            </a:r>
            <a:r>
              <a:rPr lang="en-US" sz="2000" dirty="0"/>
              <a:t>, replacing local CLI configuration.</a:t>
            </a:r>
          </a:p>
          <a:p>
            <a:pPr algn="just"/>
            <a:endParaRPr lang="en-US" sz="2000" dirty="0"/>
          </a:p>
          <a:p>
            <a:pPr algn="just"/>
            <a:r>
              <a:rPr lang="en-US" sz="2000" dirty="0"/>
              <a:t>It utilizes protocols like </a:t>
            </a:r>
            <a:r>
              <a:rPr lang="en-US" sz="2000" dirty="0">
                <a:highlight>
                  <a:srgbClr val="FFFF00"/>
                </a:highlight>
              </a:rPr>
              <a:t>NETCONF/YANG</a:t>
            </a:r>
            <a:r>
              <a:rPr lang="en-US" sz="2000" dirty="0"/>
              <a:t> models to orchestrate policies to the rest of the SD-WAN infrastructure.</a:t>
            </a:r>
          </a:p>
          <a:p>
            <a:pPr algn="just"/>
            <a:endParaRPr lang="en-IN" sz="2000" dirty="0"/>
          </a:p>
          <a:p>
            <a:pPr algn="just"/>
            <a:endParaRPr lang="en-IN" sz="2000" dirty="0"/>
          </a:p>
        </p:txBody>
      </p:sp>
    </p:spTree>
    <p:extLst>
      <p:ext uri="{BB962C8B-B14F-4D97-AF65-F5344CB8AC3E}">
        <p14:creationId xmlns:p14="http://schemas.microsoft.com/office/powerpoint/2010/main" val="28975415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21D0-5BA0-B34D-43BE-F5F02F86D1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E2521E-CCFD-7D46-2A74-7E10E2F1E4F9}"/>
              </a:ext>
            </a:extLst>
          </p:cNvPr>
          <p:cNvSpPr>
            <a:spLocks noGrp="1"/>
          </p:cNvSpPr>
          <p:nvPr>
            <p:ph idx="1"/>
          </p:nvPr>
        </p:nvSpPr>
        <p:spPr>
          <a:xfrm>
            <a:off x="0" y="1"/>
            <a:ext cx="6858000" cy="583095"/>
          </a:xfrm>
          <a:solidFill>
            <a:schemeClr val="accent1"/>
          </a:solidFill>
        </p:spPr>
        <p:txBody>
          <a:bodyPr>
            <a:normAutofit/>
          </a:bodyPr>
          <a:lstStyle/>
          <a:p>
            <a:pPr marL="0" indent="0">
              <a:buNone/>
            </a:pPr>
            <a:r>
              <a:rPr lang="en-US" sz="2400" b="1" dirty="0">
                <a:solidFill>
                  <a:schemeClr val="bg1"/>
                </a:solidFill>
              </a:rPr>
              <a:t>3. What we see in Cisco’s Documentation</a:t>
            </a:r>
            <a:endParaRPr lang="en-IN" sz="2400" b="1" dirty="0">
              <a:solidFill>
                <a:schemeClr val="bg1"/>
              </a:solidFill>
            </a:endParaRPr>
          </a:p>
        </p:txBody>
      </p:sp>
      <p:sp>
        <p:nvSpPr>
          <p:cNvPr id="7" name="TextBox 6">
            <a:extLst>
              <a:ext uri="{FF2B5EF4-FFF2-40B4-BE49-F238E27FC236}">
                <a16:creationId xmlns:a16="http://schemas.microsoft.com/office/drawing/2014/main" id="{21293D3B-4E3A-DB99-6062-17B79A30ABC0}"/>
              </a:ext>
            </a:extLst>
          </p:cNvPr>
          <p:cNvSpPr txBox="1"/>
          <p:nvPr/>
        </p:nvSpPr>
        <p:spPr>
          <a:xfrm>
            <a:off x="-1" y="4084793"/>
            <a:ext cx="6858000" cy="1323439"/>
          </a:xfrm>
          <a:prstGeom prst="rect">
            <a:avLst/>
          </a:prstGeom>
          <a:noFill/>
        </p:spPr>
        <p:txBody>
          <a:bodyPr wrap="square">
            <a:spAutoFit/>
          </a:bodyPr>
          <a:lstStyle/>
          <a:p>
            <a:pPr algn="just"/>
            <a:r>
              <a:rPr lang="en-US" sz="2000" b="1" dirty="0" err="1">
                <a:highlight>
                  <a:srgbClr val="FFFF00"/>
                </a:highlight>
              </a:rPr>
              <a:t>vEdge</a:t>
            </a:r>
            <a:r>
              <a:rPr lang="en-US" sz="2000" dirty="0">
                <a:highlight>
                  <a:srgbClr val="FFFF00"/>
                </a:highlight>
              </a:rPr>
              <a:t> and </a:t>
            </a:r>
            <a:r>
              <a:rPr lang="en-US" sz="2000" b="1" dirty="0" err="1">
                <a:highlight>
                  <a:srgbClr val="FFFF00"/>
                </a:highlight>
              </a:rPr>
              <a:t>cEdge</a:t>
            </a:r>
            <a:r>
              <a:rPr lang="en-US" sz="2000" dirty="0">
                <a:highlight>
                  <a:srgbClr val="FFFF00"/>
                </a:highlight>
              </a:rPr>
              <a:t> </a:t>
            </a:r>
            <a:r>
              <a:rPr lang="en-US" sz="2000" dirty="0"/>
              <a:t>are the two primary types of WAN Edge Routers. These devices sit at the perimeter of a site (like a branch office, data center, or cloud) and perform the data plane functions, forming the secure overlay fabric.</a:t>
            </a:r>
            <a:endParaRPr lang="en-IN" sz="2000" dirty="0"/>
          </a:p>
        </p:txBody>
      </p:sp>
      <p:pic>
        <p:nvPicPr>
          <p:cNvPr id="8" name="Picture 7">
            <a:extLst>
              <a:ext uri="{FF2B5EF4-FFF2-40B4-BE49-F238E27FC236}">
                <a16:creationId xmlns:a16="http://schemas.microsoft.com/office/drawing/2014/main" id="{42C81409-B360-C536-EBD5-C8367FB4A3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36" y="766449"/>
            <a:ext cx="6534127" cy="3134991"/>
          </a:xfrm>
          <a:prstGeom prst="rect">
            <a:avLst/>
          </a:prstGeom>
        </p:spPr>
      </p:pic>
    </p:spTree>
    <p:extLst>
      <p:ext uri="{BB962C8B-B14F-4D97-AF65-F5344CB8AC3E}">
        <p14:creationId xmlns:p14="http://schemas.microsoft.com/office/powerpoint/2010/main" val="31935403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BBAA6-B650-D20E-97A7-0E56D3845AF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C0959-DF79-4C7B-3A58-8B66DFB00799}"/>
              </a:ext>
            </a:extLst>
          </p:cNvPr>
          <p:cNvSpPr>
            <a:spLocks noGrp="1"/>
          </p:cNvSpPr>
          <p:nvPr>
            <p:ph idx="1"/>
          </p:nvPr>
        </p:nvSpPr>
        <p:spPr>
          <a:xfrm>
            <a:off x="0" y="1"/>
            <a:ext cx="6858000" cy="583095"/>
          </a:xfrm>
          <a:solidFill>
            <a:schemeClr val="accent1"/>
          </a:solidFill>
        </p:spPr>
        <p:txBody>
          <a:bodyPr>
            <a:normAutofit/>
          </a:bodyPr>
          <a:lstStyle/>
          <a:p>
            <a:pPr marL="0" indent="0">
              <a:buNone/>
            </a:pPr>
            <a:r>
              <a:rPr lang="en-US" sz="2400" b="1" dirty="0">
                <a:solidFill>
                  <a:schemeClr val="bg1"/>
                </a:solidFill>
              </a:rPr>
              <a:t>3. Why we are learning SD-WAN?</a:t>
            </a:r>
            <a:endParaRPr lang="en-IN" sz="2400" b="1" dirty="0">
              <a:solidFill>
                <a:schemeClr val="bg1"/>
              </a:solidFill>
            </a:endParaRPr>
          </a:p>
        </p:txBody>
      </p:sp>
      <p:sp>
        <p:nvSpPr>
          <p:cNvPr id="2" name="TextBox 1">
            <a:extLst>
              <a:ext uri="{FF2B5EF4-FFF2-40B4-BE49-F238E27FC236}">
                <a16:creationId xmlns:a16="http://schemas.microsoft.com/office/drawing/2014/main" id="{5B9C547C-C06F-C24B-D2D8-799D0ED2A989}"/>
              </a:ext>
            </a:extLst>
          </p:cNvPr>
          <p:cNvSpPr txBox="1"/>
          <p:nvPr/>
        </p:nvSpPr>
        <p:spPr>
          <a:xfrm>
            <a:off x="0" y="675861"/>
            <a:ext cx="6858000" cy="3139321"/>
          </a:xfrm>
          <a:prstGeom prst="rect">
            <a:avLst/>
          </a:prstGeom>
          <a:noFill/>
        </p:spPr>
        <p:txBody>
          <a:bodyPr wrap="square" rtlCol="0">
            <a:spAutoFit/>
          </a:bodyPr>
          <a:lstStyle/>
          <a:p>
            <a:r>
              <a:rPr lang="en-US" dirty="0"/>
              <a:t>CIA</a:t>
            </a:r>
          </a:p>
          <a:p>
            <a:endParaRPr lang="en-US" dirty="0"/>
          </a:p>
          <a:p>
            <a:r>
              <a:rPr lang="en-US" b="1" dirty="0"/>
              <a:t>DTLS (Datagram Transport Layer Security)</a:t>
            </a:r>
            <a:r>
              <a:rPr lang="en-US" dirty="0"/>
              <a:t> is a communications protocol designed to provide security for applications that use datagram transport protocols, most commonly </a:t>
            </a:r>
            <a:r>
              <a:rPr lang="en-US" b="1" dirty="0"/>
              <a:t>UDP (User Datagram Protocol)</a:t>
            </a:r>
          </a:p>
          <a:p>
            <a:r>
              <a:rPr lang="en-US" dirty="0"/>
              <a:t>t is essentially an adaptation of the stream-oriented </a:t>
            </a:r>
            <a:r>
              <a:rPr lang="en-US" b="1" dirty="0"/>
              <a:t>TLS (Transport Layer Security)</a:t>
            </a:r>
            <a:r>
              <a:rPr lang="en-US" dirty="0"/>
              <a:t> protocol, providing similar security guarantees—such as </a:t>
            </a:r>
            <a:r>
              <a:rPr lang="en-US" b="1" dirty="0"/>
              <a:t>confidentiality</a:t>
            </a:r>
            <a:r>
              <a:rPr lang="en-US" dirty="0"/>
              <a:t>, </a:t>
            </a:r>
            <a:r>
              <a:rPr lang="en-US" b="1" dirty="0"/>
              <a:t>integrity</a:t>
            </a:r>
            <a:r>
              <a:rPr lang="en-US" dirty="0"/>
              <a:t>, and </a:t>
            </a:r>
            <a:r>
              <a:rPr lang="en-US" b="1" dirty="0"/>
              <a:t>authenticity</a:t>
            </a:r>
            <a:r>
              <a:rPr lang="en-US" dirty="0"/>
              <a:t>—but is specifically engineered to handle the unreliable nature of datagrams (packet loss, reordering, and duplication).</a:t>
            </a:r>
            <a:endParaRPr lang="en-IN" dirty="0"/>
          </a:p>
        </p:txBody>
      </p:sp>
    </p:spTree>
    <p:extLst>
      <p:ext uri="{BB962C8B-B14F-4D97-AF65-F5344CB8AC3E}">
        <p14:creationId xmlns:p14="http://schemas.microsoft.com/office/powerpoint/2010/main" val="13733787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59311-01E2-5607-19BE-7B673CECEE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BC531C-5595-3C23-6566-6CB126809B96}"/>
              </a:ext>
            </a:extLst>
          </p:cNvPr>
          <p:cNvSpPr>
            <a:spLocks noGrp="1"/>
          </p:cNvSpPr>
          <p:nvPr>
            <p:ph type="ctrTitle"/>
          </p:nvPr>
        </p:nvSpPr>
        <p:spPr>
          <a:xfrm>
            <a:off x="0" y="0"/>
            <a:ext cx="6858000" cy="834887"/>
          </a:xfrm>
          <a:solidFill>
            <a:schemeClr val="accent2"/>
          </a:solidFill>
        </p:spPr>
        <p:txBody>
          <a:bodyPr>
            <a:normAutofit/>
          </a:bodyPr>
          <a:lstStyle/>
          <a:p>
            <a:r>
              <a:rPr lang="en-US" b="1" dirty="0">
                <a:solidFill>
                  <a:schemeClr val="bg1"/>
                </a:solidFill>
              </a:rPr>
              <a:t>SD-WAN (D-2)</a:t>
            </a:r>
            <a:endParaRPr lang="en-IN" b="1" dirty="0">
              <a:solidFill>
                <a:schemeClr val="bg1"/>
              </a:solidFill>
            </a:endParaRPr>
          </a:p>
        </p:txBody>
      </p:sp>
      <p:graphicFrame>
        <p:nvGraphicFramePr>
          <p:cNvPr id="5" name="Diagram 4">
            <a:extLst>
              <a:ext uri="{FF2B5EF4-FFF2-40B4-BE49-F238E27FC236}">
                <a16:creationId xmlns:a16="http://schemas.microsoft.com/office/drawing/2014/main" id="{C0F44F6B-6F7D-4A98-A7FC-DB0B84048FA7}"/>
              </a:ext>
            </a:extLst>
          </p:cNvPr>
          <p:cNvGraphicFramePr/>
          <p:nvPr>
            <p:extLst>
              <p:ext uri="{D42A27DB-BD31-4B8C-83A1-F6EECF244321}">
                <p14:modId xmlns:p14="http://schemas.microsoft.com/office/powerpoint/2010/main" val="4150345719"/>
              </p:ext>
            </p:extLst>
          </p:nvPr>
        </p:nvGraphicFramePr>
        <p:xfrm>
          <a:off x="182217" y="834887"/>
          <a:ext cx="6493565" cy="4028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0756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8D6EC-2DE5-5A2B-40ED-7BC4703E9E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746F6B-9B9F-12D2-22CF-D2A3379A0710}"/>
              </a:ext>
            </a:extLst>
          </p:cNvPr>
          <p:cNvSpPr>
            <a:spLocks noGrp="1"/>
          </p:cNvSpPr>
          <p:nvPr>
            <p:ph type="ctrTitle"/>
          </p:nvPr>
        </p:nvSpPr>
        <p:spPr>
          <a:xfrm>
            <a:off x="0" y="0"/>
            <a:ext cx="6858000" cy="834887"/>
          </a:xfrm>
          <a:solidFill>
            <a:schemeClr val="accent2"/>
          </a:solidFill>
        </p:spPr>
        <p:txBody>
          <a:bodyPr>
            <a:normAutofit/>
          </a:bodyPr>
          <a:lstStyle/>
          <a:p>
            <a:r>
              <a:rPr lang="en-US" b="1" dirty="0">
                <a:solidFill>
                  <a:schemeClr val="bg1"/>
                </a:solidFill>
              </a:rPr>
              <a:t>SD-WAN (D-2 )</a:t>
            </a:r>
            <a:endParaRPr lang="en-IN" b="1" dirty="0">
              <a:solidFill>
                <a:schemeClr val="bg1"/>
              </a:solidFill>
            </a:endParaRPr>
          </a:p>
        </p:txBody>
      </p:sp>
      <p:pic>
        <p:nvPicPr>
          <p:cNvPr id="7" name="Picture 6">
            <a:extLst>
              <a:ext uri="{FF2B5EF4-FFF2-40B4-BE49-F238E27FC236}">
                <a16:creationId xmlns:a16="http://schemas.microsoft.com/office/drawing/2014/main" id="{3A7E0924-A488-8AF1-825D-7E415BF57796}"/>
              </a:ext>
            </a:extLst>
          </p:cNvPr>
          <p:cNvPicPr>
            <a:picLocks noChangeAspect="1"/>
          </p:cNvPicPr>
          <p:nvPr/>
        </p:nvPicPr>
        <p:blipFill>
          <a:blip r:embed="rId2"/>
          <a:stretch>
            <a:fillRect/>
          </a:stretch>
        </p:blipFill>
        <p:spPr>
          <a:xfrm>
            <a:off x="208721" y="999782"/>
            <a:ext cx="6440557" cy="3328006"/>
          </a:xfrm>
          <a:prstGeom prst="rect">
            <a:avLst/>
          </a:prstGeom>
        </p:spPr>
      </p:pic>
      <p:pic>
        <p:nvPicPr>
          <p:cNvPr id="9" name="Picture 8">
            <a:extLst>
              <a:ext uri="{FF2B5EF4-FFF2-40B4-BE49-F238E27FC236}">
                <a16:creationId xmlns:a16="http://schemas.microsoft.com/office/drawing/2014/main" id="{1D7ECBA3-E39A-0B78-B570-D718D1C4C124}"/>
              </a:ext>
            </a:extLst>
          </p:cNvPr>
          <p:cNvPicPr>
            <a:picLocks noChangeAspect="1"/>
          </p:cNvPicPr>
          <p:nvPr/>
        </p:nvPicPr>
        <p:blipFill>
          <a:blip r:embed="rId3"/>
          <a:stretch>
            <a:fillRect/>
          </a:stretch>
        </p:blipFill>
        <p:spPr>
          <a:xfrm>
            <a:off x="417442" y="4891854"/>
            <a:ext cx="2634981" cy="2720209"/>
          </a:xfrm>
          <a:prstGeom prst="rect">
            <a:avLst/>
          </a:prstGeom>
        </p:spPr>
      </p:pic>
      <p:sp>
        <p:nvSpPr>
          <p:cNvPr id="10" name="TextBox 9">
            <a:extLst>
              <a:ext uri="{FF2B5EF4-FFF2-40B4-BE49-F238E27FC236}">
                <a16:creationId xmlns:a16="http://schemas.microsoft.com/office/drawing/2014/main" id="{21E046FC-D95A-1899-CE62-25941D34532B}"/>
              </a:ext>
            </a:extLst>
          </p:cNvPr>
          <p:cNvSpPr txBox="1"/>
          <p:nvPr/>
        </p:nvSpPr>
        <p:spPr>
          <a:xfrm>
            <a:off x="3261145" y="5032113"/>
            <a:ext cx="3596855" cy="923330"/>
          </a:xfrm>
          <a:prstGeom prst="rect">
            <a:avLst/>
          </a:prstGeom>
          <a:noFill/>
        </p:spPr>
        <p:txBody>
          <a:bodyPr wrap="square" rtlCol="0">
            <a:spAutoFit/>
          </a:bodyPr>
          <a:lstStyle/>
          <a:p>
            <a:r>
              <a:rPr lang="en-US" dirty="0"/>
              <a:t>Step1:</a:t>
            </a:r>
            <a:br>
              <a:rPr lang="en-US" dirty="0"/>
            </a:br>
            <a:r>
              <a:rPr lang="en-US" dirty="0"/>
              <a:t>HDFC sends its public key K with hash value.  </a:t>
            </a:r>
            <a:endParaRPr lang="en-IN" dirty="0"/>
          </a:p>
        </p:txBody>
      </p:sp>
      <p:sp>
        <p:nvSpPr>
          <p:cNvPr id="3" name="TextBox 2">
            <a:extLst>
              <a:ext uri="{FF2B5EF4-FFF2-40B4-BE49-F238E27FC236}">
                <a16:creationId xmlns:a16="http://schemas.microsoft.com/office/drawing/2014/main" id="{10463579-9B9E-504C-92A7-3A4EB234119B}"/>
              </a:ext>
            </a:extLst>
          </p:cNvPr>
          <p:cNvSpPr txBox="1"/>
          <p:nvPr/>
        </p:nvSpPr>
        <p:spPr>
          <a:xfrm>
            <a:off x="208722" y="7924849"/>
            <a:ext cx="6440556" cy="1200329"/>
          </a:xfrm>
          <a:prstGeom prst="rect">
            <a:avLst/>
          </a:prstGeom>
          <a:noFill/>
        </p:spPr>
        <p:txBody>
          <a:bodyPr wrap="square" rtlCol="0">
            <a:spAutoFit/>
          </a:bodyPr>
          <a:lstStyle/>
          <a:p>
            <a:r>
              <a:rPr lang="en-US" dirty="0"/>
              <a:t>A symmetric used for securely exchange secret keys, then both side will securely using symmetric secret keys.</a:t>
            </a:r>
          </a:p>
          <a:p>
            <a:r>
              <a:rPr lang="en-US" dirty="0" err="1"/>
              <a:t>Vsmart</a:t>
            </a:r>
            <a:r>
              <a:rPr lang="en-US" dirty="0"/>
              <a:t> device taking care of key change problem. It will distribute algorithms.</a:t>
            </a:r>
            <a:endParaRPr lang="en-IN" dirty="0"/>
          </a:p>
        </p:txBody>
      </p:sp>
    </p:spTree>
    <p:extLst>
      <p:ext uri="{BB962C8B-B14F-4D97-AF65-F5344CB8AC3E}">
        <p14:creationId xmlns:p14="http://schemas.microsoft.com/office/powerpoint/2010/main" val="23089011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1E0A402-84FD-D572-40C7-BC00C69566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FD3E7C-4083-C1CF-5993-8EF1251F465D}"/>
              </a:ext>
            </a:extLst>
          </p:cNvPr>
          <p:cNvSpPr>
            <a:spLocks noGrp="1"/>
          </p:cNvSpPr>
          <p:nvPr>
            <p:ph type="ctrTitle"/>
          </p:nvPr>
        </p:nvSpPr>
        <p:spPr>
          <a:xfrm>
            <a:off x="0" y="0"/>
            <a:ext cx="6858000" cy="834887"/>
          </a:xfrm>
          <a:solidFill>
            <a:schemeClr val="accent2"/>
          </a:solidFill>
        </p:spPr>
        <p:txBody>
          <a:bodyPr>
            <a:normAutofit/>
          </a:bodyPr>
          <a:lstStyle/>
          <a:p>
            <a:r>
              <a:rPr lang="en-US" b="1" dirty="0">
                <a:solidFill>
                  <a:schemeClr val="bg1"/>
                </a:solidFill>
              </a:rPr>
              <a:t>SD-WAN (D-2 )</a:t>
            </a:r>
            <a:endParaRPr lang="en-IN" b="1" dirty="0">
              <a:solidFill>
                <a:schemeClr val="bg1"/>
              </a:solidFill>
            </a:endParaRPr>
          </a:p>
        </p:txBody>
      </p:sp>
      <p:sp>
        <p:nvSpPr>
          <p:cNvPr id="4" name="TextBox 3">
            <a:extLst>
              <a:ext uri="{FF2B5EF4-FFF2-40B4-BE49-F238E27FC236}">
                <a16:creationId xmlns:a16="http://schemas.microsoft.com/office/drawing/2014/main" id="{C0099AB1-EEB4-505F-6D1B-858C8810464F}"/>
              </a:ext>
            </a:extLst>
          </p:cNvPr>
          <p:cNvSpPr txBox="1"/>
          <p:nvPr/>
        </p:nvSpPr>
        <p:spPr>
          <a:xfrm>
            <a:off x="0" y="834887"/>
            <a:ext cx="6858000" cy="738664"/>
          </a:xfrm>
          <a:prstGeom prst="rect">
            <a:avLst/>
          </a:prstGeom>
          <a:noFill/>
        </p:spPr>
        <p:txBody>
          <a:bodyPr wrap="square" rtlCol="0">
            <a:spAutoFit/>
          </a:bodyPr>
          <a:lstStyle/>
          <a:p>
            <a:r>
              <a:rPr lang="en-US" sz="2400" dirty="0">
                <a:solidFill>
                  <a:schemeClr val="bg1"/>
                </a:solidFill>
              </a:rPr>
              <a:t>6. Let’s talk about our lab (In GCP)</a:t>
            </a:r>
          </a:p>
          <a:p>
            <a:endParaRPr lang="en-IN" dirty="0">
              <a:solidFill>
                <a:schemeClr val="bg1"/>
              </a:solidFill>
            </a:endParaRPr>
          </a:p>
        </p:txBody>
      </p:sp>
      <p:pic>
        <p:nvPicPr>
          <p:cNvPr id="25" name="Picture 24">
            <a:extLst>
              <a:ext uri="{FF2B5EF4-FFF2-40B4-BE49-F238E27FC236}">
                <a16:creationId xmlns:a16="http://schemas.microsoft.com/office/drawing/2014/main" id="{3AD0FFFB-A3FE-9557-199B-F5D7F5CBDC3E}"/>
              </a:ext>
            </a:extLst>
          </p:cNvPr>
          <p:cNvPicPr>
            <a:picLocks noChangeAspect="1"/>
          </p:cNvPicPr>
          <p:nvPr/>
        </p:nvPicPr>
        <p:blipFill>
          <a:blip r:embed="rId2"/>
          <a:stretch>
            <a:fillRect/>
          </a:stretch>
        </p:blipFill>
        <p:spPr>
          <a:xfrm>
            <a:off x="1304360" y="1867773"/>
            <a:ext cx="4249280" cy="45297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6" name="TextBox 25">
            <a:extLst>
              <a:ext uri="{FF2B5EF4-FFF2-40B4-BE49-F238E27FC236}">
                <a16:creationId xmlns:a16="http://schemas.microsoft.com/office/drawing/2014/main" id="{AE7B085B-C673-0D91-405D-A39864E9D2B1}"/>
              </a:ext>
            </a:extLst>
          </p:cNvPr>
          <p:cNvSpPr txBox="1"/>
          <p:nvPr/>
        </p:nvSpPr>
        <p:spPr>
          <a:xfrm>
            <a:off x="5553640" y="3553514"/>
            <a:ext cx="1138708" cy="369332"/>
          </a:xfrm>
          <a:prstGeom prst="rect">
            <a:avLst/>
          </a:prstGeom>
          <a:noFill/>
        </p:spPr>
        <p:txBody>
          <a:bodyPr wrap="square" rtlCol="0">
            <a:spAutoFit/>
          </a:bodyPr>
          <a:lstStyle/>
          <a:p>
            <a:r>
              <a:rPr lang="en-US" dirty="0"/>
              <a:t>UNL</a:t>
            </a:r>
            <a:endParaRPr lang="en-IN" dirty="0"/>
          </a:p>
        </p:txBody>
      </p:sp>
    </p:spTree>
    <p:extLst>
      <p:ext uri="{BB962C8B-B14F-4D97-AF65-F5344CB8AC3E}">
        <p14:creationId xmlns:p14="http://schemas.microsoft.com/office/powerpoint/2010/main" val="25315310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069A6-309B-6A71-56AD-F5198B64F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E18EC1-143E-DD3C-98DF-161E16E316F7}"/>
              </a:ext>
            </a:extLst>
          </p:cNvPr>
          <p:cNvSpPr>
            <a:spLocks noGrp="1"/>
          </p:cNvSpPr>
          <p:nvPr>
            <p:ph type="ctrTitle"/>
          </p:nvPr>
        </p:nvSpPr>
        <p:spPr>
          <a:xfrm>
            <a:off x="0" y="0"/>
            <a:ext cx="6858000" cy="834887"/>
          </a:xfrm>
          <a:solidFill>
            <a:schemeClr val="accent2"/>
          </a:solidFill>
        </p:spPr>
        <p:txBody>
          <a:bodyPr>
            <a:normAutofit/>
          </a:bodyPr>
          <a:lstStyle/>
          <a:p>
            <a:r>
              <a:rPr lang="en-US" b="1" dirty="0">
                <a:solidFill>
                  <a:schemeClr val="bg1"/>
                </a:solidFill>
              </a:rPr>
              <a:t>SD-WAN (D-3)</a:t>
            </a:r>
            <a:endParaRPr lang="en-IN" b="1" dirty="0">
              <a:solidFill>
                <a:schemeClr val="bg1"/>
              </a:solidFill>
            </a:endParaRPr>
          </a:p>
        </p:txBody>
      </p:sp>
      <p:graphicFrame>
        <p:nvGraphicFramePr>
          <p:cNvPr id="6" name="Diagram 5">
            <a:extLst>
              <a:ext uri="{FF2B5EF4-FFF2-40B4-BE49-F238E27FC236}">
                <a16:creationId xmlns:a16="http://schemas.microsoft.com/office/drawing/2014/main" id="{E857E558-005F-F5AA-151C-C1CFEB39C9B4}"/>
              </a:ext>
            </a:extLst>
          </p:cNvPr>
          <p:cNvGraphicFramePr/>
          <p:nvPr>
            <p:extLst>
              <p:ext uri="{D42A27DB-BD31-4B8C-83A1-F6EECF244321}">
                <p14:modId xmlns:p14="http://schemas.microsoft.com/office/powerpoint/2010/main" val="2936567421"/>
              </p:ext>
            </p:extLst>
          </p:nvPr>
        </p:nvGraphicFramePr>
        <p:xfrm>
          <a:off x="0" y="960120"/>
          <a:ext cx="6858000" cy="4785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394016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4819</TotalTime>
  <Words>2810</Words>
  <Application>Microsoft Office PowerPoint</Application>
  <PresentationFormat>Custom</PresentationFormat>
  <Paragraphs>242</Paragraphs>
  <Slides>31</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Wingdings</vt:lpstr>
      <vt:lpstr>Office Theme</vt:lpstr>
      <vt:lpstr>PowerPoint Presentation</vt:lpstr>
      <vt:lpstr>TOPICS</vt:lpstr>
      <vt:lpstr>1-CAMPUS AREA NETWORK</vt:lpstr>
      <vt:lpstr>2-WIDE AREA NETWORK</vt:lpstr>
      <vt:lpstr>WAN-EVOLUTION</vt:lpstr>
      <vt:lpstr>PowerPoint Presentation</vt:lpstr>
      <vt:lpstr>PowerPoint Presentation</vt:lpstr>
      <vt:lpstr>PowerPoint Presentation</vt:lpstr>
      <vt:lpstr>PowerPoint Presentation</vt:lpstr>
      <vt:lpstr>PowerPoint Presentation</vt:lpstr>
      <vt:lpstr>3-Design Of An Enterprise network</vt:lpstr>
      <vt:lpstr>Issues Of Traditional Enterprise network (WAN)</vt:lpstr>
      <vt:lpstr>Issues Of Traditional Enterprise network (WAN)</vt:lpstr>
      <vt:lpstr>SD-WAN INTRO</vt:lpstr>
      <vt:lpstr>SDWAN – D1 (INTRO – V V V)</vt:lpstr>
      <vt:lpstr>1. SD-WAN solution a big puzzle</vt:lpstr>
      <vt:lpstr>PowerPoint Presentation</vt:lpstr>
      <vt:lpstr>3. Tunneling (gre) – Already done</vt:lpstr>
      <vt:lpstr>SD-WAN (D-2)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SD-WAN (D-2)</vt:lpstr>
      <vt:lpstr>SD-WAN (D-2 )</vt:lpstr>
      <vt:lpstr>SD-WAN (D-2 )</vt:lpstr>
      <vt:lpstr>SD-WAN (D-3)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Shankar Pradhan</dc:creator>
  <cp:lastModifiedBy>Shankar Pradhan</cp:lastModifiedBy>
  <cp:revision>90</cp:revision>
  <dcterms:created xsi:type="dcterms:W3CDTF">2025-10-07T17:30:42Z</dcterms:created>
  <dcterms:modified xsi:type="dcterms:W3CDTF">2025-10-22T07:04:53Z</dcterms:modified>
</cp:coreProperties>
</file>