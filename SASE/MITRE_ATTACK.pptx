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</p:sldIdLst>
  <p:sldSz cx="6858000" cy="10007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75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2357" y="-38"/>
      </p:cViewPr>
      <p:guideLst>
        <p:guide orient="horz" pos="3175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37819"/>
            <a:ext cx="5829300" cy="348412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56307"/>
            <a:ext cx="5143500" cy="241618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4817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1218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94953"/>
            <a:ext cx="5915025" cy="416288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97218"/>
            <a:ext cx="5915025" cy="218916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6072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64060"/>
            <a:ext cx="2914650" cy="63497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64060"/>
            <a:ext cx="2914650" cy="63497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352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32814"/>
            <a:ext cx="5915025" cy="19343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53253"/>
            <a:ext cx="2901255" cy="120230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55554"/>
            <a:ext cx="2901255" cy="53767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53253"/>
            <a:ext cx="2915543" cy="120230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55554"/>
            <a:ext cx="2915543" cy="53767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300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7642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0420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7173"/>
            <a:ext cx="2211884" cy="233510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40911"/>
            <a:ext cx="3471863" cy="711188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02280"/>
            <a:ext cx="2211884" cy="556209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320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7173"/>
            <a:ext cx="2211884" cy="233510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40911"/>
            <a:ext cx="3471863" cy="711188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02280"/>
            <a:ext cx="2211884" cy="556209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4583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3544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32812"/>
            <a:ext cx="1478756" cy="848097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32812"/>
            <a:ext cx="4350544" cy="848097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03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32814"/>
            <a:ext cx="5915025" cy="19343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64060"/>
            <a:ext cx="5915025" cy="6349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275565"/>
            <a:ext cx="1543050" cy="5328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287AAC-0904-45BE-AAD3-E44DE8BFCF4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275565"/>
            <a:ext cx="2314575" cy="5328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275565"/>
            <a:ext cx="1543050" cy="5328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3F8363-F3C2-456C-8ED4-C9FB645A8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432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udemy.com/user/christopher-nett-4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A4CB0C-E6ED-A768-BE8A-6C74791B1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1443038"/>
          </a:xfrm>
          <a:solidFill>
            <a:schemeClr val="accent2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MITRE ATT &amp; CK Framework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By </a:t>
            </a:r>
            <a:r>
              <a:rPr lang="en-IN" sz="3200" b="1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Christopher Nett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771BD3-856A-FF8C-03E2-E12CA3876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28" y="1726725"/>
            <a:ext cx="5872144" cy="2979976"/>
          </a:xfrm>
          <a:prstGeom prst="rect">
            <a:avLst/>
          </a:prstGeom>
        </p:spPr>
      </p:pic>
      <p:sp>
        <p:nvSpPr>
          <p:cNvPr id="9" name="Title 3">
            <a:extLst>
              <a:ext uri="{FF2B5EF4-FFF2-40B4-BE49-F238E27FC236}">
                <a16:creationId xmlns:a16="http://schemas.microsoft.com/office/drawing/2014/main" id="{13B645AC-91A8-B2BA-D397-B38F5CEFE54D}"/>
              </a:ext>
            </a:extLst>
          </p:cNvPr>
          <p:cNvSpPr txBox="1">
            <a:spLocks/>
          </p:cNvSpPr>
          <p:nvPr/>
        </p:nvSpPr>
        <p:spPr>
          <a:xfrm>
            <a:off x="0" y="5215175"/>
            <a:ext cx="6858000" cy="971313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chemeClr val="bg1"/>
                </a:solidFill>
              </a:rPr>
              <a:t>Cyber Security Challenges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E81253-434F-6FBB-3082-9C7498418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885" y="6486043"/>
            <a:ext cx="6307940" cy="283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384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73DA3-B830-E7FA-BE11-CDE3050A3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F2B71-967A-0A6A-3A4B-D55A1FF05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2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MITRE ATT &amp; CK Framework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D1AA0D-17CE-34D5-F2D1-A71144FC1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42" y="985838"/>
            <a:ext cx="6483515" cy="38885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CFE969-4EE0-F1BC-9C50-4377A9428B01}"/>
              </a:ext>
            </a:extLst>
          </p:cNvPr>
          <p:cNvSpPr txBox="1"/>
          <p:nvPr/>
        </p:nvSpPr>
        <p:spPr>
          <a:xfrm>
            <a:off x="187242" y="5014406"/>
            <a:ext cx="648351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/>
              <a:t>A Security Operations Center is a team that continuously monitors, detects, analyzes, and responds to cybersecurity threats in an organization. </a:t>
            </a:r>
          </a:p>
          <a:p>
            <a:pPr algn="just"/>
            <a:endParaRPr lang="en-US" sz="2000" dirty="0"/>
          </a:p>
          <a:p>
            <a:pPr algn="just"/>
            <a:endParaRPr lang="en-US" sz="2000" dirty="0"/>
          </a:p>
          <a:p>
            <a:pPr algn="just"/>
            <a:endParaRPr lang="en-US" sz="2000" dirty="0"/>
          </a:p>
          <a:p>
            <a:pPr algn="just"/>
            <a:endParaRPr lang="en-I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A585B0-BB76-4E44-97AB-E27FAC005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6283840"/>
            <a:ext cx="5943601" cy="294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559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71261-160B-1FB3-2ABA-3B2AAE628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84D27A-9F05-D74E-8B4F-8D4DB042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2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Security Incident &amp; Response</a:t>
            </a:r>
            <a:endParaRPr lang="en-IN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6518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7486B-8505-F509-99D4-379DB09FF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F97274-BDEF-8921-3C6C-277FC21CA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2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Blue, Red, &amp; Purple Teaming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511FB9-39EC-E4E4-7C38-B8AA562D9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96" y="955040"/>
            <a:ext cx="6402607" cy="36860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178EF7-D7FE-7B73-6660-91E9C05E2036}"/>
              </a:ext>
            </a:extLst>
          </p:cNvPr>
          <p:cNvSpPr txBox="1"/>
          <p:nvPr/>
        </p:nvSpPr>
        <p:spPr>
          <a:xfrm>
            <a:off x="227696" y="4768769"/>
            <a:ext cx="6402606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</a:t>
            </a:r>
            <a:r>
              <a:rPr lang="en-US" b="1" dirty="0"/>
              <a:t>Blue Team cybersecurity</a:t>
            </a:r>
            <a:r>
              <a:rPr lang="en-US" dirty="0"/>
              <a:t>, the goal is to defend an organization’s systems, detect attacks, and respond quickly.</a:t>
            </a:r>
          </a:p>
          <a:p>
            <a:r>
              <a:rPr lang="en-US" dirty="0"/>
              <a:t>Blue team:</a:t>
            </a:r>
            <a:br>
              <a:rPr lang="en-US" dirty="0"/>
            </a:br>
            <a:r>
              <a:rPr lang="en-US" dirty="0"/>
              <a:t>Security monitoring: </a:t>
            </a:r>
          </a:p>
          <a:p>
            <a:r>
              <a:rPr lang="en-US" dirty="0"/>
              <a:t>Incident Response: dealing with alert generated by XDR, EDR, and SIEM and SOAR</a:t>
            </a:r>
          </a:p>
          <a:p>
            <a:r>
              <a:rPr lang="en-US" dirty="0"/>
              <a:t>Forensics: </a:t>
            </a:r>
          </a:p>
          <a:p>
            <a:r>
              <a:rPr lang="en-US" dirty="0"/>
              <a:t>Threat Hunting: Real cyber defense in an enterprise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866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D2B9A-5093-0526-502B-31061C50A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8A8E8C6-E7A3-D5B4-7977-611827810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1. Security Monitoring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44EF4B-E83F-0E05-8835-106AC4CC3B86}"/>
              </a:ext>
            </a:extLst>
          </p:cNvPr>
          <p:cNvSpPr txBox="1"/>
          <p:nvPr/>
        </p:nvSpPr>
        <p:spPr>
          <a:xfrm>
            <a:off x="0" y="845820"/>
            <a:ext cx="6858000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Security Monitoring</a:t>
            </a:r>
          </a:p>
          <a:p>
            <a:r>
              <a:rPr lang="en-US" dirty="0"/>
              <a:t>Security monitoring means continuously watching systems and network activity for suspicious behavior.</a:t>
            </a:r>
          </a:p>
          <a:p>
            <a:endParaRPr lang="en-US" dirty="0"/>
          </a:p>
          <a:p>
            <a:r>
              <a:rPr lang="en-US" dirty="0"/>
              <a:t>Tools commonly used:</a:t>
            </a:r>
          </a:p>
          <a:p>
            <a:r>
              <a:rPr lang="en-US" dirty="0"/>
              <a:t>Microsoft Defender XDR</a:t>
            </a:r>
          </a:p>
          <a:p>
            <a:r>
              <a:rPr lang="en-US" dirty="0"/>
              <a:t>CrowdStrike Falcon</a:t>
            </a:r>
          </a:p>
          <a:p>
            <a:r>
              <a:rPr lang="en-US" dirty="0"/>
              <a:t>Splunk</a:t>
            </a:r>
          </a:p>
          <a:p>
            <a:r>
              <a:rPr lang="en-US" dirty="0"/>
              <a:t>IBM </a:t>
            </a:r>
            <a:r>
              <a:rPr lang="en-US" dirty="0" err="1"/>
              <a:t>QRadar</a:t>
            </a:r>
            <a:endParaRPr lang="en-US" dirty="0"/>
          </a:p>
          <a:p>
            <a:r>
              <a:rPr lang="en-US" dirty="0"/>
              <a:t>Elastic Security</a:t>
            </a:r>
          </a:p>
          <a:p>
            <a:endParaRPr lang="en-US" dirty="0"/>
          </a:p>
          <a:p>
            <a:r>
              <a:rPr lang="en-US" dirty="0"/>
              <a:t>What analysts monitor:</a:t>
            </a:r>
          </a:p>
          <a:p>
            <a:r>
              <a:rPr lang="en-US" dirty="0"/>
              <a:t>Login activity</a:t>
            </a:r>
          </a:p>
          <a:p>
            <a:r>
              <a:rPr lang="en-US" dirty="0"/>
              <a:t>File access</a:t>
            </a:r>
          </a:p>
          <a:p>
            <a:r>
              <a:rPr lang="en-US" dirty="0"/>
              <a:t>Network traffic</a:t>
            </a:r>
          </a:p>
          <a:p>
            <a:r>
              <a:rPr lang="en-US" dirty="0"/>
              <a:t>Malware alerts</a:t>
            </a:r>
          </a:p>
          <a:p>
            <a:r>
              <a:rPr lang="en-US" dirty="0"/>
              <a:t>Privilege escalation attempts</a:t>
            </a:r>
          </a:p>
          <a:p>
            <a:endParaRPr lang="en-US" dirty="0"/>
          </a:p>
          <a:p>
            <a:r>
              <a:rPr lang="en-US" dirty="0"/>
              <a:t>Example:</a:t>
            </a:r>
          </a:p>
          <a:p>
            <a:r>
              <a:rPr lang="en-US" dirty="0"/>
              <a:t>An alert appears showing:</a:t>
            </a:r>
          </a:p>
          <a:p>
            <a:r>
              <a:rPr lang="en-US" dirty="0"/>
              <a:t>Multiple failed logins followed by a successful login from another country.</a:t>
            </a:r>
          </a:p>
          <a:p>
            <a:r>
              <a:rPr lang="en-US" dirty="0"/>
              <a:t>The SOC analyst investigates immediately.</a:t>
            </a:r>
          </a:p>
        </p:txBody>
      </p:sp>
    </p:spTree>
    <p:extLst>
      <p:ext uri="{BB962C8B-B14F-4D97-AF65-F5344CB8AC3E}">
        <p14:creationId xmlns:p14="http://schemas.microsoft.com/office/powerpoint/2010/main" val="967900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BE3FB-9D6E-00E9-DE12-5FB2EEC5E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F5F734-619A-AB45-8A4A-D905BCB3C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2. Incident Response (IR)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2B4804-CA8A-5AAB-2735-FD84360B8967}"/>
              </a:ext>
            </a:extLst>
          </p:cNvPr>
          <p:cNvSpPr txBox="1"/>
          <p:nvPr/>
        </p:nvSpPr>
        <p:spPr>
          <a:xfrm>
            <a:off x="0" y="845820"/>
            <a:ext cx="68580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Incident Response means handling security alerts and minimizing damage.</a:t>
            </a:r>
          </a:p>
          <a:p>
            <a:r>
              <a:rPr lang="en-US" dirty="0"/>
              <a:t>Alerts usually come from:</a:t>
            </a:r>
          </a:p>
          <a:p>
            <a:r>
              <a:rPr lang="en-US" dirty="0"/>
              <a:t>EDR (Endpoint Detection and Response)</a:t>
            </a:r>
          </a:p>
          <a:p>
            <a:r>
              <a:rPr lang="en-US" dirty="0"/>
              <a:t>XDR (Extended Detection and Response)</a:t>
            </a:r>
          </a:p>
          <a:p>
            <a:r>
              <a:rPr lang="en-US" dirty="0"/>
              <a:t>SIEM (Security Information and Event Management)</a:t>
            </a:r>
          </a:p>
          <a:p>
            <a:r>
              <a:rPr lang="en-US" dirty="0"/>
              <a:t>SOAR (Security Orchestration Automation and Response)</a:t>
            </a:r>
          </a:p>
          <a:p>
            <a:endParaRPr lang="en-US" dirty="0"/>
          </a:p>
          <a:p>
            <a:r>
              <a:rPr lang="en-US" dirty="0"/>
              <a:t>Incident Response Process</a:t>
            </a:r>
          </a:p>
          <a:p>
            <a:r>
              <a:rPr lang="en-US" dirty="0"/>
              <a:t>Detection – Alert triggered in SIEM/XDR</a:t>
            </a:r>
          </a:p>
          <a:p>
            <a:r>
              <a:rPr lang="en-US" dirty="0"/>
              <a:t>Analysis – Determine if it’s real or false positive</a:t>
            </a:r>
          </a:p>
          <a:p>
            <a:r>
              <a:rPr lang="en-US" dirty="0"/>
              <a:t>Containment – Isolate affected system</a:t>
            </a:r>
          </a:p>
          <a:p>
            <a:r>
              <a:rPr lang="en-US" dirty="0"/>
              <a:t>Eradication – Remove malware or attacker access</a:t>
            </a:r>
          </a:p>
          <a:p>
            <a:r>
              <a:rPr lang="en-US" dirty="0"/>
              <a:t>Recovery – Restore system</a:t>
            </a:r>
          </a:p>
          <a:p>
            <a:r>
              <a:rPr lang="en-US" dirty="0"/>
              <a:t>Lessons learned – Improve defenses</a:t>
            </a:r>
          </a:p>
          <a:p>
            <a:endParaRPr lang="en-US" dirty="0"/>
          </a:p>
          <a:p>
            <a:r>
              <a:rPr lang="en-US" dirty="0"/>
              <a:t>Example incident</a:t>
            </a:r>
          </a:p>
          <a:p>
            <a:r>
              <a:rPr lang="en-US" dirty="0"/>
              <a:t>XDR detects PowerShell downloading malware</a:t>
            </a:r>
          </a:p>
          <a:p>
            <a:r>
              <a:rPr lang="en-US" dirty="0"/>
              <a:t>Analyst isolates the endpoint</a:t>
            </a:r>
          </a:p>
          <a:p>
            <a:r>
              <a:rPr lang="en-US" dirty="0"/>
              <a:t>Malware removed</a:t>
            </a:r>
          </a:p>
          <a:p>
            <a:r>
              <a:rPr lang="en-US" dirty="0"/>
              <a:t>Passwords reset</a:t>
            </a:r>
          </a:p>
        </p:txBody>
      </p:sp>
    </p:spTree>
    <p:extLst>
      <p:ext uri="{BB962C8B-B14F-4D97-AF65-F5344CB8AC3E}">
        <p14:creationId xmlns:p14="http://schemas.microsoft.com/office/powerpoint/2010/main" val="883656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B2574-2D78-2441-209F-75A34C2D0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DE7255-313E-078B-A06F-F3B9563C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3. Digital Forensics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452D56-9D47-35D9-2026-9FCE93CE0194}"/>
              </a:ext>
            </a:extLst>
          </p:cNvPr>
          <p:cNvSpPr txBox="1"/>
          <p:nvPr/>
        </p:nvSpPr>
        <p:spPr>
          <a:xfrm>
            <a:off x="0" y="845820"/>
            <a:ext cx="68580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Forensics means investigating what happened after a cyberattack.</a:t>
            </a:r>
          </a:p>
          <a:p>
            <a:endParaRPr lang="en-US" dirty="0"/>
          </a:p>
          <a:p>
            <a:r>
              <a:rPr lang="en-US" dirty="0"/>
              <a:t>Tasks</a:t>
            </a:r>
          </a:p>
          <a:p>
            <a:r>
              <a:rPr lang="en-US" dirty="0"/>
              <a:t>Recover deleted files</a:t>
            </a:r>
          </a:p>
          <a:p>
            <a:r>
              <a:rPr lang="en-US" dirty="0"/>
              <a:t>Analyze system logs</a:t>
            </a:r>
          </a:p>
          <a:p>
            <a:r>
              <a:rPr lang="en-US" dirty="0"/>
              <a:t>Identify attacker entry point</a:t>
            </a:r>
          </a:p>
          <a:p>
            <a:r>
              <a:rPr lang="en-US" dirty="0"/>
              <a:t>Build attack timeline</a:t>
            </a:r>
          </a:p>
          <a:p>
            <a:endParaRPr lang="en-US" dirty="0"/>
          </a:p>
          <a:p>
            <a:r>
              <a:rPr lang="en-US" dirty="0"/>
              <a:t>Tools used</a:t>
            </a:r>
          </a:p>
          <a:p>
            <a:r>
              <a:rPr lang="en-US" dirty="0"/>
              <a:t>Autopsy (digital forensics platform)</a:t>
            </a:r>
          </a:p>
          <a:p>
            <a:r>
              <a:rPr lang="en-US" dirty="0"/>
              <a:t>Volatility Framework</a:t>
            </a:r>
          </a:p>
          <a:p>
            <a:r>
              <a:rPr lang="en-US" dirty="0"/>
              <a:t>FTK (Forensic Toolkit)</a:t>
            </a:r>
          </a:p>
          <a:p>
            <a:r>
              <a:rPr lang="en-US" dirty="0"/>
              <a:t>Wireshark</a:t>
            </a:r>
          </a:p>
          <a:p>
            <a:endParaRPr lang="en-US" dirty="0"/>
          </a:p>
          <a:p>
            <a:r>
              <a:rPr lang="en-US" dirty="0"/>
              <a:t>Example</a:t>
            </a:r>
          </a:p>
          <a:p>
            <a:r>
              <a:rPr lang="en-US" dirty="0"/>
              <a:t>Investigators find:</a:t>
            </a:r>
          </a:p>
          <a:p>
            <a:r>
              <a:rPr lang="en-US" dirty="0"/>
              <a:t>Malware file created at 02:10 AM</a:t>
            </a:r>
          </a:p>
          <a:p>
            <a:r>
              <a:rPr lang="en-US" dirty="0"/>
              <a:t>Attacker used PowerShell</a:t>
            </a:r>
          </a:p>
          <a:p>
            <a:r>
              <a:rPr lang="en-US" dirty="0"/>
              <a:t>Data exfiltration started at 02:30 AM</a:t>
            </a:r>
          </a:p>
        </p:txBody>
      </p:sp>
    </p:spTree>
    <p:extLst>
      <p:ext uri="{BB962C8B-B14F-4D97-AF65-F5344CB8AC3E}">
        <p14:creationId xmlns:p14="http://schemas.microsoft.com/office/powerpoint/2010/main" val="567407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517E0-4DC6-63AD-E092-C4A674E9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421EE4-F9A2-DB09-29AC-2987E5BE5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4. Threat Hunting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516CDD-F535-7BED-4C6C-5D7E7B873FE7}"/>
              </a:ext>
            </a:extLst>
          </p:cNvPr>
          <p:cNvSpPr txBox="1"/>
          <p:nvPr/>
        </p:nvSpPr>
        <p:spPr>
          <a:xfrm>
            <a:off x="0" y="845820"/>
            <a:ext cx="6858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Threat hunting means actively searching for attackers that tools didn’t detect.</a:t>
            </a:r>
          </a:p>
          <a:p>
            <a:r>
              <a:rPr lang="en-US" dirty="0"/>
              <a:t>Instead of waiting for alerts, analysts proactively hunt threats.</a:t>
            </a:r>
          </a:p>
          <a:p>
            <a:endParaRPr lang="en-US" dirty="0"/>
          </a:p>
          <a:p>
            <a:r>
              <a:rPr lang="en-US" dirty="0"/>
              <a:t>Example hunting questions</a:t>
            </a:r>
          </a:p>
          <a:p>
            <a:r>
              <a:rPr lang="en-US" dirty="0"/>
              <a:t>Are there suspicious PowerShell executions?</a:t>
            </a:r>
          </a:p>
          <a:p>
            <a:r>
              <a:rPr lang="en-US" dirty="0"/>
              <a:t>Are any endpoints communicating with known malicious IPs?</a:t>
            </a:r>
          </a:p>
          <a:p>
            <a:r>
              <a:rPr lang="en-US" dirty="0"/>
              <a:t>Are there unauthorized admin accounts created?</a:t>
            </a:r>
          </a:p>
          <a:p>
            <a:endParaRPr lang="en-US" dirty="0"/>
          </a:p>
          <a:p>
            <a:r>
              <a:rPr lang="en-US" dirty="0"/>
              <a:t>Data sources</a:t>
            </a:r>
          </a:p>
          <a:p>
            <a:r>
              <a:rPr lang="en-US" dirty="0"/>
              <a:t>Endpoint logs</a:t>
            </a:r>
          </a:p>
          <a:p>
            <a:r>
              <a:rPr lang="en-US" dirty="0"/>
              <a:t>Network logs</a:t>
            </a:r>
          </a:p>
          <a:p>
            <a:r>
              <a:rPr lang="en-US" dirty="0"/>
              <a:t>Authentication logs</a:t>
            </a:r>
          </a:p>
          <a:p>
            <a:r>
              <a:rPr lang="en-US" dirty="0"/>
              <a:t>DNS logs</a:t>
            </a:r>
          </a:p>
          <a:p>
            <a:endParaRPr lang="en-US" dirty="0"/>
          </a:p>
          <a:p>
            <a:r>
              <a:rPr lang="en-US" dirty="0"/>
              <a:t>Framework used</a:t>
            </a:r>
          </a:p>
          <a:p>
            <a:r>
              <a:rPr lang="en-US" dirty="0"/>
              <a:t>Threat hunting often follows MITRE ATT&amp;CK Framework to map attacker techniques.</a:t>
            </a:r>
          </a:p>
        </p:txBody>
      </p:sp>
    </p:spTree>
    <p:extLst>
      <p:ext uri="{BB962C8B-B14F-4D97-AF65-F5344CB8AC3E}">
        <p14:creationId xmlns:p14="http://schemas.microsoft.com/office/powerpoint/2010/main" val="637711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2F00C-301C-EEEB-101F-89DBF81D5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A8D065-9817-F6E7-2A65-4472DDB8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4. Threat Hunting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1EF6-81DD-EE62-D792-41138523169F}"/>
              </a:ext>
            </a:extLst>
          </p:cNvPr>
          <p:cNvSpPr txBox="1"/>
          <p:nvPr/>
        </p:nvSpPr>
        <p:spPr>
          <a:xfrm>
            <a:off x="0" y="845820"/>
            <a:ext cx="6858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Threat hunting means actively searching for attackers that tools didn’t detect.</a:t>
            </a:r>
          </a:p>
          <a:p>
            <a:r>
              <a:rPr lang="en-US" dirty="0"/>
              <a:t>Instead of waiting for alerts, analysts proactively hunt threats.</a:t>
            </a:r>
          </a:p>
          <a:p>
            <a:endParaRPr lang="en-US" dirty="0"/>
          </a:p>
          <a:p>
            <a:r>
              <a:rPr lang="en-US" dirty="0"/>
              <a:t>Example hunting questions</a:t>
            </a:r>
          </a:p>
          <a:p>
            <a:r>
              <a:rPr lang="en-US" dirty="0"/>
              <a:t>Are there suspicious PowerShell executions?</a:t>
            </a:r>
          </a:p>
          <a:p>
            <a:r>
              <a:rPr lang="en-US" dirty="0"/>
              <a:t>Are any endpoints communicating with known malicious IPs?</a:t>
            </a:r>
          </a:p>
          <a:p>
            <a:r>
              <a:rPr lang="en-US" dirty="0"/>
              <a:t>Are there unauthorized admin accounts created?</a:t>
            </a:r>
          </a:p>
          <a:p>
            <a:endParaRPr lang="en-US" dirty="0"/>
          </a:p>
          <a:p>
            <a:r>
              <a:rPr lang="en-US" dirty="0"/>
              <a:t>Data sources</a:t>
            </a:r>
          </a:p>
          <a:p>
            <a:r>
              <a:rPr lang="en-US" dirty="0"/>
              <a:t>Endpoint logs</a:t>
            </a:r>
          </a:p>
          <a:p>
            <a:r>
              <a:rPr lang="en-US" dirty="0"/>
              <a:t>Network logs</a:t>
            </a:r>
          </a:p>
          <a:p>
            <a:r>
              <a:rPr lang="en-US" dirty="0"/>
              <a:t>Authentication logs</a:t>
            </a:r>
          </a:p>
          <a:p>
            <a:r>
              <a:rPr lang="en-US" dirty="0"/>
              <a:t>DNS logs</a:t>
            </a:r>
          </a:p>
          <a:p>
            <a:endParaRPr lang="en-US" dirty="0"/>
          </a:p>
          <a:p>
            <a:r>
              <a:rPr lang="en-US" dirty="0"/>
              <a:t>Framework used</a:t>
            </a:r>
          </a:p>
          <a:p>
            <a:r>
              <a:rPr lang="en-US" dirty="0"/>
              <a:t>Threat hunting often follows MITRE ATT&amp;CK Framework to map attacker techniques.</a:t>
            </a:r>
          </a:p>
        </p:txBody>
      </p:sp>
    </p:spTree>
    <p:extLst>
      <p:ext uri="{BB962C8B-B14F-4D97-AF65-F5344CB8AC3E}">
        <p14:creationId xmlns:p14="http://schemas.microsoft.com/office/powerpoint/2010/main" val="1794517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5736A-304D-1A6F-7375-F45F96314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ADD33F-1FAC-0E62-D72C-7475C3511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Red Teams (Vulnerability Assessment)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54FDF-743E-C8EE-D0AD-200B0C8B9F38}"/>
              </a:ext>
            </a:extLst>
          </p:cNvPr>
          <p:cNvSpPr txBox="1"/>
          <p:nvPr/>
        </p:nvSpPr>
        <p:spPr>
          <a:xfrm>
            <a:off x="0" y="845820"/>
            <a:ext cx="6858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Vulnerability Assessment means finding security weaknesses in systems, networks, or applications.</a:t>
            </a:r>
          </a:p>
          <a:p>
            <a:endParaRPr lang="en-US" dirty="0"/>
          </a:p>
          <a:p>
            <a:r>
              <a:rPr lang="en-US" dirty="0"/>
              <a:t>Security tools scan the system</a:t>
            </a:r>
          </a:p>
          <a:p>
            <a:r>
              <a:rPr lang="en-US" dirty="0"/>
              <a:t>They detect known vulnerabilities</a:t>
            </a:r>
          </a:p>
          <a:p>
            <a:r>
              <a:rPr lang="en-US" dirty="0"/>
              <a:t>A report is generated with the risks and fixes</a:t>
            </a:r>
          </a:p>
          <a:p>
            <a:endParaRPr lang="en-US" dirty="0"/>
          </a:p>
          <a:p>
            <a:r>
              <a:rPr lang="en-US" dirty="0"/>
              <a:t>Example:</a:t>
            </a:r>
          </a:p>
          <a:p>
            <a:r>
              <a:rPr lang="en-US" dirty="0"/>
              <a:t>An outdated server software</a:t>
            </a:r>
          </a:p>
          <a:p>
            <a:r>
              <a:rPr lang="en-US" dirty="0"/>
              <a:t>Weak passwords</a:t>
            </a:r>
          </a:p>
          <a:p>
            <a:r>
              <a:rPr lang="en-US" dirty="0"/>
              <a:t>Open ports</a:t>
            </a:r>
          </a:p>
          <a:p>
            <a:r>
              <a:rPr lang="en-US" dirty="0"/>
              <a:t>Missing security patches</a:t>
            </a:r>
          </a:p>
          <a:p>
            <a:endParaRPr lang="en-US" dirty="0"/>
          </a:p>
          <a:p>
            <a:r>
              <a:rPr lang="en-US" dirty="0"/>
              <a:t>Tools commonly used:</a:t>
            </a:r>
          </a:p>
          <a:p>
            <a:r>
              <a:rPr lang="en-US" dirty="0"/>
              <a:t>Nessus</a:t>
            </a:r>
          </a:p>
          <a:p>
            <a:r>
              <a:rPr lang="en-US" dirty="0"/>
              <a:t>OpenVAS</a:t>
            </a:r>
          </a:p>
          <a:p>
            <a:r>
              <a:rPr lang="en-US" dirty="0"/>
              <a:t>Qualys</a:t>
            </a:r>
          </a:p>
          <a:p>
            <a:r>
              <a:rPr lang="en-US" dirty="0"/>
              <a:t>Nmap</a:t>
            </a:r>
          </a:p>
          <a:p>
            <a:endParaRPr lang="en-US" dirty="0"/>
          </a:p>
          <a:p>
            <a:r>
              <a:rPr lang="en-US" dirty="0"/>
              <a:t>Goal: Identify vulnerabilities before attackers exploit them.</a:t>
            </a:r>
          </a:p>
        </p:txBody>
      </p:sp>
    </p:spTree>
    <p:extLst>
      <p:ext uri="{BB962C8B-B14F-4D97-AF65-F5344CB8AC3E}">
        <p14:creationId xmlns:p14="http://schemas.microsoft.com/office/powerpoint/2010/main" val="888972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F4BE0-6CF1-9001-83C6-640987A21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D30A94-98E7-60FA-1978-8C8E7AF94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Red Teams 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1. Vulnerability Assessment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8F68A2-2652-7751-EB7B-6AB12DF30CF4}"/>
              </a:ext>
            </a:extLst>
          </p:cNvPr>
          <p:cNvSpPr txBox="1"/>
          <p:nvPr/>
        </p:nvSpPr>
        <p:spPr>
          <a:xfrm>
            <a:off x="0" y="845820"/>
            <a:ext cx="6858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Vulnerability Assessment means finding security weaknesses in systems, networks, or applications.</a:t>
            </a:r>
          </a:p>
          <a:p>
            <a:endParaRPr lang="en-US" dirty="0"/>
          </a:p>
          <a:p>
            <a:r>
              <a:rPr lang="en-US" dirty="0"/>
              <a:t>Security tools scan the system</a:t>
            </a:r>
          </a:p>
          <a:p>
            <a:r>
              <a:rPr lang="en-US" dirty="0"/>
              <a:t>They detect known vulnerabilities</a:t>
            </a:r>
          </a:p>
          <a:p>
            <a:r>
              <a:rPr lang="en-US" dirty="0"/>
              <a:t>A report is generated with the risks and fixes</a:t>
            </a:r>
          </a:p>
          <a:p>
            <a:endParaRPr lang="en-US" dirty="0"/>
          </a:p>
          <a:p>
            <a:r>
              <a:rPr lang="en-US" dirty="0"/>
              <a:t>Example:</a:t>
            </a:r>
          </a:p>
          <a:p>
            <a:r>
              <a:rPr lang="en-US" dirty="0"/>
              <a:t>An outdated server software</a:t>
            </a:r>
          </a:p>
          <a:p>
            <a:r>
              <a:rPr lang="en-US" dirty="0"/>
              <a:t>Weak passwords</a:t>
            </a:r>
          </a:p>
          <a:p>
            <a:r>
              <a:rPr lang="en-US" dirty="0"/>
              <a:t>Open ports</a:t>
            </a:r>
          </a:p>
          <a:p>
            <a:r>
              <a:rPr lang="en-US" dirty="0"/>
              <a:t>Missing security patches</a:t>
            </a:r>
          </a:p>
          <a:p>
            <a:endParaRPr lang="en-US" dirty="0"/>
          </a:p>
          <a:p>
            <a:r>
              <a:rPr lang="en-US" dirty="0"/>
              <a:t>Tools commonly used:</a:t>
            </a:r>
          </a:p>
          <a:p>
            <a:r>
              <a:rPr lang="en-US" dirty="0"/>
              <a:t>Nessus</a:t>
            </a:r>
          </a:p>
          <a:p>
            <a:r>
              <a:rPr lang="en-US" dirty="0"/>
              <a:t>OpenVAS</a:t>
            </a:r>
          </a:p>
          <a:p>
            <a:r>
              <a:rPr lang="en-US" dirty="0"/>
              <a:t>Qualys</a:t>
            </a:r>
          </a:p>
          <a:p>
            <a:r>
              <a:rPr lang="en-US" dirty="0"/>
              <a:t>Nmap</a:t>
            </a:r>
          </a:p>
          <a:p>
            <a:endParaRPr lang="en-US" dirty="0"/>
          </a:p>
          <a:p>
            <a:r>
              <a:rPr lang="en-US" dirty="0"/>
              <a:t>Goal: Identify vulnerabilities before attackers exploit them.</a:t>
            </a:r>
          </a:p>
        </p:txBody>
      </p:sp>
    </p:spTree>
    <p:extLst>
      <p:ext uri="{BB962C8B-B14F-4D97-AF65-F5344CB8AC3E}">
        <p14:creationId xmlns:p14="http://schemas.microsoft.com/office/powerpoint/2010/main" val="4262776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7ACFB-A6A6-F0CC-DF4B-C90404511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BDDF4C-34D3-98CB-4A0E-6D2DA2262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2. Penetration Testing (Pentest)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D36830-CB31-8991-66E2-3A927690F705}"/>
              </a:ext>
            </a:extLst>
          </p:cNvPr>
          <p:cNvSpPr txBox="1"/>
          <p:nvPr/>
        </p:nvSpPr>
        <p:spPr>
          <a:xfrm>
            <a:off x="0" y="845820"/>
            <a:ext cx="6858000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Penetration Testing is actively trying to exploit the vulnerabilities found in a system to see if an attacker could break in.</a:t>
            </a:r>
          </a:p>
          <a:p>
            <a:endParaRPr lang="en-US" dirty="0"/>
          </a:p>
          <a:p>
            <a:r>
              <a:rPr lang="en-US" dirty="0"/>
              <a:t>It simulates a real hacker attack.</a:t>
            </a:r>
          </a:p>
          <a:p>
            <a:endParaRPr lang="en-US" dirty="0"/>
          </a:p>
          <a:p>
            <a:r>
              <a:rPr lang="en-US" dirty="0"/>
              <a:t>Steps usually include:</a:t>
            </a:r>
          </a:p>
          <a:p>
            <a:r>
              <a:rPr lang="en-US" dirty="0"/>
              <a:t>Reconnaissance (information gathering)</a:t>
            </a:r>
          </a:p>
          <a:p>
            <a:r>
              <a:rPr lang="en-US" dirty="0"/>
              <a:t>Scanning</a:t>
            </a:r>
          </a:p>
          <a:p>
            <a:r>
              <a:rPr lang="en-US" dirty="0"/>
              <a:t>Exploitation</a:t>
            </a:r>
          </a:p>
          <a:p>
            <a:r>
              <a:rPr lang="en-US" dirty="0"/>
              <a:t>Post-exploitation</a:t>
            </a:r>
          </a:p>
          <a:p>
            <a:r>
              <a:rPr lang="en-US" dirty="0"/>
              <a:t>Reporting</a:t>
            </a:r>
          </a:p>
          <a:p>
            <a:endParaRPr lang="en-US" dirty="0"/>
          </a:p>
          <a:p>
            <a:r>
              <a:rPr lang="en-US" dirty="0"/>
              <a:t>Example:</a:t>
            </a:r>
          </a:p>
          <a:p>
            <a:r>
              <a:rPr lang="en-US" dirty="0"/>
              <a:t>Exploiting a weak login system</a:t>
            </a:r>
          </a:p>
          <a:p>
            <a:r>
              <a:rPr lang="en-US" dirty="0"/>
              <a:t>Getting unauthorized access to a database</a:t>
            </a:r>
          </a:p>
          <a:p>
            <a:r>
              <a:rPr lang="en-US" dirty="0"/>
              <a:t>Privilege escalation</a:t>
            </a:r>
          </a:p>
          <a:p>
            <a:endParaRPr lang="en-US" dirty="0"/>
          </a:p>
          <a:p>
            <a:r>
              <a:rPr lang="en-US" dirty="0"/>
              <a:t>Tools commonly used:</a:t>
            </a:r>
          </a:p>
          <a:p>
            <a:r>
              <a:rPr lang="en-US" dirty="0"/>
              <a:t>Metasploit</a:t>
            </a:r>
          </a:p>
          <a:p>
            <a:r>
              <a:rPr lang="en-US" dirty="0"/>
              <a:t>Burp Suite</a:t>
            </a:r>
          </a:p>
          <a:p>
            <a:r>
              <a:rPr lang="en-US" dirty="0" err="1"/>
              <a:t>SQLmap</a:t>
            </a:r>
            <a:endParaRPr lang="en-US" dirty="0"/>
          </a:p>
          <a:p>
            <a:r>
              <a:rPr lang="en-US" dirty="0"/>
              <a:t>Nmap</a:t>
            </a:r>
          </a:p>
          <a:p>
            <a:r>
              <a:rPr lang="en-US" dirty="0"/>
              <a:t>Hydra</a:t>
            </a:r>
          </a:p>
          <a:p>
            <a:endParaRPr lang="en-US" dirty="0"/>
          </a:p>
          <a:p>
            <a:r>
              <a:rPr lang="en-US" dirty="0"/>
              <a:t>Goal: Prove that vulnerabilities can actually be exploited.</a:t>
            </a:r>
          </a:p>
        </p:txBody>
      </p:sp>
    </p:spTree>
    <p:extLst>
      <p:ext uri="{BB962C8B-B14F-4D97-AF65-F5344CB8AC3E}">
        <p14:creationId xmlns:p14="http://schemas.microsoft.com/office/powerpoint/2010/main" val="3371211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D1E55-4162-9C19-0ACF-98443DD80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A92F8F-4E5E-97AF-F104-323CB1406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3. Social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1B7100-DB7E-A5EB-389D-9AE4EC07B5C4}"/>
              </a:ext>
            </a:extLst>
          </p:cNvPr>
          <p:cNvSpPr txBox="1"/>
          <p:nvPr/>
        </p:nvSpPr>
        <p:spPr>
          <a:xfrm>
            <a:off x="0" y="845820"/>
            <a:ext cx="6858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Social Engineering is manipulating people to reveal confidential information.</a:t>
            </a:r>
          </a:p>
          <a:p>
            <a:endParaRPr lang="en-US" dirty="0"/>
          </a:p>
          <a:p>
            <a:r>
              <a:rPr lang="en-US" dirty="0"/>
              <a:t>Instead of hacking computers, attackers hack human psychology. </a:t>
            </a:r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r>
              <a:rPr lang="en-US" dirty="0"/>
              <a:t>Phishing emails</a:t>
            </a:r>
          </a:p>
          <a:p>
            <a:r>
              <a:rPr lang="en-US" dirty="0"/>
              <a:t>Fake login pages</a:t>
            </a:r>
          </a:p>
          <a:p>
            <a:r>
              <a:rPr lang="en-US" dirty="0"/>
              <a:t>Calling employees pretending to be IT support</a:t>
            </a:r>
          </a:p>
          <a:p>
            <a:r>
              <a:rPr lang="en-US" dirty="0"/>
              <a:t>USB drop attacks</a:t>
            </a:r>
          </a:p>
          <a:p>
            <a:endParaRPr lang="en-US" dirty="0"/>
          </a:p>
          <a:p>
            <a:r>
              <a:rPr lang="en-US" dirty="0"/>
              <a:t>Example scenario:</a:t>
            </a:r>
          </a:p>
          <a:p>
            <a:r>
              <a:rPr lang="en-US" dirty="0"/>
              <a:t>An attacker sends a fake bank email asking employees to reset their password → they enter credentials → attacker steals them.</a:t>
            </a:r>
          </a:p>
          <a:p>
            <a:endParaRPr lang="en-US" dirty="0"/>
          </a:p>
          <a:p>
            <a:r>
              <a:rPr lang="en-US" dirty="0"/>
              <a:t>Goal: Test whether employees can detect scams.</a:t>
            </a:r>
          </a:p>
        </p:txBody>
      </p:sp>
    </p:spTree>
    <p:extLst>
      <p:ext uri="{BB962C8B-B14F-4D97-AF65-F5344CB8AC3E}">
        <p14:creationId xmlns:p14="http://schemas.microsoft.com/office/powerpoint/2010/main" val="2287688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C5AFB-C86F-52EA-5779-8BB9768CB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BEDE2B-CEC0-A202-909F-F90BF98C2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858000" cy="845820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4️. Simulating Adversary TTPs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42663-9A1C-CF38-55B9-53D74A8F8E31}"/>
              </a:ext>
            </a:extLst>
          </p:cNvPr>
          <p:cNvSpPr txBox="1"/>
          <p:nvPr/>
        </p:nvSpPr>
        <p:spPr>
          <a:xfrm>
            <a:off x="0" y="845820"/>
            <a:ext cx="6858000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 more advanced security testing technique.</a:t>
            </a:r>
          </a:p>
          <a:p>
            <a:r>
              <a:rPr lang="en-US" dirty="0"/>
              <a:t>TTPs = Tactics, Techniques, and Procedures</a:t>
            </a:r>
          </a:p>
          <a:p>
            <a:endParaRPr lang="en-US" dirty="0"/>
          </a:p>
          <a:p>
            <a:r>
              <a:rPr lang="en-US" dirty="0"/>
              <a:t>It means simulating the real behavior of known hackers or threat groups.</a:t>
            </a:r>
          </a:p>
          <a:p>
            <a:endParaRPr lang="en-US" dirty="0"/>
          </a:p>
          <a:p>
            <a:r>
              <a:rPr lang="en-US" b="1" dirty="0"/>
              <a:t>Meaning: </a:t>
            </a:r>
            <a:r>
              <a:rPr lang="en-US" dirty="0"/>
              <a:t>It means imitating the real techniques and behavior used by known hackers or threat groups to test how well an organization’s security can detect and stop them.</a:t>
            </a:r>
          </a:p>
          <a:p>
            <a:endParaRPr lang="en-US" dirty="0"/>
          </a:p>
          <a:p>
            <a:r>
              <a:rPr lang="en-US" dirty="0"/>
              <a:t>Security teams replicate how real attackers operate.</a:t>
            </a:r>
          </a:p>
          <a:p>
            <a:endParaRPr lang="en-US" dirty="0"/>
          </a:p>
          <a:p>
            <a:r>
              <a:rPr lang="en-US" dirty="0"/>
              <a:t>Example attacker behaviors:</a:t>
            </a:r>
          </a:p>
          <a:p>
            <a:r>
              <a:rPr lang="en-US" dirty="0"/>
              <a:t>Phishing emails</a:t>
            </a:r>
          </a:p>
          <a:p>
            <a:r>
              <a:rPr lang="en-US" dirty="0"/>
              <a:t>Malware execution</a:t>
            </a:r>
          </a:p>
          <a:p>
            <a:r>
              <a:rPr lang="en-US" dirty="0"/>
              <a:t>Lateral movement in the network</a:t>
            </a:r>
          </a:p>
          <a:p>
            <a:r>
              <a:rPr lang="en-US" dirty="0"/>
              <a:t>Data exfiltration</a:t>
            </a:r>
          </a:p>
          <a:p>
            <a:endParaRPr lang="en-US" dirty="0"/>
          </a:p>
          <a:p>
            <a:r>
              <a:rPr lang="en-US" dirty="0"/>
              <a:t>This is often done using frameworks like:</a:t>
            </a:r>
          </a:p>
          <a:p>
            <a:r>
              <a:rPr lang="en-US" dirty="0"/>
              <a:t>MITRE ATT&amp;CK</a:t>
            </a:r>
          </a:p>
          <a:p>
            <a:r>
              <a:rPr lang="en-US" dirty="0"/>
              <a:t>Atomic Red Team</a:t>
            </a:r>
          </a:p>
          <a:p>
            <a:r>
              <a:rPr lang="en-US" dirty="0"/>
              <a:t>Caldera</a:t>
            </a:r>
          </a:p>
          <a:p>
            <a:r>
              <a:rPr lang="en-US" dirty="0"/>
              <a:t>Red Team operations</a:t>
            </a:r>
          </a:p>
          <a:p>
            <a:endParaRPr lang="en-US" dirty="0"/>
          </a:p>
          <a:p>
            <a:r>
              <a:rPr lang="en-US" dirty="0"/>
              <a:t>Goal: Test how well the organization's defense systems detect real attack behavior.</a:t>
            </a:r>
          </a:p>
        </p:txBody>
      </p:sp>
    </p:spTree>
    <p:extLst>
      <p:ext uri="{BB962C8B-B14F-4D97-AF65-F5344CB8AC3E}">
        <p14:creationId xmlns:p14="http://schemas.microsoft.com/office/powerpoint/2010/main" val="2490749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12553</TotalTime>
  <Words>925</Words>
  <Application>Microsoft Office PowerPoint</Application>
  <PresentationFormat>Custom</PresentationFormat>
  <Paragraphs>221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MITRE ATT &amp; CK Framework By Christopher Nett</vt:lpstr>
      <vt:lpstr>MITRE ATT &amp; CK Framework</vt:lpstr>
      <vt:lpstr>Security Incident &amp; Response</vt:lpstr>
      <vt:lpstr>Blue, Red, &amp; Purple Teaming</vt:lpstr>
      <vt:lpstr>1. Security Monitoring</vt:lpstr>
      <vt:lpstr>2. Incident Response (IR)</vt:lpstr>
      <vt:lpstr>3. Digital Forensics</vt:lpstr>
      <vt:lpstr>4. Threat Hunting</vt:lpstr>
      <vt:lpstr>4. Threat Hunting</vt:lpstr>
      <vt:lpstr>Red Teams (Vulnerability Assessment)</vt:lpstr>
      <vt:lpstr>Red Teams  1. Vulnerability Assessment</vt:lpstr>
      <vt:lpstr>2. Penetration Testing (Pentest)</vt:lpstr>
      <vt:lpstr>3. Social Engineering</vt:lpstr>
      <vt:lpstr>4️. Simulating Adversary TTPs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Shankar Pradhan</dc:creator>
  <cp:lastModifiedBy>Shankar Pradhan</cp:lastModifiedBy>
  <cp:revision>66</cp:revision>
  <dcterms:created xsi:type="dcterms:W3CDTF">2026-02-07T14:27:50Z</dcterms:created>
  <dcterms:modified xsi:type="dcterms:W3CDTF">2026-03-16T07:04:37Z</dcterms:modified>
</cp:coreProperties>
</file>