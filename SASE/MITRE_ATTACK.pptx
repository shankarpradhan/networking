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Lst>
  <p:sldSz cx="6858000" cy="10007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97"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54" d="100"/>
          <a:sy n="54" d="100"/>
        </p:scale>
        <p:origin x="2630" y="67"/>
      </p:cViewPr>
      <p:guideLst>
        <p:guide orient="horz" pos="3197"/>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37819"/>
            <a:ext cx="5829300" cy="348412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56307"/>
            <a:ext cx="5143500" cy="241618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87AAC-0904-45BE-AAD3-E44DE8BFCF45}"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166481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287AAC-0904-45BE-AAD3-E44DE8BFCF45}"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3951218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94953"/>
            <a:ext cx="5915025" cy="416288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97218"/>
            <a:ext cx="5915025" cy="2189162"/>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287AAC-0904-45BE-AAD3-E44DE8BFCF45}"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3876072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64060"/>
            <a:ext cx="2914650" cy="63497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64060"/>
            <a:ext cx="2914650" cy="63497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287AAC-0904-45BE-AAD3-E44DE8BFCF45}" type="datetimeFigureOut">
              <a:rPr lang="en-IN" smtClean="0"/>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412352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32814"/>
            <a:ext cx="5915025" cy="19343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53253"/>
            <a:ext cx="2901255" cy="120230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55554"/>
            <a:ext cx="2901255" cy="537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53253"/>
            <a:ext cx="2915543" cy="120230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55554"/>
            <a:ext cx="2915543" cy="537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287AAC-0904-45BE-AAD3-E44DE8BFCF45}" type="datetimeFigureOut">
              <a:rPr lang="en-IN" smtClean="0"/>
              <a:t>21-04-2026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403300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287AAC-0904-45BE-AAD3-E44DE8BFCF45}" type="datetimeFigureOut">
              <a:rPr lang="en-IN" smtClean="0"/>
              <a:t>21-04-2026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1387642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87AAC-0904-45BE-AAD3-E44DE8BFCF45}" type="datetimeFigureOut">
              <a:rPr lang="en-IN" smtClean="0"/>
              <a:t>21-04-2026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3390420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7173"/>
            <a:ext cx="2211884" cy="2335107"/>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40911"/>
            <a:ext cx="3471863" cy="711188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002280"/>
            <a:ext cx="2211884" cy="5562095"/>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2287AAC-0904-45BE-AAD3-E44DE8BFCF45}" type="datetimeFigureOut">
              <a:rPr lang="en-IN" smtClean="0"/>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2790320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7173"/>
            <a:ext cx="2211884" cy="2335107"/>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40911"/>
            <a:ext cx="3471863" cy="711188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002280"/>
            <a:ext cx="2211884" cy="5562095"/>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2287AAC-0904-45BE-AAD3-E44DE8BFCF45}" type="datetimeFigureOut">
              <a:rPr lang="en-IN" smtClean="0"/>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3684583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287AAC-0904-45BE-AAD3-E44DE8BFCF45}"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1813544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32812"/>
            <a:ext cx="1478756" cy="848097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32812"/>
            <a:ext cx="4350544" cy="848097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287AAC-0904-45BE-AAD3-E44DE8BFCF45}"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3F8363-F3C2-456C-8ED4-C9FB645A8351}" type="slidenum">
              <a:rPr lang="en-IN" smtClean="0"/>
              <a:t>‹#›</a:t>
            </a:fld>
            <a:endParaRPr lang="en-IN"/>
          </a:p>
        </p:txBody>
      </p:sp>
    </p:spTree>
    <p:extLst>
      <p:ext uri="{BB962C8B-B14F-4D97-AF65-F5344CB8AC3E}">
        <p14:creationId xmlns:p14="http://schemas.microsoft.com/office/powerpoint/2010/main" val="2527032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32814"/>
            <a:ext cx="5915025" cy="19343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64060"/>
            <a:ext cx="5915025" cy="634973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275565"/>
            <a:ext cx="1543050" cy="532812"/>
          </a:xfrm>
          <a:prstGeom prst="rect">
            <a:avLst/>
          </a:prstGeom>
        </p:spPr>
        <p:txBody>
          <a:bodyPr vert="horz" lIns="91440" tIns="45720" rIns="91440" bIns="45720" rtlCol="0" anchor="ctr"/>
          <a:lstStyle>
            <a:lvl1pPr algn="l">
              <a:defRPr sz="900">
                <a:solidFill>
                  <a:schemeClr val="tx1">
                    <a:tint val="75000"/>
                  </a:schemeClr>
                </a:solidFill>
              </a:defRPr>
            </a:lvl1pPr>
          </a:lstStyle>
          <a:p>
            <a:fld id="{22287AAC-0904-45BE-AAD3-E44DE8BFCF45}" type="datetimeFigureOut">
              <a:rPr lang="en-IN" smtClean="0"/>
              <a:t>21-04-2026</a:t>
            </a:fld>
            <a:endParaRPr lang="en-IN"/>
          </a:p>
        </p:txBody>
      </p:sp>
      <p:sp>
        <p:nvSpPr>
          <p:cNvPr id="5" name="Footer Placeholder 4"/>
          <p:cNvSpPr>
            <a:spLocks noGrp="1"/>
          </p:cNvSpPr>
          <p:nvPr>
            <p:ph type="ftr" sz="quarter" idx="3"/>
          </p:nvPr>
        </p:nvSpPr>
        <p:spPr>
          <a:xfrm>
            <a:off x="2271713" y="9275565"/>
            <a:ext cx="2314575" cy="532812"/>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43463" y="9275565"/>
            <a:ext cx="1543050" cy="532812"/>
          </a:xfrm>
          <a:prstGeom prst="rect">
            <a:avLst/>
          </a:prstGeom>
        </p:spPr>
        <p:txBody>
          <a:bodyPr vert="horz" lIns="91440" tIns="45720" rIns="91440" bIns="45720" rtlCol="0" anchor="ctr"/>
          <a:lstStyle>
            <a:lvl1pPr algn="r">
              <a:defRPr sz="900">
                <a:solidFill>
                  <a:schemeClr val="tx1">
                    <a:tint val="75000"/>
                  </a:schemeClr>
                </a:solidFill>
              </a:defRPr>
            </a:lvl1pPr>
          </a:lstStyle>
          <a:p>
            <a:fld id="{BE3F8363-F3C2-456C-8ED4-C9FB645A8351}" type="slidenum">
              <a:rPr lang="en-IN" smtClean="0"/>
              <a:t>‹#›</a:t>
            </a:fld>
            <a:endParaRPr lang="en-IN"/>
          </a:p>
        </p:txBody>
      </p:sp>
    </p:spTree>
    <p:extLst>
      <p:ext uri="{BB962C8B-B14F-4D97-AF65-F5344CB8AC3E}">
        <p14:creationId xmlns:p14="http://schemas.microsoft.com/office/powerpoint/2010/main" val="2744322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udemy.com/user/christopher-nett-4/"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A4CB0C-E6ED-A768-BE8A-6C74791B1D8D}"/>
              </a:ext>
            </a:extLst>
          </p:cNvPr>
          <p:cNvSpPr>
            <a:spLocks noGrp="1"/>
          </p:cNvSpPr>
          <p:nvPr>
            <p:ph type="title"/>
          </p:nvPr>
        </p:nvSpPr>
        <p:spPr>
          <a:xfrm>
            <a:off x="0" y="0"/>
            <a:ext cx="6858000" cy="1443038"/>
          </a:xfrm>
          <a:solidFill>
            <a:schemeClr val="accent2"/>
          </a:solidFill>
        </p:spPr>
        <p:txBody>
          <a:bodyPr/>
          <a:lstStyle/>
          <a:p>
            <a:pPr algn="ctr"/>
            <a:r>
              <a:rPr lang="en-US" b="1" dirty="0">
                <a:solidFill>
                  <a:schemeClr val="bg1"/>
                </a:solidFill>
              </a:rPr>
              <a:t>MITRE ATT &amp; CK Framework</a:t>
            </a:r>
            <a:br>
              <a:rPr lang="en-US" b="1" dirty="0">
                <a:solidFill>
                  <a:schemeClr val="bg1"/>
                </a:solidFill>
              </a:rPr>
            </a:br>
            <a:r>
              <a:rPr lang="en-US" b="1" dirty="0">
                <a:solidFill>
                  <a:schemeClr val="bg1"/>
                </a:solidFill>
              </a:rPr>
              <a:t>By </a:t>
            </a:r>
            <a:r>
              <a:rPr lang="en-IN" sz="3200" b="1" dirty="0">
                <a:solidFill>
                  <a:schemeClr val="bg1"/>
                </a:solidFill>
                <a:hlinkClick r:id="rId2">
                  <a:extLst>
                    <a:ext uri="{A12FA001-AC4F-418D-AE19-62706E023703}">
                      <ahyp:hlinkClr xmlns:ahyp="http://schemas.microsoft.com/office/drawing/2018/hyperlinkcolor" val="tx"/>
                    </a:ext>
                  </a:extLst>
                </a:hlinkClick>
              </a:rPr>
              <a:t>Christopher Nett</a:t>
            </a:r>
            <a:endParaRPr lang="en-IN" b="1" dirty="0">
              <a:solidFill>
                <a:schemeClr val="bg1"/>
              </a:solidFill>
            </a:endParaRPr>
          </a:p>
        </p:txBody>
      </p:sp>
      <p:pic>
        <p:nvPicPr>
          <p:cNvPr id="6" name="Picture 5">
            <a:extLst>
              <a:ext uri="{FF2B5EF4-FFF2-40B4-BE49-F238E27FC236}">
                <a16:creationId xmlns:a16="http://schemas.microsoft.com/office/drawing/2014/main" id="{BF771BD3-856A-FF8C-03E2-E12CA38762AD}"/>
              </a:ext>
            </a:extLst>
          </p:cNvPr>
          <p:cNvPicPr>
            <a:picLocks noChangeAspect="1"/>
          </p:cNvPicPr>
          <p:nvPr/>
        </p:nvPicPr>
        <p:blipFill>
          <a:blip r:embed="rId3"/>
          <a:stretch>
            <a:fillRect/>
          </a:stretch>
        </p:blipFill>
        <p:spPr>
          <a:xfrm>
            <a:off x="492928" y="1726725"/>
            <a:ext cx="5872144" cy="2979976"/>
          </a:xfrm>
          <a:prstGeom prst="rect">
            <a:avLst/>
          </a:prstGeom>
        </p:spPr>
      </p:pic>
      <p:sp>
        <p:nvSpPr>
          <p:cNvPr id="9" name="Title 3">
            <a:extLst>
              <a:ext uri="{FF2B5EF4-FFF2-40B4-BE49-F238E27FC236}">
                <a16:creationId xmlns:a16="http://schemas.microsoft.com/office/drawing/2014/main" id="{13B645AC-91A8-B2BA-D397-B38F5CEFE54D}"/>
              </a:ext>
            </a:extLst>
          </p:cNvPr>
          <p:cNvSpPr txBox="1">
            <a:spLocks/>
          </p:cNvSpPr>
          <p:nvPr/>
        </p:nvSpPr>
        <p:spPr>
          <a:xfrm>
            <a:off x="0" y="5215175"/>
            <a:ext cx="6858000" cy="971313"/>
          </a:xfrm>
          <a:prstGeom prst="rect">
            <a:avLst/>
          </a:prstGeom>
          <a:solidFill>
            <a:schemeClr val="accent2"/>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b="1" dirty="0">
                <a:solidFill>
                  <a:schemeClr val="bg1"/>
                </a:solidFill>
              </a:rPr>
              <a:t>Cyber Security Challenges</a:t>
            </a:r>
            <a:endParaRPr lang="en-IN" b="1" dirty="0">
              <a:solidFill>
                <a:schemeClr val="bg1"/>
              </a:solidFill>
            </a:endParaRPr>
          </a:p>
        </p:txBody>
      </p:sp>
      <p:pic>
        <p:nvPicPr>
          <p:cNvPr id="15" name="Picture 14">
            <a:extLst>
              <a:ext uri="{FF2B5EF4-FFF2-40B4-BE49-F238E27FC236}">
                <a16:creationId xmlns:a16="http://schemas.microsoft.com/office/drawing/2014/main" id="{4CE81253-434F-6FBB-3082-9C749841829D}"/>
              </a:ext>
            </a:extLst>
          </p:cNvPr>
          <p:cNvPicPr>
            <a:picLocks noChangeAspect="1"/>
          </p:cNvPicPr>
          <p:nvPr/>
        </p:nvPicPr>
        <p:blipFill>
          <a:blip r:embed="rId4"/>
          <a:stretch>
            <a:fillRect/>
          </a:stretch>
        </p:blipFill>
        <p:spPr>
          <a:xfrm>
            <a:off x="292885" y="6486043"/>
            <a:ext cx="6307940" cy="2838776"/>
          </a:xfrm>
          <a:prstGeom prst="rect">
            <a:avLst/>
          </a:prstGeom>
        </p:spPr>
      </p:pic>
    </p:spTree>
    <p:extLst>
      <p:ext uri="{BB962C8B-B14F-4D97-AF65-F5344CB8AC3E}">
        <p14:creationId xmlns:p14="http://schemas.microsoft.com/office/powerpoint/2010/main" val="1139384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73DA3-B830-E7FA-BE11-CDE3050A34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4F2B71-967A-0A6A-3A4B-D55A1FF050DF}"/>
              </a:ext>
            </a:extLst>
          </p:cNvPr>
          <p:cNvSpPr>
            <a:spLocks noGrp="1"/>
          </p:cNvSpPr>
          <p:nvPr>
            <p:ph type="title"/>
          </p:nvPr>
        </p:nvSpPr>
        <p:spPr>
          <a:xfrm>
            <a:off x="0" y="0"/>
            <a:ext cx="6858000" cy="845820"/>
          </a:xfrm>
          <a:solidFill>
            <a:schemeClr val="accent2"/>
          </a:solidFill>
        </p:spPr>
        <p:txBody>
          <a:bodyPr/>
          <a:lstStyle/>
          <a:p>
            <a:pPr algn="ctr"/>
            <a:r>
              <a:rPr lang="en-US" b="1" dirty="0">
                <a:solidFill>
                  <a:schemeClr val="bg1"/>
                </a:solidFill>
              </a:rPr>
              <a:t>MITRE ATT &amp; CK Framework</a:t>
            </a:r>
            <a:endParaRPr lang="en-IN" b="1" dirty="0">
              <a:solidFill>
                <a:schemeClr val="bg1"/>
              </a:solidFill>
            </a:endParaRPr>
          </a:p>
        </p:txBody>
      </p:sp>
      <p:pic>
        <p:nvPicPr>
          <p:cNvPr id="3" name="Picture 2">
            <a:extLst>
              <a:ext uri="{FF2B5EF4-FFF2-40B4-BE49-F238E27FC236}">
                <a16:creationId xmlns:a16="http://schemas.microsoft.com/office/drawing/2014/main" id="{5AD1AA0D-17CE-34D5-F2D1-A71144FC13CA}"/>
              </a:ext>
            </a:extLst>
          </p:cNvPr>
          <p:cNvPicPr>
            <a:picLocks noChangeAspect="1"/>
          </p:cNvPicPr>
          <p:nvPr/>
        </p:nvPicPr>
        <p:blipFill>
          <a:blip r:embed="rId2"/>
          <a:stretch>
            <a:fillRect/>
          </a:stretch>
        </p:blipFill>
        <p:spPr>
          <a:xfrm>
            <a:off x="187242" y="985838"/>
            <a:ext cx="6483515" cy="3888550"/>
          </a:xfrm>
          <a:prstGeom prst="rect">
            <a:avLst/>
          </a:prstGeom>
        </p:spPr>
      </p:pic>
      <p:sp>
        <p:nvSpPr>
          <p:cNvPr id="6" name="TextBox 5">
            <a:extLst>
              <a:ext uri="{FF2B5EF4-FFF2-40B4-BE49-F238E27FC236}">
                <a16:creationId xmlns:a16="http://schemas.microsoft.com/office/drawing/2014/main" id="{43CFE969-4EE0-F1BC-9C50-4377A9428B01}"/>
              </a:ext>
            </a:extLst>
          </p:cNvPr>
          <p:cNvSpPr txBox="1"/>
          <p:nvPr/>
        </p:nvSpPr>
        <p:spPr>
          <a:xfrm>
            <a:off x="187242" y="5014406"/>
            <a:ext cx="6483515" cy="2246769"/>
          </a:xfrm>
          <a:prstGeom prst="rect">
            <a:avLst/>
          </a:prstGeom>
          <a:noFill/>
        </p:spPr>
        <p:txBody>
          <a:bodyPr wrap="square">
            <a:spAutoFit/>
          </a:bodyPr>
          <a:lstStyle/>
          <a:p>
            <a:pPr algn="just"/>
            <a:r>
              <a:rPr lang="en-US" sz="2000" dirty="0"/>
              <a:t>A Security Operations Center is a team that continuously monitors, detects, analyzes, and responds to cybersecurity threats in an organization. </a:t>
            </a:r>
          </a:p>
          <a:p>
            <a:pPr algn="just"/>
            <a:endParaRPr lang="en-US" sz="2000" dirty="0"/>
          </a:p>
          <a:p>
            <a:pPr algn="just"/>
            <a:endParaRPr lang="en-US" sz="2000" dirty="0"/>
          </a:p>
          <a:p>
            <a:pPr algn="just"/>
            <a:endParaRPr lang="en-US" sz="2000" dirty="0"/>
          </a:p>
          <a:p>
            <a:pPr algn="just"/>
            <a:endParaRPr lang="en-IN" sz="2000" dirty="0"/>
          </a:p>
        </p:txBody>
      </p:sp>
      <p:pic>
        <p:nvPicPr>
          <p:cNvPr id="5" name="Picture 4">
            <a:extLst>
              <a:ext uri="{FF2B5EF4-FFF2-40B4-BE49-F238E27FC236}">
                <a16:creationId xmlns:a16="http://schemas.microsoft.com/office/drawing/2014/main" id="{3FA585B0-BB76-4E44-97AB-E27FAC0052D5}"/>
              </a:ext>
            </a:extLst>
          </p:cNvPr>
          <p:cNvPicPr>
            <a:picLocks noChangeAspect="1"/>
          </p:cNvPicPr>
          <p:nvPr/>
        </p:nvPicPr>
        <p:blipFill>
          <a:blip r:embed="rId3"/>
          <a:stretch>
            <a:fillRect/>
          </a:stretch>
        </p:blipFill>
        <p:spPr>
          <a:xfrm>
            <a:off x="457199" y="6283840"/>
            <a:ext cx="5943601" cy="2947889"/>
          </a:xfrm>
          <a:prstGeom prst="rect">
            <a:avLst/>
          </a:prstGeom>
        </p:spPr>
      </p:pic>
    </p:spTree>
    <p:extLst>
      <p:ext uri="{BB962C8B-B14F-4D97-AF65-F5344CB8AC3E}">
        <p14:creationId xmlns:p14="http://schemas.microsoft.com/office/powerpoint/2010/main" val="4183559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71261-160B-1FB3-2ABA-3B2AAE6285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84D27A-9F05-D74E-8B4F-8D4DB042B6C8}"/>
              </a:ext>
            </a:extLst>
          </p:cNvPr>
          <p:cNvSpPr>
            <a:spLocks noGrp="1"/>
          </p:cNvSpPr>
          <p:nvPr>
            <p:ph type="title"/>
          </p:nvPr>
        </p:nvSpPr>
        <p:spPr>
          <a:xfrm>
            <a:off x="0" y="0"/>
            <a:ext cx="6858000" cy="845820"/>
          </a:xfrm>
          <a:solidFill>
            <a:schemeClr val="accent2"/>
          </a:solidFill>
        </p:spPr>
        <p:txBody>
          <a:bodyPr/>
          <a:lstStyle/>
          <a:p>
            <a:pPr algn="ctr"/>
            <a:r>
              <a:rPr lang="en-US" b="1" dirty="0">
                <a:solidFill>
                  <a:schemeClr val="bg1"/>
                </a:solidFill>
              </a:rPr>
              <a:t>Security Incident &amp; Response</a:t>
            </a:r>
            <a:endParaRPr lang="en-IN" b="1" dirty="0">
              <a:solidFill>
                <a:schemeClr val="bg1"/>
              </a:solidFill>
            </a:endParaRPr>
          </a:p>
        </p:txBody>
      </p:sp>
    </p:spTree>
    <p:extLst>
      <p:ext uri="{BB962C8B-B14F-4D97-AF65-F5344CB8AC3E}">
        <p14:creationId xmlns:p14="http://schemas.microsoft.com/office/powerpoint/2010/main" val="2836518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7486B-8505-F509-99D4-379DB09FF7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F97274-BDEF-8921-3C6C-277FC21CAA6B}"/>
              </a:ext>
            </a:extLst>
          </p:cNvPr>
          <p:cNvSpPr>
            <a:spLocks noGrp="1"/>
          </p:cNvSpPr>
          <p:nvPr>
            <p:ph type="title"/>
          </p:nvPr>
        </p:nvSpPr>
        <p:spPr>
          <a:xfrm>
            <a:off x="0" y="0"/>
            <a:ext cx="6858000" cy="845820"/>
          </a:xfrm>
          <a:solidFill>
            <a:schemeClr val="accent2"/>
          </a:solidFill>
        </p:spPr>
        <p:txBody>
          <a:bodyPr/>
          <a:lstStyle/>
          <a:p>
            <a:pPr algn="ctr"/>
            <a:r>
              <a:rPr lang="en-US" b="1" dirty="0">
                <a:solidFill>
                  <a:schemeClr val="bg1"/>
                </a:solidFill>
              </a:rPr>
              <a:t>Blue, Red, &amp; Purple Teaming</a:t>
            </a:r>
            <a:endParaRPr lang="en-IN" b="1" dirty="0">
              <a:solidFill>
                <a:schemeClr val="bg1"/>
              </a:solidFill>
            </a:endParaRPr>
          </a:p>
        </p:txBody>
      </p:sp>
      <p:pic>
        <p:nvPicPr>
          <p:cNvPr id="3" name="Picture 2">
            <a:extLst>
              <a:ext uri="{FF2B5EF4-FFF2-40B4-BE49-F238E27FC236}">
                <a16:creationId xmlns:a16="http://schemas.microsoft.com/office/drawing/2014/main" id="{6E511FB9-39EC-E4E4-7C38-B8AA562D9993}"/>
              </a:ext>
            </a:extLst>
          </p:cNvPr>
          <p:cNvPicPr>
            <a:picLocks noChangeAspect="1"/>
          </p:cNvPicPr>
          <p:nvPr/>
        </p:nvPicPr>
        <p:blipFill>
          <a:blip r:embed="rId2"/>
          <a:stretch>
            <a:fillRect/>
          </a:stretch>
        </p:blipFill>
        <p:spPr>
          <a:xfrm>
            <a:off x="227696" y="955040"/>
            <a:ext cx="6402607" cy="3686096"/>
          </a:xfrm>
          <a:prstGeom prst="rect">
            <a:avLst/>
          </a:prstGeom>
        </p:spPr>
      </p:pic>
      <p:sp>
        <p:nvSpPr>
          <p:cNvPr id="5" name="TextBox 4">
            <a:extLst>
              <a:ext uri="{FF2B5EF4-FFF2-40B4-BE49-F238E27FC236}">
                <a16:creationId xmlns:a16="http://schemas.microsoft.com/office/drawing/2014/main" id="{DE178EF7-D7FE-7B73-6660-91E9C05E2036}"/>
              </a:ext>
            </a:extLst>
          </p:cNvPr>
          <p:cNvSpPr txBox="1"/>
          <p:nvPr/>
        </p:nvSpPr>
        <p:spPr>
          <a:xfrm>
            <a:off x="227696" y="4768769"/>
            <a:ext cx="6402606" cy="5078313"/>
          </a:xfrm>
          <a:prstGeom prst="rect">
            <a:avLst/>
          </a:prstGeom>
          <a:noFill/>
        </p:spPr>
        <p:txBody>
          <a:bodyPr wrap="square" rtlCol="0">
            <a:spAutoFit/>
          </a:bodyPr>
          <a:lstStyle/>
          <a:p>
            <a:r>
              <a:rPr lang="en-US" dirty="0"/>
              <a:t>In </a:t>
            </a:r>
            <a:r>
              <a:rPr lang="en-US" b="1" dirty="0"/>
              <a:t>Blue Team cybersecurity</a:t>
            </a:r>
            <a:r>
              <a:rPr lang="en-US" dirty="0"/>
              <a:t>, the goal is to defend an organization’s systems, detect attacks, and respond quickly.</a:t>
            </a:r>
          </a:p>
          <a:p>
            <a:r>
              <a:rPr lang="en-US" dirty="0"/>
              <a:t>Blue team:</a:t>
            </a:r>
            <a:br>
              <a:rPr lang="en-US" dirty="0"/>
            </a:br>
            <a:r>
              <a:rPr lang="en-US" dirty="0"/>
              <a:t>Security monitoring: </a:t>
            </a:r>
          </a:p>
          <a:p>
            <a:r>
              <a:rPr lang="en-US" dirty="0"/>
              <a:t>Incident Response: dealing with alert generated by XDR, EDR, and SIEM and SOAR</a:t>
            </a:r>
          </a:p>
          <a:p>
            <a:r>
              <a:rPr lang="en-US" dirty="0"/>
              <a:t>Forensics: </a:t>
            </a:r>
          </a:p>
          <a:p>
            <a:r>
              <a:rPr lang="en-US" dirty="0"/>
              <a:t>Threat Hunting: Real cyber defense in an enterprise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729866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D2B9A-5093-0526-502B-31061C50A0E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8A8E8C6-E7A3-D5B4-7977-6118278102F6}"/>
              </a:ext>
            </a:extLst>
          </p:cNvPr>
          <p:cNvSpPr>
            <a:spLocks noGrp="1"/>
          </p:cNvSpPr>
          <p:nvPr>
            <p:ph type="title"/>
          </p:nvPr>
        </p:nvSpPr>
        <p:spPr>
          <a:xfrm>
            <a:off x="0" y="0"/>
            <a:ext cx="6858000" cy="845820"/>
          </a:xfrm>
          <a:solidFill>
            <a:schemeClr val="accent1"/>
          </a:solidFill>
        </p:spPr>
        <p:txBody>
          <a:bodyPr/>
          <a:lstStyle/>
          <a:p>
            <a:pPr algn="ctr"/>
            <a:r>
              <a:rPr lang="en-US" b="1" dirty="0">
                <a:solidFill>
                  <a:schemeClr val="bg1"/>
                </a:solidFill>
              </a:rPr>
              <a:t>1. Security Monitoring</a:t>
            </a:r>
            <a:endParaRPr lang="en-IN" b="1" dirty="0">
              <a:solidFill>
                <a:schemeClr val="bg1"/>
              </a:solidFill>
            </a:endParaRPr>
          </a:p>
        </p:txBody>
      </p:sp>
      <p:sp>
        <p:nvSpPr>
          <p:cNvPr id="5" name="TextBox 4">
            <a:extLst>
              <a:ext uri="{FF2B5EF4-FFF2-40B4-BE49-F238E27FC236}">
                <a16:creationId xmlns:a16="http://schemas.microsoft.com/office/drawing/2014/main" id="{9544EF4B-E83F-0E05-8835-106AC4CC3B86}"/>
              </a:ext>
            </a:extLst>
          </p:cNvPr>
          <p:cNvSpPr txBox="1"/>
          <p:nvPr/>
        </p:nvSpPr>
        <p:spPr>
          <a:xfrm>
            <a:off x="0" y="845820"/>
            <a:ext cx="6858000" cy="6463308"/>
          </a:xfrm>
          <a:prstGeom prst="rect">
            <a:avLst/>
          </a:prstGeom>
          <a:noFill/>
        </p:spPr>
        <p:txBody>
          <a:bodyPr wrap="square" rtlCol="0">
            <a:spAutoFit/>
          </a:bodyPr>
          <a:lstStyle/>
          <a:p>
            <a:r>
              <a:rPr lang="en-US" dirty="0"/>
              <a:t>1. Security Monitoring</a:t>
            </a:r>
          </a:p>
          <a:p>
            <a:r>
              <a:rPr lang="en-US" dirty="0"/>
              <a:t>Security monitoring means continuously watching systems and network activity for suspicious behavior.</a:t>
            </a:r>
          </a:p>
          <a:p>
            <a:endParaRPr lang="en-US" dirty="0"/>
          </a:p>
          <a:p>
            <a:r>
              <a:rPr lang="en-US" dirty="0"/>
              <a:t>Tools commonly used:</a:t>
            </a:r>
          </a:p>
          <a:p>
            <a:r>
              <a:rPr lang="en-US" dirty="0"/>
              <a:t>Microsoft Defender XDR</a:t>
            </a:r>
          </a:p>
          <a:p>
            <a:r>
              <a:rPr lang="en-US" dirty="0"/>
              <a:t>CrowdStrike Falcon</a:t>
            </a:r>
          </a:p>
          <a:p>
            <a:r>
              <a:rPr lang="en-US" dirty="0"/>
              <a:t>Splunk</a:t>
            </a:r>
          </a:p>
          <a:p>
            <a:r>
              <a:rPr lang="en-US" dirty="0"/>
              <a:t>IBM </a:t>
            </a:r>
            <a:r>
              <a:rPr lang="en-US" dirty="0" err="1"/>
              <a:t>QRadar</a:t>
            </a:r>
            <a:endParaRPr lang="en-US" dirty="0"/>
          </a:p>
          <a:p>
            <a:r>
              <a:rPr lang="en-US" dirty="0"/>
              <a:t>Elastic Security</a:t>
            </a:r>
          </a:p>
          <a:p>
            <a:endParaRPr lang="en-US" dirty="0"/>
          </a:p>
          <a:p>
            <a:r>
              <a:rPr lang="en-US" dirty="0"/>
              <a:t>What analysts monitor:</a:t>
            </a:r>
          </a:p>
          <a:p>
            <a:r>
              <a:rPr lang="en-US" dirty="0"/>
              <a:t>Login activity</a:t>
            </a:r>
          </a:p>
          <a:p>
            <a:r>
              <a:rPr lang="en-US" dirty="0"/>
              <a:t>File access</a:t>
            </a:r>
          </a:p>
          <a:p>
            <a:r>
              <a:rPr lang="en-US" dirty="0"/>
              <a:t>Network traffic</a:t>
            </a:r>
          </a:p>
          <a:p>
            <a:r>
              <a:rPr lang="en-US" dirty="0"/>
              <a:t>Malware alerts</a:t>
            </a:r>
          </a:p>
          <a:p>
            <a:r>
              <a:rPr lang="en-US" dirty="0"/>
              <a:t>Privilege escalation attempts</a:t>
            </a:r>
          </a:p>
          <a:p>
            <a:endParaRPr lang="en-US" dirty="0"/>
          </a:p>
          <a:p>
            <a:r>
              <a:rPr lang="en-US" dirty="0"/>
              <a:t>Example:</a:t>
            </a:r>
          </a:p>
          <a:p>
            <a:r>
              <a:rPr lang="en-US" dirty="0"/>
              <a:t>An alert appears showing:</a:t>
            </a:r>
          </a:p>
          <a:p>
            <a:r>
              <a:rPr lang="en-US" dirty="0"/>
              <a:t>Multiple failed logins followed by a successful login from another country.</a:t>
            </a:r>
          </a:p>
          <a:p>
            <a:r>
              <a:rPr lang="en-US" dirty="0"/>
              <a:t>The SOC analyst investigates immediately.</a:t>
            </a:r>
          </a:p>
        </p:txBody>
      </p:sp>
    </p:spTree>
    <p:extLst>
      <p:ext uri="{BB962C8B-B14F-4D97-AF65-F5344CB8AC3E}">
        <p14:creationId xmlns:p14="http://schemas.microsoft.com/office/powerpoint/2010/main" val="967900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BE3FB-9D6E-00E9-DE12-5FB2EEC5E6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F5F734-619A-AB45-8A4A-D905BCB3C40E}"/>
              </a:ext>
            </a:extLst>
          </p:cNvPr>
          <p:cNvSpPr>
            <a:spLocks noGrp="1"/>
          </p:cNvSpPr>
          <p:nvPr>
            <p:ph type="title"/>
          </p:nvPr>
        </p:nvSpPr>
        <p:spPr>
          <a:xfrm>
            <a:off x="0" y="0"/>
            <a:ext cx="6858000" cy="845820"/>
          </a:xfrm>
          <a:solidFill>
            <a:schemeClr val="accent1"/>
          </a:solidFill>
        </p:spPr>
        <p:txBody>
          <a:bodyPr/>
          <a:lstStyle/>
          <a:p>
            <a:pPr algn="ctr"/>
            <a:r>
              <a:rPr lang="en-US" b="1" dirty="0">
                <a:solidFill>
                  <a:schemeClr val="bg1"/>
                </a:solidFill>
              </a:rPr>
              <a:t>2. Incident Response (IR)</a:t>
            </a:r>
          </a:p>
        </p:txBody>
      </p:sp>
      <p:sp>
        <p:nvSpPr>
          <p:cNvPr id="5" name="TextBox 4">
            <a:extLst>
              <a:ext uri="{FF2B5EF4-FFF2-40B4-BE49-F238E27FC236}">
                <a16:creationId xmlns:a16="http://schemas.microsoft.com/office/drawing/2014/main" id="{7C2B4804-CA8A-5AAB-2735-FD84360B8967}"/>
              </a:ext>
            </a:extLst>
          </p:cNvPr>
          <p:cNvSpPr txBox="1"/>
          <p:nvPr/>
        </p:nvSpPr>
        <p:spPr>
          <a:xfrm>
            <a:off x="0" y="845820"/>
            <a:ext cx="6858000" cy="5909310"/>
          </a:xfrm>
          <a:prstGeom prst="rect">
            <a:avLst/>
          </a:prstGeom>
          <a:noFill/>
        </p:spPr>
        <p:txBody>
          <a:bodyPr wrap="square" rtlCol="0">
            <a:spAutoFit/>
          </a:bodyPr>
          <a:lstStyle/>
          <a:p>
            <a:r>
              <a:rPr lang="en-US" dirty="0"/>
              <a:t>Incident Response means handling security alerts and minimizing damage.</a:t>
            </a:r>
          </a:p>
          <a:p>
            <a:r>
              <a:rPr lang="en-US" dirty="0"/>
              <a:t>Alerts usually come from:</a:t>
            </a:r>
          </a:p>
          <a:p>
            <a:r>
              <a:rPr lang="en-US" dirty="0"/>
              <a:t>EDR (Endpoint Detection and Response)</a:t>
            </a:r>
          </a:p>
          <a:p>
            <a:r>
              <a:rPr lang="en-US" dirty="0"/>
              <a:t>XDR (Extended Detection and Response)</a:t>
            </a:r>
          </a:p>
          <a:p>
            <a:r>
              <a:rPr lang="en-US" dirty="0"/>
              <a:t>SIEM (Security Information and Event Management)</a:t>
            </a:r>
          </a:p>
          <a:p>
            <a:r>
              <a:rPr lang="en-US" dirty="0"/>
              <a:t>SOAR (Security Orchestration Automation and Response)</a:t>
            </a:r>
          </a:p>
          <a:p>
            <a:endParaRPr lang="en-US" dirty="0"/>
          </a:p>
          <a:p>
            <a:r>
              <a:rPr lang="en-US" dirty="0"/>
              <a:t>Incident Response Process</a:t>
            </a:r>
          </a:p>
          <a:p>
            <a:r>
              <a:rPr lang="en-US" dirty="0"/>
              <a:t>Detection – Alert triggered in SIEM/XDR</a:t>
            </a:r>
          </a:p>
          <a:p>
            <a:r>
              <a:rPr lang="en-US" dirty="0"/>
              <a:t>Analysis – Determine if it’s real or false positive</a:t>
            </a:r>
          </a:p>
          <a:p>
            <a:r>
              <a:rPr lang="en-US" dirty="0"/>
              <a:t>Containment – Isolate affected system</a:t>
            </a:r>
          </a:p>
          <a:p>
            <a:r>
              <a:rPr lang="en-US" dirty="0"/>
              <a:t>Eradication – Remove malware or attacker access</a:t>
            </a:r>
          </a:p>
          <a:p>
            <a:r>
              <a:rPr lang="en-US" dirty="0"/>
              <a:t>Recovery – Restore system</a:t>
            </a:r>
          </a:p>
          <a:p>
            <a:r>
              <a:rPr lang="en-US" dirty="0"/>
              <a:t>Lessons learned – Improve defenses</a:t>
            </a:r>
          </a:p>
          <a:p>
            <a:endParaRPr lang="en-US" dirty="0"/>
          </a:p>
          <a:p>
            <a:r>
              <a:rPr lang="en-US" dirty="0"/>
              <a:t>Example incident</a:t>
            </a:r>
          </a:p>
          <a:p>
            <a:r>
              <a:rPr lang="en-US" dirty="0"/>
              <a:t>XDR detects PowerShell downloading malware</a:t>
            </a:r>
          </a:p>
          <a:p>
            <a:r>
              <a:rPr lang="en-US" dirty="0"/>
              <a:t>Analyst isolates the endpoint</a:t>
            </a:r>
          </a:p>
          <a:p>
            <a:r>
              <a:rPr lang="en-US" dirty="0"/>
              <a:t>Malware removed</a:t>
            </a:r>
          </a:p>
          <a:p>
            <a:r>
              <a:rPr lang="en-US" dirty="0"/>
              <a:t>Passwords reset</a:t>
            </a:r>
          </a:p>
        </p:txBody>
      </p:sp>
    </p:spTree>
    <p:extLst>
      <p:ext uri="{BB962C8B-B14F-4D97-AF65-F5344CB8AC3E}">
        <p14:creationId xmlns:p14="http://schemas.microsoft.com/office/powerpoint/2010/main" val="883656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B2574-2D78-2441-209F-75A34C2D00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DE7255-313E-078B-A06F-F3B9563CD9E7}"/>
              </a:ext>
            </a:extLst>
          </p:cNvPr>
          <p:cNvSpPr>
            <a:spLocks noGrp="1"/>
          </p:cNvSpPr>
          <p:nvPr>
            <p:ph type="title"/>
          </p:nvPr>
        </p:nvSpPr>
        <p:spPr>
          <a:xfrm>
            <a:off x="0" y="0"/>
            <a:ext cx="6858000" cy="845820"/>
          </a:xfrm>
          <a:solidFill>
            <a:schemeClr val="accent1"/>
          </a:solidFill>
        </p:spPr>
        <p:txBody>
          <a:bodyPr/>
          <a:lstStyle/>
          <a:p>
            <a:pPr algn="ctr"/>
            <a:r>
              <a:rPr lang="en-US" b="1" dirty="0">
                <a:solidFill>
                  <a:schemeClr val="bg1"/>
                </a:solidFill>
              </a:rPr>
              <a:t>3. Digital Forensics</a:t>
            </a:r>
          </a:p>
        </p:txBody>
      </p:sp>
      <p:sp>
        <p:nvSpPr>
          <p:cNvPr id="5" name="TextBox 4">
            <a:extLst>
              <a:ext uri="{FF2B5EF4-FFF2-40B4-BE49-F238E27FC236}">
                <a16:creationId xmlns:a16="http://schemas.microsoft.com/office/drawing/2014/main" id="{D8452D56-9D47-35D9-2026-9FCE93CE0194}"/>
              </a:ext>
            </a:extLst>
          </p:cNvPr>
          <p:cNvSpPr txBox="1"/>
          <p:nvPr/>
        </p:nvSpPr>
        <p:spPr>
          <a:xfrm>
            <a:off x="0" y="845820"/>
            <a:ext cx="6858000" cy="5355312"/>
          </a:xfrm>
          <a:prstGeom prst="rect">
            <a:avLst/>
          </a:prstGeom>
          <a:noFill/>
        </p:spPr>
        <p:txBody>
          <a:bodyPr wrap="square" rtlCol="0">
            <a:spAutoFit/>
          </a:bodyPr>
          <a:lstStyle/>
          <a:p>
            <a:r>
              <a:rPr lang="en-US" dirty="0"/>
              <a:t>Forensics means investigating what happened after a cyberattack.</a:t>
            </a:r>
          </a:p>
          <a:p>
            <a:endParaRPr lang="en-US" dirty="0"/>
          </a:p>
          <a:p>
            <a:r>
              <a:rPr lang="en-US" dirty="0"/>
              <a:t>Tasks</a:t>
            </a:r>
          </a:p>
          <a:p>
            <a:r>
              <a:rPr lang="en-US" dirty="0"/>
              <a:t>Recover deleted files</a:t>
            </a:r>
          </a:p>
          <a:p>
            <a:r>
              <a:rPr lang="en-US" dirty="0"/>
              <a:t>Analyze system logs</a:t>
            </a:r>
          </a:p>
          <a:p>
            <a:r>
              <a:rPr lang="en-US" dirty="0"/>
              <a:t>Identify attacker entry point</a:t>
            </a:r>
          </a:p>
          <a:p>
            <a:r>
              <a:rPr lang="en-US" dirty="0"/>
              <a:t>Build attack timeline</a:t>
            </a:r>
          </a:p>
          <a:p>
            <a:endParaRPr lang="en-US" dirty="0"/>
          </a:p>
          <a:p>
            <a:r>
              <a:rPr lang="en-US" dirty="0"/>
              <a:t>Tools used</a:t>
            </a:r>
          </a:p>
          <a:p>
            <a:r>
              <a:rPr lang="en-US" dirty="0"/>
              <a:t>Autopsy (digital forensics platform)</a:t>
            </a:r>
          </a:p>
          <a:p>
            <a:r>
              <a:rPr lang="en-US" dirty="0"/>
              <a:t>Volatility Framework</a:t>
            </a:r>
          </a:p>
          <a:p>
            <a:r>
              <a:rPr lang="en-US" dirty="0"/>
              <a:t>FTK (Forensic Toolkit)</a:t>
            </a:r>
          </a:p>
          <a:p>
            <a:r>
              <a:rPr lang="en-US" dirty="0"/>
              <a:t>Wireshark</a:t>
            </a:r>
          </a:p>
          <a:p>
            <a:endParaRPr lang="en-US" dirty="0"/>
          </a:p>
          <a:p>
            <a:r>
              <a:rPr lang="en-US" dirty="0"/>
              <a:t>Example</a:t>
            </a:r>
          </a:p>
          <a:p>
            <a:r>
              <a:rPr lang="en-US" dirty="0"/>
              <a:t>Investigators find:</a:t>
            </a:r>
          </a:p>
          <a:p>
            <a:r>
              <a:rPr lang="en-US" dirty="0"/>
              <a:t>Malware file created at 02:10 AM</a:t>
            </a:r>
          </a:p>
          <a:p>
            <a:r>
              <a:rPr lang="en-US" dirty="0"/>
              <a:t>Attacker used PowerShell</a:t>
            </a:r>
          </a:p>
          <a:p>
            <a:r>
              <a:rPr lang="en-US" dirty="0"/>
              <a:t>Data exfiltration started at 02:30 AM</a:t>
            </a:r>
          </a:p>
        </p:txBody>
      </p:sp>
    </p:spTree>
    <p:extLst>
      <p:ext uri="{BB962C8B-B14F-4D97-AF65-F5344CB8AC3E}">
        <p14:creationId xmlns:p14="http://schemas.microsoft.com/office/powerpoint/2010/main" val="56740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517E0-4DC6-63AD-E092-C4A674E975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A421EE4-F9A2-DB09-29AC-2987E5BE50A6}"/>
              </a:ext>
            </a:extLst>
          </p:cNvPr>
          <p:cNvSpPr>
            <a:spLocks noGrp="1"/>
          </p:cNvSpPr>
          <p:nvPr>
            <p:ph type="title"/>
          </p:nvPr>
        </p:nvSpPr>
        <p:spPr>
          <a:xfrm>
            <a:off x="0" y="0"/>
            <a:ext cx="6858000" cy="845820"/>
          </a:xfrm>
          <a:solidFill>
            <a:schemeClr val="accent1"/>
          </a:solidFill>
        </p:spPr>
        <p:txBody>
          <a:bodyPr/>
          <a:lstStyle/>
          <a:p>
            <a:pPr algn="ctr"/>
            <a:r>
              <a:rPr lang="en-US" b="1" dirty="0">
                <a:solidFill>
                  <a:schemeClr val="bg1"/>
                </a:solidFill>
              </a:rPr>
              <a:t>4. Threat Hunting</a:t>
            </a:r>
          </a:p>
        </p:txBody>
      </p:sp>
      <p:sp>
        <p:nvSpPr>
          <p:cNvPr id="5" name="TextBox 4">
            <a:extLst>
              <a:ext uri="{FF2B5EF4-FFF2-40B4-BE49-F238E27FC236}">
                <a16:creationId xmlns:a16="http://schemas.microsoft.com/office/drawing/2014/main" id="{8D516CDD-F535-7BED-4C6C-5D7E7B873FE7}"/>
              </a:ext>
            </a:extLst>
          </p:cNvPr>
          <p:cNvSpPr txBox="1"/>
          <p:nvPr/>
        </p:nvSpPr>
        <p:spPr>
          <a:xfrm>
            <a:off x="0" y="845820"/>
            <a:ext cx="6858000" cy="5078313"/>
          </a:xfrm>
          <a:prstGeom prst="rect">
            <a:avLst/>
          </a:prstGeom>
          <a:noFill/>
        </p:spPr>
        <p:txBody>
          <a:bodyPr wrap="square" rtlCol="0">
            <a:spAutoFit/>
          </a:bodyPr>
          <a:lstStyle/>
          <a:p>
            <a:r>
              <a:rPr lang="en-US" dirty="0"/>
              <a:t>Threat hunting means actively searching for attackers that tools didn’t detect.</a:t>
            </a:r>
          </a:p>
          <a:p>
            <a:r>
              <a:rPr lang="en-US" dirty="0"/>
              <a:t>Instead of waiting for alerts, analysts proactively hunt threats.</a:t>
            </a:r>
          </a:p>
          <a:p>
            <a:endParaRPr lang="en-US" dirty="0"/>
          </a:p>
          <a:p>
            <a:r>
              <a:rPr lang="en-US" dirty="0"/>
              <a:t>Example hunting questions</a:t>
            </a:r>
          </a:p>
          <a:p>
            <a:r>
              <a:rPr lang="en-US" dirty="0"/>
              <a:t>Are there suspicious PowerShell executions?</a:t>
            </a:r>
          </a:p>
          <a:p>
            <a:r>
              <a:rPr lang="en-US" dirty="0"/>
              <a:t>Are any endpoints communicating with known malicious IPs?</a:t>
            </a:r>
          </a:p>
          <a:p>
            <a:r>
              <a:rPr lang="en-US" dirty="0"/>
              <a:t>Are there unauthorized admin accounts created?</a:t>
            </a:r>
          </a:p>
          <a:p>
            <a:endParaRPr lang="en-US" dirty="0"/>
          </a:p>
          <a:p>
            <a:r>
              <a:rPr lang="en-US" dirty="0"/>
              <a:t>Data sources</a:t>
            </a:r>
          </a:p>
          <a:p>
            <a:r>
              <a:rPr lang="en-US" dirty="0"/>
              <a:t>Endpoint logs</a:t>
            </a:r>
          </a:p>
          <a:p>
            <a:r>
              <a:rPr lang="en-US" dirty="0"/>
              <a:t>Network logs</a:t>
            </a:r>
          </a:p>
          <a:p>
            <a:r>
              <a:rPr lang="en-US" dirty="0"/>
              <a:t>Authentication logs</a:t>
            </a:r>
          </a:p>
          <a:p>
            <a:r>
              <a:rPr lang="en-US" dirty="0"/>
              <a:t>DNS logs</a:t>
            </a:r>
          </a:p>
          <a:p>
            <a:endParaRPr lang="en-US" dirty="0"/>
          </a:p>
          <a:p>
            <a:r>
              <a:rPr lang="en-US" dirty="0"/>
              <a:t>Framework used</a:t>
            </a:r>
          </a:p>
          <a:p>
            <a:r>
              <a:rPr lang="en-US" dirty="0"/>
              <a:t>Threat hunting often follows MITRE ATT&amp;CK Framework to map attacker techniques.</a:t>
            </a:r>
          </a:p>
        </p:txBody>
      </p:sp>
    </p:spTree>
    <p:extLst>
      <p:ext uri="{BB962C8B-B14F-4D97-AF65-F5344CB8AC3E}">
        <p14:creationId xmlns:p14="http://schemas.microsoft.com/office/powerpoint/2010/main" val="637711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2F00C-301C-EEEB-101F-89DBF81D50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AA8D065-9817-F6E7-2A65-4472DDB8B478}"/>
              </a:ext>
            </a:extLst>
          </p:cNvPr>
          <p:cNvSpPr>
            <a:spLocks noGrp="1"/>
          </p:cNvSpPr>
          <p:nvPr>
            <p:ph type="title"/>
          </p:nvPr>
        </p:nvSpPr>
        <p:spPr>
          <a:xfrm>
            <a:off x="0" y="0"/>
            <a:ext cx="6858000" cy="845820"/>
          </a:xfrm>
          <a:solidFill>
            <a:schemeClr val="accent1"/>
          </a:solidFill>
        </p:spPr>
        <p:txBody>
          <a:bodyPr/>
          <a:lstStyle/>
          <a:p>
            <a:pPr algn="ctr"/>
            <a:r>
              <a:rPr lang="en-US" b="1" dirty="0">
                <a:solidFill>
                  <a:schemeClr val="bg1"/>
                </a:solidFill>
              </a:rPr>
              <a:t>4. Threat Hunting</a:t>
            </a:r>
          </a:p>
        </p:txBody>
      </p:sp>
      <p:sp>
        <p:nvSpPr>
          <p:cNvPr id="5" name="TextBox 4">
            <a:extLst>
              <a:ext uri="{FF2B5EF4-FFF2-40B4-BE49-F238E27FC236}">
                <a16:creationId xmlns:a16="http://schemas.microsoft.com/office/drawing/2014/main" id="{4F771EF6-81DD-EE62-D792-41138523169F}"/>
              </a:ext>
            </a:extLst>
          </p:cNvPr>
          <p:cNvSpPr txBox="1"/>
          <p:nvPr/>
        </p:nvSpPr>
        <p:spPr>
          <a:xfrm>
            <a:off x="0" y="845820"/>
            <a:ext cx="6858000" cy="5078313"/>
          </a:xfrm>
          <a:prstGeom prst="rect">
            <a:avLst/>
          </a:prstGeom>
          <a:noFill/>
        </p:spPr>
        <p:txBody>
          <a:bodyPr wrap="square" rtlCol="0">
            <a:spAutoFit/>
          </a:bodyPr>
          <a:lstStyle/>
          <a:p>
            <a:r>
              <a:rPr lang="en-US" dirty="0"/>
              <a:t>Threat hunting means actively searching for attackers that tools didn’t detect.</a:t>
            </a:r>
          </a:p>
          <a:p>
            <a:r>
              <a:rPr lang="en-US" dirty="0"/>
              <a:t>Instead of waiting for alerts, analysts proactively hunt threats.</a:t>
            </a:r>
          </a:p>
          <a:p>
            <a:endParaRPr lang="en-US" dirty="0"/>
          </a:p>
          <a:p>
            <a:r>
              <a:rPr lang="en-US" dirty="0"/>
              <a:t>Example hunting questions</a:t>
            </a:r>
          </a:p>
          <a:p>
            <a:r>
              <a:rPr lang="en-US" dirty="0"/>
              <a:t>Are there suspicious PowerShell executions?</a:t>
            </a:r>
          </a:p>
          <a:p>
            <a:r>
              <a:rPr lang="en-US" dirty="0"/>
              <a:t>Are any endpoints communicating with known malicious IPs?</a:t>
            </a:r>
          </a:p>
          <a:p>
            <a:r>
              <a:rPr lang="en-US" dirty="0"/>
              <a:t>Are there unauthorized admin accounts created?</a:t>
            </a:r>
          </a:p>
          <a:p>
            <a:endParaRPr lang="en-US" dirty="0"/>
          </a:p>
          <a:p>
            <a:r>
              <a:rPr lang="en-US" dirty="0"/>
              <a:t>Data sources</a:t>
            </a:r>
          </a:p>
          <a:p>
            <a:r>
              <a:rPr lang="en-US" dirty="0"/>
              <a:t>Endpoint logs</a:t>
            </a:r>
          </a:p>
          <a:p>
            <a:r>
              <a:rPr lang="en-US" dirty="0"/>
              <a:t>Network logs</a:t>
            </a:r>
          </a:p>
          <a:p>
            <a:r>
              <a:rPr lang="en-US" dirty="0"/>
              <a:t>Authentication logs</a:t>
            </a:r>
          </a:p>
          <a:p>
            <a:r>
              <a:rPr lang="en-US" dirty="0"/>
              <a:t>DNS logs</a:t>
            </a:r>
          </a:p>
          <a:p>
            <a:endParaRPr lang="en-US" dirty="0"/>
          </a:p>
          <a:p>
            <a:r>
              <a:rPr lang="en-US" dirty="0"/>
              <a:t>Framework used</a:t>
            </a:r>
          </a:p>
          <a:p>
            <a:r>
              <a:rPr lang="en-US" dirty="0"/>
              <a:t>Threat hunting often follows MITRE ATT&amp;CK Framework to map attacker techniques.</a:t>
            </a:r>
          </a:p>
        </p:txBody>
      </p:sp>
    </p:spTree>
    <p:extLst>
      <p:ext uri="{BB962C8B-B14F-4D97-AF65-F5344CB8AC3E}">
        <p14:creationId xmlns:p14="http://schemas.microsoft.com/office/powerpoint/2010/main" val="1794517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5736A-304D-1A6F-7375-F45F963149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ADD33F-1FAC-0E62-D72C-7475C3511F23}"/>
              </a:ext>
            </a:extLst>
          </p:cNvPr>
          <p:cNvSpPr>
            <a:spLocks noGrp="1"/>
          </p:cNvSpPr>
          <p:nvPr>
            <p:ph type="title"/>
          </p:nvPr>
        </p:nvSpPr>
        <p:spPr>
          <a:xfrm>
            <a:off x="0" y="0"/>
            <a:ext cx="6858000" cy="845820"/>
          </a:xfrm>
          <a:solidFill>
            <a:schemeClr val="accent1"/>
          </a:solidFill>
        </p:spPr>
        <p:txBody>
          <a:bodyPr/>
          <a:lstStyle/>
          <a:p>
            <a:pPr algn="ctr"/>
            <a:r>
              <a:rPr lang="en-US" b="1" dirty="0">
                <a:solidFill>
                  <a:schemeClr val="bg1"/>
                </a:solidFill>
              </a:rPr>
              <a:t>Red Teams (Vulnerability Assessment)</a:t>
            </a:r>
          </a:p>
        </p:txBody>
      </p:sp>
      <p:sp>
        <p:nvSpPr>
          <p:cNvPr id="5" name="TextBox 4">
            <a:extLst>
              <a:ext uri="{FF2B5EF4-FFF2-40B4-BE49-F238E27FC236}">
                <a16:creationId xmlns:a16="http://schemas.microsoft.com/office/drawing/2014/main" id="{5D854FDF-743E-C8EE-D0AD-200B0C8B9F38}"/>
              </a:ext>
            </a:extLst>
          </p:cNvPr>
          <p:cNvSpPr txBox="1"/>
          <p:nvPr/>
        </p:nvSpPr>
        <p:spPr>
          <a:xfrm>
            <a:off x="0" y="845820"/>
            <a:ext cx="6858000" cy="5632311"/>
          </a:xfrm>
          <a:prstGeom prst="rect">
            <a:avLst/>
          </a:prstGeom>
          <a:noFill/>
        </p:spPr>
        <p:txBody>
          <a:bodyPr wrap="square" rtlCol="0">
            <a:spAutoFit/>
          </a:bodyPr>
          <a:lstStyle/>
          <a:p>
            <a:r>
              <a:rPr lang="en-US" dirty="0"/>
              <a:t>Vulnerability Assessment means finding security weaknesses in systems, networks, or applications.</a:t>
            </a:r>
          </a:p>
          <a:p>
            <a:endParaRPr lang="en-US" dirty="0"/>
          </a:p>
          <a:p>
            <a:r>
              <a:rPr lang="en-US" dirty="0"/>
              <a:t>Security tools scan the system</a:t>
            </a:r>
          </a:p>
          <a:p>
            <a:r>
              <a:rPr lang="en-US" dirty="0"/>
              <a:t>They detect known vulnerabilities</a:t>
            </a:r>
          </a:p>
          <a:p>
            <a:r>
              <a:rPr lang="en-US" dirty="0"/>
              <a:t>A report is generated with the risks and fixes</a:t>
            </a:r>
          </a:p>
          <a:p>
            <a:endParaRPr lang="en-US" dirty="0"/>
          </a:p>
          <a:p>
            <a:r>
              <a:rPr lang="en-US" dirty="0"/>
              <a:t>Example:</a:t>
            </a:r>
          </a:p>
          <a:p>
            <a:r>
              <a:rPr lang="en-US" dirty="0"/>
              <a:t>An outdated server software</a:t>
            </a:r>
          </a:p>
          <a:p>
            <a:r>
              <a:rPr lang="en-US" dirty="0"/>
              <a:t>Weak passwords</a:t>
            </a:r>
          </a:p>
          <a:p>
            <a:r>
              <a:rPr lang="en-US" dirty="0"/>
              <a:t>Open ports</a:t>
            </a:r>
          </a:p>
          <a:p>
            <a:r>
              <a:rPr lang="en-US" dirty="0"/>
              <a:t>Missing security patches</a:t>
            </a:r>
          </a:p>
          <a:p>
            <a:endParaRPr lang="en-US" dirty="0"/>
          </a:p>
          <a:p>
            <a:r>
              <a:rPr lang="en-US" dirty="0"/>
              <a:t>Tools commonly used:</a:t>
            </a:r>
          </a:p>
          <a:p>
            <a:r>
              <a:rPr lang="en-US" dirty="0"/>
              <a:t>Nessus</a:t>
            </a:r>
          </a:p>
          <a:p>
            <a:r>
              <a:rPr lang="en-US" dirty="0"/>
              <a:t>OpenVAS</a:t>
            </a:r>
          </a:p>
          <a:p>
            <a:r>
              <a:rPr lang="en-US" dirty="0"/>
              <a:t>Qualys</a:t>
            </a:r>
          </a:p>
          <a:p>
            <a:r>
              <a:rPr lang="en-US" dirty="0"/>
              <a:t>Nmap</a:t>
            </a:r>
          </a:p>
          <a:p>
            <a:endParaRPr lang="en-US" dirty="0"/>
          </a:p>
          <a:p>
            <a:r>
              <a:rPr lang="en-US" dirty="0"/>
              <a:t>Goal: Identify vulnerabilities before attackers exploit them.</a:t>
            </a:r>
          </a:p>
        </p:txBody>
      </p:sp>
    </p:spTree>
    <p:extLst>
      <p:ext uri="{BB962C8B-B14F-4D97-AF65-F5344CB8AC3E}">
        <p14:creationId xmlns:p14="http://schemas.microsoft.com/office/powerpoint/2010/main" val="888972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4BE0-6CF1-9001-83C6-640987A215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D30A94-98E7-60FA-1978-8C8E7AF949D4}"/>
              </a:ext>
            </a:extLst>
          </p:cNvPr>
          <p:cNvSpPr>
            <a:spLocks noGrp="1"/>
          </p:cNvSpPr>
          <p:nvPr>
            <p:ph type="title"/>
          </p:nvPr>
        </p:nvSpPr>
        <p:spPr>
          <a:xfrm>
            <a:off x="0" y="0"/>
            <a:ext cx="6858000" cy="845820"/>
          </a:xfrm>
          <a:solidFill>
            <a:schemeClr val="accent2"/>
          </a:solidFill>
        </p:spPr>
        <p:txBody>
          <a:bodyPr>
            <a:normAutofit fontScale="90000"/>
          </a:bodyPr>
          <a:lstStyle/>
          <a:p>
            <a:pPr algn="ctr"/>
            <a:r>
              <a:rPr lang="en-US" b="1" dirty="0">
                <a:solidFill>
                  <a:schemeClr val="bg1"/>
                </a:solidFill>
              </a:rPr>
              <a:t>Red Teams </a:t>
            </a:r>
            <a:br>
              <a:rPr lang="en-US" b="1" dirty="0">
                <a:solidFill>
                  <a:schemeClr val="bg1"/>
                </a:solidFill>
              </a:rPr>
            </a:br>
            <a:r>
              <a:rPr lang="en-US" b="1" dirty="0">
                <a:solidFill>
                  <a:schemeClr val="bg1"/>
                </a:solidFill>
              </a:rPr>
              <a:t>1. Vulnerability Assessment</a:t>
            </a:r>
          </a:p>
        </p:txBody>
      </p:sp>
      <p:sp>
        <p:nvSpPr>
          <p:cNvPr id="5" name="TextBox 4">
            <a:extLst>
              <a:ext uri="{FF2B5EF4-FFF2-40B4-BE49-F238E27FC236}">
                <a16:creationId xmlns:a16="http://schemas.microsoft.com/office/drawing/2014/main" id="{C58F68A2-2652-7751-EB7B-6AB12DF30CF4}"/>
              </a:ext>
            </a:extLst>
          </p:cNvPr>
          <p:cNvSpPr txBox="1"/>
          <p:nvPr/>
        </p:nvSpPr>
        <p:spPr>
          <a:xfrm>
            <a:off x="0" y="845820"/>
            <a:ext cx="6858000" cy="5632311"/>
          </a:xfrm>
          <a:prstGeom prst="rect">
            <a:avLst/>
          </a:prstGeom>
          <a:noFill/>
        </p:spPr>
        <p:txBody>
          <a:bodyPr wrap="square" rtlCol="0">
            <a:spAutoFit/>
          </a:bodyPr>
          <a:lstStyle/>
          <a:p>
            <a:r>
              <a:rPr lang="en-US" dirty="0"/>
              <a:t>Vulnerability Assessment means finding security weaknesses in systems, networks, or applications.</a:t>
            </a:r>
          </a:p>
          <a:p>
            <a:endParaRPr lang="en-US" dirty="0"/>
          </a:p>
          <a:p>
            <a:r>
              <a:rPr lang="en-US" dirty="0"/>
              <a:t>Security tools scan the system</a:t>
            </a:r>
          </a:p>
          <a:p>
            <a:r>
              <a:rPr lang="en-US" dirty="0"/>
              <a:t>They detect known vulnerabilities</a:t>
            </a:r>
          </a:p>
          <a:p>
            <a:r>
              <a:rPr lang="en-US" dirty="0"/>
              <a:t>A report is generated with the risks and fixes</a:t>
            </a:r>
          </a:p>
          <a:p>
            <a:endParaRPr lang="en-US" dirty="0"/>
          </a:p>
          <a:p>
            <a:r>
              <a:rPr lang="en-US" dirty="0"/>
              <a:t>Example:</a:t>
            </a:r>
          </a:p>
          <a:p>
            <a:r>
              <a:rPr lang="en-US" dirty="0"/>
              <a:t>An outdated server software</a:t>
            </a:r>
          </a:p>
          <a:p>
            <a:r>
              <a:rPr lang="en-US" dirty="0"/>
              <a:t>Weak passwords</a:t>
            </a:r>
          </a:p>
          <a:p>
            <a:r>
              <a:rPr lang="en-US" dirty="0"/>
              <a:t>Open ports</a:t>
            </a:r>
          </a:p>
          <a:p>
            <a:r>
              <a:rPr lang="en-US" dirty="0"/>
              <a:t>Missing security patches</a:t>
            </a:r>
          </a:p>
          <a:p>
            <a:endParaRPr lang="en-US" dirty="0"/>
          </a:p>
          <a:p>
            <a:r>
              <a:rPr lang="en-US" dirty="0"/>
              <a:t>Tools commonly used:</a:t>
            </a:r>
          </a:p>
          <a:p>
            <a:r>
              <a:rPr lang="en-US" dirty="0"/>
              <a:t>Nessus</a:t>
            </a:r>
          </a:p>
          <a:p>
            <a:r>
              <a:rPr lang="en-US" dirty="0"/>
              <a:t>OpenVAS</a:t>
            </a:r>
          </a:p>
          <a:p>
            <a:r>
              <a:rPr lang="en-US" dirty="0"/>
              <a:t>Qualys</a:t>
            </a:r>
          </a:p>
          <a:p>
            <a:r>
              <a:rPr lang="en-US" dirty="0"/>
              <a:t>Nmap</a:t>
            </a:r>
          </a:p>
          <a:p>
            <a:endParaRPr lang="en-US" dirty="0"/>
          </a:p>
          <a:p>
            <a:r>
              <a:rPr lang="en-US" dirty="0"/>
              <a:t>Goal: Identify vulnerabilities before attackers exploit them.</a:t>
            </a:r>
          </a:p>
        </p:txBody>
      </p:sp>
    </p:spTree>
    <p:extLst>
      <p:ext uri="{BB962C8B-B14F-4D97-AF65-F5344CB8AC3E}">
        <p14:creationId xmlns:p14="http://schemas.microsoft.com/office/powerpoint/2010/main" val="4262776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7ACFB-A6A6-F0CC-DF4B-C904045111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BDDF4C-34D3-98CB-4A0E-6D2DA2262D1E}"/>
              </a:ext>
            </a:extLst>
          </p:cNvPr>
          <p:cNvSpPr>
            <a:spLocks noGrp="1"/>
          </p:cNvSpPr>
          <p:nvPr>
            <p:ph type="title"/>
          </p:nvPr>
        </p:nvSpPr>
        <p:spPr>
          <a:xfrm>
            <a:off x="0" y="0"/>
            <a:ext cx="6858000" cy="845820"/>
          </a:xfrm>
          <a:solidFill>
            <a:schemeClr val="accent1"/>
          </a:solidFill>
        </p:spPr>
        <p:txBody>
          <a:bodyPr>
            <a:normAutofit/>
          </a:bodyPr>
          <a:lstStyle/>
          <a:p>
            <a:pPr algn="ctr"/>
            <a:r>
              <a:rPr lang="en-US" b="1" dirty="0">
                <a:solidFill>
                  <a:schemeClr val="bg1"/>
                </a:solidFill>
              </a:rPr>
              <a:t>2. Penetration Testing (Pentest)</a:t>
            </a:r>
          </a:p>
        </p:txBody>
      </p:sp>
      <p:sp>
        <p:nvSpPr>
          <p:cNvPr id="5" name="TextBox 4">
            <a:extLst>
              <a:ext uri="{FF2B5EF4-FFF2-40B4-BE49-F238E27FC236}">
                <a16:creationId xmlns:a16="http://schemas.microsoft.com/office/drawing/2014/main" id="{06D36830-CB31-8991-66E2-3A927690F705}"/>
              </a:ext>
            </a:extLst>
          </p:cNvPr>
          <p:cNvSpPr txBox="1"/>
          <p:nvPr/>
        </p:nvSpPr>
        <p:spPr>
          <a:xfrm>
            <a:off x="0" y="845820"/>
            <a:ext cx="6858000" cy="7017306"/>
          </a:xfrm>
          <a:prstGeom prst="rect">
            <a:avLst/>
          </a:prstGeom>
          <a:noFill/>
        </p:spPr>
        <p:txBody>
          <a:bodyPr wrap="square" rtlCol="0">
            <a:spAutoFit/>
          </a:bodyPr>
          <a:lstStyle/>
          <a:p>
            <a:r>
              <a:rPr lang="en-US" dirty="0"/>
              <a:t>Penetration Testing is actively trying to exploit the vulnerabilities found in a system to see if an attacker could break in.</a:t>
            </a:r>
          </a:p>
          <a:p>
            <a:endParaRPr lang="en-US" dirty="0"/>
          </a:p>
          <a:p>
            <a:r>
              <a:rPr lang="en-US" dirty="0"/>
              <a:t>It simulates a real hacker attack.</a:t>
            </a:r>
          </a:p>
          <a:p>
            <a:endParaRPr lang="en-US" dirty="0"/>
          </a:p>
          <a:p>
            <a:r>
              <a:rPr lang="en-US" dirty="0"/>
              <a:t>Steps usually include:</a:t>
            </a:r>
          </a:p>
          <a:p>
            <a:r>
              <a:rPr lang="en-US" dirty="0"/>
              <a:t>Reconnaissance (information gathering)</a:t>
            </a:r>
          </a:p>
          <a:p>
            <a:r>
              <a:rPr lang="en-US" dirty="0"/>
              <a:t>Scanning</a:t>
            </a:r>
          </a:p>
          <a:p>
            <a:r>
              <a:rPr lang="en-US" dirty="0"/>
              <a:t>Exploitation</a:t>
            </a:r>
          </a:p>
          <a:p>
            <a:r>
              <a:rPr lang="en-US" dirty="0"/>
              <a:t>Post-exploitation</a:t>
            </a:r>
          </a:p>
          <a:p>
            <a:r>
              <a:rPr lang="en-US" dirty="0"/>
              <a:t>Reporting</a:t>
            </a:r>
          </a:p>
          <a:p>
            <a:endParaRPr lang="en-US" dirty="0"/>
          </a:p>
          <a:p>
            <a:r>
              <a:rPr lang="en-US" dirty="0"/>
              <a:t>Example:</a:t>
            </a:r>
          </a:p>
          <a:p>
            <a:r>
              <a:rPr lang="en-US" dirty="0"/>
              <a:t>Exploiting a weak login system</a:t>
            </a:r>
          </a:p>
          <a:p>
            <a:r>
              <a:rPr lang="en-US" dirty="0"/>
              <a:t>Getting unauthorized access to a database</a:t>
            </a:r>
          </a:p>
          <a:p>
            <a:r>
              <a:rPr lang="en-US" dirty="0"/>
              <a:t>Privilege escalation</a:t>
            </a:r>
          </a:p>
          <a:p>
            <a:endParaRPr lang="en-US" dirty="0"/>
          </a:p>
          <a:p>
            <a:r>
              <a:rPr lang="en-US" dirty="0"/>
              <a:t>Tools commonly used:</a:t>
            </a:r>
          </a:p>
          <a:p>
            <a:r>
              <a:rPr lang="en-US" dirty="0"/>
              <a:t>Metasploit</a:t>
            </a:r>
          </a:p>
          <a:p>
            <a:r>
              <a:rPr lang="en-US" dirty="0"/>
              <a:t>Burp Suite</a:t>
            </a:r>
          </a:p>
          <a:p>
            <a:r>
              <a:rPr lang="en-US" dirty="0" err="1"/>
              <a:t>SQLmap</a:t>
            </a:r>
            <a:endParaRPr lang="en-US" dirty="0"/>
          </a:p>
          <a:p>
            <a:r>
              <a:rPr lang="en-US" dirty="0"/>
              <a:t>Nmap</a:t>
            </a:r>
          </a:p>
          <a:p>
            <a:r>
              <a:rPr lang="en-US" dirty="0"/>
              <a:t>Hydra</a:t>
            </a:r>
          </a:p>
          <a:p>
            <a:endParaRPr lang="en-US" dirty="0"/>
          </a:p>
          <a:p>
            <a:r>
              <a:rPr lang="en-US" dirty="0"/>
              <a:t>Goal: Prove that vulnerabilities can actually be exploited.</a:t>
            </a:r>
          </a:p>
        </p:txBody>
      </p:sp>
    </p:spTree>
    <p:extLst>
      <p:ext uri="{BB962C8B-B14F-4D97-AF65-F5344CB8AC3E}">
        <p14:creationId xmlns:p14="http://schemas.microsoft.com/office/powerpoint/2010/main" val="3371211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D1E55-4162-9C19-0ACF-98443DD808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A92F8F-4E5E-97AF-F104-323CB1406CF6}"/>
              </a:ext>
            </a:extLst>
          </p:cNvPr>
          <p:cNvSpPr>
            <a:spLocks noGrp="1"/>
          </p:cNvSpPr>
          <p:nvPr>
            <p:ph type="title"/>
          </p:nvPr>
        </p:nvSpPr>
        <p:spPr>
          <a:xfrm>
            <a:off x="0" y="0"/>
            <a:ext cx="6858000" cy="845820"/>
          </a:xfrm>
          <a:solidFill>
            <a:schemeClr val="accent1"/>
          </a:solidFill>
        </p:spPr>
        <p:txBody>
          <a:bodyPr>
            <a:normAutofit/>
          </a:bodyPr>
          <a:lstStyle/>
          <a:p>
            <a:pPr algn="ctr"/>
            <a:r>
              <a:rPr lang="en-US" b="1" dirty="0">
                <a:solidFill>
                  <a:schemeClr val="bg1"/>
                </a:solidFill>
              </a:rPr>
              <a:t>3. Social Engineering</a:t>
            </a:r>
          </a:p>
        </p:txBody>
      </p:sp>
      <p:sp>
        <p:nvSpPr>
          <p:cNvPr id="5" name="TextBox 4">
            <a:extLst>
              <a:ext uri="{FF2B5EF4-FFF2-40B4-BE49-F238E27FC236}">
                <a16:creationId xmlns:a16="http://schemas.microsoft.com/office/drawing/2014/main" id="{FD1B7100-DB7E-A5EB-389D-9AE4EC07B5C4}"/>
              </a:ext>
            </a:extLst>
          </p:cNvPr>
          <p:cNvSpPr txBox="1"/>
          <p:nvPr/>
        </p:nvSpPr>
        <p:spPr>
          <a:xfrm>
            <a:off x="0" y="845820"/>
            <a:ext cx="6858000" cy="4524315"/>
          </a:xfrm>
          <a:prstGeom prst="rect">
            <a:avLst/>
          </a:prstGeom>
          <a:noFill/>
        </p:spPr>
        <p:txBody>
          <a:bodyPr wrap="square" rtlCol="0">
            <a:spAutoFit/>
          </a:bodyPr>
          <a:lstStyle/>
          <a:p>
            <a:r>
              <a:rPr lang="en-US" dirty="0"/>
              <a:t>Social Engineering is manipulating people to reveal confidential information.</a:t>
            </a:r>
          </a:p>
          <a:p>
            <a:endParaRPr lang="en-US" dirty="0"/>
          </a:p>
          <a:p>
            <a:r>
              <a:rPr lang="en-US" dirty="0"/>
              <a:t>Instead of hacking computers, attackers hack human psychology. </a:t>
            </a:r>
          </a:p>
          <a:p>
            <a:endParaRPr lang="en-US" dirty="0"/>
          </a:p>
          <a:p>
            <a:r>
              <a:rPr lang="en-US" dirty="0"/>
              <a:t>Examples:</a:t>
            </a:r>
          </a:p>
          <a:p>
            <a:r>
              <a:rPr lang="en-US" dirty="0"/>
              <a:t>Phishing emails</a:t>
            </a:r>
          </a:p>
          <a:p>
            <a:r>
              <a:rPr lang="en-US" dirty="0"/>
              <a:t>Fake login pages</a:t>
            </a:r>
          </a:p>
          <a:p>
            <a:r>
              <a:rPr lang="en-US" dirty="0"/>
              <a:t>Calling employees pretending to be IT support</a:t>
            </a:r>
          </a:p>
          <a:p>
            <a:r>
              <a:rPr lang="en-US" dirty="0"/>
              <a:t>USB drop attacks</a:t>
            </a:r>
          </a:p>
          <a:p>
            <a:endParaRPr lang="en-US" dirty="0"/>
          </a:p>
          <a:p>
            <a:r>
              <a:rPr lang="en-US" dirty="0"/>
              <a:t>Example scenario:</a:t>
            </a:r>
          </a:p>
          <a:p>
            <a:r>
              <a:rPr lang="en-US" dirty="0"/>
              <a:t>An attacker sends a fake bank email asking employees to reset their password → they enter credentials → attacker steals them.</a:t>
            </a:r>
          </a:p>
          <a:p>
            <a:endParaRPr lang="en-US" dirty="0"/>
          </a:p>
          <a:p>
            <a:r>
              <a:rPr lang="en-US" dirty="0"/>
              <a:t>Goal: Test whether employees can detect scams.</a:t>
            </a:r>
          </a:p>
        </p:txBody>
      </p:sp>
    </p:spTree>
    <p:extLst>
      <p:ext uri="{BB962C8B-B14F-4D97-AF65-F5344CB8AC3E}">
        <p14:creationId xmlns:p14="http://schemas.microsoft.com/office/powerpoint/2010/main" val="2287688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C5AFB-C86F-52EA-5779-8BB9768CBA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BEDE2B-CEC0-A202-909F-F90BF98C29C9}"/>
              </a:ext>
            </a:extLst>
          </p:cNvPr>
          <p:cNvSpPr>
            <a:spLocks noGrp="1"/>
          </p:cNvSpPr>
          <p:nvPr>
            <p:ph type="title"/>
          </p:nvPr>
        </p:nvSpPr>
        <p:spPr>
          <a:xfrm>
            <a:off x="0" y="0"/>
            <a:ext cx="6858000" cy="845820"/>
          </a:xfrm>
          <a:solidFill>
            <a:schemeClr val="accent1"/>
          </a:solidFill>
        </p:spPr>
        <p:txBody>
          <a:bodyPr>
            <a:normAutofit/>
          </a:bodyPr>
          <a:lstStyle/>
          <a:p>
            <a:pPr algn="ctr"/>
            <a:r>
              <a:rPr lang="en-US" b="1" dirty="0">
                <a:solidFill>
                  <a:schemeClr val="bg1"/>
                </a:solidFill>
              </a:rPr>
              <a:t>4️. Simulating Adversary TTPs</a:t>
            </a:r>
          </a:p>
        </p:txBody>
      </p:sp>
      <p:sp>
        <p:nvSpPr>
          <p:cNvPr id="5" name="TextBox 4">
            <a:extLst>
              <a:ext uri="{FF2B5EF4-FFF2-40B4-BE49-F238E27FC236}">
                <a16:creationId xmlns:a16="http://schemas.microsoft.com/office/drawing/2014/main" id="{27242663-9A1C-CF38-55B9-53D74A8F8E31}"/>
              </a:ext>
            </a:extLst>
          </p:cNvPr>
          <p:cNvSpPr txBox="1"/>
          <p:nvPr/>
        </p:nvSpPr>
        <p:spPr>
          <a:xfrm>
            <a:off x="0" y="845820"/>
            <a:ext cx="6858000" cy="7294305"/>
          </a:xfrm>
          <a:prstGeom prst="rect">
            <a:avLst/>
          </a:prstGeom>
          <a:noFill/>
        </p:spPr>
        <p:txBody>
          <a:bodyPr wrap="square" rtlCol="0">
            <a:spAutoFit/>
          </a:bodyPr>
          <a:lstStyle/>
          <a:p>
            <a:r>
              <a:rPr lang="en-US" dirty="0"/>
              <a:t>This is a more advanced security testing technique.</a:t>
            </a:r>
          </a:p>
          <a:p>
            <a:r>
              <a:rPr lang="en-US" dirty="0"/>
              <a:t>TTPs = Tactics, Techniques, and Procedures</a:t>
            </a:r>
          </a:p>
          <a:p>
            <a:endParaRPr lang="en-US" dirty="0"/>
          </a:p>
          <a:p>
            <a:r>
              <a:rPr lang="en-US" dirty="0"/>
              <a:t>It means simulating the real behavior of known hackers or threat groups.</a:t>
            </a:r>
          </a:p>
          <a:p>
            <a:endParaRPr lang="en-US" dirty="0"/>
          </a:p>
          <a:p>
            <a:r>
              <a:rPr lang="en-US" b="1" dirty="0"/>
              <a:t>Meaning: </a:t>
            </a:r>
            <a:r>
              <a:rPr lang="en-US" dirty="0"/>
              <a:t>It means imitating the real techniques and behavior used by known hackers or threat groups to test how well an organization’s security can detect and stop them.</a:t>
            </a:r>
          </a:p>
          <a:p>
            <a:endParaRPr lang="en-US" dirty="0"/>
          </a:p>
          <a:p>
            <a:r>
              <a:rPr lang="en-US" dirty="0"/>
              <a:t>Security teams replicate how real attackers operate.</a:t>
            </a:r>
          </a:p>
          <a:p>
            <a:endParaRPr lang="en-US" dirty="0"/>
          </a:p>
          <a:p>
            <a:r>
              <a:rPr lang="en-US" dirty="0"/>
              <a:t>Example attacker behaviors:</a:t>
            </a:r>
          </a:p>
          <a:p>
            <a:r>
              <a:rPr lang="en-US" dirty="0"/>
              <a:t>Phishing emails</a:t>
            </a:r>
          </a:p>
          <a:p>
            <a:r>
              <a:rPr lang="en-US" dirty="0"/>
              <a:t>Malware execution</a:t>
            </a:r>
          </a:p>
          <a:p>
            <a:r>
              <a:rPr lang="en-US" dirty="0"/>
              <a:t>Lateral movement in the network</a:t>
            </a:r>
          </a:p>
          <a:p>
            <a:r>
              <a:rPr lang="en-US" dirty="0"/>
              <a:t>Data exfiltration</a:t>
            </a:r>
          </a:p>
          <a:p>
            <a:endParaRPr lang="en-US" dirty="0"/>
          </a:p>
          <a:p>
            <a:r>
              <a:rPr lang="en-US" dirty="0"/>
              <a:t>This is often done using frameworks like:</a:t>
            </a:r>
          </a:p>
          <a:p>
            <a:r>
              <a:rPr lang="en-US" dirty="0"/>
              <a:t>MITRE ATT&amp;CK</a:t>
            </a:r>
          </a:p>
          <a:p>
            <a:r>
              <a:rPr lang="en-US" dirty="0"/>
              <a:t>Atomic Red Team</a:t>
            </a:r>
          </a:p>
          <a:p>
            <a:r>
              <a:rPr lang="en-US" dirty="0"/>
              <a:t>Caldera</a:t>
            </a:r>
          </a:p>
          <a:p>
            <a:r>
              <a:rPr lang="en-US" dirty="0"/>
              <a:t>Red Team operations</a:t>
            </a:r>
          </a:p>
          <a:p>
            <a:endParaRPr lang="en-US" dirty="0"/>
          </a:p>
          <a:p>
            <a:r>
              <a:rPr lang="en-US" dirty="0"/>
              <a:t>Goal: Test how well the organization's defense systems detect real attack behavior.</a:t>
            </a:r>
          </a:p>
        </p:txBody>
      </p:sp>
    </p:spTree>
    <p:extLst>
      <p:ext uri="{BB962C8B-B14F-4D97-AF65-F5344CB8AC3E}">
        <p14:creationId xmlns:p14="http://schemas.microsoft.com/office/powerpoint/2010/main" val="2490749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DE903-5D68-4C76-3D08-9401CCDB76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821A1D-A0E7-B694-E44D-9073A21584CB}"/>
              </a:ext>
            </a:extLst>
          </p:cNvPr>
          <p:cNvSpPr>
            <a:spLocks noGrp="1"/>
          </p:cNvSpPr>
          <p:nvPr>
            <p:ph type="title"/>
          </p:nvPr>
        </p:nvSpPr>
        <p:spPr>
          <a:xfrm>
            <a:off x="0" y="0"/>
            <a:ext cx="6858000" cy="845820"/>
          </a:xfrm>
          <a:solidFill>
            <a:schemeClr val="accent1"/>
          </a:solidFill>
        </p:spPr>
        <p:txBody>
          <a:bodyPr>
            <a:normAutofit/>
          </a:bodyPr>
          <a:lstStyle/>
          <a:p>
            <a:pPr algn="ctr"/>
            <a:r>
              <a:rPr lang="en-US" b="1" dirty="0">
                <a:solidFill>
                  <a:schemeClr val="bg1"/>
                </a:solidFill>
              </a:rPr>
              <a:t>PURPLE TEAMING</a:t>
            </a:r>
          </a:p>
        </p:txBody>
      </p:sp>
      <p:sp>
        <p:nvSpPr>
          <p:cNvPr id="5" name="TextBox 4">
            <a:extLst>
              <a:ext uri="{FF2B5EF4-FFF2-40B4-BE49-F238E27FC236}">
                <a16:creationId xmlns:a16="http://schemas.microsoft.com/office/drawing/2014/main" id="{7346FF75-1F2A-76D2-D011-4217E36F2AD7}"/>
              </a:ext>
            </a:extLst>
          </p:cNvPr>
          <p:cNvSpPr txBox="1"/>
          <p:nvPr/>
        </p:nvSpPr>
        <p:spPr>
          <a:xfrm>
            <a:off x="0" y="845820"/>
            <a:ext cx="6858000" cy="646331"/>
          </a:xfrm>
          <a:prstGeom prst="rect">
            <a:avLst/>
          </a:prstGeom>
          <a:noFill/>
        </p:spPr>
        <p:txBody>
          <a:bodyPr wrap="square" rtlCol="0">
            <a:spAutoFit/>
          </a:bodyPr>
          <a:lstStyle/>
          <a:p>
            <a:r>
              <a:rPr lang="en-US" dirty="0"/>
              <a:t>Blue and Red Team collab to improve security posture</a:t>
            </a:r>
          </a:p>
          <a:p>
            <a:endParaRPr lang="en-US" dirty="0"/>
          </a:p>
        </p:txBody>
      </p:sp>
      <p:pic>
        <p:nvPicPr>
          <p:cNvPr id="3" name="Picture 2">
            <a:extLst>
              <a:ext uri="{FF2B5EF4-FFF2-40B4-BE49-F238E27FC236}">
                <a16:creationId xmlns:a16="http://schemas.microsoft.com/office/drawing/2014/main" id="{C1C04E89-4031-4761-EB6C-EA4AF2AECD1C}"/>
              </a:ext>
            </a:extLst>
          </p:cNvPr>
          <p:cNvPicPr>
            <a:picLocks noChangeAspect="1"/>
          </p:cNvPicPr>
          <p:nvPr/>
        </p:nvPicPr>
        <p:blipFill>
          <a:blip r:embed="rId2"/>
          <a:srcRect t="18921"/>
          <a:stretch>
            <a:fillRect/>
          </a:stretch>
        </p:blipFill>
        <p:spPr>
          <a:xfrm>
            <a:off x="350134" y="1319513"/>
            <a:ext cx="6157732" cy="2502648"/>
          </a:xfrm>
          <a:prstGeom prst="rect">
            <a:avLst/>
          </a:prstGeom>
        </p:spPr>
      </p:pic>
    </p:spTree>
    <p:extLst>
      <p:ext uri="{BB962C8B-B14F-4D97-AF65-F5344CB8AC3E}">
        <p14:creationId xmlns:p14="http://schemas.microsoft.com/office/powerpoint/2010/main" val="1072195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D3D29-365B-7E4A-32C3-29E4C238390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D415D3-6B07-079C-041C-7BE74F99E84E}"/>
              </a:ext>
            </a:extLst>
          </p:cNvPr>
          <p:cNvSpPr>
            <a:spLocks noGrp="1"/>
          </p:cNvSpPr>
          <p:nvPr>
            <p:ph type="title"/>
          </p:nvPr>
        </p:nvSpPr>
        <p:spPr>
          <a:xfrm>
            <a:off x="0" y="0"/>
            <a:ext cx="6858000" cy="845820"/>
          </a:xfrm>
          <a:solidFill>
            <a:schemeClr val="accent1"/>
          </a:solidFill>
        </p:spPr>
        <p:txBody>
          <a:bodyPr>
            <a:normAutofit/>
          </a:bodyPr>
          <a:lstStyle/>
          <a:p>
            <a:pPr algn="ctr"/>
            <a:r>
              <a:rPr lang="en-US" b="1" dirty="0">
                <a:solidFill>
                  <a:schemeClr val="bg1"/>
                </a:solidFill>
              </a:rPr>
              <a:t>THREAT</a:t>
            </a:r>
          </a:p>
        </p:txBody>
      </p:sp>
      <p:pic>
        <p:nvPicPr>
          <p:cNvPr id="7" name="Picture 6">
            <a:extLst>
              <a:ext uri="{FF2B5EF4-FFF2-40B4-BE49-F238E27FC236}">
                <a16:creationId xmlns:a16="http://schemas.microsoft.com/office/drawing/2014/main" id="{558E7DC2-4A7E-C29A-92ED-89658AD95FC0}"/>
              </a:ext>
            </a:extLst>
          </p:cNvPr>
          <p:cNvPicPr>
            <a:picLocks noChangeAspect="1"/>
          </p:cNvPicPr>
          <p:nvPr/>
        </p:nvPicPr>
        <p:blipFill>
          <a:blip r:embed="rId2"/>
          <a:stretch>
            <a:fillRect/>
          </a:stretch>
        </p:blipFill>
        <p:spPr>
          <a:xfrm>
            <a:off x="133809" y="958525"/>
            <a:ext cx="6590382" cy="1177970"/>
          </a:xfrm>
          <a:prstGeom prst="rect">
            <a:avLst/>
          </a:prstGeom>
        </p:spPr>
      </p:pic>
      <p:sp>
        <p:nvSpPr>
          <p:cNvPr id="2" name="Title 3">
            <a:extLst>
              <a:ext uri="{FF2B5EF4-FFF2-40B4-BE49-F238E27FC236}">
                <a16:creationId xmlns:a16="http://schemas.microsoft.com/office/drawing/2014/main" id="{D7CF368B-38B4-A97F-8887-5895CB723221}"/>
              </a:ext>
            </a:extLst>
          </p:cNvPr>
          <p:cNvSpPr txBox="1">
            <a:spLocks/>
          </p:cNvSpPr>
          <p:nvPr/>
        </p:nvSpPr>
        <p:spPr>
          <a:xfrm>
            <a:off x="0" y="2283928"/>
            <a:ext cx="6858000" cy="973198"/>
          </a:xfrm>
          <a:prstGeom prst="rect">
            <a:avLst/>
          </a:prstGeom>
          <a:solidFill>
            <a:schemeClr val="accent1"/>
          </a:solidFill>
        </p:spPr>
        <p:txBody>
          <a:bodyPr vert="horz" lIns="91440" tIns="45720" rIns="91440" bIns="45720" rtlCol="0" anchor="ctr">
            <a:normAutofit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b="1" dirty="0">
                <a:solidFill>
                  <a:schemeClr val="bg1"/>
                </a:solidFill>
              </a:rPr>
              <a:t>INTELLIGENCE, THREAT INTELLIGENCE, AND CTI</a:t>
            </a:r>
          </a:p>
        </p:txBody>
      </p:sp>
      <p:pic>
        <p:nvPicPr>
          <p:cNvPr id="8" name="Picture 7">
            <a:extLst>
              <a:ext uri="{FF2B5EF4-FFF2-40B4-BE49-F238E27FC236}">
                <a16:creationId xmlns:a16="http://schemas.microsoft.com/office/drawing/2014/main" id="{1146465C-571F-1A31-AA76-48BAC077481E}"/>
              </a:ext>
            </a:extLst>
          </p:cNvPr>
          <p:cNvPicPr>
            <a:picLocks noChangeAspect="1"/>
          </p:cNvPicPr>
          <p:nvPr/>
        </p:nvPicPr>
        <p:blipFill>
          <a:blip r:embed="rId3"/>
          <a:srcRect b="1622"/>
          <a:stretch>
            <a:fillRect/>
          </a:stretch>
        </p:blipFill>
        <p:spPr>
          <a:xfrm>
            <a:off x="310579" y="3389254"/>
            <a:ext cx="6236841" cy="2648028"/>
          </a:xfrm>
          <a:prstGeom prst="rect">
            <a:avLst/>
          </a:prstGeom>
        </p:spPr>
      </p:pic>
      <p:sp>
        <p:nvSpPr>
          <p:cNvPr id="9" name="TextBox 8">
            <a:extLst>
              <a:ext uri="{FF2B5EF4-FFF2-40B4-BE49-F238E27FC236}">
                <a16:creationId xmlns:a16="http://schemas.microsoft.com/office/drawing/2014/main" id="{6438B21C-10CC-EB3E-586B-F9DE6063816E}"/>
              </a:ext>
            </a:extLst>
          </p:cNvPr>
          <p:cNvSpPr txBox="1"/>
          <p:nvPr/>
        </p:nvSpPr>
        <p:spPr>
          <a:xfrm>
            <a:off x="0" y="6037282"/>
            <a:ext cx="6858000" cy="3970318"/>
          </a:xfrm>
          <a:prstGeom prst="rect">
            <a:avLst/>
          </a:prstGeom>
          <a:noFill/>
        </p:spPr>
        <p:txBody>
          <a:bodyPr wrap="square" rtlCol="0">
            <a:spAutoFit/>
          </a:bodyPr>
          <a:lstStyle/>
          <a:p>
            <a:pPr algn="just"/>
            <a:r>
              <a:rPr lang="en-US" b="1" dirty="0"/>
              <a:t>Intelligence: </a:t>
            </a:r>
            <a:r>
              <a:rPr lang="en-US" dirty="0"/>
              <a:t>It is a very broad term.</a:t>
            </a:r>
          </a:p>
          <a:p>
            <a:pPr algn="just"/>
            <a:r>
              <a:rPr lang="en-US" dirty="0"/>
              <a:t>It means collecting, analyzing, and using information to understand situations and make decisions.</a:t>
            </a:r>
          </a:p>
          <a:p>
            <a:pPr algn="just"/>
            <a:r>
              <a:rPr lang="en-US" b="1" dirty="0"/>
              <a:t>Threat Intelligence:</a:t>
            </a:r>
            <a:r>
              <a:rPr lang="en-US" dirty="0"/>
              <a:t> Threat specifically, we talk about specific adversaries, specific threat actors that exist out there in the wild, and we talk about tactics, techniques, and procedures that they leverage, still this doesn’t need to be connected to cyber security, meaning there are a lot of threat actors out there that do bad things by leveraging certain tactics, techniques, and procedures that are not connected at all to cyber security.</a:t>
            </a:r>
          </a:p>
          <a:p>
            <a:pPr algn="just"/>
            <a:r>
              <a:rPr lang="en-US" b="1" dirty="0"/>
              <a:t>Cyber Threat Intelligence:</a:t>
            </a:r>
            <a:r>
              <a:rPr lang="en-US" dirty="0"/>
              <a:t> We really talk about adversary threat actors that leverage tactics which are in fact leveraging cyber security. So, if you have nation state sponsored hacking group that executes certain operations and leverages TTPs, this is Cyber Threat Intelligence</a:t>
            </a:r>
          </a:p>
        </p:txBody>
      </p:sp>
    </p:spTree>
    <p:extLst>
      <p:ext uri="{BB962C8B-B14F-4D97-AF65-F5344CB8AC3E}">
        <p14:creationId xmlns:p14="http://schemas.microsoft.com/office/powerpoint/2010/main" val="990948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58A9-A997-2F7E-9D24-F8BB6288DB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C0C74E-A356-A340-B740-0117C8084606}"/>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CYBER THREAT INTELLIGENCE</a:t>
            </a:r>
          </a:p>
        </p:txBody>
      </p:sp>
      <p:pic>
        <p:nvPicPr>
          <p:cNvPr id="5" name="Picture 4">
            <a:extLst>
              <a:ext uri="{FF2B5EF4-FFF2-40B4-BE49-F238E27FC236}">
                <a16:creationId xmlns:a16="http://schemas.microsoft.com/office/drawing/2014/main" id="{99FF2E19-6249-CB89-FAD4-8A878F212B3C}"/>
              </a:ext>
            </a:extLst>
          </p:cNvPr>
          <p:cNvPicPr>
            <a:picLocks noChangeAspect="1"/>
          </p:cNvPicPr>
          <p:nvPr/>
        </p:nvPicPr>
        <p:blipFill>
          <a:blip r:embed="rId2"/>
          <a:stretch>
            <a:fillRect/>
          </a:stretch>
        </p:blipFill>
        <p:spPr>
          <a:xfrm>
            <a:off x="89235" y="901957"/>
            <a:ext cx="6679529" cy="1574157"/>
          </a:xfrm>
          <a:prstGeom prst="rect">
            <a:avLst/>
          </a:prstGeom>
        </p:spPr>
      </p:pic>
      <p:sp>
        <p:nvSpPr>
          <p:cNvPr id="6" name="Title 3">
            <a:extLst>
              <a:ext uri="{FF2B5EF4-FFF2-40B4-BE49-F238E27FC236}">
                <a16:creationId xmlns:a16="http://schemas.microsoft.com/office/drawing/2014/main" id="{6D081898-BB96-2ED7-1419-6F060E9ACAD4}"/>
              </a:ext>
            </a:extLst>
          </p:cNvPr>
          <p:cNvSpPr txBox="1">
            <a:spLocks/>
          </p:cNvSpPr>
          <p:nvPr/>
        </p:nvSpPr>
        <p:spPr>
          <a:xfrm>
            <a:off x="-1" y="2710405"/>
            <a:ext cx="6858000" cy="845820"/>
          </a:xfrm>
          <a:prstGeom prst="rect">
            <a:avLst/>
          </a:prstGeom>
          <a:solidFill>
            <a:schemeClr val="accent1"/>
          </a:solidFill>
        </p:spPr>
        <p:txBody>
          <a:bodyPr vert="horz" lIns="91440" tIns="45720" rIns="91440" bIns="45720" rtlCol="0" anchor="ctr">
            <a:normAutofit fontScale="925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b="1" dirty="0">
                <a:solidFill>
                  <a:schemeClr val="bg1"/>
                </a:solidFill>
              </a:rPr>
              <a:t>THREATS, VULNERABILITIES, AND ATTACKS</a:t>
            </a:r>
          </a:p>
        </p:txBody>
      </p:sp>
      <p:pic>
        <p:nvPicPr>
          <p:cNvPr id="13" name="Picture 12">
            <a:extLst>
              <a:ext uri="{FF2B5EF4-FFF2-40B4-BE49-F238E27FC236}">
                <a16:creationId xmlns:a16="http://schemas.microsoft.com/office/drawing/2014/main" id="{82D50EE3-19A7-02F5-2EE6-BC41917AA4BE}"/>
              </a:ext>
            </a:extLst>
          </p:cNvPr>
          <p:cNvPicPr>
            <a:picLocks noChangeAspect="1"/>
          </p:cNvPicPr>
          <p:nvPr/>
        </p:nvPicPr>
        <p:blipFill>
          <a:blip r:embed="rId3"/>
          <a:stretch>
            <a:fillRect/>
          </a:stretch>
        </p:blipFill>
        <p:spPr>
          <a:xfrm>
            <a:off x="200308" y="3710265"/>
            <a:ext cx="6457381" cy="2587070"/>
          </a:xfrm>
          <a:prstGeom prst="rect">
            <a:avLst/>
          </a:prstGeom>
        </p:spPr>
      </p:pic>
    </p:spTree>
    <p:extLst>
      <p:ext uri="{BB962C8B-B14F-4D97-AF65-F5344CB8AC3E}">
        <p14:creationId xmlns:p14="http://schemas.microsoft.com/office/powerpoint/2010/main" val="2676631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DE580-AF62-BA4D-F565-ED6C39A336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786B49-BFB8-0451-332D-463DB3BA9A8F}"/>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THREAT-INFORMED-DEFENSE</a:t>
            </a:r>
          </a:p>
        </p:txBody>
      </p:sp>
      <p:sp>
        <p:nvSpPr>
          <p:cNvPr id="2" name="TextBox 1">
            <a:extLst>
              <a:ext uri="{FF2B5EF4-FFF2-40B4-BE49-F238E27FC236}">
                <a16:creationId xmlns:a16="http://schemas.microsoft.com/office/drawing/2014/main" id="{3EF24AC0-C047-EC19-7620-A1F2873F0D0D}"/>
              </a:ext>
            </a:extLst>
          </p:cNvPr>
          <p:cNvSpPr txBox="1"/>
          <p:nvPr/>
        </p:nvSpPr>
        <p:spPr>
          <a:xfrm>
            <a:off x="0" y="845820"/>
            <a:ext cx="6759615" cy="1754326"/>
          </a:xfrm>
          <a:prstGeom prst="rect">
            <a:avLst/>
          </a:prstGeom>
          <a:noFill/>
        </p:spPr>
        <p:txBody>
          <a:bodyPr wrap="square" rtlCol="0">
            <a:spAutoFit/>
          </a:bodyPr>
          <a:lstStyle/>
          <a:p>
            <a:r>
              <a:rPr lang="en-US" dirty="0"/>
              <a:t>• What is the mission of my organization?</a:t>
            </a:r>
          </a:p>
          <a:p>
            <a:r>
              <a:rPr lang="en-US" dirty="0"/>
              <a:t>• What threat actors are interested in my organizations industry?</a:t>
            </a:r>
          </a:p>
          <a:p>
            <a:r>
              <a:rPr lang="en-IN" dirty="0"/>
              <a:t>• What are the motivations of those threat actors?</a:t>
            </a:r>
          </a:p>
          <a:p>
            <a:r>
              <a:rPr lang="en-IN" dirty="0"/>
              <a:t>• What TTPs are those threat actors are using?</a:t>
            </a:r>
          </a:p>
          <a:p>
            <a:r>
              <a:rPr lang="en-IN" dirty="0"/>
              <a:t>• How can I detect and protect any organization against those TTPs?</a:t>
            </a:r>
          </a:p>
          <a:p>
            <a:endParaRPr lang="en-IN" dirty="0"/>
          </a:p>
        </p:txBody>
      </p:sp>
      <p:sp>
        <p:nvSpPr>
          <p:cNvPr id="3" name="Title 3">
            <a:extLst>
              <a:ext uri="{FF2B5EF4-FFF2-40B4-BE49-F238E27FC236}">
                <a16:creationId xmlns:a16="http://schemas.microsoft.com/office/drawing/2014/main" id="{364A4F1B-3B43-A426-25A3-C347A7E6FFCA}"/>
              </a:ext>
            </a:extLst>
          </p:cNvPr>
          <p:cNvSpPr txBox="1">
            <a:spLocks/>
          </p:cNvSpPr>
          <p:nvPr/>
        </p:nvSpPr>
        <p:spPr>
          <a:xfrm>
            <a:off x="0" y="2450543"/>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Tactics, Techniques, and Procedures</a:t>
            </a:r>
          </a:p>
        </p:txBody>
      </p:sp>
      <p:pic>
        <p:nvPicPr>
          <p:cNvPr id="9" name="Picture 8">
            <a:extLst>
              <a:ext uri="{FF2B5EF4-FFF2-40B4-BE49-F238E27FC236}">
                <a16:creationId xmlns:a16="http://schemas.microsoft.com/office/drawing/2014/main" id="{0D2D0228-7725-E321-7BA0-4CA4B54688E9}"/>
              </a:ext>
            </a:extLst>
          </p:cNvPr>
          <p:cNvPicPr>
            <a:picLocks noChangeAspect="1"/>
          </p:cNvPicPr>
          <p:nvPr/>
        </p:nvPicPr>
        <p:blipFill>
          <a:blip r:embed="rId2"/>
          <a:stretch>
            <a:fillRect/>
          </a:stretch>
        </p:blipFill>
        <p:spPr>
          <a:xfrm>
            <a:off x="164050" y="3370391"/>
            <a:ext cx="6529899" cy="2278569"/>
          </a:xfrm>
          <a:prstGeom prst="rect">
            <a:avLst/>
          </a:prstGeom>
        </p:spPr>
      </p:pic>
    </p:spTree>
    <p:extLst>
      <p:ext uri="{BB962C8B-B14F-4D97-AF65-F5344CB8AC3E}">
        <p14:creationId xmlns:p14="http://schemas.microsoft.com/office/powerpoint/2010/main" val="615756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FFE89-E38A-25DD-5BF0-1D622FC021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68B98E-715F-1072-14FA-CA5D149FAA62}"/>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IOCs and IOAs</a:t>
            </a:r>
          </a:p>
        </p:txBody>
      </p:sp>
      <p:pic>
        <p:nvPicPr>
          <p:cNvPr id="6" name="Picture 5">
            <a:extLst>
              <a:ext uri="{FF2B5EF4-FFF2-40B4-BE49-F238E27FC236}">
                <a16:creationId xmlns:a16="http://schemas.microsoft.com/office/drawing/2014/main" id="{D9E2300F-3E05-A584-9308-7720D7B9C48B}"/>
              </a:ext>
            </a:extLst>
          </p:cNvPr>
          <p:cNvPicPr>
            <a:picLocks noChangeAspect="1"/>
          </p:cNvPicPr>
          <p:nvPr/>
        </p:nvPicPr>
        <p:blipFill>
          <a:blip r:embed="rId2"/>
          <a:stretch>
            <a:fillRect/>
          </a:stretch>
        </p:blipFill>
        <p:spPr>
          <a:xfrm>
            <a:off x="307181" y="950722"/>
            <a:ext cx="6243637" cy="2747200"/>
          </a:xfrm>
          <a:prstGeom prst="rect">
            <a:avLst/>
          </a:prstGeom>
        </p:spPr>
      </p:pic>
      <p:pic>
        <p:nvPicPr>
          <p:cNvPr id="8" name="Picture 7">
            <a:extLst>
              <a:ext uri="{FF2B5EF4-FFF2-40B4-BE49-F238E27FC236}">
                <a16:creationId xmlns:a16="http://schemas.microsoft.com/office/drawing/2014/main" id="{A4887105-98EB-7FC2-BACE-89362B8F3CDE}"/>
              </a:ext>
            </a:extLst>
          </p:cNvPr>
          <p:cNvPicPr>
            <a:picLocks noChangeAspect="1"/>
          </p:cNvPicPr>
          <p:nvPr/>
        </p:nvPicPr>
        <p:blipFill>
          <a:blip r:embed="rId3"/>
          <a:srcRect t="16609"/>
          <a:stretch>
            <a:fillRect/>
          </a:stretch>
        </p:blipFill>
        <p:spPr>
          <a:xfrm>
            <a:off x="307180" y="5250627"/>
            <a:ext cx="6143957" cy="3679061"/>
          </a:xfrm>
          <a:prstGeom prst="rect">
            <a:avLst/>
          </a:prstGeom>
        </p:spPr>
      </p:pic>
      <p:sp>
        <p:nvSpPr>
          <p:cNvPr id="10" name="Title 3">
            <a:extLst>
              <a:ext uri="{FF2B5EF4-FFF2-40B4-BE49-F238E27FC236}">
                <a16:creationId xmlns:a16="http://schemas.microsoft.com/office/drawing/2014/main" id="{CCE62746-F1B6-B124-C74D-13265CC0302D}"/>
              </a:ext>
            </a:extLst>
          </p:cNvPr>
          <p:cNvSpPr txBox="1">
            <a:spLocks/>
          </p:cNvSpPr>
          <p:nvPr/>
        </p:nvSpPr>
        <p:spPr>
          <a:xfrm>
            <a:off x="-2" y="4194493"/>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Pyramid of pain</a:t>
            </a:r>
          </a:p>
        </p:txBody>
      </p:sp>
    </p:spTree>
    <p:extLst>
      <p:ext uri="{BB962C8B-B14F-4D97-AF65-F5344CB8AC3E}">
        <p14:creationId xmlns:p14="http://schemas.microsoft.com/office/powerpoint/2010/main" val="3997589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FD8A2-42F6-1941-6EE1-B2FC9CB484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F49894-42B3-7AAA-6A8B-A573F1B7EA1E}"/>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CTI Sources</a:t>
            </a:r>
          </a:p>
        </p:txBody>
      </p:sp>
      <p:pic>
        <p:nvPicPr>
          <p:cNvPr id="3" name="Picture 2">
            <a:extLst>
              <a:ext uri="{FF2B5EF4-FFF2-40B4-BE49-F238E27FC236}">
                <a16:creationId xmlns:a16="http://schemas.microsoft.com/office/drawing/2014/main" id="{A5EB90FA-2B37-6BE9-A27B-C0EEFFA21DE3}"/>
              </a:ext>
            </a:extLst>
          </p:cNvPr>
          <p:cNvPicPr>
            <a:picLocks noChangeAspect="1"/>
          </p:cNvPicPr>
          <p:nvPr/>
        </p:nvPicPr>
        <p:blipFill>
          <a:blip r:embed="rId2"/>
          <a:stretch>
            <a:fillRect/>
          </a:stretch>
        </p:blipFill>
        <p:spPr>
          <a:xfrm>
            <a:off x="300279" y="1028699"/>
            <a:ext cx="6257442" cy="3610409"/>
          </a:xfrm>
          <a:prstGeom prst="rect">
            <a:avLst/>
          </a:prstGeom>
        </p:spPr>
      </p:pic>
    </p:spTree>
    <p:extLst>
      <p:ext uri="{BB962C8B-B14F-4D97-AF65-F5344CB8AC3E}">
        <p14:creationId xmlns:p14="http://schemas.microsoft.com/office/powerpoint/2010/main" val="668570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47A50-4049-2398-4E5A-DF74D2958E8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C70E81-BD6C-9BEE-2FD5-93C2142049EE}"/>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MITRE ATT&amp;CK Framework</a:t>
            </a:r>
          </a:p>
        </p:txBody>
      </p:sp>
      <p:pic>
        <p:nvPicPr>
          <p:cNvPr id="5" name="Picture 4">
            <a:extLst>
              <a:ext uri="{FF2B5EF4-FFF2-40B4-BE49-F238E27FC236}">
                <a16:creationId xmlns:a16="http://schemas.microsoft.com/office/drawing/2014/main" id="{9F79E7C3-7588-835B-5F98-6651469CD143}"/>
              </a:ext>
            </a:extLst>
          </p:cNvPr>
          <p:cNvPicPr>
            <a:picLocks noChangeAspect="1"/>
          </p:cNvPicPr>
          <p:nvPr/>
        </p:nvPicPr>
        <p:blipFill>
          <a:blip r:embed="rId2"/>
          <a:stretch>
            <a:fillRect/>
          </a:stretch>
        </p:blipFill>
        <p:spPr>
          <a:xfrm>
            <a:off x="1918955" y="964237"/>
            <a:ext cx="2799346" cy="3616755"/>
          </a:xfrm>
          <a:prstGeom prst="rect">
            <a:avLst/>
          </a:prstGeom>
        </p:spPr>
      </p:pic>
      <p:pic>
        <p:nvPicPr>
          <p:cNvPr id="7" name="Picture 6">
            <a:extLst>
              <a:ext uri="{FF2B5EF4-FFF2-40B4-BE49-F238E27FC236}">
                <a16:creationId xmlns:a16="http://schemas.microsoft.com/office/drawing/2014/main" id="{49A23D84-5687-768F-BA9E-9FCCBD6E91AA}"/>
              </a:ext>
            </a:extLst>
          </p:cNvPr>
          <p:cNvPicPr>
            <a:picLocks noChangeAspect="1"/>
          </p:cNvPicPr>
          <p:nvPr/>
        </p:nvPicPr>
        <p:blipFill>
          <a:blip r:embed="rId3"/>
          <a:stretch>
            <a:fillRect/>
          </a:stretch>
        </p:blipFill>
        <p:spPr>
          <a:xfrm>
            <a:off x="130695" y="5280994"/>
            <a:ext cx="6596610" cy="2820020"/>
          </a:xfrm>
          <a:prstGeom prst="rect">
            <a:avLst/>
          </a:prstGeom>
        </p:spPr>
      </p:pic>
    </p:spTree>
    <p:extLst>
      <p:ext uri="{BB962C8B-B14F-4D97-AF65-F5344CB8AC3E}">
        <p14:creationId xmlns:p14="http://schemas.microsoft.com/office/powerpoint/2010/main" val="4273845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5D492-EFD6-7EF2-8515-8C02B0FA882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29CAB7C-03E9-080A-B329-EE600F1E4378}"/>
              </a:ext>
            </a:extLst>
          </p:cNvPr>
          <p:cNvPicPr>
            <a:picLocks noChangeAspect="1"/>
          </p:cNvPicPr>
          <p:nvPr/>
        </p:nvPicPr>
        <p:blipFill>
          <a:blip r:embed="rId2"/>
          <a:stretch>
            <a:fillRect/>
          </a:stretch>
        </p:blipFill>
        <p:spPr>
          <a:xfrm>
            <a:off x="147294" y="182880"/>
            <a:ext cx="6563412" cy="2563623"/>
          </a:xfrm>
          <a:prstGeom prst="rect">
            <a:avLst/>
          </a:prstGeom>
        </p:spPr>
      </p:pic>
      <p:pic>
        <p:nvPicPr>
          <p:cNvPr id="10" name="Picture 9">
            <a:extLst>
              <a:ext uri="{FF2B5EF4-FFF2-40B4-BE49-F238E27FC236}">
                <a16:creationId xmlns:a16="http://schemas.microsoft.com/office/drawing/2014/main" id="{B0B0E99A-14AD-305A-EFE3-F549496EA08B}"/>
              </a:ext>
            </a:extLst>
          </p:cNvPr>
          <p:cNvPicPr>
            <a:picLocks noChangeAspect="1"/>
          </p:cNvPicPr>
          <p:nvPr/>
        </p:nvPicPr>
        <p:blipFill>
          <a:blip r:embed="rId3"/>
          <a:stretch>
            <a:fillRect/>
          </a:stretch>
        </p:blipFill>
        <p:spPr>
          <a:xfrm>
            <a:off x="205740" y="3086843"/>
            <a:ext cx="6504966" cy="3665464"/>
          </a:xfrm>
          <a:prstGeom prst="rect">
            <a:avLst/>
          </a:prstGeom>
        </p:spPr>
      </p:pic>
      <p:pic>
        <p:nvPicPr>
          <p:cNvPr id="12" name="Picture 11">
            <a:extLst>
              <a:ext uri="{FF2B5EF4-FFF2-40B4-BE49-F238E27FC236}">
                <a16:creationId xmlns:a16="http://schemas.microsoft.com/office/drawing/2014/main" id="{EDFEF3FE-407A-50C3-08AD-4364718718DC}"/>
              </a:ext>
            </a:extLst>
          </p:cNvPr>
          <p:cNvPicPr>
            <a:picLocks noChangeAspect="1"/>
          </p:cNvPicPr>
          <p:nvPr/>
        </p:nvPicPr>
        <p:blipFill>
          <a:blip r:embed="rId4"/>
          <a:stretch>
            <a:fillRect/>
          </a:stretch>
        </p:blipFill>
        <p:spPr>
          <a:xfrm>
            <a:off x="1204602" y="7092647"/>
            <a:ext cx="4448796" cy="2257740"/>
          </a:xfrm>
          <a:prstGeom prst="rect">
            <a:avLst/>
          </a:prstGeom>
        </p:spPr>
      </p:pic>
    </p:spTree>
    <p:extLst>
      <p:ext uri="{BB962C8B-B14F-4D97-AF65-F5344CB8AC3E}">
        <p14:creationId xmlns:p14="http://schemas.microsoft.com/office/powerpoint/2010/main" val="3004565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685B0-6A41-10A4-9870-5686B9A277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451CC3-0129-5B4B-376E-88CDFE22117D}"/>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ATT&amp;CK Matrices</a:t>
            </a:r>
          </a:p>
        </p:txBody>
      </p:sp>
      <p:pic>
        <p:nvPicPr>
          <p:cNvPr id="3" name="Picture 2">
            <a:extLst>
              <a:ext uri="{FF2B5EF4-FFF2-40B4-BE49-F238E27FC236}">
                <a16:creationId xmlns:a16="http://schemas.microsoft.com/office/drawing/2014/main" id="{0AF7F6CB-F141-945A-6A12-94B29AD6978F}"/>
              </a:ext>
            </a:extLst>
          </p:cNvPr>
          <p:cNvPicPr>
            <a:picLocks noChangeAspect="1"/>
          </p:cNvPicPr>
          <p:nvPr/>
        </p:nvPicPr>
        <p:blipFill>
          <a:blip r:embed="rId2"/>
          <a:stretch>
            <a:fillRect/>
          </a:stretch>
        </p:blipFill>
        <p:spPr>
          <a:xfrm>
            <a:off x="241021" y="982803"/>
            <a:ext cx="6375957" cy="3087946"/>
          </a:xfrm>
          <a:prstGeom prst="rect">
            <a:avLst/>
          </a:prstGeom>
        </p:spPr>
      </p:pic>
      <p:sp>
        <p:nvSpPr>
          <p:cNvPr id="5" name="Title 3">
            <a:extLst>
              <a:ext uri="{FF2B5EF4-FFF2-40B4-BE49-F238E27FC236}">
                <a16:creationId xmlns:a16="http://schemas.microsoft.com/office/drawing/2014/main" id="{309CD6AE-B5B8-5D38-25B6-2CC65960286A}"/>
              </a:ext>
            </a:extLst>
          </p:cNvPr>
          <p:cNvSpPr txBox="1">
            <a:spLocks/>
          </p:cNvSpPr>
          <p:nvPr/>
        </p:nvSpPr>
        <p:spPr>
          <a:xfrm>
            <a:off x="0" y="4365212"/>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TACTICS</a:t>
            </a:r>
          </a:p>
        </p:txBody>
      </p:sp>
      <p:pic>
        <p:nvPicPr>
          <p:cNvPr id="7" name="Picture 6">
            <a:extLst>
              <a:ext uri="{FF2B5EF4-FFF2-40B4-BE49-F238E27FC236}">
                <a16:creationId xmlns:a16="http://schemas.microsoft.com/office/drawing/2014/main" id="{0B6A8AD8-B686-9AD2-9C60-6B52C074C10F}"/>
              </a:ext>
            </a:extLst>
          </p:cNvPr>
          <p:cNvPicPr>
            <a:picLocks noChangeAspect="1"/>
          </p:cNvPicPr>
          <p:nvPr/>
        </p:nvPicPr>
        <p:blipFill>
          <a:blip r:embed="rId3"/>
          <a:stretch>
            <a:fillRect/>
          </a:stretch>
        </p:blipFill>
        <p:spPr>
          <a:xfrm>
            <a:off x="613968" y="5403895"/>
            <a:ext cx="5630061" cy="1190791"/>
          </a:xfrm>
          <a:prstGeom prst="rect">
            <a:avLst/>
          </a:prstGeom>
        </p:spPr>
      </p:pic>
      <p:pic>
        <p:nvPicPr>
          <p:cNvPr id="9" name="Picture 8">
            <a:extLst>
              <a:ext uri="{FF2B5EF4-FFF2-40B4-BE49-F238E27FC236}">
                <a16:creationId xmlns:a16="http://schemas.microsoft.com/office/drawing/2014/main" id="{487D5B02-281B-D403-4761-1180A93F231F}"/>
              </a:ext>
            </a:extLst>
          </p:cNvPr>
          <p:cNvPicPr>
            <a:picLocks noChangeAspect="1"/>
          </p:cNvPicPr>
          <p:nvPr/>
        </p:nvPicPr>
        <p:blipFill>
          <a:blip r:embed="rId4"/>
          <a:stretch>
            <a:fillRect/>
          </a:stretch>
        </p:blipFill>
        <p:spPr>
          <a:xfrm>
            <a:off x="858618" y="6704826"/>
            <a:ext cx="5140763" cy="3116476"/>
          </a:xfrm>
          <a:prstGeom prst="rect">
            <a:avLst/>
          </a:prstGeom>
        </p:spPr>
      </p:pic>
    </p:spTree>
    <p:extLst>
      <p:ext uri="{BB962C8B-B14F-4D97-AF65-F5344CB8AC3E}">
        <p14:creationId xmlns:p14="http://schemas.microsoft.com/office/powerpoint/2010/main" val="4197718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AC508-4EEF-8C1C-AF9F-300FD71BDD5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88EA53-92C8-6644-96EA-7BDB9DE6FFAA}"/>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TECHNIQUES</a:t>
            </a:r>
          </a:p>
        </p:txBody>
      </p:sp>
      <p:pic>
        <p:nvPicPr>
          <p:cNvPr id="6" name="Picture 5">
            <a:extLst>
              <a:ext uri="{FF2B5EF4-FFF2-40B4-BE49-F238E27FC236}">
                <a16:creationId xmlns:a16="http://schemas.microsoft.com/office/drawing/2014/main" id="{10B1BA1D-BB77-BE7D-09C8-7E1E44AD74BE}"/>
              </a:ext>
            </a:extLst>
          </p:cNvPr>
          <p:cNvPicPr>
            <a:picLocks noChangeAspect="1"/>
          </p:cNvPicPr>
          <p:nvPr/>
        </p:nvPicPr>
        <p:blipFill>
          <a:blip r:embed="rId2"/>
          <a:stretch>
            <a:fillRect/>
          </a:stretch>
        </p:blipFill>
        <p:spPr>
          <a:xfrm>
            <a:off x="365760" y="1131824"/>
            <a:ext cx="6126480" cy="987551"/>
          </a:xfrm>
          <a:prstGeom prst="rect">
            <a:avLst/>
          </a:prstGeom>
        </p:spPr>
      </p:pic>
      <p:pic>
        <p:nvPicPr>
          <p:cNvPr id="10" name="Picture 9">
            <a:extLst>
              <a:ext uri="{FF2B5EF4-FFF2-40B4-BE49-F238E27FC236}">
                <a16:creationId xmlns:a16="http://schemas.microsoft.com/office/drawing/2014/main" id="{F4EF6B75-2052-103B-DBC0-BBBCA61A3408}"/>
              </a:ext>
            </a:extLst>
          </p:cNvPr>
          <p:cNvPicPr>
            <a:picLocks noChangeAspect="1"/>
          </p:cNvPicPr>
          <p:nvPr/>
        </p:nvPicPr>
        <p:blipFill>
          <a:blip r:embed="rId3"/>
          <a:srcRect r="32666"/>
          <a:stretch>
            <a:fillRect/>
          </a:stretch>
        </p:blipFill>
        <p:spPr>
          <a:xfrm>
            <a:off x="491244" y="2645685"/>
            <a:ext cx="5875512" cy="5690595"/>
          </a:xfrm>
          <a:prstGeom prst="rect">
            <a:avLst/>
          </a:prstGeom>
        </p:spPr>
      </p:pic>
    </p:spTree>
    <p:extLst>
      <p:ext uri="{BB962C8B-B14F-4D97-AF65-F5344CB8AC3E}">
        <p14:creationId xmlns:p14="http://schemas.microsoft.com/office/powerpoint/2010/main" val="1844137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7277E-F8AE-EEAC-5FA3-630406B6F2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69C037D-7720-432F-9386-C0352832E324}"/>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SUB-TECHNIQUES</a:t>
            </a:r>
          </a:p>
        </p:txBody>
      </p:sp>
      <p:pic>
        <p:nvPicPr>
          <p:cNvPr id="3" name="Picture 2">
            <a:extLst>
              <a:ext uri="{FF2B5EF4-FFF2-40B4-BE49-F238E27FC236}">
                <a16:creationId xmlns:a16="http://schemas.microsoft.com/office/drawing/2014/main" id="{2C06243C-02B0-2C63-FB57-D398E629AB0D}"/>
              </a:ext>
            </a:extLst>
          </p:cNvPr>
          <p:cNvPicPr>
            <a:picLocks noChangeAspect="1"/>
          </p:cNvPicPr>
          <p:nvPr/>
        </p:nvPicPr>
        <p:blipFill>
          <a:blip r:embed="rId2"/>
          <a:stretch>
            <a:fillRect/>
          </a:stretch>
        </p:blipFill>
        <p:spPr>
          <a:xfrm>
            <a:off x="142416" y="1175707"/>
            <a:ext cx="6573167" cy="990738"/>
          </a:xfrm>
          <a:prstGeom prst="rect">
            <a:avLst/>
          </a:prstGeom>
        </p:spPr>
      </p:pic>
      <p:pic>
        <p:nvPicPr>
          <p:cNvPr id="7" name="Picture 6">
            <a:extLst>
              <a:ext uri="{FF2B5EF4-FFF2-40B4-BE49-F238E27FC236}">
                <a16:creationId xmlns:a16="http://schemas.microsoft.com/office/drawing/2014/main" id="{9F643C71-97DD-F96F-54FD-B618F6DA0C9B}"/>
              </a:ext>
            </a:extLst>
          </p:cNvPr>
          <p:cNvPicPr>
            <a:picLocks noChangeAspect="1"/>
          </p:cNvPicPr>
          <p:nvPr/>
        </p:nvPicPr>
        <p:blipFill>
          <a:blip r:embed="rId3"/>
          <a:stretch>
            <a:fillRect/>
          </a:stretch>
        </p:blipFill>
        <p:spPr>
          <a:xfrm>
            <a:off x="419100" y="2669053"/>
            <a:ext cx="6019800" cy="5056209"/>
          </a:xfrm>
          <a:prstGeom prst="rect">
            <a:avLst/>
          </a:prstGeom>
        </p:spPr>
      </p:pic>
    </p:spTree>
    <p:extLst>
      <p:ext uri="{BB962C8B-B14F-4D97-AF65-F5344CB8AC3E}">
        <p14:creationId xmlns:p14="http://schemas.microsoft.com/office/powerpoint/2010/main" val="12815641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DAA87-31A2-8AA5-18D5-1C7AB9CEA4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CE1A3D3-9949-DE37-B735-0DBD67AE4A10}"/>
              </a:ext>
            </a:extLst>
          </p:cNvPr>
          <p:cNvSpPr>
            <a:spLocks noGrp="1"/>
          </p:cNvSpPr>
          <p:nvPr>
            <p:ph type="title"/>
          </p:nvPr>
        </p:nvSpPr>
        <p:spPr>
          <a:xfrm>
            <a:off x="0" y="0"/>
            <a:ext cx="6858000" cy="845820"/>
          </a:xfrm>
          <a:solidFill>
            <a:schemeClr val="accent1"/>
          </a:solidFill>
        </p:spPr>
        <p:txBody>
          <a:bodyPr>
            <a:normAutofit fontScale="90000"/>
          </a:bodyPr>
          <a:lstStyle/>
          <a:p>
            <a:pPr algn="ctr"/>
            <a:r>
              <a:rPr lang="en-US" sz="3100" b="1" dirty="0">
                <a:solidFill>
                  <a:schemeClr val="bg1"/>
                </a:solidFill>
              </a:rPr>
              <a:t>TACTICS, TECHNIQUES, AND SUB-TECHNIQUES</a:t>
            </a:r>
          </a:p>
        </p:txBody>
      </p:sp>
      <p:pic>
        <p:nvPicPr>
          <p:cNvPr id="8" name="Picture 7">
            <a:extLst>
              <a:ext uri="{FF2B5EF4-FFF2-40B4-BE49-F238E27FC236}">
                <a16:creationId xmlns:a16="http://schemas.microsoft.com/office/drawing/2014/main" id="{DAA47E63-561A-B768-BE1C-9CB3725ADEB5}"/>
              </a:ext>
            </a:extLst>
          </p:cNvPr>
          <p:cNvPicPr>
            <a:picLocks noChangeAspect="1"/>
          </p:cNvPicPr>
          <p:nvPr/>
        </p:nvPicPr>
        <p:blipFill>
          <a:blip r:embed="rId2"/>
          <a:stretch>
            <a:fillRect/>
          </a:stretch>
        </p:blipFill>
        <p:spPr>
          <a:xfrm>
            <a:off x="381000" y="996625"/>
            <a:ext cx="6096000" cy="2897308"/>
          </a:xfrm>
          <a:prstGeom prst="rect">
            <a:avLst/>
          </a:prstGeom>
        </p:spPr>
      </p:pic>
      <p:pic>
        <p:nvPicPr>
          <p:cNvPr id="10" name="Picture 9">
            <a:extLst>
              <a:ext uri="{FF2B5EF4-FFF2-40B4-BE49-F238E27FC236}">
                <a16:creationId xmlns:a16="http://schemas.microsoft.com/office/drawing/2014/main" id="{5C50721C-2F16-78CC-F3B1-AA9CCB35D553}"/>
              </a:ext>
            </a:extLst>
          </p:cNvPr>
          <p:cNvPicPr>
            <a:picLocks noChangeAspect="1"/>
          </p:cNvPicPr>
          <p:nvPr/>
        </p:nvPicPr>
        <p:blipFill>
          <a:blip r:embed="rId3"/>
          <a:stretch>
            <a:fillRect/>
          </a:stretch>
        </p:blipFill>
        <p:spPr>
          <a:xfrm>
            <a:off x="260350" y="5422660"/>
            <a:ext cx="6337300" cy="1831219"/>
          </a:xfrm>
          <a:prstGeom prst="rect">
            <a:avLst/>
          </a:prstGeom>
        </p:spPr>
      </p:pic>
      <p:sp>
        <p:nvSpPr>
          <p:cNvPr id="11" name="Title 3">
            <a:extLst>
              <a:ext uri="{FF2B5EF4-FFF2-40B4-BE49-F238E27FC236}">
                <a16:creationId xmlns:a16="http://schemas.microsoft.com/office/drawing/2014/main" id="{C9480062-178B-55E1-4BCA-80829CC6CC5E}"/>
              </a:ext>
            </a:extLst>
          </p:cNvPr>
          <p:cNvSpPr txBox="1">
            <a:spLocks/>
          </p:cNvSpPr>
          <p:nvPr/>
        </p:nvSpPr>
        <p:spPr>
          <a:xfrm>
            <a:off x="0" y="4352530"/>
            <a:ext cx="6858000" cy="845820"/>
          </a:xfrm>
          <a:prstGeom prst="rect">
            <a:avLst/>
          </a:prstGeom>
          <a:solidFill>
            <a:schemeClr val="accent1"/>
          </a:solidFill>
        </p:spPr>
        <p:txBody>
          <a:bodyPr vert="horz" lIns="91440" tIns="45720" rIns="91440" bIns="45720" rtlCol="0" anchor="ctr">
            <a:normAutofit fontScale="975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DATA RESOURCES</a:t>
            </a:r>
          </a:p>
        </p:txBody>
      </p:sp>
      <p:sp>
        <p:nvSpPr>
          <p:cNvPr id="13" name="TextBox 12">
            <a:extLst>
              <a:ext uri="{FF2B5EF4-FFF2-40B4-BE49-F238E27FC236}">
                <a16:creationId xmlns:a16="http://schemas.microsoft.com/office/drawing/2014/main" id="{006CEEC0-8A54-78B1-BA71-317D6BA02402}"/>
              </a:ext>
            </a:extLst>
          </p:cNvPr>
          <p:cNvSpPr txBox="1"/>
          <p:nvPr/>
        </p:nvSpPr>
        <p:spPr>
          <a:xfrm>
            <a:off x="137795" y="7478189"/>
            <a:ext cx="6582410" cy="646331"/>
          </a:xfrm>
          <a:prstGeom prst="rect">
            <a:avLst/>
          </a:prstGeom>
          <a:noFill/>
        </p:spPr>
        <p:txBody>
          <a:bodyPr wrap="square">
            <a:spAutoFit/>
          </a:bodyPr>
          <a:lstStyle/>
          <a:p>
            <a:r>
              <a:rPr lang="en-US" b="1" dirty="0"/>
              <a:t>Telemetry</a:t>
            </a:r>
            <a:r>
              <a:rPr lang="en-US" dirty="0"/>
              <a:t> is the automatic collection and transmission of data from one place to another for monitoring and analysis</a:t>
            </a:r>
            <a:endParaRPr lang="en-IN" dirty="0"/>
          </a:p>
        </p:txBody>
      </p:sp>
    </p:spTree>
    <p:extLst>
      <p:ext uri="{BB962C8B-B14F-4D97-AF65-F5344CB8AC3E}">
        <p14:creationId xmlns:p14="http://schemas.microsoft.com/office/powerpoint/2010/main" val="3808365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3A5D6-BF1E-7347-19A9-F43994D1D2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C54D5B-D33F-D60E-9D7D-4072C027083D}"/>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DETECTIONS</a:t>
            </a:r>
          </a:p>
        </p:txBody>
      </p:sp>
      <p:pic>
        <p:nvPicPr>
          <p:cNvPr id="3" name="Picture 2">
            <a:extLst>
              <a:ext uri="{FF2B5EF4-FFF2-40B4-BE49-F238E27FC236}">
                <a16:creationId xmlns:a16="http://schemas.microsoft.com/office/drawing/2014/main" id="{15805823-F4A4-2B2E-1BAF-F60C61CEF818}"/>
              </a:ext>
            </a:extLst>
          </p:cNvPr>
          <p:cNvPicPr>
            <a:picLocks noChangeAspect="1"/>
          </p:cNvPicPr>
          <p:nvPr/>
        </p:nvPicPr>
        <p:blipFill>
          <a:blip r:embed="rId2"/>
          <a:stretch>
            <a:fillRect/>
          </a:stretch>
        </p:blipFill>
        <p:spPr>
          <a:xfrm>
            <a:off x="162045" y="1016840"/>
            <a:ext cx="6533909" cy="1862260"/>
          </a:xfrm>
          <a:prstGeom prst="rect">
            <a:avLst/>
          </a:prstGeom>
        </p:spPr>
      </p:pic>
      <p:sp>
        <p:nvSpPr>
          <p:cNvPr id="5" name="TextBox 4">
            <a:extLst>
              <a:ext uri="{FF2B5EF4-FFF2-40B4-BE49-F238E27FC236}">
                <a16:creationId xmlns:a16="http://schemas.microsoft.com/office/drawing/2014/main" id="{85673D7B-6BFD-337D-D9FC-E6748324E8DF}"/>
              </a:ext>
            </a:extLst>
          </p:cNvPr>
          <p:cNvSpPr txBox="1"/>
          <p:nvPr/>
        </p:nvSpPr>
        <p:spPr>
          <a:xfrm>
            <a:off x="162045" y="3044142"/>
            <a:ext cx="6533909" cy="646331"/>
          </a:xfrm>
          <a:prstGeom prst="rect">
            <a:avLst/>
          </a:prstGeom>
          <a:noFill/>
        </p:spPr>
        <p:txBody>
          <a:bodyPr wrap="square" rtlCol="0">
            <a:spAutoFit/>
          </a:bodyPr>
          <a:lstStyle/>
          <a:p>
            <a:r>
              <a:rPr lang="en-US" dirty="0"/>
              <a:t>Alerts or findings that indicate something unusual or harmful has been identified</a:t>
            </a:r>
            <a:endParaRPr lang="en-IN" dirty="0"/>
          </a:p>
        </p:txBody>
      </p:sp>
      <p:sp>
        <p:nvSpPr>
          <p:cNvPr id="6" name="Title 3">
            <a:extLst>
              <a:ext uri="{FF2B5EF4-FFF2-40B4-BE49-F238E27FC236}">
                <a16:creationId xmlns:a16="http://schemas.microsoft.com/office/drawing/2014/main" id="{B9FF7715-59D4-F6DD-F90B-B8F917191266}"/>
              </a:ext>
            </a:extLst>
          </p:cNvPr>
          <p:cNvSpPr txBox="1">
            <a:spLocks/>
          </p:cNvSpPr>
          <p:nvPr/>
        </p:nvSpPr>
        <p:spPr>
          <a:xfrm>
            <a:off x="-1" y="4029919"/>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MITIGATIONS</a:t>
            </a:r>
          </a:p>
        </p:txBody>
      </p:sp>
      <p:pic>
        <p:nvPicPr>
          <p:cNvPr id="9" name="Picture 8">
            <a:extLst>
              <a:ext uri="{FF2B5EF4-FFF2-40B4-BE49-F238E27FC236}">
                <a16:creationId xmlns:a16="http://schemas.microsoft.com/office/drawing/2014/main" id="{61403417-DC28-4B20-18F3-3E176451DB4C}"/>
              </a:ext>
            </a:extLst>
          </p:cNvPr>
          <p:cNvPicPr>
            <a:picLocks noChangeAspect="1"/>
          </p:cNvPicPr>
          <p:nvPr/>
        </p:nvPicPr>
        <p:blipFill>
          <a:blip r:embed="rId3"/>
          <a:stretch>
            <a:fillRect/>
          </a:stretch>
        </p:blipFill>
        <p:spPr>
          <a:xfrm>
            <a:off x="246535" y="5075238"/>
            <a:ext cx="6449419" cy="2586378"/>
          </a:xfrm>
          <a:prstGeom prst="rect">
            <a:avLst/>
          </a:prstGeom>
        </p:spPr>
      </p:pic>
    </p:spTree>
    <p:extLst>
      <p:ext uri="{BB962C8B-B14F-4D97-AF65-F5344CB8AC3E}">
        <p14:creationId xmlns:p14="http://schemas.microsoft.com/office/powerpoint/2010/main" val="2835313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975E9-7D9C-8EA5-9B75-04F1E44602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31602F-E631-B812-AA85-14D055ED4458}"/>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GROUPS</a:t>
            </a:r>
          </a:p>
        </p:txBody>
      </p:sp>
      <p:pic>
        <p:nvPicPr>
          <p:cNvPr id="7" name="Picture 6">
            <a:extLst>
              <a:ext uri="{FF2B5EF4-FFF2-40B4-BE49-F238E27FC236}">
                <a16:creationId xmlns:a16="http://schemas.microsoft.com/office/drawing/2014/main" id="{45DD0505-A450-279A-64AF-C40313AEF6ED}"/>
              </a:ext>
            </a:extLst>
          </p:cNvPr>
          <p:cNvPicPr>
            <a:picLocks noChangeAspect="1"/>
          </p:cNvPicPr>
          <p:nvPr/>
        </p:nvPicPr>
        <p:blipFill>
          <a:blip r:embed="rId2"/>
          <a:stretch>
            <a:fillRect/>
          </a:stretch>
        </p:blipFill>
        <p:spPr>
          <a:xfrm>
            <a:off x="187960" y="977998"/>
            <a:ext cx="6482080" cy="1464285"/>
          </a:xfrm>
          <a:prstGeom prst="rect">
            <a:avLst/>
          </a:prstGeom>
        </p:spPr>
      </p:pic>
      <p:sp>
        <p:nvSpPr>
          <p:cNvPr id="10" name="TextBox 9">
            <a:extLst>
              <a:ext uri="{FF2B5EF4-FFF2-40B4-BE49-F238E27FC236}">
                <a16:creationId xmlns:a16="http://schemas.microsoft.com/office/drawing/2014/main" id="{3A5C971E-30E6-A2A8-8DD0-DCE4E52DD895}"/>
              </a:ext>
            </a:extLst>
          </p:cNvPr>
          <p:cNvSpPr txBox="1"/>
          <p:nvPr/>
        </p:nvSpPr>
        <p:spPr>
          <a:xfrm>
            <a:off x="0" y="2513945"/>
            <a:ext cx="6858000" cy="3477875"/>
          </a:xfrm>
          <a:prstGeom prst="rect">
            <a:avLst/>
          </a:prstGeom>
          <a:noFill/>
        </p:spPr>
        <p:txBody>
          <a:bodyPr wrap="square">
            <a:spAutoFit/>
          </a:bodyPr>
          <a:lstStyle/>
          <a:p>
            <a:r>
              <a:rPr lang="en-US" sz="2000" dirty="0"/>
              <a:t>Adversary - Any person, group, or entity that tries to attack, exploit, or harm a system, network, or data</a:t>
            </a:r>
          </a:p>
          <a:p>
            <a:endParaRPr lang="en-US" sz="2000" dirty="0"/>
          </a:p>
          <a:p>
            <a:pPr>
              <a:spcAft>
                <a:spcPts val="750"/>
              </a:spcAft>
            </a:pPr>
            <a:r>
              <a:rPr lang="en-US" sz="2000" dirty="0">
                <a:solidFill>
                  <a:srgbClr val="0A0A0A"/>
                </a:solidFill>
              </a:rPr>
              <a:t>This text explains how cybersecurity vendors track threat actor groups using different naming conventions.</a:t>
            </a:r>
            <a:br>
              <a:rPr lang="en-US" sz="2000" dirty="0">
                <a:solidFill>
                  <a:srgbClr val="0A0A0A"/>
                </a:solidFill>
              </a:rPr>
            </a:br>
            <a:r>
              <a:rPr lang="en-US" sz="2000" dirty="0">
                <a:solidFill>
                  <a:srgbClr val="0A0A0A"/>
                </a:solidFill>
              </a:rPr>
              <a:t>• Vendors assign unique names to track related adversary </a:t>
            </a:r>
            <a:br>
              <a:rPr lang="en-US" sz="2000" dirty="0">
                <a:solidFill>
                  <a:srgbClr val="0A0A0A"/>
                </a:solidFill>
              </a:rPr>
            </a:br>
            <a:r>
              <a:rPr lang="en-US" sz="2000" dirty="0">
                <a:solidFill>
                  <a:srgbClr val="0A0A0A"/>
                </a:solidFill>
              </a:rPr>
              <a:t>    behaviors.</a:t>
            </a:r>
            <a:br>
              <a:rPr lang="en-US" sz="2000" dirty="0">
                <a:solidFill>
                  <a:srgbClr val="0A0A0A"/>
                </a:solidFill>
              </a:rPr>
            </a:br>
            <a:r>
              <a:rPr lang="en-US" sz="2000" dirty="0">
                <a:solidFill>
                  <a:srgbClr val="0A0A0A"/>
                </a:solidFill>
              </a:rPr>
              <a:t>• Threat groups often have multiple names across different </a:t>
            </a:r>
            <a:br>
              <a:rPr lang="en-US" sz="2000" dirty="0">
                <a:solidFill>
                  <a:srgbClr val="0A0A0A"/>
                </a:solidFill>
              </a:rPr>
            </a:br>
            <a:r>
              <a:rPr lang="en-US" sz="2000" dirty="0">
                <a:solidFill>
                  <a:srgbClr val="0A0A0A"/>
                </a:solidFill>
              </a:rPr>
              <a:t>    companies.</a:t>
            </a:r>
            <a:br>
              <a:rPr lang="en-US" sz="2000" dirty="0">
                <a:solidFill>
                  <a:srgbClr val="0A0A0A"/>
                </a:solidFill>
              </a:rPr>
            </a:br>
            <a:r>
              <a:rPr lang="en-US" sz="2000" dirty="0">
                <a:solidFill>
                  <a:srgbClr val="0A0A0A"/>
                </a:solidFill>
              </a:rPr>
              <a:t>• Examples include Microsoft (weather patterns), CrowdStrike </a:t>
            </a:r>
            <a:br>
              <a:rPr lang="en-US" sz="2000" dirty="0">
                <a:solidFill>
                  <a:srgbClr val="0A0A0A"/>
                </a:solidFill>
              </a:rPr>
            </a:br>
            <a:r>
              <a:rPr lang="en-US" sz="2000" dirty="0">
                <a:solidFill>
                  <a:srgbClr val="0A0A0A"/>
                </a:solidFill>
              </a:rPr>
              <a:t>   (animals), and Mandiant (numerical designations)</a:t>
            </a:r>
          </a:p>
        </p:txBody>
      </p:sp>
      <p:sp>
        <p:nvSpPr>
          <p:cNvPr id="13" name="Title 3">
            <a:extLst>
              <a:ext uri="{FF2B5EF4-FFF2-40B4-BE49-F238E27FC236}">
                <a16:creationId xmlns:a16="http://schemas.microsoft.com/office/drawing/2014/main" id="{A97DA270-1BCF-A9A7-D58C-4911DB869DDF}"/>
              </a:ext>
            </a:extLst>
          </p:cNvPr>
          <p:cNvSpPr txBox="1">
            <a:spLocks/>
          </p:cNvSpPr>
          <p:nvPr/>
        </p:nvSpPr>
        <p:spPr>
          <a:xfrm>
            <a:off x="0" y="6205370"/>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SOFTWARE</a:t>
            </a:r>
          </a:p>
        </p:txBody>
      </p:sp>
      <p:sp>
        <p:nvSpPr>
          <p:cNvPr id="17" name="TextBox 16">
            <a:extLst>
              <a:ext uri="{FF2B5EF4-FFF2-40B4-BE49-F238E27FC236}">
                <a16:creationId xmlns:a16="http://schemas.microsoft.com/office/drawing/2014/main" id="{95D509B9-A58D-E673-E63F-E870301EB688}"/>
              </a:ext>
            </a:extLst>
          </p:cNvPr>
          <p:cNvSpPr txBox="1"/>
          <p:nvPr/>
        </p:nvSpPr>
        <p:spPr>
          <a:xfrm>
            <a:off x="0" y="7264740"/>
            <a:ext cx="6858000" cy="1938992"/>
          </a:xfrm>
          <a:prstGeom prst="rect">
            <a:avLst/>
          </a:prstGeom>
          <a:noFill/>
        </p:spPr>
        <p:txBody>
          <a:bodyPr wrap="square">
            <a:spAutoFit/>
          </a:bodyPr>
          <a:lstStyle/>
          <a:p>
            <a:r>
              <a:rPr lang="en-IN" sz="2000" dirty="0"/>
              <a:t>• Actual tools or malware used by adversaries</a:t>
            </a:r>
          </a:p>
          <a:p>
            <a:r>
              <a:rPr lang="en-IN" sz="2000" dirty="0"/>
              <a:t>• Software is always linked to techniques, groups and campaigns</a:t>
            </a:r>
          </a:p>
          <a:p>
            <a:r>
              <a:rPr lang="en-IN" sz="2000" dirty="0"/>
              <a:t>• Tools can be commercial, open-source, built-in, or publicly </a:t>
            </a:r>
            <a:br>
              <a:rPr lang="en-IN" sz="2000" dirty="0"/>
            </a:br>
            <a:r>
              <a:rPr lang="en-IN" sz="2000" dirty="0"/>
              <a:t>    available software</a:t>
            </a:r>
          </a:p>
          <a:p>
            <a:r>
              <a:rPr lang="en-IN" sz="2000" dirty="0"/>
              <a:t>• Malware can be commercial, custom closed source, or open-</a:t>
            </a:r>
            <a:br>
              <a:rPr lang="en-IN" sz="2000" dirty="0"/>
            </a:br>
            <a:r>
              <a:rPr lang="en-IN" sz="2000" dirty="0"/>
              <a:t>    source software intended to be used for malicious purposes</a:t>
            </a:r>
          </a:p>
        </p:txBody>
      </p:sp>
    </p:spTree>
    <p:extLst>
      <p:ext uri="{BB962C8B-B14F-4D97-AF65-F5344CB8AC3E}">
        <p14:creationId xmlns:p14="http://schemas.microsoft.com/office/powerpoint/2010/main" val="2280027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22687-3C03-CD5E-6331-57B867E4E7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41732C-A5FE-E438-5297-955B6E9699AE}"/>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CAMPAIGNS</a:t>
            </a:r>
          </a:p>
        </p:txBody>
      </p:sp>
      <p:pic>
        <p:nvPicPr>
          <p:cNvPr id="3" name="Picture 2">
            <a:extLst>
              <a:ext uri="{FF2B5EF4-FFF2-40B4-BE49-F238E27FC236}">
                <a16:creationId xmlns:a16="http://schemas.microsoft.com/office/drawing/2014/main" id="{23BC2BDA-C4B2-40CD-C664-FB39A06A7A9A}"/>
              </a:ext>
            </a:extLst>
          </p:cNvPr>
          <p:cNvPicPr>
            <a:picLocks noChangeAspect="1"/>
          </p:cNvPicPr>
          <p:nvPr/>
        </p:nvPicPr>
        <p:blipFill>
          <a:blip r:embed="rId2"/>
          <a:stretch>
            <a:fillRect/>
          </a:stretch>
        </p:blipFill>
        <p:spPr>
          <a:xfrm>
            <a:off x="135731" y="2012581"/>
            <a:ext cx="6586537" cy="2472460"/>
          </a:xfrm>
          <a:prstGeom prst="rect">
            <a:avLst/>
          </a:prstGeom>
        </p:spPr>
      </p:pic>
      <p:sp>
        <p:nvSpPr>
          <p:cNvPr id="6" name="TextBox 5">
            <a:extLst>
              <a:ext uri="{FF2B5EF4-FFF2-40B4-BE49-F238E27FC236}">
                <a16:creationId xmlns:a16="http://schemas.microsoft.com/office/drawing/2014/main" id="{F83BF6C8-4D31-410B-EAB9-B3ADB072A8ED}"/>
              </a:ext>
            </a:extLst>
          </p:cNvPr>
          <p:cNvSpPr txBox="1"/>
          <p:nvPr/>
        </p:nvSpPr>
        <p:spPr>
          <a:xfrm>
            <a:off x="67865" y="967535"/>
            <a:ext cx="6722269" cy="923330"/>
          </a:xfrm>
          <a:prstGeom prst="rect">
            <a:avLst/>
          </a:prstGeom>
          <a:noFill/>
        </p:spPr>
        <p:txBody>
          <a:bodyPr wrap="square">
            <a:spAutoFit/>
          </a:bodyPr>
          <a:lstStyle/>
          <a:p>
            <a:r>
              <a:rPr lang="en-US" dirty="0"/>
              <a:t>A campaign is like a planned operation where attackers don’t just attack once—they repeat, adapt, and continue targeting victims using different methods</a:t>
            </a:r>
            <a:endParaRPr lang="en-IN" dirty="0"/>
          </a:p>
        </p:txBody>
      </p:sp>
      <p:sp>
        <p:nvSpPr>
          <p:cNvPr id="7" name="Title 3">
            <a:extLst>
              <a:ext uri="{FF2B5EF4-FFF2-40B4-BE49-F238E27FC236}">
                <a16:creationId xmlns:a16="http://schemas.microsoft.com/office/drawing/2014/main" id="{AC9ECACB-EB08-A5F6-38E9-A4A6D49EE432}"/>
              </a:ext>
            </a:extLst>
          </p:cNvPr>
          <p:cNvSpPr txBox="1">
            <a:spLocks/>
          </p:cNvSpPr>
          <p:nvPr/>
        </p:nvSpPr>
        <p:spPr>
          <a:xfrm>
            <a:off x="0" y="4808220"/>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RELATIONS</a:t>
            </a:r>
          </a:p>
        </p:txBody>
      </p:sp>
      <p:pic>
        <p:nvPicPr>
          <p:cNvPr id="9" name="Picture 8">
            <a:extLst>
              <a:ext uri="{FF2B5EF4-FFF2-40B4-BE49-F238E27FC236}">
                <a16:creationId xmlns:a16="http://schemas.microsoft.com/office/drawing/2014/main" id="{484A66EF-223A-EF2E-7EC6-6AE30F867E8D}"/>
              </a:ext>
            </a:extLst>
          </p:cNvPr>
          <p:cNvPicPr>
            <a:picLocks noChangeAspect="1"/>
          </p:cNvPicPr>
          <p:nvPr/>
        </p:nvPicPr>
        <p:blipFill>
          <a:blip r:embed="rId3"/>
          <a:stretch>
            <a:fillRect/>
          </a:stretch>
        </p:blipFill>
        <p:spPr>
          <a:xfrm>
            <a:off x="1269285" y="5853265"/>
            <a:ext cx="4319429" cy="2718130"/>
          </a:xfrm>
          <a:prstGeom prst="rect">
            <a:avLst/>
          </a:prstGeom>
        </p:spPr>
      </p:pic>
      <p:sp>
        <p:nvSpPr>
          <p:cNvPr id="2" name="TextBox 1">
            <a:extLst>
              <a:ext uri="{FF2B5EF4-FFF2-40B4-BE49-F238E27FC236}">
                <a16:creationId xmlns:a16="http://schemas.microsoft.com/office/drawing/2014/main" id="{593E2D9D-412E-FA8A-A559-2231F9E2116F}"/>
              </a:ext>
            </a:extLst>
          </p:cNvPr>
          <p:cNvSpPr txBox="1"/>
          <p:nvPr/>
        </p:nvSpPr>
        <p:spPr>
          <a:xfrm>
            <a:off x="101797" y="8716899"/>
            <a:ext cx="6654403" cy="646331"/>
          </a:xfrm>
          <a:prstGeom prst="rect">
            <a:avLst/>
          </a:prstGeom>
          <a:noFill/>
        </p:spPr>
        <p:txBody>
          <a:bodyPr wrap="square" rtlCol="0">
            <a:spAutoFit/>
          </a:bodyPr>
          <a:lstStyle/>
          <a:p>
            <a:r>
              <a:rPr lang="en-US" dirty="0"/>
              <a:t>It shows </a:t>
            </a:r>
            <a:r>
              <a:rPr lang="en-US" b="1" dirty="0"/>
              <a:t>step-by-step actions (tactics &amp; techniques)</a:t>
            </a:r>
            <a:r>
              <a:rPr lang="en-US" dirty="0"/>
              <a:t> that attackers use to break into and move inside company systems</a:t>
            </a:r>
            <a:endParaRPr lang="en-IN" dirty="0"/>
          </a:p>
        </p:txBody>
      </p:sp>
    </p:spTree>
    <p:extLst>
      <p:ext uri="{BB962C8B-B14F-4D97-AF65-F5344CB8AC3E}">
        <p14:creationId xmlns:p14="http://schemas.microsoft.com/office/powerpoint/2010/main" val="1993221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31D48-9113-9C8C-BF5C-34B264D271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CD0B96-D118-9234-298E-930E71870C75}"/>
              </a:ext>
            </a:extLst>
          </p:cNvPr>
          <p:cNvSpPr>
            <a:spLocks noGrp="1"/>
          </p:cNvSpPr>
          <p:nvPr>
            <p:ph type="title"/>
          </p:nvPr>
        </p:nvSpPr>
        <p:spPr>
          <a:xfrm>
            <a:off x="0" y="0"/>
            <a:ext cx="6858000" cy="845820"/>
          </a:xfrm>
          <a:solidFill>
            <a:schemeClr val="accent1"/>
          </a:solidFill>
        </p:spPr>
        <p:txBody>
          <a:bodyPr>
            <a:normAutofit/>
          </a:bodyPr>
          <a:lstStyle/>
          <a:p>
            <a:pPr algn="ctr"/>
            <a:r>
              <a:rPr lang="en-US" sz="3100" b="1" dirty="0">
                <a:solidFill>
                  <a:schemeClr val="bg1"/>
                </a:solidFill>
              </a:rPr>
              <a:t>ENTERPRISE MATRIX</a:t>
            </a:r>
          </a:p>
        </p:txBody>
      </p:sp>
      <p:sp>
        <p:nvSpPr>
          <p:cNvPr id="2" name="TextBox 1">
            <a:extLst>
              <a:ext uri="{FF2B5EF4-FFF2-40B4-BE49-F238E27FC236}">
                <a16:creationId xmlns:a16="http://schemas.microsoft.com/office/drawing/2014/main" id="{0D112B01-0F70-77D3-5ED1-565E4285F74D}"/>
              </a:ext>
            </a:extLst>
          </p:cNvPr>
          <p:cNvSpPr txBox="1"/>
          <p:nvPr/>
        </p:nvSpPr>
        <p:spPr>
          <a:xfrm>
            <a:off x="0" y="845820"/>
            <a:ext cx="6858000" cy="2862322"/>
          </a:xfrm>
          <a:prstGeom prst="rect">
            <a:avLst/>
          </a:prstGeom>
          <a:noFill/>
        </p:spPr>
        <p:txBody>
          <a:bodyPr wrap="square" rtlCol="0">
            <a:spAutoFit/>
          </a:bodyPr>
          <a:lstStyle/>
          <a:p>
            <a:r>
              <a:rPr lang="en-US" dirty="0"/>
              <a:t>It shows </a:t>
            </a:r>
            <a:r>
              <a:rPr lang="en-US" b="1" dirty="0"/>
              <a:t>step-by-step actions (tactics &amp; techniques)</a:t>
            </a:r>
            <a:r>
              <a:rPr lang="en-US" dirty="0"/>
              <a:t> that attackers use to break into and move inside company systems.</a:t>
            </a:r>
          </a:p>
          <a:p>
            <a:endParaRPr lang="en-US" dirty="0"/>
          </a:p>
          <a:p>
            <a:r>
              <a:rPr lang="en-US" dirty="0"/>
              <a:t>An enterprise matrix is a comprehensive, globally accessible knowledge base of adversary tactics and techniques observed in real-world cyberattacks</a:t>
            </a:r>
          </a:p>
          <a:p>
            <a:endParaRPr lang="en-US" dirty="0"/>
          </a:p>
          <a:p>
            <a:endParaRPr lang="en-US" dirty="0"/>
          </a:p>
          <a:p>
            <a:endParaRPr lang="en-US" dirty="0"/>
          </a:p>
          <a:p>
            <a:endParaRPr lang="en-IN" dirty="0"/>
          </a:p>
        </p:txBody>
      </p:sp>
      <p:sp>
        <p:nvSpPr>
          <p:cNvPr id="5" name="Title 3">
            <a:extLst>
              <a:ext uri="{FF2B5EF4-FFF2-40B4-BE49-F238E27FC236}">
                <a16:creationId xmlns:a16="http://schemas.microsoft.com/office/drawing/2014/main" id="{B21F035F-4869-6C0F-AA8D-5B026CE46F6D}"/>
              </a:ext>
            </a:extLst>
          </p:cNvPr>
          <p:cNvSpPr txBox="1">
            <a:spLocks/>
          </p:cNvSpPr>
          <p:nvPr/>
        </p:nvSpPr>
        <p:spPr>
          <a:xfrm>
            <a:off x="0" y="2995612"/>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EVOLUTION OF ATT &amp; CK</a:t>
            </a:r>
          </a:p>
        </p:txBody>
      </p:sp>
      <p:pic>
        <p:nvPicPr>
          <p:cNvPr id="10" name="Picture 9">
            <a:extLst>
              <a:ext uri="{FF2B5EF4-FFF2-40B4-BE49-F238E27FC236}">
                <a16:creationId xmlns:a16="http://schemas.microsoft.com/office/drawing/2014/main" id="{7675DD96-90E5-E191-B619-77C751E0B530}"/>
              </a:ext>
            </a:extLst>
          </p:cNvPr>
          <p:cNvPicPr>
            <a:picLocks noChangeAspect="1"/>
          </p:cNvPicPr>
          <p:nvPr/>
        </p:nvPicPr>
        <p:blipFill>
          <a:blip r:embed="rId2"/>
          <a:stretch>
            <a:fillRect/>
          </a:stretch>
        </p:blipFill>
        <p:spPr>
          <a:xfrm>
            <a:off x="292894" y="3910059"/>
            <a:ext cx="6272212" cy="1287805"/>
          </a:xfrm>
          <a:prstGeom prst="rect">
            <a:avLst/>
          </a:prstGeom>
        </p:spPr>
      </p:pic>
    </p:spTree>
    <p:extLst>
      <p:ext uri="{BB962C8B-B14F-4D97-AF65-F5344CB8AC3E}">
        <p14:creationId xmlns:p14="http://schemas.microsoft.com/office/powerpoint/2010/main" val="234451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98A8-CC36-17C3-4DEB-0FB7B00B1C3C}"/>
            </a:ext>
          </a:extLst>
        </p:cNvPr>
        <p:cNvGrpSpPr/>
        <p:nvPr/>
      </p:nvGrpSpPr>
      <p:grpSpPr>
        <a:xfrm>
          <a:off x="0" y="0"/>
          <a:ext cx="0" cy="0"/>
          <a:chOff x="0" y="0"/>
          <a:chExt cx="0" cy="0"/>
        </a:xfrm>
      </p:grpSpPr>
      <p:sp>
        <p:nvSpPr>
          <p:cNvPr id="11" name="Title 3">
            <a:extLst>
              <a:ext uri="{FF2B5EF4-FFF2-40B4-BE49-F238E27FC236}">
                <a16:creationId xmlns:a16="http://schemas.microsoft.com/office/drawing/2014/main" id="{2C13175B-1EA7-2E94-B93A-D75F7C9C1BB5}"/>
              </a:ext>
            </a:extLst>
          </p:cNvPr>
          <p:cNvSpPr txBox="1">
            <a:spLocks/>
          </p:cNvSpPr>
          <p:nvPr/>
        </p:nvSpPr>
        <p:spPr>
          <a:xfrm>
            <a:off x="0" y="1171575"/>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SCENARIO</a:t>
            </a:r>
          </a:p>
        </p:txBody>
      </p:sp>
      <p:pic>
        <p:nvPicPr>
          <p:cNvPr id="19" name="Picture 18">
            <a:extLst>
              <a:ext uri="{FF2B5EF4-FFF2-40B4-BE49-F238E27FC236}">
                <a16:creationId xmlns:a16="http://schemas.microsoft.com/office/drawing/2014/main" id="{A4495412-E303-FC0B-6D98-FC0EB0CFC3E6}"/>
              </a:ext>
            </a:extLst>
          </p:cNvPr>
          <p:cNvPicPr>
            <a:picLocks noChangeAspect="1"/>
          </p:cNvPicPr>
          <p:nvPr/>
        </p:nvPicPr>
        <p:blipFill>
          <a:blip r:embed="rId2"/>
          <a:stretch>
            <a:fillRect/>
          </a:stretch>
        </p:blipFill>
        <p:spPr>
          <a:xfrm>
            <a:off x="407193" y="2251769"/>
            <a:ext cx="6043613" cy="3038299"/>
          </a:xfrm>
          <a:prstGeom prst="rect">
            <a:avLst/>
          </a:prstGeom>
        </p:spPr>
      </p:pic>
      <p:sp>
        <p:nvSpPr>
          <p:cNvPr id="8" name="TextBox 7">
            <a:extLst>
              <a:ext uri="{FF2B5EF4-FFF2-40B4-BE49-F238E27FC236}">
                <a16:creationId xmlns:a16="http://schemas.microsoft.com/office/drawing/2014/main" id="{67BD3FF9-D6BE-6DE4-7924-5B1F95526F22}"/>
              </a:ext>
            </a:extLst>
          </p:cNvPr>
          <p:cNvSpPr txBox="1"/>
          <p:nvPr/>
        </p:nvSpPr>
        <p:spPr>
          <a:xfrm>
            <a:off x="-2" y="0"/>
            <a:ext cx="6857999" cy="954107"/>
          </a:xfrm>
          <a:prstGeom prst="rect">
            <a:avLst/>
          </a:prstGeom>
          <a:solidFill>
            <a:schemeClr val="accent2"/>
          </a:solidFill>
        </p:spPr>
        <p:txBody>
          <a:bodyPr wrap="square">
            <a:spAutoFit/>
          </a:bodyPr>
          <a:lstStyle/>
          <a:p>
            <a:pPr algn="ctr"/>
            <a:r>
              <a:rPr lang="en-IN" sz="2800" dirty="0">
                <a:solidFill>
                  <a:schemeClr val="bg1"/>
                </a:solidFill>
              </a:rPr>
              <a:t>Section 5: </a:t>
            </a:r>
            <a:br>
              <a:rPr lang="en-IN" sz="2800" dirty="0">
                <a:solidFill>
                  <a:schemeClr val="bg1"/>
                </a:solidFill>
              </a:rPr>
            </a:br>
            <a:r>
              <a:rPr lang="en-IN" sz="2800" dirty="0">
                <a:solidFill>
                  <a:schemeClr val="bg1"/>
                </a:solidFill>
              </a:rPr>
              <a:t>Case Study I - Group APT41 / </a:t>
            </a:r>
            <a:r>
              <a:rPr lang="en-IN" sz="2800" dirty="0" err="1">
                <a:solidFill>
                  <a:schemeClr val="bg1"/>
                </a:solidFill>
              </a:rPr>
              <a:t>Winnti</a:t>
            </a:r>
            <a:endParaRPr lang="en-IN" sz="2800" dirty="0">
              <a:solidFill>
                <a:schemeClr val="bg1"/>
              </a:solidFill>
            </a:endParaRPr>
          </a:p>
        </p:txBody>
      </p:sp>
      <p:sp>
        <p:nvSpPr>
          <p:cNvPr id="9" name="Title 3">
            <a:extLst>
              <a:ext uri="{FF2B5EF4-FFF2-40B4-BE49-F238E27FC236}">
                <a16:creationId xmlns:a16="http://schemas.microsoft.com/office/drawing/2014/main" id="{4FF65CC5-B4B1-7BB7-5DA4-65DA9641C9CB}"/>
              </a:ext>
            </a:extLst>
          </p:cNvPr>
          <p:cNvSpPr txBox="1">
            <a:spLocks/>
          </p:cNvSpPr>
          <p:nvPr/>
        </p:nvSpPr>
        <p:spPr>
          <a:xfrm>
            <a:off x="-3" y="5575936"/>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CAMPAIGNS &amp; THE GROUPS</a:t>
            </a:r>
          </a:p>
        </p:txBody>
      </p:sp>
      <p:pic>
        <p:nvPicPr>
          <p:cNvPr id="12" name="Picture 11">
            <a:extLst>
              <a:ext uri="{FF2B5EF4-FFF2-40B4-BE49-F238E27FC236}">
                <a16:creationId xmlns:a16="http://schemas.microsoft.com/office/drawing/2014/main" id="{8B4BAE61-A3EB-FF83-777C-EB0BE761BDCE}"/>
              </a:ext>
            </a:extLst>
          </p:cNvPr>
          <p:cNvPicPr>
            <a:picLocks noChangeAspect="1"/>
          </p:cNvPicPr>
          <p:nvPr/>
        </p:nvPicPr>
        <p:blipFill>
          <a:blip r:embed="rId3"/>
          <a:stretch>
            <a:fillRect/>
          </a:stretch>
        </p:blipFill>
        <p:spPr>
          <a:xfrm>
            <a:off x="203263" y="6707624"/>
            <a:ext cx="6451473" cy="2554948"/>
          </a:xfrm>
          <a:prstGeom prst="rect">
            <a:avLst/>
          </a:prstGeom>
        </p:spPr>
      </p:pic>
    </p:spTree>
    <p:extLst>
      <p:ext uri="{BB962C8B-B14F-4D97-AF65-F5344CB8AC3E}">
        <p14:creationId xmlns:p14="http://schemas.microsoft.com/office/powerpoint/2010/main" val="1538893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CE7C-6AA4-7A94-54D0-D9B06F16D700}"/>
            </a:ext>
          </a:extLst>
        </p:cNvPr>
        <p:cNvGrpSpPr/>
        <p:nvPr/>
      </p:nvGrpSpPr>
      <p:grpSpPr>
        <a:xfrm>
          <a:off x="0" y="0"/>
          <a:ext cx="0" cy="0"/>
          <a:chOff x="0" y="0"/>
          <a:chExt cx="0" cy="0"/>
        </a:xfrm>
      </p:grpSpPr>
      <p:sp>
        <p:nvSpPr>
          <p:cNvPr id="11" name="Title 3">
            <a:extLst>
              <a:ext uri="{FF2B5EF4-FFF2-40B4-BE49-F238E27FC236}">
                <a16:creationId xmlns:a16="http://schemas.microsoft.com/office/drawing/2014/main" id="{D263E38B-599D-DC8D-495C-59D366731581}"/>
              </a:ext>
            </a:extLst>
          </p:cNvPr>
          <p:cNvSpPr txBox="1">
            <a:spLocks/>
          </p:cNvSpPr>
          <p:nvPr/>
        </p:nvSpPr>
        <p:spPr>
          <a:xfrm>
            <a:off x="0" y="0"/>
            <a:ext cx="6858000" cy="845820"/>
          </a:xfrm>
          <a:prstGeom prst="rect">
            <a:avLst/>
          </a:prstGeom>
          <a:solidFill>
            <a:schemeClr val="accent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100" b="1" dirty="0">
                <a:solidFill>
                  <a:schemeClr val="bg1"/>
                </a:solidFill>
              </a:rPr>
              <a:t>CAMPAIGNS OF APT41 / WINNTI</a:t>
            </a:r>
          </a:p>
        </p:txBody>
      </p:sp>
      <p:pic>
        <p:nvPicPr>
          <p:cNvPr id="3" name="Picture 2">
            <a:extLst>
              <a:ext uri="{FF2B5EF4-FFF2-40B4-BE49-F238E27FC236}">
                <a16:creationId xmlns:a16="http://schemas.microsoft.com/office/drawing/2014/main" id="{48EEF437-B037-9C0B-793B-1D8F4F508BF0}"/>
              </a:ext>
            </a:extLst>
          </p:cNvPr>
          <p:cNvPicPr>
            <a:picLocks noChangeAspect="1"/>
          </p:cNvPicPr>
          <p:nvPr/>
        </p:nvPicPr>
        <p:blipFill>
          <a:blip r:embed="rId2"/>
          <a:stretch>
            <a:fillRect/>
          </a:stretch>
        </p:blipFill>
        <p:spPr>
          <a:xfrm>
            <a:off x="104228" y="958391"/>
            <a:ext cx="6649543" cy="2485849"/>
          </a:xfrm>
          <a:prstGeom prst="rect">
            <a:avLst/>
          </a:prstGeom>
        </p:spPr>
      </p:pic>
      <p:pic>
        <p:nvPicPr>
          <p:cNvPr id="5" name="Picture 4">
            <a:extLst>
              <a:ext uri="{FF2B5EF4-FFF2-40B4-BE49-F238E27FC236}">
                <a16:creationId xmlns:a16="http://schemas.microsoft.com/office/drawing/2014/main" id="{197C00D3-5EE9-BF4F-EC40-121C15B164FE}"/>
              </a:ext>
            </a:extLst>
          </p:cNvPr>
          <p:cNvPicPr>
            <a:picLocks noChangeAspect="1"/>
          </p:cNvPicPr>
          <p:nvPr/>
        </p:nvPicPr>
        <p:blipFill>
          <a:blip r:embed="rId3"/>
          <a:stretch>
            <a:fillRect/>
          </a:stretch>
        </p:blipFill>
        <p:spPr>
          <a:xfrm>
            <a:off x="104227" y="3556811"/>
            <a:ext cx="6649544" cy="3305694"/>
          </a:xfrm>
          <a:prstGeom prst="rect">
            <a:avLst/>
          </a:prstGeom>
        </p:spPr>
      </p:pic>
    </p:spTree>
    <p:extLst>
      <p:ext uri="{BB962C8B-B14F-4D97-AF65-F5344CB8AC3E}">
        <p14:creationId xmlns:p14="http://schemas.microsoft.com/office/powerpoint/2010/main" val="3845375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032EF-F73A-077F-04FC-A7D1B93738C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BFABAA2-073E-4AE7-3242-E3DA45869D60}"/>
              </a:ext>
            </a:extLst>
          </p:cNvPr>
          <p:cNvPicPr>
            <a:picLocks noChangeAspect="1"/>
          </p:cNvPicPr>
          <p:nvPr/>
        </p:nvPicPr>
        <p:blipFill>
          <a:blip r:embed="rId2"/>
          <a:stretch>
            <a:fillRect/>
          </a:stretch>
        </p:blipFill>
        <p:spPr>
          <a:xfrm>
            <a:off x="160344" y="1241625"/>
            <a:ext cx="6537312" cy="5342056"/>
          </a:xfrm>
          <a:prstGeom prst="rect">
            <a:avLst/>
          </a:prstGeom>
        </p:spPr>
      </p:pic>
      <p:sp>
        <p:nvSpPr>
          <p:cNvPr id="6" name="TextBox 5">
            <a:extLst>
              <a:ext uri="{FF2B5EF4-FFF2-40B4-BE49-F238E27FC236}">
                <a16:creationId xmlns:a16="http://schemas.microsoft.com/office/drawing/2014/main" id="{1D08798D-0DA0-03E4-516A-6E77B1613B67}"/>
              </a:ext>
            </a:extLst>
          </p:cNvPr>
          <p:cNvSpPr txBox="1"/>
          <p:nvPr/>
        </p:nvSpPr>
        <p:spPr>
          <a:xfrm>
            <a:off x="0" y="0"/>
            <a:ext cx="6858000" cy="1046440"/>
          </a:xfrm>
          <a:prstGeom prst="rect">
            <a:avLst/>
          </a:prstGeom>
          <a:solidFill>
            <a:schemeClr val="accent1"/>
          </a:solidFill>
        </p:spPr>
        <p:txBody>
          <a:bodyPr wrap="square" rtlCol="0">
            <a:spAutoFit/>
          </a:bodyPr>
          <a:lstStyle/>
          <a:p>
            <a:pPr algn="ctr"/>
            <a:r>
              <a:rPr lang="en-US" sz="3100" dirty="0">
                <a:solidFill>
                  <a:schemeClr val="bg1"/>
                </a:solidFill>
              </a:rPr>
              <a:t>TACTICS, TECHNIQUES, AND </a:t>
            </a:r>
            <a:br>
              <a:rPr lang="en-US" sz="3100" dirty="0">
                <a:solidFill>
                  <a:schemeClr val="bg1"/>
                </a:solidFill>
              </a:rPr>
            </a:br>
            <a:r>
              <a:rPr lang="en-US" sz="3100" dirty="0">
                <a:solidFill>
                  <a:schemeClr val="bg1"/>
                </a:solidFill>
              </a:rPr>
              <a:t>SUB-TECHNIQUES</a:t>
            </a:r>
            <a:endParaRPr lang="en-IN" sz="3100" dirty="0">
              <a:solidFill>
                <a:schemeClr val="bg1"/>
              </a:solidFill>
            </a:endParaRPr>
          </a:p>
        </p:txBody>
      </p:sp>
      <p:pic>
        <p:nvPicPr>
          <p:cNvPr id="10" name="Picture 9">
            <a:extLst>
              <a:ext uri="{FF2B5EF4-FFF2-40B4-BE49-F238E27FC236}">
                <a16:creationId xmlns:a16="http://schemas.microsoft.com/office/drawing/2014/main" id="{19447B74-63DD-5E86-A520-B7D7E5310391}"/>
              </a:ext>
            </a:extLst>
          </p:cNvPr>
          <p:cNvPicPr>
            <a:picLocks noChangeAspect="1"/>
          </p:cNvPicPr>
          <p:nvPr/>
        </p:nvPicPr>
        <p:blipFill>
          <a:blip r:embed="rId3"/>
          <a:stretch>
            <a:fillRect/>
          </a:stretch>
        </p:blipFill>
        <p:spPr>
          <a:xfrm>
            <a:off x="160344" y="6866575"/>
            <a:ext cx="6537312" cy="1349224"/>
          </a:xfrm>
          <a:prstGeom prst="rect">
            <a:avLst/>
          </a:prstGeom>
        </p:spPr>
      </p:pic>
    </p:spTree>
    <p:extLst>
      <p:ext uri="{BB962C8B-B14F-4D97-AF65-F5344CB8AC3E}">
        <p14:creationId xmlns:p14="http://schemas.microsoft.com/office/powerpoint/2010/main" val="6524792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80EF-6C57-E006-9C76-45085B164D2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607AB11-55A9-FA7C-7A34-5C9178C82C59}"/>
              </a:ext>
            </a:extLst>
          </p:cNvPr>
          <p:cNvSpPr txBox="1"/>
          <p:nvPr/>
        </p:nvSpPr>
        <p:spPr>
          <a:xfrm>
            <a:off x="0" y="0"/>
            <a:ext cx="6858000" cy="569387"/>
          </a:xfrm>
          <a:prstGeom prst="rect">
            <a:avLst/>
          </a:prstGeom>
          <a:solidFill>
            <a:schemeClr val="accent1"/>
          </a:solidFill>
        </p:spPr>
        <p:txBody>
          <a:bodyPr wrap="square" rtlCol="0">
            <a:spAutoFit/>
          </a:bodyPr>
          <a:lstStyle/>
          <a:p>
            <a:pPr algn="ctr"/>
            <a:r>
              <a:rPr lang="en-US" sz="3100" dirty="0">
                <a:solidFill>
                  <a:schemeClr val="bg1"/>
                </a:solidFill>
              </a:rPr>
              <a:t>DETECTIONS &amp; MITIGATIONS</a:t>
            </a:r>
            <a:endParaRPr lang="en-IN" sz="3100" dirty="0">
              <a:solidFill>
                <a:schemeClr val="bg1"/>
              </a:solidFill>
            </a:endParaRPr>
          </a:p>
        </p:txBody>
      </p:sp>
      <p:sp>
        <p:nvSpPr>
          <p:cNvPr id="3" name="TextBox 2">
            <a:extLst>
              <a:ext uri="{FF2B5EF4-FFF2-40B4-BE49-F238E27FC236}">
                <a16:creationId xmlns:a16="http://schemas.microsoft.com/office/drawing/2014/main" id="{54EFD56B-ADC6-1991-B32B-7A69C2305031}"/>
              </a:ext>
            </a:extLst>
          </p:cNvPr>
          <p:cNvSpPr txBox="1"/>
          <p:nvPr/>
        </p:nvSpPr>
        <p:spPr>
          <a:xfrm>
            <a:off x="0" y="712262"/>
            <a:ext cx="5000625" cy="369332"/>
          </a:xfrm>
          <a:prstGeom prst="rect">
            <a:avLst/>
          </a:prstGeom>
          <a:noFill/>
        </p:spPr>
        <p:txBody>
          <a:bodyPr wrap="square">
            <a:spAutoFit/>
          </a:bodyPr>
          <a:lstStyle/>
          <a:p>
            <a:r>
              <a:rPr lang="en-IN" dirty="0"/>
              <a:t>https:// attack.mitre.org/techniques/T1003/001</a:t>
            </a:r>
          </a:p>
        </p:txBody>
      </p:sp>
      <p:sp>
        <p:nvSpPr>
          <p:cNvPr id="5" name="TextBox 4">
            <a:extLst>
              <a:ext uri="{FF2B5EF4-FFF2-40B4-BE49-F238E27FC236}">
                <a16:creationId xmlns:a16="http://schemas.microsoft.com/office/drawing/2014/main" id="{2BE595DE-A117-414B-A88C-F836680C8D96}"/>
              </a:ext>
            </a:extLst>
          </p:cNvPr>
          <p:cNvSpPr txBox="1"/>
          <p:nvPr/>
        </p:nvSpPr>
        <p:spPr>
          <a:xfrm>
            <a:off x="0" y="1081594"/>
            <a:ext cx="6858000" cy="4247317"/>
          </a:xfrm>
          <a:prstGeom prst="rect">
            <a:avLst/>
          </a:prstGeom>
          <a:noFill/>
        </p:spPr>
        <p:txBody>
          <a:bodyPr wrap="square" rtlCol="0">
            <a:spAutoFit/>
          </a:bodyPr>
          <a:lstStyle/>
          <a:p>
            <a:r>
              <a:rPr lang="en-US" dirty="0"/>
              <a:t>In the MITRE ATT&amp;CK, Detection and Mitigation are two critical concepts used to defend against cyber attacks. They are mapped to each adversary technique so security teams know how to identify and stop threats.</a:t>
            </a:r>
          </a:p>
          <a:p>
            <a:endParaRPr lang="en-US" dirty="0"/>
          </a:p>
          <a:p>
            <a:r>
              <a:rPr lang="en-US" b="1" dirty="0"/>
              <a:t>Detection</a:t>
            </a:r>
            <a:r>
              <a:rPr lang="en-US" dirty="0"/>
              <a:t> explains how you can identify that a specific attack technique is happening in your environment.</a:t>
            </a:r>
          </a:p>
          <a:p>
            <a:r>
              <a:rPr lang="en-US" dirty="0"/>
              <a:t>• It focuses on monitoring, logs, alerts, and behaviors that indicate </a:t>
            </a:r>
            <a:br>
              <a:rPr lang="en-US" dirty="0"/>
            </a:br>
            <a:r>
              <a:rPr lang="en-US" dirty="0"/>
              <a:t>   malicious activity.</a:t>
            </a:r>
          </a:p>
          <a:p>
            <a:r>
              <a:rPr lang="en-US" b="1" dirty="0"/>
              <a:t>• Goal: </a:t>
            </a:r>
            <a:r>
              <a:rPr lang="en-US" dirty="0"/>
              <a:t>Detect the attack as early as possible before damage happens.</a:t>
            </a:r>
          </a:p>
          <a:p>
            <a:endParaRPr lang="en-US" dirty="0"/>
          </a:p>
          <a:p>
            <a:r>
              <a:rPr lang="en-US" b="1" dirty="0"/>
              <a:t>Mitigation</a:t>
            </a:r>
            <a:r>
              <a:rPr lang="en-US" dirty="0"/>
              <a:t> explains how to prevent or reduce the impact of an attack technique.</a:t>
            </a:r>
          </a:p>
          <a:p>
            <a:r>
              <a:rPr lang="en-US" dirty="0"/>
              <a:t>• It focuses on security controls, configurations, and best practices.</a:t>
            </a:r>
          </a:p>
          <a:p>
            <a:r>
              <a:rPr lang="en-US" b="1" dirty="0"/>
              <a:t>• Goal: </a:t>
            </a:r>
            <a:r>
              <a:rPr lang="en-US" dirty="0"/>
              <a:t>Stop the attack before it succeeds or limit its impact.</a:t>
            </a:r>
          </a:p>
        </p:txBody>
      </p:sp>
    </p:spTree>
    <p:extLst>
      <p:ext uri="{BB962C8B-B14F-4D97-AF65-F5344CB8AC3E}">
        <p14:creationId xmlns:p14="http://schemas.microsoft.com/office/powerpoint/2010/main" val="36158386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32469</TotalTime>
  <Words>1642</Words>
  <Application>Microsoft Office PowerPoint</Application>
  <PresentationFormat>Custom</PresentationFormat>
  <Paragraphs>288</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MITRE ATT &amp; CK Framework By Christopher Nett</vt:lpstr>
      <vt:lpstr>MITRE ATT &amp; CK Framework</vt:lpstr>
      <vt:lpstr>Security Incident &amp; Response</vt:lpstr>
      <vt:lpstr>Blue, Red, &amp; Purple Teaming</vt:lpstr>
      <vt:lpstr>1. Security Monitoring</vt:lpstr>
      <vt:lpstr>2. Incident Response (IR)</vt:lpstr>
      <vt:lpstr>3. Digital Forensics</vt:lpstr>
      <vt:lpstr>4. Threat Hunting</vt:lpstr>
      <vt:lpstr>4. Threat Hunting</vt:lpstr>
      <vt:lpstr>Red Teams (Vulnerability Assessment)</vt:lpstr>
      <vt:lpstr>Red Teams  1. Vulnerability Assessment</vt:lpstr>
      <vt:lpstr>2. Penetration Testing (Pentest)</vt:lpstr>
      <vt:lpstr>3. Social Engineering</vt:lpstr>
      <vt:lpstr>4️. Simulating Adversary TTPs</vt:lpstr>
      <vt:lpstr>PURPLE TEAMING</vt:lpstr>
      <vt:lpstr>THREAT</vt:lpstr>
      <vt:lpstr>CYBER THREAT INTELLIGENCE</vt:lpstr>
      <vt:lpstr>THREAT-INFORMED-DEFENSE</vt:lpstr>
      <vt:lpstr>IOCs and IOAs</vt:lpstr>
      <vt:lpstr>CTI Sources</vt:lpstr>
      <vt:lpstr>MITRE ATT&amp;CK Framework</vt:lpstr>
      <vt:lpstr>PowerPoint Presentation</vt:lpstr>
      <vt:lpstr>ATT&amp;CK Matrices</vt:lpstr>
      <vt:lpstr>TECHNIQUES</vt:lpstr>
      <vt:lpstr>SUB-TECHNIQUES</vt:lpstr>
      <vt:lpstr>TACTICS, TECHNIQUES, AND SUB-TECHNIQUES</vt:lpstr>
      <vt:lpstr>DETECTIONS</vt:lpstr>
      <vt:lpstr>GROUPS</vt:lpstr>
      <vt:lpstr>CAMPAIGNS</vt:lpstr>
      <vt:lpstr>ENTERPRISE MATRIX</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Shankar Pradhan</dc:creator>
  <cp:lastModifiedBy>Shankar Pradhan</cp:lastModifiedBy>
  <cp:revision>114</cp:revision>
  <dcterms:created xsi:type="dcterms:W3CDTF">2026-02-07T14:27:50Z</dcterms:created>
  <dcterms:modified xsi:type="dcterms:W3CDTF">2026-04-21T11:23:47Z</dcterms:modified>
</cp:coreProperties>
</file>