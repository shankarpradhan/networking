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3" r:id="rId10"/>
    <p:sldId id="266" r:id="rId11"/>
  </p:sldIdLst>
  <p:sldSz cx="16256000" cy="10080625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75" userDrawn="1">
          <p15:clr>
            <a:srgbClr val="A4A3A4"/>
          </p15:clr>
        </p15:guide>
        <p15:guide id="2" pos="5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094" y="106"/>
      </p:cViewPr>
      <p:guideLst>
        <p:guide orient="horz" pos="3175"/>
        <p:guide pos="5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2000" y="1649770"/>
            <a:ext cx="12192000" cy="3509551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5294662"/>
            <a:ext cx="12192000" cy="2433817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0AB9A-D985-4E8C-9583-3A0BC986E721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285FF-E4B3-490B-9792-8E32918BC9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399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0AB9A-D985-4E8C-9583-3A0BC986E721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285FF-E4B3-490B-9792-8E32918BC9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765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133" y="2513157"/>
            <a:ext cx="14020800" cy="419325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9133" y="6746086"/>
            <a:ext cx="14020800" cy="2205136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0AB9A-D985-4E8C-9583-3A0BC986E721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285FF-E4B3-490B-9792-8E32918BC9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124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2683500"/>
            <a:ext cx="6908800" cy="63960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2683500"/>
            <a:ext cx="6908800" cy="63960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0AB9A-D985-4E8C-9583-3A0BC986E721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285FF-E4B3-490B-9792-8E32918BC9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893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536701"/>
            <a:ext cx="14020800" cy="19484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9718" y="2471154"/>
            <a:ext cx="6877049" cy="1211074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9718" y="3682228"/>
            <a:ext cx="6877049" cy="54160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29600" y="2471154"/>
            <a:ext cx="6910917" cy="1211074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29600" y="3682228"/>
            <a:ext cx="6910917" cy="54160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0AB9A-D985-4E8C-9583-3A0BC986E721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285FF-E4B3-490B-9792-8E32918BC9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750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0AB9A-D985-4E8C-9583-3A0BC986E721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285FF-E4B3-490B-9792-8E32918BC9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958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0AB9A-D985-4E8C-9583-3A0BC986E721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285FF-E4B3-490B-9792-8E32918BC9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251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72042"/>
            <a:ext cx="5242983" cy="2352146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917" y="1451424"/>
            <a:ext cx="8229600" cy="716377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3024188"/>
            <a:ext cx="5242983" cy="5602681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0AB9A-D985-4E8C-9583-3A0BC986E721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285FF-E4B3-490B-9792-8E32918BC9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5624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72042"/>
            <a:ext cx="5242983" cy="2352146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917" y="1451424"/>
            <a:ext cx="8229600" cy="716377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3024188"/>
            <a:ext cx="5242983" cy="5602681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0AB9A-D985-4E8C-9583-3A0BC986E721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285FF-E4B3-490B-9792-8E32918BC9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651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0AB9A-D985-4E8C-9583-3A0BC986E721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285FF-E4B3-490B-9792-8E32918BC9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101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633200" y="536700"/>
            <a:ext cx="3505200" cy="85428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600" y="536700"/>
            <a:ext cx="10312400" cy="85428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0AB9A-D985-4E8C-9583-3A0BC986E721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285FF-E4B3-490B-9792-8E32918BC9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820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536701"/>
            <a:ext cx="14020800" cy="1948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600" y="2683500"/>
            <a:ext cx="14020800" cy="6396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600" y="9343247"/>
            <a:ext cx="3657600" cy="53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20AB9A-D985-4E8C-9583-3A0BC986E721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84800" y="9343247"/>
            <a:ext cx="5486400" cy="53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0800" y="9343247"/>
            <a:ext cx="3657600" cy="53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4285FF-E4B3-490B-9792-8E32918BC9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184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26438-8E17-6969-3B32-12DB630104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6255999" cy="1349115"/>
          </a:xfrm>
          <a:solidFill>
            <a:schemeClr val="accent2"/>
          </a:solidFill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CCNA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482724-BD1E-8369-9356-92A94E0D5CA1}"/>
              </a:ext>
            </a:extLst>
          </p:cNvPr>
          <p:cNvSpPr txBox="1"/>
          <p:nvPr/>
        </p:nvSpPr>
        <p:spPr>
          <a:xfrm>
            <a:off x="0" y="1454046"/>
            <a:ext cx="1599450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9263" indent="-449263">
              <a:buAutoNum type="arabicPeriod"/>
            </a:pPr>
            <a:r>
              <a:rPr lang="en-US" sz="3600" dirty="0"/>
              <a:t>Introduction to networking  and internet (what, models)</a:t>
            </a:r>
          </a:p>
          <a:p>
            <a:pPr marL="449263" indent="-449263">
              <a:buAutoNum type="arabicPeriod"/>
            </a:pPr>
            <a:r>
              <a:rPr lang="en-US" sz="3600" dirty="0"/>
              <a:t>LAN, CAN, MAN, WAN</a:t>
            </a:r>
          </a:p>
          <a:p>
            <a:pPr marL="449263" indent="-449263">
              <a:buAutoNum type="arabicPeriod"/>
            </a:pPr>
            <a:r>
              <a:rPr lang="en-US" sz="3600" dirty="0"/>
              <a:t>IP addressing, Devices</a:t>
            </a:r>
          </a:p>
          <a:p>
            <a:pPr marL="449263" indent="-449263">
              <a:buAutoNum type="arabicPeriod"/>
            </a:pPr>
            <a:r>
              <a:rPr lang="en-US" sz="3600" dirty="0"/>
              <a:t>Switching Fundamentals (VLAN, STP, EtherChannel)</a:t>
            </a:r>
          </a:p>
          <a:p>
            <a:pPr marL="449263" indent="-449263">
              <a:buAutoNum type="arabicPeriod"/>
            </a:pPr>
            <a:r>
              <a:rPr lang="en-US" sz="3600" dirty="0"/>
              <a:t>Fundamentals of IP routing (static, dynamic, </a:t>
            </a:r>
            <a:r>
              <a:rPr lang="en-US" sz="3600" dirty="0" err="1"/>
              <a:t>eigrp</a:t>
            </a:r>
            <a:r>
              <a:rPr lang="en-US" sz="3600" dirty="0"/>
              <a:t>, and </a:t>
            </a:r>
            <a:r>
              <a:rPr lang="en-US" sz="3600" dirty="0" err="1"/>
              <a:t>ospf</a:t>
            </a:r>
            <a:r>
              <a:rPr lang="en-US" sz="3600" dirty="0"/>
              <a:t>)</a:t>
            </a:r>
          </a:p>
          <a:p>
            <a:pPr marL="449263" indent="-449263">
              <a:buAutoNum type="arabicPeriod"/>
            </a:pPr>
            <a:r>
              <a:rPr lang="en-US" sz="3600" dirty="0">
                <a:highlight>
                  <a:srgbClr val="FFFF00"/>
                </a:highlight>
              </a:rPr>
              <a:t>DHCP, DNS</a:t>
            </a:r>
          </a:p>
          <a:p>
            <a:pPr marL="449263" indent="-449263">
              <a:buAutoNum type="arabicPeriod"/>
            </a:pPr>
            <a:r>
              <a:rPr lang="en-IN" sz="3600" dirty="0"/>
              <a:t>Access Control List, NAT</a:t>
            </a:r>
          </a:p>
          <a:p>
            <a:pPr marL="449263" indent="-449263">
              <a:buAutoNum type="arabicPeriod"/>
            </a:pPr>
            <a:r>
              <a:rPr lang="en-IN" sz="3600" dirty="0"/>
              <a:t>Wireless</a:t>
            </a:r>
          </a:p>
          <a:p>
            <a:pPr marL="449263" indent="-449263">
              <a:buAutoNum type="arabicPeriod"/>
            </a:pPr>
            <a:r>
              <a:rPr lang="en-IN" sz="3600" dirty="0"/>
              <a:t>SDN</a:t>
            </a:r>
          </a:p>
        </p:txBody>
      </p:sp>
    </p:spTree>
    <p:extLst>
      <p:ext uri="{BB962C8B-B14F-4D97-AF65-F5344CB8AC3E}">
        <p14:creationId xmlns:p14="http://schemas.microsoft.com/office/powerpoint/2010/main" val="3719066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4013C-D2EA-3B7B-DCC8-34046EA77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99E22-AAC7-5BF6-BF22-86932A1C1F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6255999" cy="1349115"/>
          </a:xfrm>
          <a:solidFill>
            <a:schemeClr val="accent2"/>
          </a:solidFill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INTRODUCTION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D2B123-22A4-4F17-0DF6-F67CBD808855}"/>
              </a:ext>
            </a:extLst>
          </p:cNvPr>
          <p:cNvSpPr txBox="1"/>
          <p:nvPr/>
        </p:nvSpPr>
        <p:spPr>
          <a:xfrm>
            <a:off x="0" y="1454046"/>
            <a:ext cx="1599450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Node: </a:t>
            </a:r>
            <a:br>
              <a:rPr lang="en-US" sz="3600" dirty="0"/>
            </a:br>
            <a:r>
              <a:rPr lang="en-US" sz="3600" dirty="0"/>
              <a:t>Network:</a:t>
            </a:r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r>
              <a:rPr lang="en-US" sz="3600" dirty="0"/>
              <a:t>Internet:</a:t>
            </a:r>
            <a:br>
              <a:rPr lang="en-US" sz="3600" dirty="0"/>
            </a:br>
            <a:r>
              <a:rPr lang="en-US" sz="3600" dirty="0"/>
              <a:t> Globally connections of private autonomous system is called internet.</a:t>
            </a:r>
          </a:p>
          <a:p>
            <a:br>
              <a:rPr lang="en-IN" sz="3600" dirty="0"/>
            </a:br>
            <a:br>
              <a:rPr lang="en-IN" sz="3600" dirty="0"/>
            </a:br>
            <a:r>
              <a:rPr lang="en-IN" sz="3600" dirty="0"/>
              <a:t>Medium:</a:t>
            </a:r>
            <a:br>
              <a:rPr lang="en-IN" sz="3600" dirty="0"/>
            </a:br>
            <a:r>
              <a:rPr lang="en-IN" sz="3600" dirty="0"/>
              <a:t>1. Wired  -  Straight through (different ), Cross over (same device), Roll over (command line access)</a:t>
            </a:r>
          </a:p>
          <a:p>
            <a:r>
              <a:rPr lang="en-IN" sz="3600" dirty="0"/>
              <a:t>2. Wireless </a:t>
            </a:r>
          </a:p>
          <a:p>
            <a:endParaRPr lang="en-IN" sz="3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CDE548-F45A-AD90-C891-79A284344039}"/>
              </a:ext>
            </a:extLst>
          </p:cNvPr>
          <p:cNvSpPr/>
          <p:nvPr/>
        </p:nvSpPr>
        <p:spPr>
          <a:xfrm>
            <a:off x="2278743" y="2815771"/>
            <a:ext cx="1349828" cy="9869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E071CB-79CC-7CF1-E365-730B975CE1DB}"/>
              </a:ext>
            </a:extLst>
          </p:cNvPr>
          <p:cNvSpPr/>
          <p:nvPr/>
        </p:nvSpPr>
        <p:spPr>
          <a:xfrm>
            <a:off x="5232400" y="2880329"/>
            <a:ext cx="1349828" cy="9869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725A95-CBCD-1822-6D1A-22013404E59D}"/>
              </a:ext>
            </a:extLst>
          </p:cNvPr>
          <p:cNvSpPr/>
          <p:nvPr/>
        </p:nvSpPr>
        <p:spPr>
          <a:xfrm>
            <a:off x="8461710" y="2880329"/>
            <a:ext cx="1349828" cy="9869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6B2426-E4B5-7BE6-136D-05A162ACC6EB}"/>
              </a:ext>
            </a:extLst>
          </p:cNvPr>
          <p:cNvCxnSpPr>
            <a:stCxn id="3" idx="3"/>
          </p:cNvCxnSpPr>
          <p:nvPr/>
        </p:nvCxnSpPr>
        <p:spPr>
          <a:xfrm>
            <a:off x="3628571" y="3309257"/>
            <a:ext cx="1756229" cy="6455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1970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AEF14-FC24-4608-2005-B7D6D563D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97D32-8B54-13F9-D855-8672366D64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6255999" cy="1349115"/>
          </a:xfrm>
          <a:solidFill>
            <a:schemeClr val="accent2"/>
          </a:solidFill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Models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6FFC56-BD7E-0985-4EFA-1C571DE3A45F}"/>
              </a:ext>
            </a:extLst>
          </p:cNvPr>
          <p:cNvSpPr txBox="1"/>
          <p:nvPr/>
        </p:nvSpPr>
        <p:spPr>
          <a:xfrm>
            <a:off x="0" y="1454046"/>
            <a:ext cx="159945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600" dirty="0"/>
          </a:p>
          <a:p>
            <a:endParaRPr lang="en-IN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541F5D-2026-D429-7144-515BC8CD1994}"/>
              </a:ext>
            </a:extLst>
          </p:cNvPr>
          <p:cNvSpPr txBox="1"/>
          <p:nvPr/>
        </p:nvSpPr>
        <p:spPr>
          <a:xfrm>
            <a:off x="0" y="1454046"/>
            <a:ext cx="1599450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There are two types of models:</a:t>
            </a:r>
            <a:br>
              <a:rPr lang="en-US" sz="3200" dirty="0"/>
            </a:br>
            <a:r>
              <a:rPr lang="en-US" sz="3200" dirty="0"/>
              <a:t>1. TCP/IP  - 5layers – real world</a:t>
            </a:r>
          </a:p>
          <a:p>
            <a:r>
              <a:rPr lang="en-US" sz="3200" dirty="0"/>
              <a:t>2. OSI (Open System Interconnection) – 7layers - </a:t>
            </a:r>
          </a:p>
          <a:p>
            <a:endParaRPr lang="en-US" sz="3200" dirty="0"/>
          </a:p>
          <a:p>
            <a:r>
              <a:rPr lang="en-US" sz="3200" b="1" dirty="0"/>
              <a:t>OSI:</a:t>
            </a:r>
            <a:br>
              <a:rPr lang="en-US" sz="3200" dirty="0"/>
            </a:br>
            <a:r>
              <a:rPr lang="en-US" sz="3200" dirty="0"/>
              <a:t>OSI – ISO(International organization of Standardization) – early 1980’s</a:t>
            </a:r>
          </a:p>
          <a:p>
            <a:r>
              <a:rPr lang="en-US" sz="3200" dirty="0"/>
              <a:t>Each layer defines some function which takes part in data communication between two devices.</a:t>
            </a:r>
          </a:p>
          <a:p>
            <a:r>
              <a:rPr lang="en-US" sz="3200" dirty="0"/>
              <a:t>Standardization: 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46829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6CDA3-91E2-1E2D-87C5-C8158690A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FCEC3-C1A1-65DB-ED30-93ADB7864E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6255999" cy="1349115"/>
          </a:xfrm>
          <a:solidFill>
            <a:schemeClr val="accent2"/>
          </a:solidFill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Models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1028" name="Picture 4" descr="OSI Model – Practical Networking .net">
            <a:extLst>
              <a:ext uri="{FF2B5EF4-FFF2-40B4-BE49-F238E27FC236}">
                <a16:creationId xmlns:a16="http://schemas.microsoft.com/office/drawing/2014/main" id="{8A523610-68BB-0CE6-DCA6-361DB7DF4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943" y="2292694"/>
            <a:ext cx="3828823" cy="486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58687D-D2EA-8983-E873-8D7E206D24D0}"/>
              </a:ext>
            </a:extLst>
          </p:cNvPr>
          <p:cNvSpPr txBox="1"/>
          <p:nvPr/>
        </p:nvSpPr>
        <p:spPr>
          <a:xfrm>
            <a:off x="4586514" y="2292693"/>
            <a:ext cx="1126308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User interface: http, email (pop3, </a:t>
            </a:r>
            <a:r>
              <a:rPr lang="en-US" sz="2800" dirty="0" err="1"/>
              <a:t>Imap</a:t>
            </a:r>
            <a:r>
              <a:rPr lang="en-US" sz="2800" dirty="0"/>
              <a:t>), DHCP, DNS</a:t>
            </a:r>
          </a:p>
          <a:p>
            <a:r>
              <a:rPr lang="en-US" sz="2800" dirty="0"/>
              <a:t>FORMAT: text (ASCII, ), video(Stream, MP4), IMG(PNG, JPEG)</a:t>
            </a:r>
          </a:p>
          <a:p>
            <a:endParaRPr lang="en-US" sz="2800" dirty="0"/>
          </a:p>
          <a:p>
            <a:r>
              <a:rPr lang="en-US" sz="2800" dirty="0"/>
              <a:t>Create, maintain, terminate (</a:t>
            </a:r>
            <a:r>
              <a:rPr lang="en-US" sz="2800" dirty="0" err="1"/>
              <a:t>Appletalk</a:t>
            </a:r>
            <a:r>
              <a:rPr lang="en-US" sz="2800" dirty="0"/>
              <a:t>)</a:t>
            </a:r>
          </a:p>
          <a:p>
            <a:r>
              <a:rPr lang="en-US" sz="2800" dirty="0"/>
              <a:t>End-end communication (UDP, TCP) – </a:t>
            </a:r>
            <a:r>
              <a:rPr lang="en-US" sz="2800" dirty="0" err="1"/>
              <a:t>segment,Datagram</a:t>
            </a:r>
            <a:endParaRPr lang="en-US" sz="2800" dirty="0"/>
          </a:p>
          <a:p>
            <a:endParaRPr lang="en-US" sz="2800" dirty="0"/>
          </a:p>
          <a:p>
            <a:r>
              <a:rPr lang="en-IN" sz="2800" dirty="0"/>
              <a:t>Ip address, Path determination (Protocols – Routed, Routing) – Packets</a:t>
            </a:r>
          </a:p>
          <a:p>
            <a:endParaRPr lang="en-IN" sz="2800" dirty="0"/>
          </a:p>
          <a:p>
            <a:r>
              <a:rPr lang="en-IN" sz="2800" dirty="0"/>
              <a:t>Physical address (Mac-address) – globally unique -  Frame</a:t>
            </a:r>
          </a:p>
          <a:p>
            <a:endParaRPr lang="en-IN" sz="2800" dirty="0"/>
          </a:p>
          <a:p>
            <a:r>
              <a:rPr lang="en-IN" sz="2800" dirty="0"/>
              <a:t>Wired, Wireless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B048A1-E79B-0F0C-CB81-2B56CAD62FDE}"/>
              </a:ext>
            </a:extLst>
          </p:cNvPr>
          <p:cNvSpPr/>
          <p:nvPr/>
        </p:nvSpPr>
        <p:spPr>
          <a:xfrm>
            <a:off x="9557657" y="7465293"/>
            <a:ext cx="1320800" cy="10110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25B35A-A976-A87F-E11A-C09FB5FA5DDE}"/>
              </a:ext>
            </a:extLst>
          </p:cNvPr>
          <p:cNvSpPr/>
          <p:nvPr/>
        </p:nvSpPr>
        <p:spPr>
          <a:xfrm>
            <a:off x="4310743" y="8128000"/>
            <a:ext cx="3120571" cy="13491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ED9521-8C4E-E5BB-B162-5BD0152062EC}"/>
              </a:ext>
            </a:extLst>
          </p:cNvPr>
          <p:cNvSpPr/>
          <p:nvPr/>
        </p:nvSpPr>
        <p:spPr>
          <a:xfrm>
            <a:off x="9528629" y="9092940"/>
            <a:ext cx="1349828" cy="9876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5EEA34B-DC76-6663-ACF1-AF5A71DE2E5B}"/>
              </a:ext>
            </a:extLst>
          </p:cNvPr>
          <p:cNvCxnSpPr>
            <a:stCxn id="6" idx="3"/>
            <a:endCxn id="5" idx="1"/>
          </p:cNvCxnSpPr>
          <p:nvPr/>
        </p:nvCxnSpPr>
        <p:spPr>
          <a:xfrm flipV="1">
            <a:off x="7431314" y="7970818"/>
            <a:ext cx="2126343" cy="831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0DA5BFC-BDDE-EA42-E5EF-16DBC5415D97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7431314" y="8802558"/>
            <a:ext cx="2097315" cy="7842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52B993C-ABB9-16AA-F37B-16636274350E}"/>
              </a:ext>
            </a:extLst>
          </p:cNvPr>
          <p:cNvSpPr txBox="1"/>
          <p:nvPr/>
        </p:nvSpPr>
        <p:spPr>
          <a:xfrm>
            <a:off x="11219543" y="7576457"/>
            <a:ext cx="1161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92A4EF-9F52-F600-23CC-82B572B56B1D}"/>
              </a:ext>
            </a:extLst>
          </p:cNvPr>
          <p:cNvSpPr txBox="1"/>
          <p:nvPr/>
        </p:nvSpPr>
        <p:spPr>
          <a:xfrm>
            <a:off x="11219543" y="9292449"/>
            <a:ext cx="1161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1502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76E8D-E563-F8B0-A63C-B4640ABD2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60899-EFDB-B03B-DEDD-442F73FBB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6255999" cy="1349115"/>
          </a:xfrm>
          <a:solidFill>
            <a:schemeClr val="accent2"/>
          </a:solidFill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LAN (Local Area Network)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C9F21F-55A7-AACF-34EA-4D001168E7CF}"/>
              </a:ext>
            </a:extLst>
          </p:cNvPr>
          <p:cNvSpPr txBox="1"/>
          <p:nvPr/>
        </p:nvSpPr>
        <p:spPr>
          <a:xfrm>
            <a:off x="0" y="1465943"/>
            <a:ext cx="1603828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CAN – college (campus area network)</a:t>
            </a:r>
            <a:br>
              <a:rPr lang="en-US" sz="3600" dirty="0"/>
            </a:br>
            <a:r>
              <a:rPr lang="en-US" sz="3600" dirty="0"/>
              <a:t>MAN – cities (metropolitan area network)</a:t>
            </a:r>
          </a:p>
          <a:p>
            <a:r>
              <a:rPr lang="en-US" sz="3600" dirty="0"/>
              <a:t>WAN – Wide Area Network (Global)</a:t>
            </a:r>
          </a:p>
          <a:p>
            <a:endParaRPr lang="en-US" sz="3600" dirty="0"/>
          </a:p>
          <a:p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496992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0BC56-AFFE-12BD-8234-D589179E8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0E69E-A688-B1A2-ED2B-C8485FDE28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6255999" cy="1349115"/>
          </a:xfrm>
          <a:solidFill>
            <a:schemeClr val="accent2"/>
          </a:solidFill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IP Addressing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FDD417-99D2-BD28-6C33-D52097CDF71B}"/>
              </a:ext>
            </a:extLst>
          </p:cNvPr>
          <p:cNvSpPr txBox="1"/>
          <p:nvPr/>
        </p:nvSpPr>
        <p:spPr>
          <a:xfrm>
            <a:off x="0" y="1465943"/>
            <a:ext cx="16038286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There are two types of </a:t>
            </a:r>
            <a:r>
              <a:rPr lang="en-US" sz="3600" dirty="0" err="1"/>
              <a:t>ip</a:t>
            </a:r>
            <a:r>
              <a:rPr lang="en-US" sz="3600" dirty="0"/>
              <a:t> addresses:</a:t>
            </a:r>
            <a:br>
              <a:rPr lang="en-US" sz="3600" dirty="0"/>
            </a:br>
            <a:r>
              <a:rPr lang="en-US" sz="3600" dirty="0"/>
              <a:t>IPV4, IPV6</a:t>
            </a:r>
          </a:p>
          <a:p>
            <a:pPr marL="742950" indent="-742950">
              <a:buAutoNum type="arabicPeriod"/>
            </a:pPr>
            <a:r>
              <a:rPr lang="en-US" sz="3600" dirty="0"/>
              <a:t>Private (can repeatedly used in different network )</a:t>
            </a:r>
          </a:p>
          <a:p>
            <a:pPr marL="742950" indent="-742950">
              <a:buAutoNum type="arabicPeriod"/>
            </a:pPr>
            <a:r>
              <a:rPr lang="en-US" sz="3600" dirty="0"/>
              <a:t>Public (Unique)</a:t>
            </a:r>
          </a:p>
          <a:p>
            <a:endParaRPr lang="en-IN" sz="3600" dirty="0"/>
          </a:p>
          <a:p>
            <a:r>
              <a:rPr lang="en-IN" sz="3600" dirty="0"/>
              <a:t>IPV4:</a:t>
            </a:r>
            <a:br>
              <a:rPr lang="en-IN" sz="3600" dirty="0"/>
            </a:br>
            <a:r>
              <a:rPr lang="en-IN" sz="3600" dirty="0"/>
              <a:t>32   --     0000000.00000000.0000000.0000000</a:t>
            </a:r>
          </a:p>
          <a:p>
            <a:endParaRPr lang="en-IN" sz="3600" dirty="0"/>
          </a:p>
          <a:p>
            <a:r>
              <a:rPr lang="en-IN" sz="3600" dirty="0"/>
              <a:t>IPV6:</a:t>
            </a:r>
            <a:br>
              <a:rPr lang="en-IN" sz="3600" dirty="0"/>
            </a:br>
            <a:r>
              <a:rPr lang="en-IN" sz="3600" dirty="0"/>
              <a:t>128 ---</a:t>
            </a:r>
          </a:p>
          <a:p>
            <a:endParaRPr lang="en-IN" sz="3600" dirty="0"/>
          </a:p>
          <a:p>
            <a:r>
              <a:rPr lang="en-IN" sz="36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780917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03388-5CA8-E351-B1B5-AB5C34225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9C4CD-96ED-F0BB-6E9C-5CDBFD56E7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6255999" cy="1349115"/>
          </a:xfrm>
          <a:solidFill>
            <a:schemeClr val="accent2"/>
          </a:solidFill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Network Devices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5" name="AutoShape 4" descr="Switches in Networking- Definitive Guide 2025">
            <a:extLst>
              <a:ext uri="{FF2B5EF4-FFF2-40B4-BE49-F238E27FC236}">
                <a16:creationId xmlns:a16="http://schemas.microsoft.com/office/drawing/2014/main" id="{0859B9F8-9469-4C56-611D-AEDC537DAB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975600" y="488791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54" name="Picture 6" descr="What is Switching in Computer Networks?">
            <a:extLst>
              <a:ext uri="{FF2B5EF4-FFF2-40B4-BE49-F238E27FC236}">
                <a16:creationId xmlns:a16="http://schemas.microsoft.com/office/drawing/2014/main" id="{71021AEA-7BC4-15E1-FF00-1C63DA7C2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696" y="1726826"/>
            <a:ext cx="8677781" cy="3570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E96744-96A1-4CB9-EED9-6884B71A680A}"/>
              </a:ext>
            </a:extLst>
          </p:cNvPr>
          <p:cNvSpPr txBox="1"/>
          <p:nvPr/>
        </p:nvSpPr>
        <p:spPr>
          <a:xfrm>
            <a:off x="2206171" y="1857829"/>
            <a:ext cx="1959429" cy="377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10.0.0.1 /24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4884B0-CD81-9F18-57BD-B23A8F157FB4}"/>
              </a:ext>
            </a:extLst>
          </p:cNvPr>
          <p:cNvSpPr txBox="1"/>
          <p:nvPr/>
        </p:nvSpPr>
        <p:spPr>
          <a:xfrm>
            <a:off x="2206170" y="4474256"/>
            <a:ext cx="1959429" cy="377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10.0.0.2 /24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45511D-F61C-A921-012D-56C65078A242}"/>
              </a:ext>
            </a:extLst>
          </p:cNvPr>
          <p:cNvSpPr txBox="1"/>
          <p:nvPr/>
        </p:nvSpPr>
        <p:spPr>
          <a:xfrm>
            <a:off x="9151256" y="4096885"/>
            <a:ext cx="1959429" cy="377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10.0.0.4 /24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2C5251-8F96-FA52-321F-B02298CFDA72}"/>
              </a:ext>
            </a:extLst>
          </p:cNvPr>
          <p:cNvSpPr txBox="1"/>
          <p:nvPr/>
        </p:nvSpPr>
        <p:spPr>
          <a:xfrm>
            <a:off x="9151255" y="1890713"/>
            <a:ext cx="1959429" cy="377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10.0.0.3 /24</a:t>
            </a:r>
            <a:endParaRPr lang="en-IN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1EC5073-66D5-B883-030A-EEDE945F8A77}"/>
              </a:ext>
            </a:extLst>
          </p:cNvPr>
          <p:cNvSpPr/>
          <p:nvPr/>
        </p:nvSpPr>
        <p:spPr>
          <a:xfrm>
            <a:off x="1117598" y="6481456"/>
            <a:ext cx="2177143" cy="18723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D6EF39-E3DA-1AFB-CF23-83A0E12844A5}"/>
              </a:ext>
            </a:extLst>
          </p:cNvPr>
          <p:cNvSpPr/>
          <p:nvPr/>
        </p:nvSpPr>
        <p:spPr>
          <a:xfrm>
            <a:off x="7213600" y="7141856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24A640-5D09-14C1-D8DE-FBD9C30641F8}"/>
              </a:ext>
            </a:extLst>
          </p:cNvPr>
          <p:cNvSpPr/>
          <p:nvPr/>
        </p:nvSpPr>
        <p:spPr>
          <a:xfrm>
            <a:off x="11895216" y="4735513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5F7B7E-A9B7-D25F-DBEA-7BD0A3E9FF6A}"/>
              </a:ext>
            </a:extLst>
          </p:cNvPr>
          <p:cNvSpPr/>
          <p:nvPr/>
        </p:nvSpPr>
        <p:spPr>
          <a:xfrm>
            <a:off x="9942286" y="6329056"/>
            <a:ext cx="914400" cy="2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1CD1A07B-97EE-41D7-0164-49F79F51F3CC}"/>
              </a:ext>
            </a:extLst>
          </p:cNvPr>
          <p:cNvSpPr/>
          <p:nvPr/>
        </p:nvSpPr>
        <p:spPr>
          <a:xfrm>
            <a:off x="7460343" y="8026400"/>
            <a:ext cx="377372" cy="49348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84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F2469-C163-F0C4-9A5E-77A4437A4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C62D8-9505-9F69-C151-C3776DB4DC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6255999" cy="1349115"/>
          </a:xfrm>
          <a:solidFill>
            <a:schemeClr val="accent2"/>
          </a:solidFill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IPV4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F1EF31-2C00-F511-A705-1E959F8E797D}"/>
              </a:ext>
            </a:extLst>
          </p:cNvPr>
          <p:cNvSpPr txBox="1"/>
          <p:nvPr/>
        </p:nvSpPr>
        <p:spPr>
          <a:xfrm>
            <a:off x="0" y="1465943"/>
            <a:ext cx="16038286" cy="9510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Classes:</a:t>
            </a:r>
            <a:br>
              <a:rPr lang="en-US" sz="3600" dirty="0"/>
            </a:br>
            <a:r>
              <a:rPr lang="en-US" sz="3600" dirty="0"/>
              <a:t>1. </a:t>
            </a:r>
            <a:r>
              <a:rPr lang="en-US" sz="3600" dirty="0" err="1"/>
              <a:t>ClassA</a:t>
            </a:r>
            <a:r>
              <a:rPr lang="en-US" sz="3600" dirty="0"/>
              <a:t>    -     (0     2^7-1) (0-127)     (1.0.0.0 – 127.255.255.255)   10.x.x.x /8</a:t>
            </a:r>
          </a:p>
          <a:p>
            <a:r>
              <a:rPr lang="en-US" sz="3600" dirty="0"/>
              <a:t>10.0.0.0 – 10.255.255.255</a:t>
            </a:r>
          </a:p>
          <a:p>
            <a:endParaRPr lang="en-US" sz="3600" dirty="0"/>
          </a:p>
          <a:p>
            <a:r>
              <a:rPr lang="en-US" sz="3600" dirty="0"/>
              <a:t>2. </a:t>
            </a:r>
            <a:r>
              <a:rPr lang="en-US" sz="3600" dirty="0" err="1"/>
              <a:t>ClassB</a:t>
            </a:r>
            <a:r>
              <a:rPr lang="en-US" sz="3600" dirty="0"/>
              <a:t>    -      (128 +  2^6-1) (128 - 191)(128.0.0.0 – 191.255.255.255)     /16</a:t>
            </a:r>
          </a:p>
          <a:p>
            <a:r>
              <a:rPr lang="en-US" sz="3600" dirty="0"/>
              <a:t>172.16.0.0 – 172.31.255.255</a:t>
            </a:r>
          </a:p>
          <a:p>
            <a:endParaRPr lang="en-US" sz="3600" dirty="0"/>
          </a:p>
          <a:p>
            <a:r>
              <a:rPr lang="en-US" sz="3600" dirty="0"/>
              <a:t>3. </a:t>
            </a:r>
            <a:r>
              <a:rPr lang="en-US" sz="3600" dirty="0" err="1"/>
              <a:t>ClassC</a:t>
            </a:r>
            <a:r>
              <a:rPr lang="en-US" sz="3600" dirty="0"/>
              <a:t>    -      (192  +  2^5-1) (192 - 223)  /24</a:t>
            </a:r>
          </a:p>
          <a:p>
            <a:r>
              <a:rPr lang="en-US" sz="3600" dirty="0"/>
              <a:t>192.168.0.0 – 192.168.255.255 </a:t>
            </a:r>
          </a:p>
          <a:p>
            <a:endParaRPr lang="en-US" sz="3600" dirty="0"/>
          </a:p>
          <a:p>
            <a:r>
              <a:rPr lang="en-US" sz="3600" dirty="0"/>
              <a:t>4. </a:t>
            </a:r>
            <a:r>
              <a:rPr lang="en-US" sz="3600" dirty="0" err="1"/>
              <a:t>ClassD</a:t>
            </a:r>
            <a:r>
              <a:rPr lang="en-US" sz="3600" dirty="0"/>
              <a:t>    -      (224   +  2^4-1) (224 - 239)   Multicast address</a:t>
            </a:r>
          </a:p>
          <a:p>
            <a:r>
              <a:rPr lang="en-US" sz="3600" dirty="0"/>
              <a:t>5. </a:t>
            </a:r>
            <a:r>
              <a:rPr lang="en-US" sz="3600" dirty="0" err="1"/>
              <a:t>ClassE</a:t>
            </a:r>
            <a:r>
              <a:rPr lang="en-US" sz="3600" dirty="0"/>
              <a:t>     -      (240  - 255)  (Research and development)</a:t>
            </a:r>
          </a:p>
          <a:p>
            <a:endParaRPr lang="en-US" sz="3600" dirty="0"/>
          </a:p>
          <a:p>
            <a:endParaRPr lang="en-US" sz="3600" dirty="0"/>
          </a:p>
          <a:p>
            <a:r>
              <a:rPr lang="en-IN" sz="3600" dirty="0"/>
              <a:t>11111111</a:t>
            </a:r>
          </a:p>
          <a:p>
            <a:r>
              <a:rPr lang="en-IN" sz="3600" dirty="0"/>
              <a:t>76543210</a:t>
            </a:r>
          </a:p>
          <a:p>
            <a:r>
              <a:rPr lang="en-IN" sz="3600" dirty="0"/>
              <a:t>128+64+32+16+8+4+2+1 = 255</a:t>
            </a:r>
          </a:p>
        </p:txBody>
      </p:sp>
    </p:spTree>
    <p:extLst>
      <p:ext uri="{BB962C8B-B14F-4D97-AF65-F5344CB8AC3E}">
        <p14:creationId xmlns:p14="http://schemas.microsoft.com/office/powerpoint/2010/main" val="912424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4BAA1-8A63-202B-1E72-E3164C390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46F0-F57E-D98B-257E-41C02027D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6255999" cy="1349115"/>
          </a:xfrm>
          <a:solidFill>
            <a:schemeClr val="accent2"/>
          </a:solidFill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IPV6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6C45A0-8340-25E9-198F-74935227C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46" y="1511471"/>
            <a:ext cx="15266454" cy="812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524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55C4B-2F21-7514-A83D-D3B85A26E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B3D47-309D-D86B-1075-423EEAA2C3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6255999" cy="1349115"/>
          </a:xfrm>
          <a:solidFill>
            <a:schemeClr val="accent2"/>
          </a:solidFill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IPV6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298ECA-DB02-ECEF-4641-A8250CC6DDD2}"/>
              </a:ext>
            </a:extLst>
          </p:cNvPr>
          <p:cNvSpPr txBox="1"/>
          <p:nvPr/>
        </p:nvSpPr>
        <p:spPr>
          <a:xfrm>
            <a:off x="101600" y="1640114"/>
            <a:ext cx="136144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10.0.0.1  /8   - subnet mask</a:t>
            </a:r>
          </a:p>
          <a:p>
            <a:br>
              <a:rPr lang="en-US" sz="2800" dirty="0"/>
            </a:br>
            <a:r>
              <a:rPr lang="en-US" sz="2800" dirty="0">
                <a:highlight>
                  <a:srgbClr val="FFFF00"/>
                </a:highlight>
              </a:rPr>
              <a:t>00001010 </a:t>
            </a:r>
            <a:r>
              <a:rPr lang="en-US" sz="2800" dirty="0"/>
              <a:t>. </a:t>
            </a:r>
            <a:r>
              <a:rPr lang="en-US" sz="2800" dirty="0">
                <a:highlight>
                  <a:srgbClr val="00FF00"/>
                </a:highlight>
              </a:rPr>
              <a:t>00000000 . 00000000. 00000001</a:t>
            </a:r>
          </a:p>
          <a:p>
            <a:r>
              <a:rPr lang="en-US" sz="2800" dirty="0"/>
              <a:t>Network address      Host address</a:t>
            </a:r>
            <a:br>
              <a:rPr lang="en-US" sz="2800" dirty="0"/>
            </a:br>
            <a:r>
              <a:rPr lang="en-US" sz="2800" dirty="0"/>
              <a:t>Network address: 10.0.0.0   /8</a:t>
            </a:r>
            <a:br>
              <a:rPr lang="en-US" sz="2800" dirty="0"/>
            </a:br>
            <a:r>
              <a:rPr lang="en-US" sz="2800" dirty="0"/>
              <a:t>Broadcast address: 10.255.255.255</a:t>
            </a:r>
            <a:br>
              <a:rPr lang="en-US" sz="2800" dirty="0"/>
            </a:br>
            <a:endParaRPr lang="en-US" sz="2800" dirty="0"/>
          </a:p>
          <a:p>
            <a:r>
              <a:rPr lang="en-US" sz="2800" dirty="0"/>
              <a:t>Network-Address:</a:t>
            </a:r>
            <a:br>
              <a:rPr lang="en-US" sz="2800" dirty="0"/>
            </a:br>
            <a:r>
              <a:rPr lang="en-US" sz="2800" dirty="0"/>
              <a:t>Subnet-mask: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108988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284</TotalTime>
  <Words>480</Words>
  <Application>Microsoft Office PowerPoint</Application>
  <PresentationFormat>Custom</PresentationFormat>
  <Paragraphs>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CCNA</vt:lpstr>
      <vt:lpstr>INTRODUCTION</vt:lpstr>
      <vt:lpstr>Models</vt:lpstr>
      <vt:lpstr>Models</vt:lpstr>
      <vt:lpstr>LAN (Local Area Network)</vt:lpstr>
      <vt:lpstr>IP Addressing</vt:lpstr>
      <vt:lpstr>Network Devices</vt:lpstr>
      <vt:lpstr>IPV4</vt:lpstr>
      <vt:lpstr>IPV6</vt:lpstr>
      <vt:lpstr>IPV6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Shankar Pradhan</dc:creator>
  <cp:lastModifiedBy>Shankar Pradhan</cp:lastModifiedBy>
  <cp:revision>22</cp:revision>
  <dcterms:created xsi:type="dcterms:W3CDTF">2025-10-20T02:30:18Z</dcterms:created>
  <dcterms:modified xsi:type="dcterms:W3CDTF">2025-10-21T05:52:55Z</dcterms:modified>
</cp:coreProperties>
</file>