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60" r:id="rId2"/>
    <p:sldId id="264" r:id="rId3"/>
    <p:sldId id="265" r:id="rId4"/>
    <p:sldId id="263" r:id="rId5"/>
    <p:sldId id="267" r:id="rId6"/>
    <p:sldId id="256" r:id="rId7"/>
    <p:sldId id="261" r:id="rId8"/>
    <p:sldId id="259" r:id="rId9"/>
    <p:sldId id="262" r:id="rId10"/>
    <p:sldId id="258" r:id="rId11"/>
    <p:sldId id="257" r:id="rId12"/>
  </p:sldIdLst>
  <p:sldSz cx="7199313" cy="1079976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24" userDrawn="1">
          <p15:clr>
            <a:srgbClr val="A4A3A4"/>
          </p15:clr>
        </p15:guide>
        <p15:guide id="2" pos="22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p:scale>
          <a:sx n="75" d="100"/>
          <a:sy n="75" d="100"/>
        </p:scale>
        <p:origin x="2078" y="-1522"/>
      </p:cViewPr>
      <p:guideLst>
        <p:guide orient="horz" pos="3424"/>
        <p:guide pos="22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39949" y="1767462"/>
            <a:ext cx="6119416" cy="3759917"/>
          </a:xfrm>
        </p:spPr>
        <p:txBody>
          <a:bodyPr anchor="b"/>
          <a:lstStyle>
            <a:lvl1pPr algn="ctr">
              <a:defRPr sz="4724"/>
            </a:lvl1pPr>
          </a:lstStyle>
          <a:p>
            <a:r>
              <a:rPr lang="en-US"/>
              <a:t>Click to edit Master title style</a:t>
            </a:r>
            <a:endParaRPr lang="en-US" dirty="0"/>
          </a:p>
        </p:txBody>
      </p:sp>
      <p:sp>
        <p:nvSpPr>
          <p:cNvPr id="3" name="Subtitle 2"/>
          <p:cNvSpPr>
            <a:spLocks noGrp="1"/>
          </p:cNvSpPr>
          <p:nvPr>
            <p:ph type="subTitle" idx="1"/>
          </p:nvPr>
        </p:nvSpPr>
        <p:spPr>
          <a:xfrm>
            <a:off x="899914" y="5672376"/>
            <a:ext cx="5399485" cy="2607442"/>
          </a:xfrm>
        </p:spPr>
        <p:txBody>
          <a:bodyPr/>
          <a:lstStyle>
            <a:lvl1pPr marL="0" indent="0" algn="ctr">
              <a:buNone/>
              <a:defRPr sz="1890"/>
            </a:lvl1pPr>
            <a:lvl2pPr marL="359954" indent="0" algn="ctr">
              <a:buNone/>
              <a:defRPr sz="1575"/>
            </a:lvl2pPr>
            <a:lvl3pPr marL="719907" indent="0" algn="ctr">
              <a:buNone/>
              <a:defRPr sz="1417"/>
            </a:lvl3pPr>
            <a:lvl4pPr marL="1079861" indent="0" algn="ctr">
              <a:buNone/>
              <a:defRPr sz="1260"/>
            </a:lvl4pPr>
            <a:lvl5pPr marL="1439814" indent="0" algn="ctr">
              <a:buNone/>
              <a:defRPr sz="1260"/>
            </a:lvl5pPr>
            <a:lvl6pPr marL="1799768" indent="0" algn="ctr">
              <a:buNone/>
              <a:defRPr sz="1260"/>
            </a:lvl6pPr>
            <a:lvl7pPr marL="2159721" indent="0" algn="ctr">
              <a:buNone/>
              <a:defRPr sz="1260"/>
            </a:lvl7pPr>
            <a:lvl8pPr marL="2519675" indent="0" algn="ctr">
              <a:buNone/>
              <a:defRPr sz="1260"/>
            </a:lvl8pPr>
            <a:lvl9pPr marL="2879628" indent="0" algn="ctr">
              <a:buNone/>
              <a:defRPr sz="12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D6400E-9ADF-42A6-9AD6-1E7CB7AE2E1B}"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2877776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D6400E-9ADF-42A6-9AD6-1E7CB7AE2E1B}"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323984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91204" y="2692444"/>
            <a:ext cx="6209407" cy="4492401"/>
          </a:xfrm>
        </p:spPr>
        <p:txBody>
          <a:bodyPr anchor="b"/>
          <a:lstStyle>
            <a:lvl1pPr>
              <a:defRPr sz="4724"/>
            </a:lvl1pPr>
          </a:lstStyle>
          <a:p>
            <a:r>
              <a:rPr lang="en-US"/>
              <a:t>Click to edit Master title style</a:t>
            </a:r>
            <a:endParaRPr lang="en-US" dirty="0"/>
          </a:p>
        </p:txBody>
      </p:sp>
      <p:sp>
        <p:nvSpPr>
          <p:cNvPr id="3" name="Text Placeholder 2"/>
          <p:cNvSpPr>
            <a:spLocks noGrp="1"/>
          </p:cNvSpPr>
          <p:nvPr>
            <p:ph type="body" idx="1"/>
          </p:nvPr>
        </p:nvSpPr>
        <p:spPr>
          <a:xfrm>
            <a:off x="491204" y="7227345"/>
            <a:ext cx="6209407" cy="2362447"/>
          </a:xfrm>
        </p:spPr>
        <p:txBody>
          <a:bodyPr/>
          <a:lstStyle>
            <a:lvl1pPr marL="0" indent="0">
              <a:buNone/>
              <a:defRPr sz="1890">
                <a:solidFill>
                  <a:schemeClr val="tx1"/>
                </a:solidFill>
              </a:defRPr>
            </a:lvl1pPr>
            <a:lvl2pPr marL="359954" indent="0">
              <a:buNone/>
              <a:defRPr sz="1575">
                <a:solidFill>
                  <a:schemeClr val="tx1">
                    <a:tint val="75000"/>
                  </a:schemeClr>
                </a:solidFill>
              </a:defRPr>
            </a:lvl2pPr>
            <a:lvl3pPr marL="719907" indent="0">
              <a:buNone/>
              <a:defRPr sz="1417">
                <a:solidFill>
                  <a:schemeClr val="tx1">
                    <a:tint val="75000"/>
                  </a:schemeClr>
                </a:solidFill>
              </a:defRPr>
            </a:lvl3pPr>
            <a:lvl4pPr marL="1079861" indent="0">
              <a:buNone/>
              <a:defRPr sz="1260">
                <a:solidFill>
                  <a:schemeClr val="tx1">
                    <a:tint val="75000"/>
                  </a:schemeClr>
                </a:solidFill>
              </a:defRPr>
            </a:lvl4pPr>
            <a:lvl5pPr marL="1439814" indent="0">
              <a:buNone/>
              <a:defRPr sz="1260">
                <a:solidFill>
                  <a:schemeClr val="tx1">
                    <a:tint val="75000"/>
                  </a:schemeClr>
                </a:solidFill>
              </a:defRPr>
            </a:lvl5pPr>
            <a:lvl6pPr marL="1799768" indent="0">
              <a:buNone/>
              <a:defRPr sz="1260">
                <a:solidFill>
                  <a:schemeClr val="tx1">
                    <a:tint val="75000"/>
                  </a:schemeClr>
                </a:solidFill>
              </a:defRPr>
            </a:lvl6pPr>
            <a:lvl7pPr marL="2159721" indent="0">
              <a:buNone/>
              <a:defRPr sz="1260">
                <a:solidFill>
                  <a:schemeClr val="tx1">
                    <a:tint val="75000"/>
                  </a:schemeClr>
                </a:solidFill>
              </a:defRPr>
            </a:lvl7pPr>
            <a:lvl8pPr marL="2519675" indent="0">
              <a:buNone/>
              <a:defRPr sz="1260">
                <a:solidFill>
                  <a:schemeClr val="tx1">
                    <a:tint val="75000"/>
                  </a:schemeClr>
                </a:solidFill>
              </a:defRPr>
            </a:lvl8pPr>
            <a:lvl9pPr marL="2879628" indent="0">
              <a:buNone/>
              <a:defRPr sz="12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D6400E-9ADF-42A6-9AD6-1E7CB7AE2E1B}"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30339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94953" y="2874937"/>
            <a:ext cx="3059708"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44652" y="2874937"/>
            <a:ext cx="3059708" cy="6852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D6400E-9ADF-42A6-9AD6-1E7CB7AE2E1B}"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2929655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891" y="574990"/>
            <a:ext cx="6209407" cy="2087455"/>
          </a:xfrm>
        </p:spPr>
        <p:txBody>
          <a:bodyPr/>
          <a:lstStyle/>
          <a:p>
            <a:r>
              <a:rPr lang="en-US"/>
              <a:t>Click to edit Master title style</a:t>
            </a:r>
            <a:endParaRPr lang="en-US" dirty="0"/>
          </a:p>
        </p:txBody>
      </p:sp>
      <p:sp>
        <p:nvSpPr>
          <p:cNvPr id="3" name="Text Placeholder 2"/>
          <p:cNvSpPr>
            <a:spLocks noGrp="1"/>
          </p:cNvSpPr>
          <p:nvPr>
            <p:ph type="body" idx="1"/>
          </p:nvPr>
        </p:nvSpPr>
        <p:spPr>
          <a:xfrm>
            <a:off x="495891" y="2647443"/>
            <a:ext cx="3045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n-US"/>
              <a:t>Click to edit Master text styles</a:t>
            </a:r>
          </a:p>
        </p:txBody>
      </p:sp>
      <p:sp>
        <p:nvSpPr>
          <p:cNvPr id="4" name="Content Placeholder 3"/>
          <p:cNvSpPr>
            <a:spLocks noGrp="1"/>
          </p:cNvSpPr>
          <p:nvPr>
            <p:ph sz="half" idx="2"/>
          </p:nvPr>
        </p:nvSpPr>
        <p:spPr>
          <a:xfrm>
            <a:off x="495891" y="3944914"/>
            <a:ext cx="304564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644652" y="2647443"/>
            <a:ext cx="3060646" cy="1297471"/>
          </a:xfrm>
        </p:spPr>
        <p:txBody>
          <a:bodyPr anchor="b"/>
          <a:lstStyle>
            <a:lvl1pPr marL="0" indent="0">
              <a:buNone/>
              <a:defRPr sz="1890" b="1"/>
            </a:lvl1pPr>
            <a:lvl2pPr marL="359954" indent="0">
              <a:buNone/>
              <a:defRPr sz="1575" b="1"/>
            </a:lvl2pPr>
            <a:lvl3pPr marL="719907" indent="0">
              <a:buNone/>
              <a:defRPr sz="1417" b="1"/>
            </a:lvl3pPr>
            <a:lvl4pPr marL="1079861" indent="0">
              <a:buNone/>
              <a:defRPr sz="1260" b="1"/>
            </a:lvl4pPr>
            <a:lvl5pPr marL="1439814" indent="0">
              <a:buNone/>
              <a:defRPr sz="1260" b="1"/>
            </a:lvl5pPr>
            <a:lvl6pPr marL="1799768" indent="0">
              <a:buNone/>
              <a:defRPr sz="1260" b="1"/>
            </a:lvl6pPr>
            <a:lvl7pPr marL="2159721" indent="0">
              <a:buNone/>
              <a:defRPr sz="1260" b="1"/>
            </a:lvl7pPr>
            <a:lvl8pPr marL="2519675" indent="0">
              <a:buNone/>
              <a:defRPr sz="1260" b="1"/>
            </a:lvl8pPr>
            <a:lvl9pPr marL="2879628" indent="0">
              <a:buNone/>
              <a:defRPr sz="1260" b="1"/>
            </a:lvl9pPr>
          </a:lstStyle>
          <a:p>
            <a:pPr lvl="0"/>
            <a:r>
              <a:rPr lang="en-US"/>
              <a:t>Click to edit Master text styles</a:t>
            </a:r>
          </a:p>
        </p:txBody>
      </p:sp>
      <p:sp>
        <p:nvSpPr>
          <p:cNvPr id="6" name="Content Placeholder 5"/>
          <p:cNvSpPr>
            <a:spLocks noGrp="1"/>
          </p:cNvSpPr>
          <p:nvPr>
            <p:ph sz="quarter" idx="4"/>
          </p:nvPr>
        </p:nvSpPr>
        <p:spPr>
          <a:xfrm>
            <a:off x="3644652" y="3944914"/>
            <a:ext cx="3060646" cy="5802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D6400E-9ADF-42A6-9AD6-1E7CB7AE2E1B}" type="datetimeFigureOut">
              <a:rPr lang="en-IN" smtClean="0"/>
              <a:t>28-08-2025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2764383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D6400E-9ADF-42A6-9AD6-1E7CB7AE2E1B}" type="datetimeFigureOut">
              <a:rPr lang="en-IN" smtClean="0"/>
              <a:t>28-08-2025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4039504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D6400E-9ADF-42A6-9AD6-1E7CB7AE2E1B}" type="datetimeFigureOut">
              <a:rPr lang="en-IN" smtClean="0"/>
              <a:t>28-08-2025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3170777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en-US"/>
              <a:t>Click to edit Master title style</a:t>
            </a:r>
            <a:endParaRPr lang="en-US" dirty="0"/>
          </a:p>
        </p:txBody>
      </p:sp>
      <p:sp>
        <p:nvSpPr>
          <p:cNvPr id="3" name="Content Placeholder 2"/>
          <p:cNvSpPr>
            <a:spLocks noGrp="1"/>
          </p:cNvSpPr>
          <p:nvPr>
            <p:ph idx="1"/>
          </p:nvPr>
        </p:nvSpPr>
        <p:spPr>
          <a:xfrm>
            <a:off x="3060646" y="1554968"/>
            <a:ext cx="3644652" cy="7674832"/>
          </a:xfrm>
        </p:spPr>
        <p:txBody>
          <a:bodyPr/>
          <a:lstStyle>
            <a:lvl1pPr>
              <a:defRPr sz="2519"/>
            </a:lvl1pPr>
            <a:lvl2pPr>
              <a:defRPr sz="2204"/>
            </a:lvl2pPr>
            <a:lvl3pPr>
              <a:defRPr sz="1890"/>
            </a:lvl3pPr>
            <a:lvl4pPr>
              <a:defRPr sz="1575"/>
            </a:lvl4pPr>
            <a:lvl5pPr>
              <a:defRPr sz="1575"/>
            </a:lvl5pPr>
            <a:lvl6pPr>
              <a:defRPr sz="1575"/>
            </a:lvl6pPr>
            <a:lvl7pPr>
              <a:defRPr sz="1575"/>
            </a:lvl7pPr>
            <a:lvl8pPr>
              <a:defRPr sz="1575"/>
            </a:lvl8pPr>
            <a:lvl9pPr>
              <a:defRPr sz="15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n-US"/>
              <a:t>Click to edit Master text styles</a:t>
            </a:r>
          </a:p>
        </p:txBody>
      </p:sp>
      <p:sp>
        <p:nvSpPr>
          <p:cNvPr id="5" name="Date Placeholder 4"/>
          <p:cNvSpPr>
            <a:spLocks noGrp="1"/>
          </p:cNvSpPr>
          <p:nvPr>
            <p:ph type="dt" sz="half" idx="10"/>
          </p:nvPr>
        </p:nvSpPr>
        <p:spPr/>
        <p:txBody>
          <a:bodyPr/>
          <a:lstStyle/>
          <a:p>
            <a:fld id="{B9D6400E-9ADF-42A6-9AD6-1E7CB7AE2E1B}"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3923298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890" y="719984"/>
            <a:ext cx="2321966" cy="2519945"/>
          </a:xfrm>
        </p:spPr>
        <p:txBody>
          <a:bodyPr anchor="b"/>
          <a:lstStyle>
            <a:lvl1pPr>
              <a:defRPr sz="2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3060646" y="1554968"/>
            <a:ext cx="3644652" cy="7674832"/>
          </a:xfrm>
        </p:spPr>
        <p:txBody>
          <a:bodyPr anchor="t"/>
          <a:lstStyle>
            <a:lvl1pPr marL="0" indent="0">
              <a:buNone/>
              <a:defRPr sz="2519"/>
            </a:lvl1pPr>
            <a:lvl2pPr marL="359954" indent="0">
              <a:buNone/>
              <a:defRPr sz="2204"/>
            </a:lvl2pPr>
            <a:lvl3pPr marL="719907" indent="0">
              <a:buNone/>
              <a:defRPr sz="1890"/>
            </a:lvl3pPr>
            <a:lvl4pPr marL="1079861" indent="0">
              <a:buNone/>
              <a:defRPr sz="1575"/>
            </a:lvl4pPr>
            <a:lvl5pPr marL="1439814" indent="0">
              <a:buNone/>
              <a:defRPr sz="1575"/>
            </a:lvl5pPr>
            <a:lvl6pPr marL="1799768" indent="0">
              <a:buNone/>
              <a:defRPr sz="1575"/>
            </a:lvl6pPr>
            <a:lvl7pPr marL="2159721" indent="0">
              <a:buNone/>
              <a:defRPr sz="1575"/>
            </a:lvl7pPr>
            <a:lvl8pPr marL="2519675" indent="0">
              <a:buNone/>
              <a:defRPr sz="1575"/>
            </a:lvl8pPr>
            <a:lvl9pPr marL="2879628" indent="0">
              <a:buNone/>
              <a:defRPr sz="1575"/>
            </a:lvl9pPr>
          </a:lstStyle>
          <a:p>
            <a:r>
              <a:rPr lang="en-US"/>
              <a:t>Click icon to add picture</a:t>
            </a:r>
            <a:endParaRPr lang="en-US" dirty="0"/>
          </a:p>
        </p:txBody>
      </p:sp>
      <p:sp>
        <p:nvSpPr>
          <p:cNvPr id="4" name="Text Placeholder 3"/>
          <p:cNvSpPr>
            <a:spLocks noGrp="1"/>
          </p:cNvSpPr>
          <p:nvPr>
            <p:ph type="body" sz="half" idx="2"/>
          </p:nvPr>
        </p:nvSpPr>
        <p:spPr>
          <a:xfrm>
            <a:off x="495890" y="3239929"/>
            <a:ext cx="2321966" cy="6002369"/>
          </a:xfrm>
        </p:spPr>
        <p:txBody>
          <a:bodyPr/>
          <a:lstStyle>
            <a:lvl1pPr marL="0" indent="0">
              <a:buNone/>
              <a:defRPr sz="1260"/>
            </a:lvl1pPr>
            <a:lvl2pPr marL="359954" indent="0">
              <a:buNone/>
              <a:defRPr sz="1102"/>
            </a:lvl2pPr>
            <a:lvl3pPr marL="719907" indent="0">
              <a:buNone/>
              <a:defRPr sz="945"/>
            </a:lvl3pPr>
            <a:lvl4pPr marL="1079861" indent="0">
              <a:buNone/>
              <a:defRPr sz="787"/>
            </a:lvl4pPr>
            <a:lvl5pPr marL="1439814" indent="0">
              <a:buNone/>
              <a:defRPr sz="787"/>
            </a:lvl5pPr>
            <a:lvl6pPr marL="1799768" indent="0">
              <a:buNone/>
              <a:defRPr sz="787"/>
            </a:lvl6pPr>
            <a:lvl7pPr marL="2159721" indent="0">
              <a:buNone/>
              <a:defRPr sz="787"/>
            </a:lvl7pPr>
            <a:lvl8pPr marL="2519675" indent="0">
              <a:buNone/>
              <a:defRPr sz="787"/>
            </a:lvl8pPr>
            <a:lvl9pPr marL="2879628" indent="0">
              <a:buNone/>
              <a:defRPr sz="787"/>
            </a:lvl9pPr>
          </a:lstStyle>
          <a:p>
            <a:pPr lvl="0"/>
            <a:r>
              <a:rPr lang="en-US"/>
              <a:t>Click to edit Master text styles</a:t>
            </a:r>
          </a:p>
        </p:txBody>
      </p:sp>
      <p:sp>
        <p:nvSpPr>
          <p:cNvPr id="5" name="Date Placeholder 4"/>
          <p:cNvSpPr>
            <a:spLocks noGrp="1"/>
          </p:cNvSpPr>
          <p:nvPr>
            <p:ph type="dt" sz="half" idx="10"/>
          </p:nvPr>
        </p:nvSpPr>
        <p:spPr/>
        <p:txBody>
          <a:bodyPr/>
          <a:lstStyle/>
          <a:p>
            <a:fld id="{B9D6400E-9ADF-42A6-9AD6-1E7CB7AE2E1B}" type="datetimeFigureOut">
              <a:rPr lang="en-IN" smtClean="0"/>
              <a:t>28-08-2025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1365845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D6400E-9ADF-42A6-9AD6-1E7CB7AE2E1B}"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350236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52009" y="574987"/>
            <a:ext cx="1552352" cy="91523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94953" y="574987"/>
            <a:ext cx="4567064" cy="9152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D6400E-9ADF-42A6-9AD6-1E7CB7AE2E1B}" type="datetimeFigureOut">
              <a:rPr lang="en-IN" smtClean="0"/>
              <a:t>28-08-2025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06664B-3BC4-421B-8633-AEE0255D8BC2}" type="slidenum">
              <a:rPr lang="en-IN" smtClean="0"/>
              <a:t>‹#›</a:t>
            </a:fld>
            <a:endParaRPr lang="en-IN"/>
          </a:p>
        </p:txBody>
      </p:sp>
    </p:spTree>
    <p:extLst>
      <p:ext uri="{BB962C8B-B14F-4D97-AF65-F5344CB8AC3E}">
        <p14:creationId xmlns:p14="http://schemas.microsoft.com/office/powerpoint/2010/main" val="1112537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4953" y="574990"/>
            <a:ext cx="6209407" cy="208745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94953" y="2874937"/>
            <a:ext cx="6209407" cy="68523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94953" y="10009783"/>
            <a:ext cx="1619845" cy="574987"/>
          </a:xfrm>
          <a:prstGeom prst="rect">
            <a:avLst/>
          </a:prstGeom>
        </p:spPr>
        <p:txBody>
          <a:bodyPr vert="horz" lIns="91440" tIns="45720" rIns="91440" bIns="45720" rtlCol="0" anchor="ctr"/>
          <a:lstStyle>
            <a:lvl1pPr algn="l">
              <a:defRPr sz="945">
                <a:solidFill>
                  <a:schemeClr val="tx1">
                    <a:tint val="75000"/>
                  </a:schemeClr>
                </a:solidFill>
              </a:defRPr>
            </a:lvl1pPr>
          </a:lstStyle>
          <a:p>
            <a:fld id="{B9D6400E-9ADF-42A6-9AD6-1E7CB7AE2E1B}" type="datetimeFigureOut">
              <a:rPr lang="en-IN" smtClean="0"/>
              <a:t>28-08-2025</a:t>
            </a:fld>
            <a:endParaRPr lang="en-IN"/>
          </a:p>
        </p:txBody>
      </p:sp>
      <p:sp>
        <p:nvSpPr>
          <p:cNvPr id="5" name="Footer Placeholder 4"/>
          <p:cNvSpPr>
            <a:spLocks noGrp="1"/>
          </p:cNvSpPr>
          <p:nvPr>
            <p:ph type="ftr" sz="quarter" idx="3"/>
          </p:nvPr>
        </p:nvSpPr>
        <p:spPr>
          <a:xfrm>
            <a:off x="2384773" y="10009783"/>
            <a:ext cx="2429768" cy="574987"/>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084515" y="10009783"/>
            <a:ext cx="1619845" cy="574987"/>
          </a:xfrm>
          <a:prstGeom prst="rect">
            <a:avLst/>
          </a:prstGeom>
        </p:spPr>
        <p:txBody>
          <a:bodyPr vert="horz" lIns="91440" tIns="45720" rIns="91440" bIns="45720" rtlCol="0" anchor="ctr"/>
          <a:lstStyle>
            <a:lvl1pPr algn="r">
              <a:defRPr sz="945">
                <a:solidFill>
                  <a:schemeClr val="tx1">
                    <a:tint val="75000"/>
                  </a:schemeClr>
                </a:solidFill>
              </a:defRPr>
            </a:lvl1pPr>
          </a:lstStyle>
          <a:p>
            <a:fld id="{3706664B-3BC4-421B-8633-AEE0255D8BC2}" type="slidenum">
              <a:rPr lang="en-IN" smtClean="0"/>
              <a:t>‹#›</a:t>
            </a:fld>
            <a:endParaRPr lang="en-IN"/>
          </a:p>
        </p:txBody>
      </p:sp>
    </p:spTree>
    <p:extLst>
      <p:ext uri="{BB962C8B-B14F-4D97-AF65-F5344CB8AC3E}">
        <p14:creationId xmlns:p14="http://schemas.microsoft.com/office/powerpoint/2010/main" val="398151159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19907" rtl="0" eaLnBrk="1" latinLnBrk="0" hangingPunct="1">
        <a:lnSpc>
          <a:spcPct val="90000"/>
        </a:lnSpc>
        <a:spcBef>
          <a:spcPct val="0"/>
        </a:spcBef>
        <a:buNone/>
        <a:defRPr sz="3464" kern="1200">
          <a:solidFill>
            <a:schemeClr val="tx1"/>
          </a:solidFill>
          <a:latin typeface="+mj-lt"/>
          <a:ea typeface="+mj-ea"/>
          <a:cs typeface="+mj-cs"/>
        </a:defRPr>
      </a:lvl1pPr>
    </p:titleStyle>
    <p:bodyStyle>
      <a:lvl1pPr marL="179977" indent="-179977" algn="l" defTabSz="719907" rtl="0" eaLnBrk="1" latinLnBrk="0" hangingPunct="1">
        <a:lnSpc>
          <a:spcPct val="90000"/>
        </a:lnSpc>
        <a:spcBef>
          <a:spcPts val="787"/>
        </a:spcBef>
        <a:buFont typeface="Arial" panose="020B0604020202020204" pitchFamily="34" charset="0"/>
        <a:buChar char="•"/>
        <a:defRPr sz="2204" kern="1200">
          <a:solidFill>
            <a:schemeClr val="tx1"/>
          </a:solidFill>
          <a:latin typeface="+mn-lt"/>
          <a:ea typeface="+mn-ea"/>
          <a:cs typeface="+mn-cs"/>
        </a:defRPr>
      </a:lvl1pPr>
      <a:lvl2pPr marL="539930" indent="-179977" algn="l" defTabSz="719907" rtl="0" eaLnBrk="1" latinLnBrk="0" hangingPunct="1">
        <a:lnSpc>
          <a:spcPct val="90000"/>
        </a:lnSpc>
        <a:spcBef>
          <a:spcPts val="394"/>
        </a:spcBef>
        <a:buFont typeface="Arial" panose="020B0604020202020204" pitchFamily="34" charset="0"/>
        <a:buChar char="•"/>
        <a:defRPr sz="1890" kern="1200">
          <a:solidFill>
            <a:schemeClr val="tx1"/>
          </a:solidFill>
          <a:latin typeface="+mn-lt"/>
          <a:ea typeface="+mn-ea"/>
          <a:cs typeface="+mn-cs"/>
        </a:defRPr>
      </a:lvl2pPr>
      <a:lvl3pPr marL="899884" indent="-179977" algn="l" defTabSz="719907" rtl="0" eaLnBrk="1" latinLnBrk="0" hangingPunct="1">
        <a:lnSpc>
          <a:spcPct val="90000"/>
        </a:lnSpc>
        <a:spcBef>
          <a:spcPts val="394"/>
        </a:spcBef>
        <a:buFont typeface="Arial" panose="020B0604020202020204" pitchFamily="34" charset="0"/>
        <a:buChar char="•"/>
        <a:defRPr sz="1575" kern="1200">
          <a:solidFill>
            <a:schemeClr val="tx1"/>
          </a:solidFill>
          <a:latin typeface="+mn-lt"/>
          <a:ea typeface="+mn-ea"/>
          <a:cs typeface="+mn-cs"/>
        </a:defRPr>
      </a:lvl3pPr>
      <a:lvl4pPr marL="1259837"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4pPr>
      <a:lvl5pPr marL="1619791"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5pPr>
      <a:lvl6pPr marL="197974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6pPr>
      <a:lvl7pPr marL="2339698"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7pPr>
      <a:lvl8pPr marL="2699652"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8pPr>
      <a:lvl9pPr marL="3059605" indent="-179977" algn="l" defTabSz="719907" rtl="0" eaLnBrk="1" latinLnBrk="0" hangingPunct="1">
        <a:lnSpc>
          <a:spcPct val="90000"/>
        </a:lnSpc>
        <a:spcBef>
          <a:spcPts val="394"/>
        </a:spcBef>
        <a:buFont typeface="Arial" panose="020B0604020202020204" pitchFamily="34" charset="0"/>
        <a:buChar char="•"/>
        <a:defRPr sz="1417" kern="1200">
          <a:solidFill>
            <a:schemeClr val="tx1"/>
          </a:solidFill>
          <a:latin typeface="+mn-lt"/>
          <a:ea typeface="+mn-ea"/>
          <a:cs typeface="+mn-cs"/>
        </a:defRPr>
      </a:lvl9pPr>
    </p:bodyStyle>
    <p:otherStyle>
      <a:defPPr>
        <a:defRPr lang="en-US"/>
      </a:defPPr>
      <a:lvl1pPr marL="0" algn="l" defTabSz="719907" rtl="0" eaLnBrk="1" latinLnBrk="0" hangingPunct="1">
        <a:defRPr sz="1417" kern="1200">
          <a:solidFill>
            <a:schemeClr val="tx1"/>
          </a:solidFill>
          <a:latin typeface="+mn-lt"/>
          <a:ea typeface="+mn-ea"/>
          <a:cs typeface="+mn-cs"/>
        </a:defRPr>
      </a:lvl1pPr>
      <a:lvl2pPr marL="359954" algn="l" defTabSz="719907" rtl="0" eaLnBrk="1" latinLnBrk="0" hangingPunct="1">
        <a:defRPr sz="1417" kern="1200">
          <a:solidFill>
            <a:schemeClr val="tx1"/>
          </a:solidFill>
          <a:latin typeface="+mn-lt"/>
          <a:ea typeface="+mn-ea"/>
          <a:cs typeface="+mn-cs"/>
        </a:defRPr>
      </a:lvl2pPr>
      <a:lvl3pPr marL="719907" algn="l" defTabSz="719907" rtl="0" eaLnBrk="1" latinLnBrk="0" hangingPunct="1">
        <a:defRPr sz="1417" kern="1200">
          <a:solidFill>
            <a:schemeClr val="tx1"/>
          </a:solidFill>
          <a:latin typeface="+mn-lt"/>
          <a:ea typeface="+mn-ea"/>
          <a:cs typeface="+mn-cs"/>
        </a:defRPr>
      </a:lvl3pPr>
      <a:lvl4pPr marL="1079861" algn="l" defTabSz="719907" rtl="0" eaLnBrk="1" latinLnBrk="0" hangingPunct="1">
        <a:defRPr sz="1417" kern="1200">
          <a:solidFill>
            <a:schemeClr val="tx1"/>
          </a:solidFill>
          <a:latin typeface="+mn-lt"/>
          <a:ea typeface="+mn-ea"/>
          <a:cs typeface="+mn-cs"/>
        </a:defRPr>
      </a:lvl4pPr>
      <a:lvl5pPr marL="1439814" algn="l" defTabSz="719907" rtl="0" eaLnBrk="1" latinLnBrk="0" hangingPunct="1">
        <a:defRPr sz="1417" kern="1200">
          <a:solidFill>
            <a:schemeClr val="tx1"/>
          </a:solidFill>
          <a:latin typeface="+mn-lt"/>
          <a:ea typeface="+mn-ea"/>
          <a:cs typeface="+mn-cs"/>
        </a:defRPr>
      </a:lvl5pPr>
      <a:lvl6pPr marL="1799768" algn="l" defTabSz="719907" rtl="0" eaLnBrk="1" latinLnBrk="0" hangingPunct="1">
        <a:defRPr sz="1417" kern="1200">
          <a:solidFill>
            <a:schemeClr val="tx1"/>
          </a:solidFill>
          <a:latin typeface="+mn-lt"/>
          <a:ea typeface="+mn-ea"/>
          <a:cs typeface="+mn-cs"/>
        </a:defRPr>
      </a:lvl6pPr>
      <a:lvl7pPr marL="2159721" algn="l" defTabSz="719907" rtl="0" eaLnBrk="1" latinLnBrk="0" hangingPunct="1">
        <a:defRPr sz="1417" kern="1200">
          <a:solidFill>
            <a:schemeClr val="tx1"/>
          </a:solidFill>
          <a:latin typeface="+mn-lt"/>
          <a:ea typeface="+mn-ea"/>
          <a:cs typeface="+mn-cs"/>
        </a:defRPr>
      </a:lvl7pPr>
      <a:lvl8pPr marL="2519675" algn="l" defTabSz="719907" rtl="0" eaLnBrk="1" latinLnBrk="0" hangingPunct="1">
        <a:defRPr sz="1417" kern="1200">
          <a:solidFill>
            <a:schemeClr val="tx1"/>
          </a:solidFill>
          <a:latin typeface="+mn-lt"/>
          <a:ea typeface="+mn-ea"/>
          <a:cs typeface="+mn-cs"/>
        </a:defRPr>
      </a:lvl8pPr>
      <a:lvl9pPr marL="2879628" algn="l" defTabSz="719907" rtl="0" eaLnBrk="1" latinLnBrk="0" hangingPunct="1">
        <a:defRPr sz="141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C4298-A9B6-287C-ADEB-DF2012E64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7AD60-B84C-EC33-1876-A44309753374}"/>
              </a:ext>
            </a:extLst>
          </p:cNvPr>
          <p:cNvSpPr>
            <a:spLocks noGrp="1"/>
          </p:cNvSpPr>
          <p:nvPr>
            <p:ph type="ctrTitle"/>
          </p:nvPr>
        </p:nvSpPr>
        <p:spPr>
          <a:xfrm>
            <a:off x="-1" y="0"/>
            <a:ext cx="7199313" cy="507978"/>
          </a:xfrm>
          <a:solidFill>
            <a:schemeClr val="accent1"/>
          </a:solidFill>
        </p:spPr>
        <p:txBody>
          <a:bodyPr>
            <a:noAutofit/>
          </a:bodyPr>
          <a:lstStyle/>
          <a:p>
            <a:r>
              <a:rPr lang="en-US" sz="3600" b="1" dirty="0">
                <a:solidFill>
                  <a:schemeClr val="bg1"/>
                </a:solidFill>
              </a:rPr>
              <a:t>TOPOLOGY</a:t>
            </a:r>
            <a:endParaRPr lang="en-IN" sz="3600" b="1" dirty="0">
              <a:solidFill>
                <a:schemeClr val="bg1"/>
              </a:solidFill>
            </a:endParaRPr>
          </a:p>
        </p:txBody>
      </p:sp>
      <p:sp>
        <p:nvSpPr>
          <p:cNvPr id="3" name="Subtitle 2">
            <a:extLst>
              <a:ext uri="{FF2B5EF4-FFF2-40B4-BE49-F238E27FC236}">
                <a16:creationId xmlns:a16="http://schemas.microsoft.com/office/drawing/2014/main" id="{A4A97592-1B23-1178-18FC-F093DF063667}"/>
              </a:ext>
            </a:extLst>
          </p:cNvPr>
          <p:cNvSpPr>
            <a:spLocks noGrp="1"/>
          </p:cNvSpPr>
          <p:nvPr>
            <p:ph type="subTitle" idx="1"/>
          </p:nvPr>
        </p:nvSpPr>
        <p:spPr>
          <a:xfrm>
            <a:off x="-1" y="589454"/>
            <a:ext cx="7199313" cy="8410085"/>
          </a:xfrm>
        </p:spPr>
        <p:txBody>
          <a:bodyPr>
            <a:normAutofit/>
          </a:bodyPr>
          <a:lstStyle/>
          <a:p>
            <a:pPr algn="l"/>
            <a:endParaRPr lang="en-US" dirty="0"/>
          </a:p>
          <a:p>
            <a:pPr algn="l"/>
            <a:br>
              <a:rPr lang="en-US" dirty="0"/>
            </a:br>
            <a:br>
              <a:rPr lang="en-US" dirty="0"/>
            </a:br>
            <a:endParaRPr lang="en-US" dirty="0"/>
          </a:p>
          <a:p>
            <a:pPr algn="l"/>
            <a:endParaRPr lang="en-US" dirty="0"/>
          </a:p>
          <a:p>
            <a:pPr algn="l"/>
            <a:endParaRPr lang="en-US" dirty="0"/>
          </a:p>
          <a:p>
            <a:pPr algn="l"/>
            <a:endParaRPr lang="en-US" dirty="0"/>
          </a:p>
          <a:p>
            <a:pPr algn="l"/>
            <a:endParaRPr lang="en-US" dirty="0"/>
          </a:p>
          <a:p>
            <a:pPr algn="l"/>
            <a:endParaRPr lang="en-US" dirty="0"/>
          </a:p>
        </p:txBody>
      </p:sp>
      <p:sp>
        <p:nvSpPr>
          <p:cNvPr id="16" name="TextBox 15">
            <a:extLst>
              <a:ext uri="{FF2B5EF4-FFF2-40B4-BE49-F238E27FC236}">
                <a16:creationId xmlns:a16="http://schemas.microsoft.com/office/drawing/2014/main" id="{EB8FE0AB-AF96-8916-498E-006332AC264D}"/>
              </a:ext>
            </a:extLst>
          </p:cNvPr>
          <p:cNvSpPr txBox="1"/>
          <p:nvPr/>
        </p:nvSpPr>
        <p:spPr>
          <a:xfrm>
            <a:off x="0" y="5400675"/>
            <a:ext cx="7198520" cy="5386090"/>
          </a:xfrm>
          <a:prstGeom prst="rect">
            <a:avLst/>
          </a:prstGeom>
          <a:noFill/>
        </p:spPr>
        <p:txBody>
          <a:bodyPr wrap="square" rtlCol="0">
            <a:spAutoFit/>
          </a:bodyPr>
          <a:lstStyle/>
          <a:p>
            <a:r>
              <a:rPr lang="en-US" dirty="0"/>
              <a:t>Checkpoint:                                     ASA:</a:t>
            </a:r>
            <a:br>
              <a:rPr lang="en-US" dirty="0"/>
            </a:br>
            <a:r>
              <a:rPr lang="en-US" u="sng" dirty="0"/>
              <a:t>INT</a:t>
            </a:r>
            <a:r>
              <a:rPr lang="en-US" dirty="0"/>
              <a:t>     -   </a:t>
            </a:r>
            <a:r>
              <a:rPr lang="en-US" u="sng" dirty="0"/>
              <a:t>IP</a:t>
            </a:r>
            <a:r>
              <a:rPr lang="en-US" dirty="0"/>
              <a:t>                                        </a:t>
            </a:r>
            <a:r>
              <a:rPr lang="en-US" u="sng" dirty="0"/>
              <a:t>INT</a:t>
            </a:r>
            <a:r>
              <a:rPr lang="en-US" dirty="0"/>
              <a:t>   -     </a:t>
            </a:r>
            <a:r>
              <a:rPr lang="en-US" u="sng" dirty="0"/>
              <a:t>IP</a:t>
            </a:r>
            <a:br>
              <a:rPr lang="en-US" dirty="0"/>
            </a:br>
            <a:r>
              <a:rPr lang="en-US" dirty="0"/>
              <a:t>LAN    -   192.168.11.254                INSIDE  -  172.16.22.9</a:t>
            </a:r>
            <a:br>
              <a:rPr lang="en-US" dirty="0"/>
            </a:br>
            <a:r>
              <a:rPr lang="en-US" dirty="0"/>
              <a:t>WAN  -   100.1.1.1                           OUTSIDE -  100.1.1.9</a:t>
            </a:r>
          </a:p>
          <a:p>
            <a:r>
              <a:rPr lang="en-US" dirty="0"/>
              <a:t>DMZ  -  192.168.111.254</a:t>
            </a:r>
          </a:p>
          <a:p>
            <a:endParaRPr lang="en-US" dirty="0"/>
          </a:p>
          <a:p>
            <a:pPr algn="just"/>
            <a:r>
              <a:rPr lang="en-US" dirty="0"/>
              <a:t>SA - (Security Association): a one-way (inbound or outbound) agreement between two communicating peers that specifies the IPsec protections to be provided to their communications.  This includes the specific security protections, cryptographic algorithms, and secret keys to be applied, as well as the specific types of traffic to be protected.</a:t>
            </a:r>
          </a:p>
          <a:p>
            <a:r>
              <a:rPr lang="en-US" sz="2000" dirty="0"/>
              <a:t> </a:t>
            </a:r>
          </a:p>
          <a:p>
            <a:endParaRPr lang="en-IN" dirty="0"/>
          </a:p>
          <a:p>
            <a:endParaRPr lang="en-IN" dirty="0"/>
          </a:p>
          <a:p>
            <a:endParaRPr lang="en-IN" dirty="0"/>
          </a:p>
          <a:p>
            <a:endParaRPr lang="en-IN" dirty="0"/>
          </a:p>
          <a:p>
            <a:endParaRPr lang="en-IN" dirty="0"/>
          </a:p>
          <a:p>
            <a:endParaRPr lang="en-IN" dirty="0"/>
          </a:p>
          <a:p>
            <a:endParaRPr lang="en-IN" dirty="0"/>
          </a:p>
        </p:txBody>
      </p:sp>
      <p:pic>
        <p:nvPicPr>
          <p:cNvPr id="8" name="Picture 7">
            <a:extLst>
              <a:ext uri="{FF2B5EF4-FFF2-40B4-BE49-F238E27FC236}">
                <a16:creationId xmlns:a16="http://schemas.microsoft.com/office/drawing/2014/main" id="{F8C4EF59-5885-0E08-097E-546C9A8922EB}"/>
              </a:ext>
            </a:extLst>
          </p:cNvPr>
          <p:cNvPicPr>
            <a:picLocks noChangeAspect="1"/>
          </p:cNvPicPr>
          <p:nvPr/>
        </p:nvPicPr>
        <p:blipFill>
          <a:blip r:embed="rId2"/>
          <a:stretch>
            <a:fillRect/>
          </a:stretch>
        </p:blipFill>
        <p:spPr>
          <a:xfrm>
            <a:off x="-793" y="707506"/>
            <a:ext cx="7199313" cy="4343624"/>
          </a:xfrm>
          <a:prstGeom prst="rect">
            <a:avLst/>
          </a:prstGeom>
        </p:spPr>
      </p:pic>
    </p:spTree>
    <p:extLst>
      <p:ext uri="{BB962C8B-B14F-4D97-AF65-F5344CB8AC3E}">
        <p14:creationId xmlns:p14="http://schemas.microsoft.com/office/powerpoint/2010/main" val="221934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D797F-33B9-DC74-5C8A-B6B016524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23197-64B7-17C6-0F93-A894647628C6}"/>
              </a:ext>
            </a:extLst>
          </p:cNvPr>
          <p:cNvSpPr>
            <a:spLocks noGrp="1"/>
          </p:cNvSpPr>
          <p:nvPr>
            <p:ph type="ctrTitle"/>
          </p:nvPr>
        </p:nvSpPr>
        <p:spPr>
          <a:xfrm>
            <a:off x="-1" y="0"/>
            <a:ext cx="7199313" cy="507978"/>
          </a:xfrm>
          <a:solidFill>
            <a:schemeClr val="accent1"/>
          </a:solidFill>
        </p:spPr>
        <p:txBody>
          <a:bodyPr>
            <a:noAutofit/>
          </a:bodyPr>
          <a:lstStyle/>
          <a:p>
            <a:r>
              <a:rPr lang="en-US" sz="3600" b="1" dirty="0">
                <a:solidFill>
                  <a:schemeClr val="bg1"/>
                </a:solidFill>
              </a:rPr>
              <a:t>Checkpoint Configuration</a:t>
            </a:r>
            <a:endParaRPr lang="en-IN" sz="3600" b="1" dirty="0">
              <a:solidFill>
                <a:schemeClr val="bg1"/>
              </a:solidFill>
            </a:endParaRPr>
          </a:p>
        </p:txBody>
      </p:sp>
      <p:sp>
        <p:nvSpPr>
          <p:cNvPr id="3" name="Subtitle 2">
            <a:extLst>
              <a:ext uri="{FF2B5EF4-FFF2-40B4-BE49-F238E27FC236}">
                <a16:creationId xmlns:a16="http://schemas.microsoft.com/office/drawing/2014/main" id="{097E0E14-FB12-A1C1-F460-BF36D2388749}"/>
              </a:ext>
            </a:extLst>
          </p:cNvPr>
          <p:cNvSpPr>
            <a:spLocks noGrp="1"/>
          </p:cNvSpPr>
          <p:nvPr>
            <p:ph type="subTitle" idx="1"/>
          </p:nvPr>
        </p:nvSpPr>
        <p:spPr>
          <a:xfrm>
            <a:off x="-1" y="589454"/>
            <a:ext cx="7199313" cy="8410085"/>
          </a:xfrm>
        </p:spPr>
        <p:txBody>
          <a:bodyPr>
            <a:normAutofit/>
          </a:bodyPr>
          <a:lstStyle/>
          <a:p>
            <a:pPr algn="l"/>
            <a:r>
              <a:rPr lang="en-US" dirty="0"/>
              <a:t>1. Create Groups:  </a:t>
            </a:r>
            <a:br>
              <a:rPr lang="en-US" dirty="0"/>
            </a:br>
            <a:r>
              <a:rPr lang="en-US" sz="1600" dirty="0"/>
              <a:t>IN 1</a:t>
            </a:r>
            <a:r>
              <a:rPr lang="en-US" sz="1600" baseline="30000" dirty="0"/>
              <a:t>st</a:t>
            </a:r>
            <a:r>
              <a:rPr lang="en-US" sz="1600" dirty="0"/>
              <a:t> group, I have set 1 encryption domain. In 2</a:t>
            </a:r>
            <a:r>
              <a:rPr lang="en-US" sz="1600" baseline="30000" dirty="0"/>
              <a:t>nd</a:t>
            </a:r>
            <a:r>
              <a:rPr lang="en-US" sz="1600" dirty="0"/>
              <a:t> group, I have set 2 encryption domains (Remote-Branch).</a:t>
            </a:r>
          </a:p>
          <a:p>
            <a:pPr algn="l"/>
            <a:endParaRPr lang="en-US" dirty="0"/>
          </a:p>
          <a:p>
            <a:pPr marL="457200" indent="-457200" algn="l">
              <a:buAutoNum type="arabicPeriod"/>
            </a:pPr>
            <a:endParaRPr lang="en-US" dirty="0"/>
          </a:p>
          <a:p>
            <a:pPr marL="457200" indent="-457200" algn="l">
              <a:buAutoNum type="arabicPeriod"/>
            </a:pPr>
            <a:endParaRPr lang="en-US" dirty="0"/>
          </a:p>
          <a:p>
            <a:pPr algn="l"/>
            <a:endParaRPr lang="en-US" dirty="0"/>
          </a:p>
          <a:p>
            <a:pPr algn="l"/>
            <a:r>
              <a:rPr lang="en-US" dirty="0"/>
              <a:t>2. Create a VPN Community (Gateway, Encryption methods, Lifetime,  </a:t>
            </a:r>
            <a:br>
              <a:rPr lang="en-US" dirty="0"/>
            </a:br>
            <a:r>
              <a:rPr lang="en-US" dirty="0"/>
              <a:t>     Shared Secret)</a:t>
            </a:r>
          </a:p>
          <a:p>
            <a:pPr algn="l"/>
            <a:endParaRPr lang="en-US" dirty="0"/>
          </a:p>
          <a:p>
            <a:pPr algn="l"/>
            <a:r>
              <a:rPr lang="en-US" dirty="0"/>
              <a:t>                                                   </a:t>
            </a:r>
          </a:p>
          <a:p>
            <a:pPr algn="l"/>
            <a:r>
              <a:rPr lang="en-US" dirty="0"/>
              <a:t>                                      </a:t>
            </a:r>
          </a:p>
          <a:p>
            <a:pPr algn="l"/>
            <a:r>
              <a:rPr lang="en-US" dirty="0"/>
              <a:t>3. Create an Interoperable Devices</a:t>
            </a:r>
            <a:br>
              <a:rPr lang="en-US" dirty="0"/>
            </a:br>
            <a:endParaRPr lang="en-US" dirty="0"/>
          </a:p>
          <a:p>
            <a:pPr algn="l"/>
            <a:r>
              <a:rPr lang="en-US" dirty="0" err="1"/>
              <a:t>i</a:t>
            </a:r>
            <a:r>
              <a:rPr lang="en-US" dirty="0"/>
              <a:t>. Remote-public </a:t>
            </a:r>
            <a:r>
              <a:rPr lang="en-US" dirty="0" err="1"/>
              <a:t>ip</a:t>
            </a:r>
            <a:br>
              <a:rPr lang="en-US" dirty="0"/>
            </a:br>
            <a:r>
              <a:rPr lang="en-US" dirty="0"/>
              <a:t>ii. Remote-Encryption domain</a:t>
            </a:r>
          </a:p>
          <a:p>
            <a:pPr algn="l"/>
            <a:br>
              <a:rPr lang="en-US" dirty="0"/>
            </a:br>
            <a:endParaRPr lang="en-US" dirty="0"/>
          </a:p>
          <a:p>
            <a:pPr algn="l"/>
            <a:endParaRPr lang="en-US" dirty="0"/>
          </a:p>
        </p:txBody>
      </p:sp>
      <p:pic>
        <p:nvPicPr>
          <p:cNvPr id="7" name="Picture 6">
            <a:extLst>
              <a:ext uri="{FF2B5EF4-FFF2-40B4-BE49-F238E27FC236}">
                <a16:creationId xmlns:a16="http://schemas.microsoft.com/office/drawing/2014/main" id="{6287E2EE-E2A9-B69E-CD83-206FCD9C6F3E}"/>
              </a:ext>
            </a:extLst>
          </p:cNvPr>
          <p:cNvPicPr>
            <a:picLocks noChangeAspect="1"/>
          </p:cNvPicPr>
          <p:nvPr/>
        </p:nvPicPr>
        <p:blipFill>
          <a:blip r:embed="rId2"/>
          <a:stretch>
            <a:fillRect/>
          </a:stretch>
        </p:blipFill>
        <p:spPr>
          <a:xfrm>
            <a:off x="976886" y="1661296"/>
            <a:ext cx="1477914" cy="775763"/>
          </a:xfrm>
          <a:prstGeom prst="rect">
            <a:avLst/>
          </a:prstGeom>
        </p:spPr>
      </p:pic>
      <p:pic>
        <p:nvPicPr>
          <p:cNvPr id="10" name="Picture 9">
            <a:extLst>
              <a:ext uri="{FF2B5EF4-FFF2-40B4-BE49-F238E27FC236}">
                <a16:creationId xmlns:a16="http://schemas.microsoft.com/office/drawing/2014/main" id="{FE2EDAE3-6A68-1AC6-1A87-30D4C08A818B}"/>
              </a:ext>
            </a:extLst>
          </p:cNvPr>
          <p:cNvPicPr>
            <a:picLocks noChangeAspect="1"/>
          </p:cNvPicPr>
          <p:nvPr/>
        </p:nvPicPr>
        <p:blipFill>
          <a:blip r:embed="rId3"/>
          <a:stretch>
            <a:fillRect/>
          </a:stretch>
        </p:blipFill>
        <p:spPr>
          <a:xfrm>
            <a:off x="3314311" y="1542603"/>
            <a:ext cx="1719088" cy="1013151"/>
          </a:xfrm>
          <a:prstGeom prst="rect">
            <a:avLst/>
          </a:prstGeom>
        </p:spPr>
      </p:pic>
      <p:pic>
        <p:nvPicPr>
          <p:cNvPr id="12" name="Picture 11">
            <a:extLst>
              <a:ext uri="{FF2B5EF4-FFF2-40B4-BE49-F238E27FC236}">
                <a16:creationId xmlns:a16="http://schemas.microsoft.com/office/drawing/2014/main" id="{F9596D3B-3A43-26E0-E514-66A851119F25}"/>
              </a:ext>
            </a:extLst>
          </p:cNvPr>
          <p:cNvPicPr>
            <a:picLocks noChangeAspect="1"/>
          </p:cNvPicPr>
          <p:nvPr/>
        </p:nvPicPr>
        <p:blipFill>
          <a:blip r:embed="rId4"/>
          <a:stretch>
            <a:fillRect/>
          </a:stretch>
        </p:blipFill>
        <p:spPr>
          <a:xfrm>
            <a:off x="4395846" y="3220858"/>
            <a:ext cx="2486372" cy="1219370"/>
          </a:xfrm>
          <a:prstGeom prst="rect">
            <a:avLst/>
          </a:prstGeom>
        </p:spPr>
      </p:pic>
      <p:pic>
        <p:nvPicPr>
          <p:cNvPr id="31" name="Picture 30">
            <a:extLst>
              <a:ext uri="{FF2B5EF4-FFF2-40B4-BE49-F238E27FC236}">
                <a16:creationId xmlns:a16="http://schemas.microsoft.com/office/drawing/2014/main" id="{DCFFD0D5-BA41-D0CB-6114-84A6C79C4EA4}"/>
              </a:ext>
            </a:extLst>
          </p:cNvPr>
          <p:cNvPicPr>
            <a:picLocks noChangeAspect="1"/>
          </p:cNvPicPr>
          <p:nvPr/>
        </p:nvPicPr>
        <p:blipFill>
          <a:blip r:embed="rId5"/>
          <a:stretch>
            <a:fillRect/>
          </a:stretch>
        </p:blipFill>
        <p:spPr>
          <a:xfrm>
            <a:off x="4064047" y="4999008"/>
            <a:ext cx="2715004" cy="2619741"/>
          </a:xfrm>
          <a:prstGeom prst="rect">
            <a:avLst/>
          </a:prstGeom>
        </p:spPr>
      </p:pic>
      <p:pic>
        <p:nvPicPr>
          <p:cNvPr id="33" name="Picture 32">
            <a:extLst>
              <a:ext uri="{FF2B5EF4-FFF2-40B4-BE49-F238E27FC236}">
                <a16:creationId xmlns:a16="http://schemas.microsoft.com/office/drawing/2014/main" id="{35D81552-80F6-A60D-0A5C-B40CDCD518AB}"/>
              </a:ext>
            </a:extLst>
          </p:cNvPr>
          <p:cNvPicPr>
            <a:picLocks noChangeAspect="1"/>
          </p:cNvPicPr>
          <p:nvPr/>
        </p:nvPicPr>
        <p:blipFill>
          <a:blip r:embed="rId6"/>
          <a:stretch>
            <a:fillRect/>
          </a:stretch>
        </p:blipFill>
        <p:spPr>
          <a:xfrm>
            <a:off x="184125" y="7262606"/>
            <a:ext cx="3519510" cy="699438"/>
          </a:xfrm>
          <a:prstGeom prst="rect">
            <a:avLst/>
          </a:prstGeom>
        </p:spPr>
      </p:pic>
      <p:pic>
        <p:nvPicPr>
          <p:cNvPr id="35" name="Picture 34">
            <a:extLst>
              <a:ext uri="{FF2B5EF4-FFF2-40B4-BE49-F238E27FC236}">
                <a16:creationId xmlns:a16="http://schemas.microsoft.com/office/drawing/2014/main" id="{1DD9DC2E-3CD0-8D94-DEBC-DF4A9BE79E9A}"/>
              </a:ext>
            </a:extLst>
          </p:cNvPr>
          <p:cNvPicPr>
            <a:picLocks noChangeAspect="1"/>
          </p:cNvPicPr>
          <p:nvPr/>
        </p:nvPicPr>
        <p:blipFill>
          <a:blip r:embed="rId7"/>
          <a:stretch>
            <a:fillRect/>
          </a:stretch>
        </p:blipFill>
        <p:spPr>
          <a:xfrm>
            <a:off x="184125" y="8076917"/>
            <a:ext cx="6535062" cy="847843"/>
          </a:xfrm>
          <a:prstGeom prst="rect">
            <a:avLst/>
          </a:prstGeom>
        </p:spPr>
      </p:pic>
      <p:cxnSp>
        <p:nvCxnSpPr>
          <p:cNvPr id="37" name="Straight Arrow Connector 36">
            <a:extLst>
              <a:ext uri="{FF2B5EF4-FFF2-40B4-BE49-F238E27FC236}">
                <a16:creationId xmlns:a16="http://schemas.microsoft.com/office/drawing/2014/main" id="{3DFD141E-D13D-6969-A19B-978741972778}"/>
              </a:ext>
            </a:extLst>
          </p:cNvPr>
          <p:cNvCxnSpPr>
            <a:cxnSpLocks/>
            <a:endCxn id="44" idx="3"/>
          </p:cNvCxnSpPr>
          <p:nvPr/>
        </p:nvCxnSpPr>
        <p:spPr>
          <a:xfrm flipH="1" flipV="1">
            <a:off x="3011424" y="6513773"/>
            <a:ext cx="1384422" cy="967045"/>
          </a:xfrm>
          <a:prstGeom prst="straightConnector1">
            <a:avLst/>
          </a:prstGeom>
          <a:ln w="38100">
            <a:solidFill>
              <a:srgbClr val="FF0000"/>
            </a:solidFill>
            <a:tailEnd type="triangle"/>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DB1C1C63-018F-5F73-1918-29A4EB27B410}"/>
              </a:ext>
            </a:extLst>
          </p:cNvPr>
          <p:cNvSpPr txBox="1"/>
          <p:nvPr/>
        </p:nvSpPr>
        <p:spPr>
          <a:xfrm>
            <a:off x="4724315" y="8402904"/>
            <a:ext cx="254000" cy="369332"/>
          </a:xfrm>
          <a:prstGeom prst="rect">
            <a:avLst/>
          </a:prstGeom>
          <a:noFill/>
        </p:spPr>
        <p:txBody>
          <a:bodyPr wrap="square" rtlCol="0">
            <a:spAutoFit/>
          </a:bodyPr>
          <a:lstStyle/>
          <a:p>
            <a:r>
              <a:rPr lang="en-US" dirty="0"/>
              <a:t>1</a:t>
            </a:r>
            <a:endParaRPr lang="en-IN" dirty="0"/>
          </a:p>
        </p:txBody>
      </p:sp>
      <p:pic>
        <p:nvPicPr>
          <p:cNvPr id="44" name="Picture 43">
            <a:extLst>
              <a:ext uri="{FF2B5EF4-FFF2-40B4-BE49-F238E27FC236}">
                <a16:creationId xmlns:a16="http://schemas.microsoft.com/office/drawing/2014/main" id="{FD7FC099-31C7-74AE-08EF-09AB027C1F2E}"/>
              </a:ext>
            </a:extLst>
          </p:cNvPr>
          <p:cNvPicPr>
            <a:picLocks noChangeAspect="1"/>
          </p:cNvPicPr>
          <p:nvPr/>
        </p:nvPicPr>
        <p:blipFill>
          <a:blip r:embed="rId8"/>
          <a:stretch>
            <a:fillRect/>
          </a:stretch>
        </p:blipFill>
        <p:spPr>
          <a:xfrm>
            <a:off x="420262" y="6080325"/>
            <a:ext cx="2591162" cy="866896"/>
          </a:xfrm>
          <a:prstGeom prst="rect">
            <a:avLst/>
          </a:prstGeom>
        </p:spPr>
      </p:pic>
      <p:pic>
        <p:nvPicPr>
          <p:cNvPr id="48" name="Picture 47">
            <a:extLst>
              <a:ext uri="{FF2B5EF4-FFF2-40B4-BE49-F238E27FC236}">
                <a16:creationId xmlns:a16="http://schemas.microsoft.com/office/drawing/2014/main" id="{EB9A8BB7-AC49-8A00-9051-AB857FE91D92}"/>
              </a:ext>
            </a:extLst>
          </p:cNvPr>
          <p:cNvPicPr>
            <a:picLocks noChangeAspect="1"/>
          </p:cNvPicPr>
          <p:nvPr/>
        </p:nvPicPr>
        <p:blipFill>
          <a:blip r:embed="rId9"/>
          <a:srcRect b="63667"/>
          <a:stretch>
            <a:fillRect/>
          </a:stretch>
        </p:blipFill>
        <p:spPr>
          <a:xfrm>
            <a:off x="72255" y="8989344"/>
            <a:ext cx="4906060" cy="737238"/>
          </a:xfrm>
          <a:prstGeom prst="rect">
            <a:avLst/>
          </a:prstGeom>
        </p:spPr>
      </p:pic>
      <p:pic>
        <p:nvPicPr>
          <p:cNvPr id="50" name="Picture 49">
            <a:extLst>
              <a:ext uri="{FF2B5EF4-FFF2-40B4-BE49-F238E27FC236}">
                <a16:creationId xmlns:a16="http://schemas.microsoft.com/office/drawing/2014/main" id="{8ADAE66D-3F12-1C74-149A-877AE67CF370}"/>
              </a:ext>
            </a:extLst>
          </p:cNvPr>
          <p:cNvPicPr>
            <a:picLocks noChangeAspect="1"/>
          </p:cNvPicPr>
          <p:nvPr/>
        </p:nvPicPr>
        <p:blipFill>
          <a:blip r:embed="rId10"/>
          <a:stretch>
            <a:fillRect/>
          </a:stretch>
        </p:blipFill>
        <p:spPr>
          <a:xfrm>
            <a:off x="1943880" y="9799536"/>
            <a:ext cx="3162741" cy="1028844"/>
          </a:xfrm>
          <a:prstGeom prst="rect">
            <a:avLst/>
          </a:prstGeom>
        </p:spPr>
      </p:pic>
    </p:spTree>
    <p:extLst>
      <p:ext uri="{BB962C8B-B14F-4D97-AF65-F5344CB8AC3E}">
        <p14:creationId xmlns:p14="http://schemas.microsoft.com/office/powerpoint/2010/main" val="417339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55081-D843-1728-7C98-886034708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B500C-3C93-7E9A-54A5-249172F31327}"/>
              </a:ext>
            </a:extLst>
          </p:cNvPr>
          <p:cNvSpPr>
            <a:spLocks noGrp="1"/>
          </p:cNvSpPr>
          <p:nvPr>
            <p:ph type="ctrTitle"/>
          </p:nvPr>
        </p:nvSpPr>
        <p:spPr>
          <a:xfrm>
            <a:off x="-1" y="0"/>
            <a:ext cx="7199313" cy="507978"/>
          </a:xfrm>
          <a:solidFill>
            <a:schemeClr val="accent1"/>
          </a:solidFill>
        </p:spPr>
        <p:txBody>
          <a:bodyPr>
            <a:noAutofit/>
          </a:bodyPr>
          <a:lstStyle/>
          <a:p>
            <a:r>
              <a:rPr lang="en-US" sz="3600" b="1" dirty="0">
                <a:solidFill>
                  <a:schemeClr val="bg1"/>
                </a:solidFill>
              </a:rPr>
              <a:t>Checkpoint Configuration</a:t>
            </a:r>
            <a:endParaRPr lang="en-IN" sz="3600" b="1" dirty="0">
              <a:solidFill>
                <a:schemeClr val="bg1"/>
              </a:solidFill>
            </a:endParaRPr>
          </a:p>
        </p:txBody>
      </p:sp>
      <p:sp>
        <p:nvSpPr>
          <p:cNvPr id="3" name="Subtitle 2">
            <a:extLst>
              <a:ext uri="{FF2B5EF4-FFF2-40B4-BE49-F238E27FC236}">
                <a16:creationId xmlns:a16="http://schemas.microsoft.com/office/drawing/2014/main" id="{C6F6E679-7257-8C15-847E-E2D96AF69880}"/>
              </a:ext>
            </a:extLst>
          </p:cNvPr>
          <p:cNvSpPr>
            <a:spLocks noGrp="1"/>
          </p:cNvSpPr>
          <p:nvPr>
            <p:ph type="subTitle" idx="1"/>
          </p:nvPr>
        </p:nvSpPr>
        <p:spPr>
          <a:xfrm>
            <a:off x="-1" y="589454"/>
            <a:ext cx="7199313" cy="8410085"/>
          </a:xfrm>
        </p:spPr>
        <p:txBody>
          <a:bodyPr>
            <a:normAutofit/>
          </a:bodyPr>
          <a:lstStyle/>
          <a:p>
            <a:pPr algn="l"/>
            <a:r>
              <a:rPr lang="en-US" dirty="0"/>
              <a:t>4. Create a policy so that matched traffic go through tunnel</a:t>
            </a:r>
          </a:p>
          <a:p>
            <a:pPr algn="l"/>
            <a:endParaRPr lang="en-US" dirty="0"/>
          </a:p>
          <a:p>
            <a:pPr algn="l"/>
            <a:endParaRPr lang="en-US" dirty="0"/>
          </a:p>
          <a:p>
            <a:pPr algn="l"/>
            <a:endParaRPr lang="en-US" dirty="0"/>
          </a:p>
          <a:p>
            <a:pPr algn="l"/>
            <a:r>
              <a:rPr lang="en-US" dirty="0"/>
              <a:t>5. Define which public IP the gateway should use to send VPN traffic (by </a:t>
            </a:r>
            <a:br>
              <a:rPr lang="en-US" dirty="0"/>
            </a:br>
            <a:r>
              <a:rPr lang="en-US" dirty="0"/>
              <a:t>    default, the gateway’s management interface IP is used).</a:t>
            </a:r>
          </a:p>
        </p:txBody>
      </p:sp>
      <p:pic>
        <p:nvPicPr>
          <p:cNvPr id="18" name="Picture 17">
            <a:extLst>
              <a:ext uri="{FF2B5EF4-FFF2-40B4-BE49-F238E27FC236}">
                <a16:creationId xmlns:a16="http://schemas.microsoft.com/office/drawing/2014/main" id="{9237A696-BE28-D5EA-1DAA-0EA42D8076A9}"/>
              </a:ext>
            </a:extLst>
          </p:cNvPr>
          <p:cNvPicPr>
            <a:picLocks noChangeAspect="1"/>
          </p:cNvPicPr>
          <p:nvPr/>
        </p:nvPicPr>
        <p:blipFill>
          <a:blip r:embed="rId2"/>
          <a:stretch>
            <a:fillRect/>
          </a:stretch>
        </p:blipFill>
        <p:spPr>
          <a:xfrm>
            <a:off x="97994" y="1135702"/>
            <a:ext cx="7004911" cy="664522"/>
          </a:xfrm>
          <a:prstGeom prst="rect">
            <a:avLst/>
          </a:prstGeom>
        </p:spPr>
      </p:pic>
      <p:pic>
        <p:nvPicPr>
          <p:cNvPr id="20" name="Picture 19">
            <a:extLst>
              <a:ext uri="{FF2B5EF4-FFF2-40B4-BE49-F238E27FC236}">
                <a16:creationId xmlns:a16="http://schemas.microsoft.com/office/drawing/2014/main" id="{8A7F8191-D865-F1A6-83DA-D68008B0542A}"/>
              </a:ext>
            </a:extLst>
          </p:cNvPr>
          <p:cNvPicPr>
            <a:picLocks noChangeAspect="1"/>
          </p:cNvPicPr>
          <p:nvPr/>
        </p:nvPicPr>
        <p:blipFill>
          <a:blip r:embed="rId3"/>
          <a:stretch>
            <a:fillRect/>
          </a:stretch>
        </p:blipFill>
        <p:spPr>
          <a:xfrm>
            <a:off x="570632" y="2962927"/>
            <a:ext cx="5611008" cy="2029108"/>
          </a:xfrm>
          <a:prstGeom prst="rect">
            <a:avLst/>
          </a:prstGeom>
        </p:spPr>
      </p:pic>
      <p:pic>
        <p:nvPicPr>
          <p:cNvPr id="22" name="Picture 21">
            <a:extLst>
              <a:ext uri="{FF2B5EF4-FFF2-40B4-BE49-F238E27FC236}">
                <a16:creationId xmlns:a16="http://schemas.microsoft.com/office/drawing/2014/main" id="{44240B1D-13EC-BD4D-076B-8F67BCFEE712}"/>
              </a:ext>
            </a:extLst>
          </p:cNvPr>
          <p:cNvPicPr>
            <a:picLocks noChangeAspect="1"/>
          </p:cNvPicPr>
          <p:nvPr/>
        </p:nvPicPr>
        <p:blipFill>
          <a:blip r:embed="rId4"/>
          <a:stretch>
            <a:fillRect/>
          </a:stretch>
        </p:blipFill>
        <p:spPr>
          <a:xfrm>
            <a:off x="404366" y="5073511"/>
            <a:ext cx="6392167" cy="1581371"/>
          </a:xfrm>
          <a:prstGeom prst="rect">
            <a:avLst/>
          </a:prstGeom>
        </p:spPr>
      </p:pic>
    </p:spTree>
    <p:extLst>
      <p:ext uri="{BB962C8B-B14F-4D97-AF65-F5344CB8AC3E}">
        <p14:creationId xmlns:p14="http://schemas.microsoft.com/office/powerpoint/2010/main" val="4190090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3A154-EE04-6BFD-8AD6-DC2783B3922B}"/>
              </a:ext>
            </a:extLst>
          </p:cNvPr>
          <p:cNvSpPr>
            <a:spLocks noGrp="1"/>
          </p:cNvSpPr>
          <p:nvPr>
            <p:ph idx="1"/>
          </p:nvPr>
        </p:nvSpPr>
        <p:spPr>
          <a:xfrm>
            <a:off x="1" y="0"/>
            <a:ext cx="6704360" cy="10799763"/>
          </a:xfrm>
        </p:spPr>
        <p:txBody>
          <a:bodyPr>
            <a:normAutofit/>
          </a:bodyPr>
          <a:lstStyle/>
          <a:p>
            <a:pPr marL="0" indent="0">
              <a:buNone/>
            </a:pPr>
            <a:endParaRPr lang="en-US" dirty="0"/>
          </a:p>
          <a:p>
            <a:pPr marL="0" indent="0">
              <a:buNone/>
            </a:pPr>
            <a:br>
              <a:rPr lang="en-US" dirty="0"/>
            </a:br>
            <a:r>
              <a:rPr lang="en-US" dirty="0"/>
              <a:t>crypto ikev1 enable outside</a:t>
            </a:r>
          </a:p>
          <a:p>
            <a:pPr marL="0" indent="0">
              <a:buNone/>
            </a:pPr>
            <a:r>
              <a:rPr lang="en-US" dirty="0"/>
              <a:t>crypto ikev1 policy 10</a:t>
            </a:r>
            <a:br>
              <a:rPr lang="en-US" dirty="0"/>
            </a:br>
            <a:r>
              <a:rPr lang="en-US" dirty="0"/>
              <a:t>     hash md5</a:t>
            </a:r>
            <a:br>
              <a:rPr lang="en-US" dirty="0"/>
            </a:br>
            <a:r>
              <a:rPr lang="en-US" dirty="0"/>
              <a:t>     authentication pre-share</a:t>
            </a:r>
            <a:br>
              <a:rPr lang="en-US" dirty="0"/>
            </a:br>
            <a:r>
              <a:rPr lang="en-US" dirty="0"/>
              <a:t>     group 2</a:t>
            </a:r>
          </a:p>
          <a:p>
            <a:pPr marL="0" indent="0">
              <a:buNone/>
            </a:pPr>
            <a:r>
              <a:rPr lang="en-US" dirty="0"/>
              <a:t>     lifetime 86400</a:t>
            </a:r>
            <a:br>
              <a:rPr lang="en-US" dirty="0"/>
            </a:br>
            <a:r>
              <a:rPr lang="en-US" dirty="0"/>
              <a:t>     encryption des</a:t>
            </a:r>
          </a:p>
          <a:p>
            <a:pPr marL="0" indent="0">
              <a:buNone/>
            </a:pPr>
            <a:r>
              <a:rPr lang="en-US" dirty="0"/>
              <a:t>tunnel-group 100.1.1.1 type ipsec-l2l</a:t>
            </a:r>
          </a:p>
          <a:p>
            <a:pPr marL="0" indent="0">
              <a:buNone/>
            </a:pPr>
            <a:r>
              <a:rPr lang="en-US" dirty="0"/>
              <a:t>tunnel-group 100.1.1.1 </a:t>
            </a:r>
            <a:r>
              <a:rPr lang="en-US" dirty="0" err="1"/>
              <a:t>ipsec</a:t>
            </a:r>
            <a:r>
              <a:rPr lang="en-US" dirty="0"/>
              <a:t>-attributes</a:t>
            </a:r>
          </a:p>
          <a:p>
            <a:pPr marL="0" indent="0">
              <a:buNone/>
            </a:pPr>
            <a:r>
              <a:rPr lang="en-US" dirty="0"/>
              <a:t>     ikev1 pre-shared-key Shan_home-Car@1234334324</a:t>
            </a:r>
          </a:p>
          <a:p>
            <a:pPr marL="0" indent="0">
              <a:buNone/>
            </a:pPr>
            <a:r>
              <a:rPr lang="en-US" dirty="0"/>
              <a:t>object network LOCAL-NET</a:t>
            </a:r>
          </a:p>
          <a:p>
            <a:pPr marL="0" indent="0">
              <a:buNone/>
            </a:pPr>
            <a:r>
              <a:rPr lang="en-US" dirty="0"/>
              <a:t>     subnet 172.16.22.0 255.255.255.0</a:t>
            </a:r>
          </a:p>
          <a:p>
            <a:pPr marL="0" indent="0">
              <a:buNone/>
            </a:pPr>
            <a:r>
              <a:rPr lang="en-US" dirty="0"/>
              <a:t>object network REMOTE-NET</a:t>
            </a:r>
          </a:p>
          <a:p>
            <a:pPr marL="0" indent="0">
              <a:buNone/>
            </a:pPr>
            <a:r>
              <a:rPr lang="en-US" dirty="0"/>
              <a:t>     subnet 192.168.11.0 255.255.255.0</a:t>
            </a:r>
          </a:p>
          <a:p>
            <a:pPr marL="0" indent="0">
              <a:buNone/>
            </a:pPr>
            <a:r>
              <a:rPr lang="en-US" dirty="0" err="1"/>
              <a:t>nat</a:t>
            </a:r>
            <a:r>
              <a:rPr lang="en-US" dirty="0"/>
              <a:t> (</a:t>
            </a:r>
            <a:r>
              <a:rPr lang="en-US" dirty="0" err="1"/>
              <a:t>inside,outside</a:t>
            </a:r>
            <a:r>
              <a:rPr lang="en-US" dirty="0"/>
              <a:t>) source static LOCAL-NET </a:t>
            </a:r>
            <a:r>
              <a:rPr lang="en-US" dirty="0" err="1"/>
              <a:t>LOCAL-NET</a:t>
            </a:r>
            <a:r>
              <a:rPr lang="en-US" dirty="0"/>
              <a:t> destination static REMOTE-NET </a:t>
            </a:r>
            <a:r>
              <a:rPr lang="en-US" dirty="0" err="1"/>
              <a:t>REMOTE-NET</a:t>
            </a:r>
            <a:endParaRPr lang="en-US" dirty="0"/>
          </a:p>
          <a:p>
            <a:pPr marL="0" indent="0">
              <a:buNone/>
            </a:pPr>
            <a:r>
              <a:rPr lang="en-US" dirty="0"/>
              <a:t>access-list VPN-ACL extended permit </a:t>
            </a:r>
            <a:r>
              <a:rPr lang="en-US" dirty="0" err="1"/>
              <a:t>ip</a:t>
            </a:r>
            <a:r>
              <a:rPr lang="en-US" dirty="0"/>
              <a:t> 172.16.22.0 255.255.255.0 192.168.11.0 255.255.255.0</a:t>
            </a:r>
          </a:p>
          <a:p>
            <a:pPr marL="0" indent="0">
              <a:buNone/>
            </a:pPr>
            <a:r>
              <a:rPr lang="en-US" dirty="0"/>
              <a:t>crypto </a:t>
            </a:r>
            <a:r>
              <a:rPr lang="en-US" dirty="0" err="1"/>
              <a:t>ipsec</a:t>
            </a:r>
            <a:r>
              <a:rPr lang="en-US" dirty="0"/>
              <a:t> ikev1 transform-set TSET </a:t>
            </a:r>
            <a:r>
              <a:rPr lang="en-US" dirty="0" err="1"/>
              <a:t>esp</a:t>
            </a:r>
            <a:r>
              <a:rPr lang="en-US" dirty="0"/>
              <a:t>-des esp-md5-hmac</a:t>
            </a:r>
          </a:p>
          <a:p>
            <a:pPr marL="0" indent="0">
              <a:buNone/>
            </a:pPr>
            <a:r>
              <a:rPr lang="en-US" dirty="0"/>
              <a:t>crypto map CMAP 10 match address VPN-ACL</a:t>
            </a:r>
          </a:p>
          <a:p>
            <a:pPr marL="0" indent="0">
              <a:buNone/>
            </a:pPr>
            <a:r>
              <a:rPr lang="en-US" dirty="0"/>
              <a:t>crypto map CMAP 10 set peer 100.1.1.1</a:t>
            </a:r>
          </a:p>
          <a:p>
            <a:pPr marL="0" indent="0">
              <a:buNone/>
            </a:pPr>
            <a:r>
              <a:rPr lang="en-US" dirty="0"/>
              <a:t>crypto map CMAP 10 set ikev1 transform-set TSET</a:t>
            </a:r>
          </a:p>
          <a:p>
            <a:pPr marL="0" indent="0">
              <a:buNone/>
            </a:pPr>
            <a:r>
              <a:rPr lang="en-US" dirty="0"/>
              <a:t>crypto map CMAP interface outside</a:t>
            </a:r>
          </a:p>
          <a:p>
            <a:pPr marL="0" indent="0">
              <a:buNone/>
            </a:pPr>
            <a:endParaRPr lang="en-US" dirty="0"/>
          </a:p>
          <a:p>
            <a:pPr marL="0" indent="0">
              <a:buNone/>
            </a:pPr>
            <a:r>
              <a:rPr lang="en-US" dirty="0"/>
              <a:t>route outside 0 0 100.1.1.10 1</a:t>
            </a:r>
          </a:p>
          <a:p>
            <a:pPr marL="0" indent="0">
              <a:buNone/>
            </a:pPr>
            <a:endParaRPr lang="en-US" dirty="0"/>
          </a:p>
          <a:p>
            <a:pPr marL="0" indent="0">
              <a:buNone/>
            </a:pPr>
            <a:endParaRPr lang="en-US" dirty="0"/>
          </a:p>
          <a:p>
            <a:pPr marL="0" indent="0">
              <a:buNone/>
            </a:pPr>
            <a:endParaRPr lang="en-US" dirty="0"/>
          </a:p>
        </p:txBody>
      </p:sp>
      <p:sp>
        <p:nvSpPr>
          <p:cNvPr id="4" name="Title 1">
            <a:extLst>
              <a:ext uri="{FF2B5EF4-FFF2-40B4-BE49-F238E27FC236}">
                <a16:creationId xmlns:a16="http://schemas.microsoft.com/office/drawing/2014/main" id="{B1781462-7C73-4C15-C385-454711372271}"/>
              </a:ext>
            </a:extLst>
          </p:cNvPr>
          <p:cNvSpPr txBox="1">
            <a:spLocks/>
          </p:cNvSpPr>
          <p:nvPr/>
        </p:nvSpPr>
        <p:spPr>
          <a:xfrm>
            <a:off x="793" y="0"/>
            <a:ext cx="7199313" cy="507978"/>
          </a:xfrm>
          <a:prstGeom prst="rect">
            <a:avLst/>
          </a:prstGeom>
          <a:solidFill>
            <a:schemeClr val="accent1"/>
          </a:solidFill>
        </p:spPr>
        <p:txBody>
          <a:bodyPr vert="horz" lIns="91440" tIns="45720" rIns="91440" bIns="45720" rtlCol="0" anchor="ctr">
            <a:no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pPr algn="ctr"/>
            <a:r>
              <a:rPr lang="en-US" sz="3600" b="1" dirty="0">
                <a:solidFill>
                  <a:schemeClr val="bg1"/>
                </a:solidFill>
              </a:rPr>
              <a:t>ASA Configuration</a:t>
            </a:r>
            <a:endParaRPr lang="en-IN" sz="3600" b="1" dirty="0">
              <a:solidFill>
                <a:schemeClr val="bg1"/>
              </a:solidFill>
            </a:endParaRPr>
          </a:p>
        </p:txBody>
      </p:sp>
    </p:spTree>
    <p:extLst>
      <p:ext uri="{BB962C8B-B14F-4D97-AF65-F5344CB8AC3E}">
        <p14:creationId xmlns:p14="http://schemas.microsoft.com/office/powerpoint/2010/main" val="95333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348E-E9D2-D741-87FE-AA9FFC21CCB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37DA4-0CDD-41E8-AE95-3E8CF8007B84}"/>
              </a:ext>
            </a:extLst>
          </p:cNvPr>
          <p:cNvSpPr>
            <a:spLocks noGrp="1"/>
          </p:cNvSpPr>
          <p:nvPr>
            <p:ph idx="1"/>
          </p:nvPr>
        </p:nvSpPr>
        <p:spPr>
          <a:xfrm>
            <a:off x="0" y="507978"/>
            <a:ext cx="6704360" cy="10799763"/>
          </a:xfrm>
        </p:spPr>
        <p:txBody>
          <a:bodyPr>
            <a:normAutofit/>
          </a:bodyPr>
          <a:lstStyle/>
          <a:p>
            <a:pPr marL="0" indent="0">
              <a:buNone/>
            </a:pPr>
            <a:r>
              <a:rPr lang="en-US" dirty="0"/>
              <a:t>crypto </a:t>
            </a:r>
            <a:r>
              <a:rPr lang="en-US" dirty="0" err="1"/>
              <a:t>isakmp</a:t>
            </a:r>
            <a:r>
              <a:rPr lang="en-US" dirty="0"/>
              <a:t> policy 10</a:t>
            </a:r>
          </a:p>
          <a:p>
            <a:pPr marL="0" indent="0">
              <a:buNone/>
            </a:pPr>
            <a:r>
              <a:rPr lang="en-US" dirty="0"/>
              <a:t>     authentication pre-share</a:t>
            </a:r>
            <a:br>
              <a:rPr lang="en-US" dirty="0"/>
            </a:br>
            <a:r>
              <a:rPr lang="en-US" dirty="0"/>
              <a:t>     hash sha</a:t>
            </a:r>
            <a:br>
              <a:rPr lang="en-US" dirty="0"/>
            </a:br>
            <a:r>
              <a:rPr lang="en-US" dirty="0"/>
              <a:t>     group 2</a:t>
            </a:r>
            <a:br>
              <a:rPr lang="en-US" dirty="0"/>
            </a:br>
            <a:r>
              <a:rPr lang="en-US" dirty="0"/>
              <a:t>     lifetime 86400</a:t>
            </a:r>
            <a:br>
              <a:rPr lang="en-US" dirty="0"/>
            </a:br>
            <a:r>
              <a:rPr lang="en-US" dirty="0"/>
              <a:t>     encryption </a:t>
            </a:r>
            <a:r>
              <a:rPr lang="en-US" dirty="0" err="1"/>
              <a:t>aes</a:t>
            </a:r>
            <a:endParaRPr lang="en-US" dirty="0"/>
          </a:p>
          <a:p>
            <a:pPr marL="0" indent="0">
              <a:buNone/>
            </a:pPr>
            <a:r>
              <a:rPr lang="en-US" dirty="0"/>
              <a:t>crypto </a:t>
            </a:r>
            <a:r>
              <a:rPr lang="en-US" dirty="0" err="1"/>
              <a:t>isakmp</a:t>
            </a:r>
            <a:r>
              <a:rPr lang="en-US" dirty="0"/>
              <a:t> key Shan_home-Car@5663355236</a:t>
            </a:r>
            <a:br>
              <a:rPr lang="en-US" dirty="0"/>
            </a:br>
            <a:r>
              <a:rPr lang="en-US" dirty="0"/>
              <a:t>address 100.1.1.1</a:t>
            </a:r>
          </a:p>
          <a:p>
            <a:pPr marL="0" indent="0">
              <a:buNone/>
            </a:pPr>
            <a:r>
              <a:rPr lang="en-US" dirty="0"/>
              <a:t>access-list 100 permit </a:t>
            </a:r>
            <a:r>
              <a:rPr lang="en-US" dirty="0" err="1"/>
              <a:t>ip</a:t>
            </a:r>
            <a:r>
              <a:rPr lang="en-US" dirty="0"/>
              <a:t> 172.16.55.0  0.0.0.255  192.168.11.0   0.0.0.255</a:t>
            </a:r>
          </a:p>
          <a:p>
            <a:pPr marL="0" indent="0">
              <a:buNone/>
            </a:pPr>
            <a:r>
              <a:rPr lang="en-US" dirty="0"/>
              <a:t>crypto </a:t>
            </a:r>
            <a:r>
              <a:rPr lang="en-US" dirty="0" err="1"/>
              <a:t>ipsec</a:t>
            </a:r>
            <a:r>
              <a:rPr lang="en-US" dirty="0"/>
              <a:t> transform-set TR-SET </a:t>
            </a:r>
            <a:r>
              <a:rPr lang="en-US" dirty="0" err="1"/>
              <a:t>esp-aes</a:t>
            </a:r>
            <a:r>
              <a:rPr lang="en-US" dirty="0"/>
              <a:t>  </a:t>
            </a:r>
            <a:r>
              <a:rPr lang="en-US" dirty="0" err="1"/>
              <a:t>esp</a:t>
            </a:r>
            <a:r>
              <a:rPr lang="en-US" dirty="0"/>
              <a:t>-sha-</a:t>
            </a:r>
            <a:r>
              <a:rPr lang="en-US" dirty="0" err="1"/>
              <a:t>hmac</a:t>
            </a:r>
            <a:endParaRPr lang="en-US" dirty="0"/>
          </a:p>
          <a:p>
            <a:pPr marL="0" indent="0">
              <a:buNone/>
            </a:pPr>
            <a:r>
              <a:rPr lang="en-US" dirty="0"/>
              <a:t>crypto map CMAP 10 policy </a:t>
            </a:r>
            <a:r>
              <a:rPr lang="en-US" dirty="0" err="1"/>
              <a:t>ipsec-isakmp</a:t>
            </a:r>
            <a:br>
              <a:rPr lang="en-US" dirty="0"/>
            </a:br>
            <a:r>
              <a:rPr lang="en-US" dirty="0"/>
              <a:t>      set peer 100.1.1.1</a:t>
            </a:r>
            <a:br>
              <a:rPr lang="en-US" dirty="0"/>
            </a:br>
            <a:r>
              <a:rPr lang="en-US" dirty="0"/>
              <a:t>      set transform-set TR-SET</a:t>
            </a:r>
            <a:br>
              <a:rPr lang="en-US" dirty="0"/>
            </a:br>
            <a:r>
              <a:rPr lang="en-US" dirty="0"/>
              <a:t>      match address 100</a:t>
            </a:r>
          </a:p>
          <a:p>
            <a:pPr marL="0" indent="0">
              <a:buNone/>
            </a:pPr>
            <a:r>
              <a:rPr lang="en-US" dirty="0"/>
              <a:t>int g0/0</a:t>
            </a:r>
          </a:p>
          <a:p>
            <a:pPr marL="0" indent="0">
              <a:buNone/>
            </a:pPr>
            <a:r>
              <a:rPr lang="en-US" dirty="0"/>
              <a:t>      crypto map CMAP</a:t>
            </a:r>
          </a:p>
          <a:p>
            <a:pPr marL="0" indent="0">
              <a:buNone/>
            </a:pPr>
            <a:r>
              <a:rPr lang="en-US" dirty="0" err="1"/>
              <a:t>ip</a:t>
            </a:r>
            <a:r>
              <a:rPr lang="en-US" dirty="0"/>
              <a:t> access-list extended </a:t>
            </a:r>
            <a:r>
              <a:rPr lang="en-US" dirty="0" err="1"/>
              <a:t>dontFragment</a:t>
            </a:r>
            <a:br>
              <a:rPr lang="en-US"/>
            </a:br>
            <a:r>
              <a:rPr lang="en-US"/>
              <a:t>      </a:t>
            </a:r>
            <a:endParaRPr lang="en-US" dirty="0"/>
          </a:p>
        </p:txBody>
      </p:sp>
      <p:sp>
        <p:nvSpPr>
          <p:cNvPr id="4" name="Title 1">
            <a:extLst>
              <a:ext uri="{FF2B5EF4-FFF2-40B4-BE49-F238E27FC236}">
                <a16:creationId xmlns:a16="http://schemas.microsoft.com/office/drawing/2014/main" id="{75AB04B0-51DD-EC90-0817-333783BF5307}"/>
              </a:ext>
            </a:extLst>
          </p:cNvPr>
          <p:cNvSpPr txBox="1">
            <a:spLocks/>
          </p:cNvSpPr>
          <p:nvPr/>
        </p:nvSpPr>
        <p:spPr>
          <a:xfrm>
            <a:off x="793" y="0"/>
            <a:ext cx="7199313" cy="507978"/>
          </a:xfrm>
          <a:prstGeom prst="rect">
            <a:avLst/>
          </a:prstGeom>
          <a:solidFill>
            <a:schemeClr val="accent1"/>
          </a:solidFill>
        </p:spPr>
        <p:txBody>
          <a:bodyPr vert="horz" lIns="91440" tIns="45720" rIns="91440" bIns="45720" rtlCol="0" anchor="ctr">
            <a:noAutofit/>
          </a:bodyPr>
          <a:lstStyle>
            <a:lvl1pPr algn="l" defTabSz="719907" rtl="0" eaLnBrk="1" latinLnBrk="0" hangingPunct="1">
              <a:lnSpc>
                <a:spcPct val="90000"/>
              </a:lnSpc>
              <a:spcBef>
                <a:spcPct val="0"/>
              </a:spcBef>
              <a:buNone/>
              <a:defRPr sz="3464" kern="1200">
                <a:solidFill>
                  <a:schemeClr val="tx1"/>
                </a:solidFill>
                <a:latin typeface="+mj-lt"/>
                <a:ea typeface="+mj-ea"/>
                <a:cs typeface="+mj-cs"/>
              </a:defRPr>
            </a:lvl1pPr>
          </a:lstStyle>
          <a:p>
            <a:pPr algn="ctr"/>
            <a:r>
              <a:rPr lang="en-US" sz="3600" b="1" dirty="0">
                <a:solidFill>
                  <a:schemeClr val="bg1"/>
                </a:solidFill>
              </a:rPr>
              <a:t>IND-Router Configuration</a:t>
            </a:r>
            <a:endParaRPr lang="en-IN" sz="3600" b="1" dirty="0">
              <a:solidFill>
                <a:schemeClr val="bg1"/>
              </a:solidFill>
            </a:endParaRPr>
          </a:p>
        </p:txBody>
      </p:sp>
      <p:pic>
        <p:nvPicPr>
          <p:cNvPr id="2" name="Picture 1">
            <a:extLst>
              <a:ext uri="{FF2B5EF4-FFF2-40B4-BE49-F238E27FC236}">
                <a16:creationId xmlns:a16="http://schemas.microsoft.com/office/drawing/2014/main" id="{2126219D-DCCB-979C-4B97-7C0C2A726626}"/>
              </a:ext>
            </a:extLst>
          </p:cNvPr>
          <p:cNvPicPr>
            <a:picLocks noChangeAspect="1"/>
          </p:cNvPicPr>
          <p:nvPr/>
        </p:nvPicPr>
        <p:blipFill>
          <a:blip r:embed="rId2"/>
          <a:stretch>
            <a:fillRect/>
          </a:stretch>
        </p:blipFill>
        <p:spPr>
          <a:xfrm>
            <a:off x="280858" y="8154528"/>
            <a:ext cx="6637595" cy="1958510"/>
          </a:xfrm>
          <a:prstGeom prst="rect">
            <a:avLst/>
          </a:prstGeom>
        </p:spPr>
      </p:pic>
    </p:spTree>
    <p:extLst>
      <p:ext uri="{BB962C8B-B14F-4D97-AF65-F5344CB8AC3E}">
        <p14:creationId xmlns:p14="http://schemas.microsoft.com/office/powerpoint/2010/main" val="3102554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16576-6F0E-8C92-9AD2-FC50A0D97F0F}"/>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Checkpoint</a:t>
            </a:r>
            <a:endParaRPr lang="en-IN" sz="2400" b="1" dirty="0">
              <a:solidFill>
                <a:schemeClr val="bg1"/>
              </a:solidFill>
            </a:endParaRPr>
          </a:p>
        </p:txBody>
      </p:sp>
      <p:sp>
        <p:nvSpPr>
          <p:cNvPr id="3" name="Subtitle 2">
            <a:extLst>
              <a:ext uri="{FF2B5EF4-FFF2-40B4-BE49-F238E27FC236}">
                <a16:creationId xmlns:a16="http://schemas.microsoft.com/office/drawing/2014/main" id="{1759F2FC-23B1-CC06-643D-824A65B780C7}"/>
              </a:ext>
            </a:extLst>
          </p:cNvPr>
          <p:cNvSpPr>
            <a:spLocks noGrp="1"/>
          </p:cNvSpPr>
          <p:nvPr>
            <p:ph type="subTitle" idx="1"/>
          </p:nvPr>
        </p:nvSpPr>
        <p:spPr>
          <a:xfrm>
            <a:off x="-1" y="589454"/>
            <a:ext cx="7199313" cy="10210309"/>
          </a:xfrm>
        </p:spPr>
        <p:txBody>
          <a:bodyPr>
            <a:normAutofit/>
          </a:bodyPr>
          <a:lstStyle/>
          <a:p>
            <a:pPr algn="l"/>
            <a:r>
              <a:rPr lang="en-US" dirty="0"/>
              <a:t>1. SA MISAMTCH: </a:t>
            </a:r>
            <a:br>
              <a:rPr lang="en-US" dirty="0"/>
            </a:br>
            <a:r>
              <a:rPr lang="en-US" dirty="0"/>
              <a:t>  Hagle Parameter Mismatch </a:t>
            </a:r>
          </a:p>
          <a:p>
            <a:pPr algn="l"/>
            <a:r>
              <a:rPr lang="en-US" dirty="0"/>
              <a:t>  H – Hash  -  md5, sha</a:t>
            </a:r>
            <a:br>
              <a:rPr lang="en-US" dirty="0"/>
            </a:br>
            <a:r>
              <a:rPr lang="en-US" dirty="0"/>
              <a:t>  A – Authentication  - </a:t>
            </a:r>
            <a:br>
              <a:rPr lang="en-US" dirty="0"/>
            </a:br>
            <a:r>
              <a:rPr lang="en-US" dirty="0"/>
              <a:t>  G – DH Group – 2,5 ……</a:t>
            </a:r>
            <a:br>
              <a:rPr lang="en-US" dirty="0"/>
            </a:br>
            <a:r>
              <a:rPr lang="en-US" dirty="0"/>
              <a:t>  L  – Lifetime -  &lt;60-86400&gt; seconds</a:t>
            </a:r>
            <a:br>
              <a:rPr lang="en-US" dirty="0"/>
            </a:br>
            <a:r>
              <a:rPr lang="en-US" dirty="0"/>
              <a:t>  E – Encryption  -  des, 3des, </a:t>
            </a:r>
            <a:r>
              <a:rPr lang="en-US" dirty="0" err="1"/>
              <a:t>aes</a:t>
            </a:r>
            <a:r>
              <a:rPr lang="en-US" dirty="0"/>
              <a:t>, </a:t>
            </a:r>
            <a:r>
              <a:rPr lang="en-US" dirty="0" err="1"/>
              <a:t>aes-gcm</a:t>
            </a:r>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2. MM_KEY_EXCH:</a:t>
            </a:r>
            <a:br>
              <a:rPr lang="en-US" dirty="0"/>
            </a:br>
            <a:endParaRPr lang="en-US" dirty="0"/>
          </a:p>
          <a:p>
            <a:pPr algn="l"/>
            <a:r>
              <a:rPr lang="en-US" dirty="0"/>
              <a:t>   </a:t>
            </a:r>
          </a:p>
          <a:p>
            <a:pPr algn="l"/>
            <a:endParaRPr lang="en-US" dirty="0"/>
          </a:p>
          <a:p>
            <a:pPr algn="l"/>
            <a:endParaRPr lang="en-US" dirty="0"/>
          </a:p>
          <a:p>
            <a:pPr algn="l"/>
            <a:r>
              <a:rPr lang="en-US" dirty="0"/>
              <a:t>3. Phase 2 transform-set mismatch:  (</a:t>
            </a:r>
            <a:r>
              <a:rPr lang="en-US" dirty="0" err="1"/>
              <a:t>esp</a:t>
            </a:r>
            <a:r>
              <a:rPr lang="en-US" dirty="0"/>
              <a:t>, ah)</a:t>
            </a:r>
          </a:p>
          <a:p>
            <a:pPr algn="l"/>
            <a:br>
              <a:rPr lang="en-US" dirty="0"/>
            </a:br>
            <a:endParaRPr lang="en-US" dirty="0"/>
          </a:p>
          <a:p>
            <a:pPr algn="l"/>
            <a:endParaRPr lang="en-US" dirty="0"/>
          </a:p>
          <a:p>
            <a:pPr algn="l"/>
            <a:endParaRPr lang="en-US" dirty="0"/>
          </a:p>
          <a:p>
            <a:pPr algn="l"/>
            <a:endParaRPr lang="en-US" dirty="0"/>
          </a:p>
          <a:p>
            <a:pPr algn="l"/>
            <a:endParaRPr lang="en-US" dirty="0"/>
          </a:p>
          <a:p>
            <a:pPr algn="l"/>
            <a:endParaRPr lang="en-US" dirty="0"/>
          </a:p>
        </p:txBody>
      </p:sp>
      <p:pic>
        <p:nvPicPr>
          <p:cNvPr id="15" name="Picture 14">
            <a:extLst>
              <a:ext uri="{FF2B5EF4-FFF2-40B4-BE49-F238E27FC236}">
                <a16:creationId xmlns:a16="http://schemas.microsoft.com/office/drawing/2014/main" id="{7FC1D380-1EC4-5141-7E3E-4C688402674F}"/>
              </a:ext>
            </a:extLst>
          </p:cNvPr>
          <p:cNvPicPr>
            <a:picLocks noChangeAspect="1"/>
          </p:cNvPicPr>
          <p:nvPr/>
        </p:nvPicPr>
        <p:blipFill>
          <a:blip r:embed="rId2"/>
          <a:srcRect r="4219"/>
          <a:stretch>
            <a:fillRect/>
          </a:stretch>
        </p:blipFill>
        <p:spPr>
          <a:xfrm>
            <a:off x="825975" y="3931288"/>
            <a:ext cx="5547360" cy="1165961"/>
          </a:xfrm>
          <a:prstGeom prst="rect">
            <a:avLst/>
          </a:prstGeom>
        </p:spPr>
      </p:pic>
      <p:pic>
        <p:nvPicPr>
          <p:cNvPr id="17" name="Picture 16">
            <a:extLst>
              <a:ext uri="{FF2B5EF4-FFF2-40B4-BE49-F238E27FC236}">
                <a16:creationId xmlns:a16="http://schemas.microsoft.com/office/drawing/2014/main" id="{488C04A4-222F-16DF-ED12-0A5CDDDB0583}"/>
              </a:ext>
            </a:extLst>
          </p:cNvPr>
          <p:cNvPicPr>
            <a:picLocks noChangeAspect="1"/>
          </p:cNvPicPr>
          <p:nvPr/>
        </p:nvPicPr>
        <p:blipFill>
          <a:blip r:embed="rId3"/>
          <a:srcRect r="22946"/>
          <a:stretch>
            <a:fillRect/>
          </a:stretch>
        </p:blipFill>
        <p:spPr>
          <a:xfrm>
            <a:off x="825975" y="2675029"/>
            <a:ext cx="5547360" cy="1174783"/>
          </a:xfrm>
          <a:prstGeom prst="rect">
            <a:avLst/>
          </a:prstGeom>
        </p:spPr>
      </p:pic>
      <p:pic>
        <p:nvPicPr>
          <p:cNvPr id="21" name="Picture 20">
            <a:extLst>
              <a:ext uri="{FF2B5EF4-FFF2-40B4-BE49-F238E27FC236}">
                <a16:creationId xmlns:a16="http://schemas.microsoft.com/office/drawing/2014/main" id="{305CD2A0-F775-E4EA-06A9-E92DC3343C1B}"/>
              </a:ext>
            </a:extLst>
          </p:cNvPr>
          <p:cNvPicPr>
            <a:picLocks noChangeAspect="1"/>
          </p:cNvPicPr>
          <p:nvPr/>
        </p:nvPicPr>
        <p:blipFill>
          <a:blip r:embed="rId4"/>
          <a:stretch>
            <a:fillRect/>
          </a:stretch>
        </p:blipFill>
        <p:spPr>
          <a:xfrm>
            <a:off x="447278" y="5404700"/>
            <a:ext cx="5868219" cy="352474"/>
          </a:xfrm>
          <a:prstGeom prst="rect">
            <a:avLst/>
          </a:prstGeom>
        </p:spPr>
      </p:pic>
      <p:pic>
        <p:nvPicPr>
          <p:cNvPr id="43" name="Picture 42">
            <a:extLst>
              <a:ext uri="{FF2B5EF4-FFF2-40B4-BE49-F238E27FC236}">
                <a16:creationId xmlns:a16="http://schemas.microsoft.com/office/drawing/2014/main" id="{EC18D63E-3988-52C3-DD6E-7FF0742B976F}"/>
              </a:ext>
            </a:extLst>
          </p:cNvPr>
          <p:cNvPicPr>
            <a:picLocks noChangeAspect="1"/>
          </p:cNvPicPr>
          <p:nvPr/>
        </p:nvPicPr>
        <p:blipFill>
          <a:blip r:embed="rId5"/>
          <a:stretch>
            <a:fillRect/>
          </a:stretch>
        </p:blipFill>
        <p:spPr>
          <a:xfrm>
            <a:off x="369290" y="6730189"/>
            <a:ext cx="6596444" cy="493819"/>
          </a:xfrm>
          <a:prstGeom prst="rect">
            <a:avLst/>
          </a:prstGeom>
        </p:spPr>
      </p:pic>
      <p:pic>
        <p:nvPicPr>
          <p:cNvPr id="53" name="Picture 52">
            <a:extLst>
              <a:ext uri="{FF2B5EF4-FFF2-40B4-BE49-F238E27FC236}">
                <a16:creationId xmlns:a16="http://schemas.microsoft.com/office/drawing/2014/main" id="{C055AAD9-FFB9-8B76-65E6-C2842D41620C}"/>
              </a:ext>
            </a:extLst>
          </p:cNvPr>
          <p:cNvPicPr>
            <a:picLocks noChangeAspect="1"/>
          </p:cNvPicPr>
          <p:nvPr/>
        </p:nvPicPr>
        <p:blipFill>
          <a:blip r:embed="rId4"/>
          <a:stretch>
            <a:fillRect/>
          </a:stretch>
        </p:blipFill>
        <p:spPr>
          <a:xfrm>
            <a:off x="505116" y="6225930"/>
            <a:ext cx="5868219" cy="352474"/>
          </a:xfrm>
          <a:prstGeom prst="rect">
            <a:avLst/>
          </a:prstGeom>
        </p:spPr>
      </p:pic>
      <p:pic>
        <p:nvPicPr>
          <p:cNvPr id="54" name="Picture 53">
            <a:extLst>
              <a:ext uri="{FF2B5EF4-FFF2-40B4-BE49-F238E27FC236}">
                <a16:creationId xmlns:a16="http://schemas.microsoft.com/office/drawing/2014/main" id="{0E529007-FEF9-8B75-8A59-81F0C2BEA25C}"/>
              </a:ext>
            </a:extLst>
          </p:cNvPr>
          <p:cNvPicPr>
            <a:picLocks noChangeAspect="1"/>
          </p:cNvPicPr>
          <p:nvPr/>
        </p:nvPicPr>
        <p:blipFill>
          <a:blip r:embed="rId4"/>
          <a:stretch>
            <a:fillRect/>
          </a:stretch>
        </p:blipFill>
        <p:spPr>
          <a:xfrm>
            <a:off x="666340" y="8072015"/>
            <a:ext cx="5868219" cy="352474"/>
          </a:xfrm>
          <a:prstGeom prst="rect">
            <a:avLst/>
          </a:prstGeom>
        </p:spPr>
      </p:pic>
      <p:pic>
        <p:nvPicPr>
          <p:cNvPr id="57" name="Picture 56">
            <a:extLst>
              <a:ext uri="{FF2B5EF4-FFF2-40B4-BE49-F238E27FC236}">
                <a16:creationId xmlns:a16="http://schemas.microsoft.com/office/drawing/2014/main" id="{6B765B2D-53A2-F141-9608-CACAB8D0B20E}"/>
              </a:ext>
            </a:extLst>
          </p:cNvPr>
          <p:cNvPicPr>
            <a:picLocks noChangeAspect="1"/>
          </p:cNvPicPr>
          <p:nvPr/>
        </p:nvPicPr>
        <p:blipFill>
          <a:blip r:embed="rId6"/>
          <a:stretch>
            <a:fillRect/>
          </a:stretch>
        </p:blipFill>
        <p:spPr>
          <a:xfrm>
            <a:off x="369290" y="8551943"/>
            <a:ext cx="6529382" cy="499915"/>
          </a:xfrm>
          <a:prstGeom prst="rect">
            <a:avLst/>
          </a:prstGeom>
        </p:spPr>
      </p:pic>
      <p:pic>
        <p:nvPicPr>
          <p:cNvPr id="59" name="Picture 58">
            <a:extLst>
              <a:ext uri="{FF2B5EF4-FFF2-40B4-BE49-F238E27FC236}">
                <a16:creationId xmlns:a16="http://schemas.microsoft.com/office/drawing/2014/main" id="{B1A87732-F189-3FA4-D246-0E875D256F52}"/>
              </a:ext>
            </a:extLst>
          </p:cNvPr>
          <p:cNvPicPr>
            <a:picLocks noChangeAspect="1"/>
          </p:cNvPicPr>
          <p:nvPr/>
        </p:nvPicPr>
        <p:blipFill>
          <a:blip r:embed="rId7"/>
          <a:stretch>
            <a:fillRect/>
          </a:stretch>
        </p:blipFill>
        <p:spPr>
          <a:xfrm>
            <a:off x="737657" y="9484205"/>
            <a:ext cx="5577840" cy="1245537"/>
          </a:xfrm>
          <a:prstGeom prst="rect">
            <a:avLst/>
          </a:prstGeom>
        </p:spPr>
      </p:pic>
      <p:pic>
        <p:nvPicPr>
          <p:cNvPr id="61" name="Picture 60">
            <a:extLst>
              <a:ext uri="{FF2B5EF4-FFF2-40B4-BE49-F238E27FC236}">
                <a16:creationId xmlns:a16="http://schemas.microsoft.com/office/drawing/2014/main" id="{DFE526FF-02FC-8A14-3756-207C86BF44EC}"/>
              </a:ext>
            </a:extLst>
          </p:cNvPr>
          <p:cNvPicPr>
            <a:picLocks noChangeAspect="1"/>
          </p:cNvPicPr>
          <p:nvPr/>
        </p:nvPicPr>
        <p:blipFill>
          <a:blip r:embed="rId8"/>
          <a:stretch>
            <a:fillRect/>
          </a:stretch>
        </p:blipFill>
        <p:spPr>
          <a:xfrm>
            <a:off x="811530" y="9112678"/>
            <a:ext cx="5229955" cy="371527"/>
          </a:xfrm>
          <a:prstGeom prst="rect">
            <a:avLst/>
          </a:prstGeom>
        </p:spPr>
      </p:pic>
    </p:spTree>
    <p:extLst>
      <p:ext uri="{BB962C8B-B14F-4D97-AF65-F5344CB8AC3E}">
        <p14:creationId xmlns:p14="http://schemas.microsoft.com/office/powerpoint/2010/main" val="1073189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0B99E-58F4-2F15-FCE8-61BFE4954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6CABC3-6686-58FA-8349-6F5C69EAF12B}"/>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Checkpoint</a:t>
            </a:r>
            <a:endParaRPr lang="en-IN" sz="2400" b="1" dirty="0">
              <a:solidFill>
                <a:schemeClr val="bg1"/>
              </a:solidFill>
            </a:endParaRPr>
          </a:p>
        </p:txBody>
      </p:sp>
      <p:sp>
        <p:nvSpPr>
          <p:cNvPr id="3" name="Subtitle 2">
            <a:extLst>
              <a:ext uri="{FF2B5EF4-FFF2-40B4-BE49-F238E27FC236}">
                <a16:creationId xmlns:a16="http://schemas.microsoft.com/office/drawing/2014/main" id="{3B8B411F-2D4D-2CFE-FF0C-36A1801EC190}"/>
              </a:ext>
            </a:extLst>
          </p:cNvPr>
          <p:cNvSpPr>
            <a:spLocks noGrp="1"/>
          </p:cNvSpPr>
          <p:nvPr>
            <p:ph type="subTitle" idx="1"/>
          </p:nvPr>
        </p:nvSpPr>
        <p:spPr>
          <a:xfrm>
            <a:off x="-1" y="589454"/>
            <a:ext cx="7199313" cy="11175826"/>
          </a:xfrm>
        </p:spPr>
        <p:txBody>
          <a:bodyPr>
            <a:noAutofit/>
          </a:bodyPr>
          <a:lstStyle/>
          <a:p>
            <a:pPr algn="l"/>
            <a:r>
              <a:rPr lang="en-US" sz="1800" dirty="0"/>
              <a:t>4. No Crypto ACL or Encryption Domain other side</a:t>
            </a:r>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br>
              <a:rPr lang="en-US" sz="1800" dirty="0"/>
            </a:br>
            <a:endParaRPr lang="en-US" sz="1800" dirty="0"/>
          </a:p>
          <a:p>
            <a:pPr algn="l"/>
            <a:endParaRPr lang="en-US" sz="1800" dirty="0"/>
          </a:p>
          <a:p>
            <a:pPr algn="l"/>
            <a:r>
              <a:rPr lang="en-US" sz="1800" dirty="0"/>
              <a:t>4. Both phases success:</a:t>
            </a:r>
          </a:p>
          <a:p>
            <a:pPr algn="l">
              <a:lnSpc>
                <a:spcPct val="120000"/>
              </a:lnSpc>
            </a:pPr>
            <a:r>
              <a:rPr lang="en-US" sz="1800" dirty="0"/>
              <a:t>    Once an IKE negotiation is successfully completed, the peers have </a:t>
            </a:r>
            <a:br>
              <a:rPr lang="en-US" sz="1800" dirty="0"/>
            </a:br>
            <a:r>
              <a:rPr lang="en-US" sz="1800" dirty="0"/>
              <a:t>    established two pairs of one-way (inbound and outbound) SAs. Since IKE </a:t>
            </a:r>
            <a:br>
              <a:rPr lang="en-US" sz="1800" dirty="0"/>
            </a:br>
            <a:r>
              <a:rPr lang="en-US" sz="1800" dirty="0"/>
              <a:t>    always negotiates pairs of SAs, the term "SA" is generally used to refer to </a:t>
            </a:r>
            <a:br>
              <a:rPr lang="en-US" sz="1800" dirty="0"/>
            </a:br>
            <a:r>
              <a:rPr lang="en-US" sz="1800" dirty="0"/>
              <a:t>    a pair of SAs (e.g., an "IKE SA" or an "IPsec SA" is in reality a pair of one-</a:t>
            </a:r>
            <a:br>
              <a:rPr lang="en-US" sz="1800" dirty="0"/>
            </a:br>
            <a:r>
              <a:rPr lang="en-US" sz="1800" dirty="0"/>
              <a:t>    way SAs).</a:t>
            </a:r>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br>
              <a:rPr lang="en-US" sz="1800" dirty="0"/>
            </a:br>
            <a:endParaRPr lang="en-US" sz="1800" dirty="0"/>
          </a:p>
          <a:p>
            <a:pPr algn="l"/>
            <a:r>
              <a:rPr lang="en-US" sz="1800" dirty="0"/>
              <a:t>   </a:t>
            </a:r>
          </a:p>
          <a:p>
            <a:pPr algn="l"/>
            <a:endParaRPr lang="en-US" sz="1800" dirty="0"/>
          </a:p>
          <a:p>
            <a:pPr algn="l"/>
            <a:br>
              <a:rPr lang="en-US" sz="1800" dirty="0"/>
            </a:br>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br>
              <a:rPr lang="en-US" sz="1800" dirty="0"/>
            </a:br>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p:txBody>
      </p:sp>
      <p:pic>
        <p:nvPicPr>
          <p:cNvPr id="7" name="Picture 6">
            <a:extLst>
              <a:ext uri="{FF2B5EF4-FFF2-40B4-BE49-F238E27FC236}">
                <a16:creationId xmlns:a16="http://schemas.microsoft.com/office/drawing/2014/main" id="{F3306836-0F0B-5B7D-1FA0-871684B9DA72}"/>
              </a:ext>
            </a:extLst>
          </p:cNvPr>
          <p:cNvPicPr>
            <a:picLocks noChangeAspect="1"/>
          </p:cNvPicPr>
          <p:nvPr/>
        </p:nvPicPr>
        <p:blipFill>
          <a:blip r:embed="rId2"/>
          <a:srcRect r="3073"/>
          <a:stretch>
            <a:fillRect/>
          </a:stretch>
        </p:blipFill>
        <p:spPr>
          <a:xfrm>
            <a:off x="826529" y="8442312"/>
            <a:ext cx="5547841" cy="2242471"/>
          </a:xfrm>
          <a:prstGeom prst="rect">
            <a:avLst/>
          </a:prstGeom>
        </p:spPr>
      </p:pic>
      <p:pic>
        <p:nvPicPr>
          <p:cNvPr id="9" name="Picture 8">
            <a:extLst>
              <a:ext uri="{FF2B5EF4-FFF2-40B4-BE49-F238E27FC236}">
                <a16:creationId xmlns:a16="http://schemas.microsoft.com/office/drawing/2014/main" id="{CF23BD25-21C8-ACD9-0547-45AB9620152D}"/>
              </a:ext>
            </a:extLst>
          </p:cNvPr>
          <p:cNvPicPr>
            <a:picLocks noChangeAspect="1"/>
          </p:cNvPicPr>
          <p:nvPr/>
        </p:nvPicPr>
        <p:blipFill>
          <a:blip r:embed="rId3"/>
          <a:srcRect r="3073"/>
          <a:stretch>
            <a:fillRect/>
          </a:stretch>
        </p:blipFill>
        <p:spPr>
          <a:xfrm>
            <a:off x="826529" y="7036452"/>
            <a:ext cx="5547841" cy="1324384"/>
          </a:xfrm>
          <a:prstGeom prst="rect">
            <a:avLst/>
          </a:prstGeom>
        </p:spPr>
      </p:pic>
      <p:pic>
        <p:nvPicPr>
          <p:cNvPr id="11" name="Picture 10">
            <a:extLst>
              <a:ext uri="{FF2B5EF4-FFF2-40B4-BE49-F238E27FC236}">
                <a16:creationId xmlns:a16="http://schemas.microsoft.com/office/drawing/2014/main" id="{9B484D37-5806-CC5E-8094-8B27111880AD}"/>
              </a:ext>
            </a:extLst>
          </p:cNvPr>
          <p:cNvPicPr>
            <a:picLocks noChangeAspect="1"/>
          </p:cNvPicPr>
          <p:nvPr/>
        </p:nvPicPr>
        <p:blipFill>
          <a:blip r:embed="rId4"/>
          <a:stretch>
            <a:fillRect/>
          </a:stretch>
        </p:blipFill>
        <p:spPr>
          <a:xfrm>
            <a:off x="826529" y="6613908"/>
            <a:ext cx="5547841" cy="381033"/>
          </a:xfrm>
          <a:prstGeom prst="rect">
            <a:avLst/>
          </a:prstGeom>
        </p:spPr>
      </p:pic>
      <p:pic>
        <p:nvPicPr>
          <p:cNvPr id="16" name="Picture 15">
            <a:extLst>
              <a:ext uri="{FF2B5EF4-FFF2-40B4-BE49-F238E27FC236}">
                <a16:creationId xmlns:a16="http://schemas.microsoft.com/office/drawing/2014/main" id="{122475D8-71CB-D200-ECB2-A5C128FB2705}"/>
              </a:ext>
            </a:extLst>
          </p:cNvPr>
          <p:cNvPicPr>
            <a:picLocks noChangeAspect="1"/>
          </p:cNvPicPr>
          <p:nvPr/>
        </p:nvPicPr>
        <p:blipFill>
          <a:blip r:embed="rId5"/>
          <a:stretch>
            <a:fillRect/>
          </a:stretch>
        </p:blipFill>
        <p:spPr>
          <a:xfrm>
            <a:off x="688814" y="1007683"/>
            <a:ext cx="5536405" cy="1217362"/>
          </a:xfrm>
          <a:prstGeom prst="rect">
            <a:avLst/>
          </a:prstGeom>
        </p:spPr>
      </p:pic>
      <p:pic>
        <p:nvPicPr>
          <p:cNvPr id="20" name="Picture 19">
            <a:extLst>
              <a:ext uri="{FF2B5EF4-FFF2-40B4-BE49-F238E27FC236}">
                <a16:creationId xmlns:a16="http://schemas.microsoft.com/office/drawing/2014/main" id="{8824A782-8BFA-634C-BC39-43622519041A}"/>
              </a:ext>
            </a:extLst>
          </p:cNvPr>
          <p:cNvPicPr>
            <a:picLocks noChangeAspect="1"/>
          </p:cNvPicPr>
          <p:nvPr/>
        </p:nvPicPr>
        <p:blipFill>
          <a:blip r:embed="rId6"/>
          <a:stretch>
            <a:fillRect/>
          </a:stretch>
        </p:blipFill>
        <p:spPr>
          <a:xfrm>
            <a:off x="688814" y="2306521"/>
            <a:ext cx="5535648" cy="1798476"/>
          </a:xfrm>
          <a:prstGeom prst="rect">
            <a:avLst/>
          </a:prstGeom>
        </p:spPr>
      </p:pic>
    </p:spTree>
    <p:extLst>
      <p:ext uri="{BB962C8B-B14F-4D97-AF65-F5344CB8AC3E}">
        <p14:creationId xmlns:p14="http://schemas.microsoft.com/office/powerpoint/2010/main" val="1948895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671FE-A608-2636-71C4-B7A47ED67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7C7E6-19F2-CF11-4220-6B09BB356C53}"/>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ASA</a:t>
            </a:r>
            <a:endParaRPr lang="en-IN" sz="2400" b="1" dirty="0">
              <a:solidFill>
                <a:schemeClr val="bg1"/>
              </a:solidFill>
            </a:endParaRPr>
          </a:p>
        </p:txBody>
      </p:sp>
      <p:sp>
        <p:nvSpPr>
          <p:cNvPr id="3" name="Subtitle 2">
            <a:extLst>
              <a:ext uri="{FF2B5EF4-FFF2-40B4-BE49-F238E27FC236}">
                <a16:creationId xmlns:a16="http://schemas.microsoft.com/office/drawing/2014/main" id="{75B6EC9D-6D84-737A-0CA0-FC8C060634E2}"/>
              </a:ext>
            </a:extLst>
          </p:cNvPr>
          <p:cNvSpPr>
            <a:spLocks noGrp="1"/>
          </p:cNvSpPr>
          <p:nvPr>
            <p:ph type="subTitle" idx="1"/>
          </p:nvPr>
        </p:nvSpPr>
        <p:spPr>
          <a:xfrm>
            <a:off x="-1" y="589453"/>
            <a:ext cx="7199313" cy="10210309"/>
          </a:xfrm>
        </p:spPr>
        <p:txBody>
          <a:bodyPr>
            <a:normAutofit/>
          </a:bodyPr>
          <a:lstStyle/>
          <a:p>
            <a:pPr algn="l"/>
            <a:r>
              <a:rPr lang="en-US" dirty="0"/>
              <a:t>1. SA MISAMTCH: </a:t>
            </a:r>
            <a:br>
              <a:rPr lang="en-US" dirty="0"/>
            </a:br>
            <a:r>
              <a:rPr lang="en-US" dirty="0"/>
              <a:t>  </a:t>
            </a:r>
          </a:p>
          <a:p>
            <a:pPr algn="l"/>
            <a:endParaRPr lang="en-US" dirty="0"/>
          </a:p>
          <a:p>
            <a:pPr algn="l"/>
            <a:endParaRPr lang="en-US" dirty="0"/>
          </a:p>
          <a:p>
            <a:pPr algn="l"/>
            <a:endParaRPr lang="en-US" dirty="0"/>
          </a:p>
          <a:p>
            <a:pPr algn="l"/>
            <a:endParaRPr lang="en-US" dirty="0"/>
          </a:p>
          <a:p>
            <a:pPr algn="l"/>
            <a:endParaRPr lang="en-US" dirty="0"/>
          </a:p>
          <a:p>
            <a:pPr algn="l"/>
            <a:r>
              <a:rPr lang="en-US" dirty="0"/>
              <a:t>2. MM_KEY_EXCH:</a:t>
            </a:r>
            <a:br>
              <a:rPr lang="en-US" dirty="0"/>
            </a:br>
            <a:r>
              <a:rPr lang="en-US" dirty="0"/>
              <a:t>   </a:t>
            </a:r>
          </a:p>
          <a:p>
            <a:pPr algn="l"/>
            <a:endParaRPr lang="en-US" dirty="0"/>
          </a:p>
          <a:p>
            <a:pPr algn="l"/>
            <a:br>
              <a:rPr lang="en-US" dirty="0"/>
            </a:br>
            <a:br>
              <a:rPr lang="en-US" dirty="0"/>
            </a:br>
            <a:endParaRPr lang="en-US" dirty="0"/>
          </a:p>
          <a:p>
            <a:pPr algn="l"/>
            <a:endParaRPr lang="en-US" dirty="0"/>
          </a:p>
          <a:p>
            <a:pPr algn="l"/>
            <a:endParaRPr lang="en-US" dirty="0"/>
          </a:p>
          <a:p>
            <a:pPr algn="l"/>
            <a:r>
              <a:rPr lang="en-US" dirty="0"/>
              <a:t>3. Phase 2 transform-set mismatch:  (</a:t>
            </a:r>
            <a:r>
              <a:rPr lang="en-US" dirty="0" err="1"/>
              <a:t>esp</a:t>
            </a:r>
            <a:r>
              <a:rPr lang="en-US" dirty="0"/>
              <a:t>, ah)</a:t>
            </a:r>
          </a:p>
          <a:p>
            <a:pPr algn="l"/>
            <a:r>
              <a:rPr lang="en-US" dirty="0"/>
              <a:t>     Phase1 – UP</a:t>
            </a:r>
            <a:br>
              <a:rPr lang="en-US" dirty="0"/>
            </a:br>
            <a:r>
              <a:rPr lang="en-US" dirty="0"/>
              <a:t>     Phase2 - Down</a:t>
            </a:r>
          </a:p>
          <a:p>
            <a:pPr algn="l"/>
            <a:endParaRPr lang="en-US" dirty="0"/>
          </a:p>
          <a:p>
            <a:pPr algn="l"/>
            <a:endParaRPr lang="en-US" dirty="0"/>
          </a:p>
          <a:p>
            <a:pPr algn="l"/>
            <a:endParaRPr lang="en-US" dirty="0"/>
          </a:p>
          <a:p>
            <a:pPr algn="l"/>
            <a:endParaRPr lang="en-US" dirty="0"/>
          </a:p>
          <a:p>
            <a:pPr algn="l"/>
            <a:endParaRPr lang="en-US" dirty="0"/>
          </a:p>
          <a:p>
            <a:pPr algn="l"/>
            <a:endParaRPr lang="en-US" dirty="0"/>
          </a:p>
        </p:txBody>
      </p:sp>
      <p:pic>
        <p:nvPicPr>
          <p:cNvPr id="5" name="Picture 4">
            <a:extLst>
              <a:ext uri="{FF2B5EF4-FFF2-40B4-BE49-F238E27FC236}">
                <a16:creationId xmlns:a16="http://schemas.microsoft.com/office/drawing/2014/main" id="{6CF1CC34-7D9B-B49F-F644-E131E06034BC}"/>
              </a:ext>
            </a:extLst>
          </p:cNvPr>
          <p:cNvPicPr>
            <a:picLocks noChangeAspect="1"/>
          </p:cNvPicPr>
          <p:nvPr/>
        </p:nvPicPr>
        <p:blipFill>
          <a:blip r:embed="rId2"/>
          <a:stretch>
            <a:fillRect/>
          </a:stretch>
        </p:blipFill>
        <p:spPr>
          <a:xfrm>
            <a:off x="466486" y="1092826"/>
            <a:ext cx="6267927" cy="1757889"/>
          </a:xfrm>
          <a:prstGeom prst="rect">
            <a:avLst/>
          </a:prstGeom>
        </p:spPr>
      </p:pic>
      <p:sp>
        <p:nvSpPr>
          <p:cNvPr id="6" name="Rectangle 5">
            <a:extLst>
              <a:ext uri="{FF2B5EF4-FFF2-40B4-BE49-F238E27FC236}">
                <a16:creationId xmlns:a16="http://schemas.microsoft.com/office/drawing/2014/main" id="{EAD84833-7DBA-96F2-030A-C9B2CF2F44C1}"/>
              </a:ext>
            </a:extLst>
          </p:cNvPr>
          <p:cNvSpPr/>
          <p:nvPr/>
        </p:nvSpPr>
        <p:spPr>
          <a:xfrm>
            <a:off x="3698240" y="2499360"/>
            <a:ext cx="1239520" cy="351355"/>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5" name="Picture 44">
            <a:extLst>
              <a:ext uri="{FF2B5EF4-FFF2-40B4-BE49-F238E27FC236}">
                <a16:creationId xmlns:a16="http://schemas.microsoft.com/office/drawing/2014/main" id="{81E380F0-3241-0805-976B-95822C547D1C}"/>
              </a:ext>
            </a:extLst>
          </p:cNvPr>
          <p:cNvPicPr>
            <a:picLocks noChangeAspect="1"/>
          </p:cNvPicPr>
          <p:nvPr/>
        </p:nvPicPr>
        <p:blipFill>
          <a:blip r:embed="rId3"/>
          <a:stretch>
            <a:fillRect/>
          </a:stretch>
        </p:blipFill>
        <p:spPr>
          <a:xfrm>
            <a:off x="1003641" y="8558243"/>
            <a:ext cx="5193617" cy="542013"/>
          </a:xfrm>
          <a:prstGeom prst="rect">
            <a:avLst/>
          </a:prstGeom>
        </p:spPr>
      </p:pic>
      <p:pic>
        <p:nvPicPr>
          <p:cNvPr id="13" name="Picture 12">
            <a:extLst>
              <a:ext uri="{FF2B5EF4-FFF2-40B4-BE49-F238E27FC236}">
                <a16:creationId xmlns:a16="http://schemas.microsoft.com/office/drawing/2014/main" id="{3CB6A913-6008-099A-CBFF-61BAED493485}"/>
              </a:ext>
            </a:extLst>
          </p:cNvPr>
          <p:cNvPicPr>
            <a:picLocks noChangeAspect="1"/>
          </p:cNvPicPr>
          <p:nvPr/>
        </p:nvPicPr>
        <p:blipFill>
          <a:blip r:embed="rId4"/>
          <a:stretch>
            <a:fillRect/>
          </a:stretch>
        </p:blipFill>
        <p:spPr>
          <a:xfrm>
            <a:off x="439400" y="3374249"/>
            <a:ext cx="6322100" cy="1816765"/>
          </a:xfrm>
          <a:prstGeom prst="rect">
            <a:avLst/>
          </a:prstGeom>
        </p:spPr>
      </p:pic>
      <p:pic>
        <p:nvPicPr>
          <p:cNvPr id="19" name="Picture 18">
            <a:extLst>
              <a:ext uri="{FF2B5EF4-FFF2-40B4-BE49-F238E27FC236}">
                <a16:creationId xmlns:a16="http://schemas.microsoft.com/office/drawing/2014/main" id="{596CC5A3-C5A4-93BE-D3F1-1B1E6F6A4983}"/>
              </a:ext>
            </a:extLst>
          </p:cNvPr>
          <p:cNvPicPr>
            <a:picLocks noChangeAspect="1"/>
          </p:cNvPicPr>
          <p:nvPr/>
        </p:nvPicPr>
        <p:blipFill>
          <a:blip r:embed="rId5"/>
          <a:stretch>
            <a:fillRect/>
          </a:stretch>
        </p:blipFill>
        <p:spPr>
          <a:xfrm>
            <a:off x="927363" y="6660437"/>
            <a:ext cx="5651482" cy="1639966"/>
          </a:xfrm>
          <a:prstGeom prst="rect">
            <a:avLst/>
          </a:prstGeom>
        </p:spPr>
      </p:pic>
    </p:spTree>
    <p:extLst>
      <p:ext uri="{BB962C8B-B14F-4D97-AF65-F5344CB8AC3E}">
        <p14:creationId xmlns:p14="http://schemas.microsoft.com/office/powerpoint/2010/main" val="1254537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39A97-2A5C-829A-8640-2C228062B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5AC1A-5435-8715-558C-7037F123B49F}"/>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ASA</a:t>
            </a:r>
            <a:endParaRPr lang="en-IN" sz="2400" b="1" dirty="0">
              <a:solidFill>
                <a:schemeClr val="bg1"/>
              </a:solidFill>
            </a:endParaRPr>
          </a:p>
        </p:txBody>
      </p:sp>
      <p:sp>
        <p:nvSpPr>
          <p:cNvPr id="3" name="Subtitle 2">
            <a:extLst>
              <a:ext uri="{FF2B5EF4-FFF2-40B4-BE49-F238E27FC236}">
                <a16:creationId xmlns:a16="http://schemas.microsoft.com/office/drawing/2014/main" id="{75F8F4AF-69AF-4AA9-ED71-2C3CAE6AC3B1}"/>
              </a:ext>
            </a:extLst>
          </p:cNvPr>
          <p:cNvSpPr>
            <a:spLocks noGrp="1"/>
          </p:cNvSpPr>
          <p:nvPr>
            <p:ph type="subTitle" idx="1"/>
          </p:nvPr>
        </p:nvSpPr>
        <p:spPr>
          <a:xfrm>
            <a:off x="-1" y="589454"/>
            <a:ext cx="7199313" cy="8410085"/>
          </a:xfrm>
        </p:spPr>
        <p:txBody>
          <a:bodyPr>
            <a:normAutofit/>
          </a:bodyPr>
          <a:lstStyle/>
          <a:p>
            <a:pPr algn="l"/>
            <a:r>
              <a:rPr lang="en-US" dirty="0"/>
              <a:t>4. Both phases success: </a:t>
            </a:r>
            <a:br>
              <a:rPr lang="en-US" dirty="0"/>
            </a:br>
            <a:r>
              <a:rPr lang="en-US" dirty="0"/>
              <a:t>  </a:t>
            </a:r>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r>
              <a:rPr lang="en-US" dirty="0"/>
              <a:t>   </a:t>
            </a:r>
          </a:p>
          <a:p>
            <a:pPr algn="l"/>
            <a:endParaRPr lang="en-US" dirty="0"/>
          </a:p>
          <a:p>
            <a:pPr algn="l"/>
            <a:br>
              <a:rPr lang="en-US" dirty="0"/>
            </a:br>
            <a:br>
              <a:rPr lang="en-US" dirty="0"/>
            </a:br>
            <a:endParaRPr lang="en-US" dirty="0"/>
          </a:p>
          <a:p>
            <a:pPr algn="l"/>
            <a:endParaRPr lang="en-US" dirty="0"/>
          </a:p>
          <a:p>
            <a:pPr algn="l"/>
            <a:endParaRPr lang="en-US" dirty="0"/>
          </a:p>
          <a:p>
            <a:pPr algn="l"/>
            <a:endParaRPr lang="en-US" dirty="0"/>
          </a:p>
          <a:p>
            <a:pPr algn="l"/>
            <a:endParaRPr lang="en-US" dirty="0"/>
          </a:p>
          <a:p>
            <a:pPr algn="l"/>
            <a:endParaRPr lang="en-US" dirty="0"/>
          </a:p>
        </p:txBody>
      </p:sp>
      <p:pic>
        <p:nvPicPr>
          <p:cNvPr id="10" name="Picture 9">
            <a:extLst>
              <a:ext uri="{FF2B5EF4-FFF2-40B4-BE49-F238E27FC236}">
                <a16:creationId xmlns:a16="http://schemas.microsoft.com/office/drawing/2014/main" id="{EB4B197A-9A68-3396-E0C3-F2E3AB05E480}"/>
              </a:ext>
            </a:extLst>
          </p:cNvPr>
          <p:cNvPicPr>
            <a:picLocks noChangeAspect="1"/>
          </p:cNvPicPr>
          <p:nvPr/>
        </p:nvPicPr>
        <p:blipFill>
          <a:blip r:embed="rId2"/>
          <a:stretch>
            <a:fillRect/>
          </a:stretch>
        </p:blipFill>
        <p:spPr>
          <a:xfrm>
            <a:off x="308324" y="907082"/>
            <a:ext cx="6584251" cy="1786283"/>
          </a:xfrm>
          <a:prstGeom prst="rect">
            <a:avLst/>
          </a:prstGeom>
        </p:spPr>
      </p:pic>
      <p:pic>
        <p:nvPicPr>
          <p:cNvPr id="12" name="Picture 11">
            <a:extLst>
              <a:ext uri="{FF2B5EF4-FFF2-40B4-BE49-F238E27FC236}">
                <a16:creationId xmlns:a16="http://schemas.microsoft.com/office/drawing/2014/main" id="{5587C10D-10BD-4AEB-D187-86CC2F55FAE9}"/>
              </a:ext>
            </a:extLst>
          </p:cNvPr>
          <p:cNvPicPr>
            <a:picLocks noChangeAspect="1"/>
          </p:cNvPicPr>
          <p:nvPr/>
        </p:nvPicPr>
        <p:blipFill>
          <a:blip r:embed="rId3"/>
          <a:stretch>
            <a:fillRect/>
          </a:stretch>
        </p:blipFill>
        <p:spPr>
          <a:xfrm>
            <a:off x="308324" y="3424616"/>
            <a:ext cx="6584251" cy="4461546"/>
          </a:xfrm>
          <a:prstGeom prst="rect">
            <a:avLst/>
          </a:prstGeom>
        </p:spPr>
      </p:pic>
      <p:pic>
        <p:nvPicPr>
          <p:cNvPr id="14" name="Picture 13">
            <a:extLst>
              <a:ext uri="{FF2B5EF4-FFF2-40B4-BE49-F238E27FC236}">
                <a16:creationId xmlns:a16="http://schemas.microsoft.com/office/drawing/2014/main" id="{5F48BF98-00E7-7EA8-73AD-92ED8B58C611}"/>
              </a:ext>
            </a:extLst>
          </p:cNvPr>
          <p:cNvPicPr>
            <a:picLocks noChangeAspect="1"/>
          </p:cNvPicPr>
          <p:nvPr/>
        </p:nvPicPr>
        <p:blipFill>
          <a:blip r:embed="rId4"/>
          <a:stretch>
            <a:fillRect/>
          </a:stretch>
        </p:blipFill>
        <p:spPr>
          <a:xfrm>
            <a:off x="306738" y="2827191"/>
            <a:ext cx="6584251" cy="597425"/>
          </a:xfrm>
          <a:prstGeom prst="rect">
            <a:avLst/>
          </a:prstGeom>
        </p:spPr>
      </p:pic>
    </p:spTree>
    <p:extLst>
      <p:ext uri="{BB962C8B-B14F-4D97-AF65-F5344CB8AC3E}">
        <p14:creationId xmlns:p14="http://schemas.microsoft.com/office/powerpoint/2010/main" val="2007425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86EC2-B582-C93E-D624-15883187B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77173-F3ED-CF85-FA1F-847B867A9FFD}"/>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Router</a:t>
            </a:r>
            <a:endParaRPr lang="en-IN" sz="2400" b="1" dirty="0">
              <a:solidFill>
                <a:schemeClr val="bg1"/>
              </a:solidFill>
            </a:endParaRPr>
          </a:p>
        </p:txBody>
      </p:sp>
      <p:sp>
        <p:nvSpPr>
          <p:cNvPr id="3" name="Subtitle 2">
            <a:extLst>
              <a:ext uri="{FF2B5EF4-FFF2-40B4-BE49-F238E27FC236}">
                <a16:creationId xmlns:a16="http://schemas.microsoft.com/office/drawing/2014/main" id="{F1DBBA42-0017-E411-71D0-EE74673B2446}"/>
              </a:ext>
            </a:extLst>
          </p:cNvPr>
          <p:cNvSpPr>
            <a:spLocks noGrp="1"/>
          </p:cNvSpPr>
          <p:nvPr>
            <p:ph type="subTitle" idx="1"/>
          </p:nvPr>
        </p:nvSpPr>
        <p:spPr>
          <a:xfrm>
            <a:off x="-1" y="589454"/>
            <a:ext cx="7199313" cy="8410085"/>
          </a:xfrm>
        </p:spPr>
        <p:txBody>
          <a:bodyPr>
            <a:normAutofit/>
          </a:bodyPr>
          <a:lstStyle/>
          <a:p>
            <a:pPr algn="l"/>
            <a:r>
              <a:rPr lang="en-US" dirty="0"/>
              <a:t>1. SA MISAMTCH: </a:t>
            </a:r>
            <a:br>
              <a:rPr lang="en-US" dirty="0"/>
            </a:br>
            <a:r>
              <a:rPr lang="en-US" dirty="0"/>
              <a:t>  Hagle Parameter Mismatch </a:t>
            </a:r>
          </a:p>
          <a:p>
            <a:pPr algn="l"/>
            <a:endParaRPr lang="en-US" dirty="0"/>
          </a:p>
          <a:p>
            <a:pPr algn="l"/>
            <a:endParaRPr lang="en-US" dirty="0"/>
          </a:p>
          <a:p>
            <a:pPr algn="l"/>
            <a:endParaRPr lang="en-US" dirty="0"/>
          </a:p>
          <a:p>
            <a:pPr algn="l"/>
            <a:endParaRPr lang="en-US" dirty="0"/>
          </a:p>
          <a:p>
            <a:pPr algn="l"/>
            <a:endParaRPr lang="en-US" dirty="0"/>
          </a:p>
          <a:p>
            <a:pPr algn="l"/>
            <a:r>
              <a:rPr lang="en-US" dirty="0"/>
              <a:t>2. MM_KEY_EXCH:</a:t>
            </a:r>
            <a:br>
              <a:rPr lang="en-US" dirty="0"/>
            </a:br>
            <a:r>
              <a:rPr lang="en-US" dirty="0"/>
              <a:t>   Authentication key mismatch.</a:t>
            </a:r>
          </a:p>
          <a:p>
            <a:pPr algn="l"/>
            <a:endParaRPr lang="en-US" dirty="0"/>
          </a:p>
          <a:p>
            <a:pPr algn="l"/>
            <a:endParaRPr lang="en-US" dirty="0"/>
          </a:p>
          <a:p>
            <a:pPr algn="l"/>
            <a:endParaRPr lang="en-US" dirty="0"/>
          </a:p>
          <a:p>
            <a:pPr algn="l"/>
            <a:endParaRPr lang="en-US" dirty="0"/>
          </a:p>
          <a:p>
            <a:pPr algn="l"/>
            <a:br>
              <a:rPr lang="en-US" dirty="0"/>
            </a:br>
            <a:br>
              <a:rPr lang="en-US" dirty="0"/>
            </a:br>
            <a:r>
              <a:rPr lang="en-US" dirty="0"/>
              <a:t>3. Phase 2 transform-set mismatch:  (</a:t>
            </a:r>
            <a:r>
              <a:rPr lang="en-US" dirty="0" err="1"/>
              <a:t>esp</a:t>
            </a:r>
            <a:r>
              <a:rPr lang="en-US" dirty="0"/>
              <a:t>, ah)</a:t>
            </a:r>
          </a:p>
          <a:p>
            <a:pPr algn="l"/>
            <a:endParaRPr lang="en-US" dirty="0"/>
          </a:p>
          <a:p>
            <a:pPr algn="l"/>
            <a:endParaRPr lang="en-US" dirty="0"/>
          </a:p>
          <a:p>
            <a:pPr algn="l"/>
            <a:endParaRPr lang="en-US" dirty="0"/>
          </a:p>
          <a:p>
            <a:pPr algn="l"/>
            <a:r>
              <a:rPr lang="en-US" dirty="0"/>
              <a:t>   (QM_IDLE - phase 1 tunnel is successfully established.)</a:t>
            </a:r>
          </a:p>
          <a:p>
            <a:pPr algn="l"/>
            <a:endParaRPr lang="en-US" dirty="0"/>
          </a:p>
          <a:p>
            <a:pPr algn="l"/>
            <a:endParaRPr lang="en-US" dirty="0"/>
          </a:p>
          <a:p>
            <a:pPr algn="l"/>
            <a:endParaRPr lang="en-US" dirty="0"/>
          </a:p>
          <a:p>
            <a:pPr algn="l"/>
            <a:endParaRPr lang="en-US" dirty="0"/>
          </a:p>
        </p:txBody>
      </p:sp>
      <p:pic>
        <p:nvPicPr>
          <p:cNvPr id="9" name="Picture 8">
            <a:extLst>
              <a:ext uri="{FF2B5EF4-FFF2-40B4-BE49-F238E27FC236}">
                <a16:creationId xmlns:a16="http://schemas.microsoft.com/office/drawing/2014/main" id="{CA83C2FE-E841-B866-4C3F-94380A29AC0B}"/>
              </a:ext>
            </a:extLst>
          </p:cNvPr>
          <p:cNvPicPr>
            <a:picLocks noChangeAspect="1"/>
          </p:cNvPicPr>
          <p:nvPr/>
        </p:nvPicPr>
        <p:blipFill>
          <a:blip r:embed="rId2"/>
          <a:stretch>
            <a:fillRect/>
          </a:stretch>
        </p:blipFill>
        <p:spPr>
          <a:xfrm>
            <a:off x="328464" y="4794496"/>
            <a:ext cx="6641567" cy="501767"/>
          </a:xfrm>
          <a:prstGeom prst="rect">
            <a:avLst/>
          </a:prstGeom>
        </p:spPr>
      </p:pic>
      <p:pic>
        <p:nvPicPr>
          <p:cNvPr id="11" name="Picture 10">
            <a:extLst>
              <a:ext uri="{FF2B5EF4-FFF2-40B4-BE49-F238E27FC236}">
                <a16:creationId xmlns:a16="http://schemas.microsoft.com/office/drawing/2014/main" id="{810A3345-5993-8DBB-524C-5CB7E83B9767}"/>
              </a:ext>
            </a:extLst>
          </p:cNvPr>
          <p:cNvPicPr>
            <a:picLocks noChangeAspect="1"/>
          </p:cNvPicPr>
          <p:nvPr/>
        </p:nvPicPr>
        <p:blipFill>
          <a:blip r:embed="rId3"/>
          <a:stretch>
            <a:fillRect/>
          </a:stretch>
        </p:blipFill>
        <p:spPr>
          <a:xfrm>
            <a:off x="214117" y="2079350"/>
            <a:ext cx="6646858" cy="581601"/>
          </a:xfrm>
          <a:prstGeom prst="rect">
            <a:avLst/>
          </a:prstGeom>
        </p:spPr>
      </p:pic>
      <p:pic>
        <p:nvPicPr>
          <p:cNvPr id="13" name="Picture 12">
            <a:extLst>
              <a:ext uri="{FF2B5EF4-FFF2-40B4-BE49-F238E27FC236}">
                <a16:creationId xmlns:a16="http://schemas.microsoft.com/office/drawing/2014/main" id="{87595688-D2CB-F7C6-2B1E-EC563C9A31F5}"/>
              </a:ext>
            </a:extLst>
          </p:cNvPr>
          <p:cNvPicPr>
            <a:picLocks noChangeAspect="1"/>
          </p:cNvPicPr>
          <p:nvPr/>
        </p:nvPicPr>
        <p:blipFill>
          <a:blip r:embed="rId4"/>
          <a:stretch>
            <a:fillRect/>
          </a:stretch>
        </p:blipFill>
        <p:spPr>
          <a:xfrm>
            <a:off x="214117" y="1214509"/>
            <a:ext cx="6695023" cy="762725"/>
          </a:xfrm>
          <a:prstGeom prst="rect">
            <a:avLst/>
          </a:prstGeom>
        </p:spPr>
      </p:pic>
      <p:pic>
        <p:nvPicPr>
          <p:cNvPr id="21" name="Picture 20">
            <a:extLst>
              <a:ext uri="{FF2B5EF4-FFF2-40B4-BE49-F238E27FC236}">
                <a16:creationId xmlns:a16="http://schemas.microsoft.com/office/drawing/2014/main" id="{E0B3F344-9A21-ACDB-CAAD-C29B3C216E96}"/>
              </a:ext>
            </a:extLst>
          </p:cNvPr>
          <p:cNvPicPr>
            <a:picLocks noChangeAspect="1"/>
          </p:cNvPicPr>
          <p:nvPr/>
        </p:nvPicPr>
        <p:blipFill>
          <a:blip r:embed="rId5"/>
          <a:stretch>
            <a:fillRect/>
          </a:stretch>
        </p:blipFill>
        <p:spPr>
          <a:xfrm>
            <a:off x="389357" y="3658267"/>
            <a:ext cx="6519783" cy="950158"/>
          </a:xfrm>
          <a:prstGeom prst="rect">
            <a:avLst/>
          </a:prstGeom>
        </p:spPr>
      </p:pic>
      <p:pic>
        <p:nvPicPr>
          <p:cNvPr id="27" name="Picture 26">
            <a:extLst>
              <a:ext uri="{FF2B5EF4-FFF2-40B4-BE49-F238E27FC236}">
                <a16:creationId xmlns:a16="http://schemas.microsoft.com/office/drawing/2014/main" id="{2DB5A27A-A7AD-C828-99AC-CFA193930630}"/>
              </a:ext>
            </a:extLst>
          </p:cNvPr>
          <p:cNvPicPr>
            <a:picLocks noChangeAspect="1"/>
          </p:cNvPicPr>
          <p:nvPr/>
        </p:nvPicPr>
        <p:blipFill>
          <a:blip r:embed="rId6"/>
          <a:stretch>
            <a:fillRect/>
          </a:stretch>
        </p:blipFill>
        <p:spPr>
          <a:xfrm>
            <a:off x="171842" y="7425687"/>
            <a:ext cx="6841742" cy="1961300"/>
          </a:xfrm>
          <a:prstGeom prst="rect">
            <a:avLst/>
          </a:prstGeom>
        </p:spPr>
      </p:pic>
      <p:pic>
        <p:nvPicPr>
          <p:cNvPr id="38" name="Picture 37">
            <a:extLst>
              <a:ext uri="{FF2B5EF4-FFF2-40B4-BE49-F238E27FC236}">
                <a16:creationId xmlns:a16="http://schemas.microsoft.com/office/drawing/2014/main" id="{3149EB66-8C11-AFAC-DDFE-0C9B3A8387DD}"/>
              </a:ext>
            </a:extLst>
          </p:cNvPr>
          <p:cNvPicPr>
            <a:picLocks noChangeAspect="1"/>
          </p:cNvPicPr>
          <p:nvPr/>
        </p:nvPicPr>
        <p:blipFill>
          <a:blip r:embed="rId7"/>
          <a:stretch>
            <a:fillRect/>
          </a:stretch>
        </p:blipFill>
        <p:spPr>
          <a:xfrm>
            <a:off x="324451" y="6007823"/>
            <a:ext cx="6536524" cy="858170"/>
          </a:xfrm>
          <a:prstGeom prst="rect">
            <a:avLst/>
          </a:prstGeom>
        </p:spPr>
      </p:pic>
    </p:spTree>
    <p:extLst>
      <p:ext uri="{BB962C8B-B14F-4D97-AF65-F5344CB8AC3E}">
        <p14:creationId xmlns:p14="http://schemas.microsoft.com/office/powerpoint/2010/main" val="151501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CF9CD-1441-D96A-41DE-22AF4CDEAF11}"/>
            </a:ext>
          </a:extLst>
        </p:cNvPr>
        <p:cNvGrpSpPr/>
        <p:nvPr/>
      </p:nvGrpSpPr>
      <p:grpSpPr>
        <a:xfrm>
          <a:off x="0" y="0"/>
          <a:ext cx="0" cy="0"/>
          <a:chOff x="0" y="0"/>
          <a:chExt cx="0" cy="0"/>
        </a:xfrm>
      </p:grpSpPr>
      <p:pic>
        <p:nvPicPr>
          <p:cNvPr id="26" name="Picture 25">
            <a:extLst>
              <a:ext uri="{FF2B5EF4-FFF2-40B4-BE49-F238E27FC236}">
                <a16:creationId xmlns:a16="http://schemas.microsoft.com/office/drawing/2014/main" id="{F43F247B-8D57-677E-B5BF-D1D90BCF6319}"/>
              </a:ext>
            </a:extLst>
          </p:cNvPr>
          <p:cNvPicPr>
            <a:picLocks noChangeAspect="1"/>
          </p:cNvPicPr>
          <p:nvPr/>
        </p:nvPicPr>
        <p:blipFill>
          <a:blip r:embed="rId2"/>
          <a:stretch>
            <a:fillRect/>
          </a:stretch>
        </p:blipFill>
        <p:spPr>
          <a:xfrm>
            <a:off x="502351" y="4436232"/>
            <a:ext cx="6351314" cy="1790948"/>
          </a:xfrm>
          <a:prstGeom prst="rect">
            <a:avLst/>
          </a:prstGeom>
        </p:spPr>
      </p:pic>
      <p:sp>
        <p:nvSpPr>
          <p:cNvPr id="2" name="Title 1">
            <a:extLst>
              <a:ext uri="{FF2B5EF4-FFF2-40B4-BE49-F238E27FC236}">
                <a16:creationId xmlns:a16="http://schemas.microsoft.com/office/drawing/2014/main" id="{A46C2953-31CC-9518-6264-3A1B53234CD2}"/>
              </a:ext>
            </a:extLst>
          </p:cNvPr>
          <p:cNvSpPr>
            <a:spLocks noGrp="1"/>
          </p:cNvSpPr>
          <p:nvPr>
            <p:ph type="ctrTitle"/>
          </p:nvPr>
        </p:nvSpPr>
        <p:spPr>
          <a:xfrm>
            <a:off x="-1" y="0"/>
            <a:ext cx="7199313" cy="507978"/>
          </a:xfrm>
          <a:solidFill>
            <a:schemeClr val="accent1"/>
          </a:solidFill>
        </p:spPr>
        <p:txBody>
          <a:bodyPr>
            <a:noAutofit/>
          </a:bodyPr>
          <a:lstStyle/>
          <a:p>
            <a:r>
              <a:rPr lang="en-US" sz="2400" b="1" dirty="0">
                <a:solidFill>
                  <a:schemeClr val="bg1"/>
                </a:solidFill>
              </a:rPr>
              <a:t>SITE-TO-SITE VPN (TROUBLESHOOT) On Router</a:t>
            </a:r>
            <a:endParaRPr lang="en-IN" sz="2400" b="1" dirty="0">
              <a:solidFill>
                <a:schemeClr val="bg1"/>
              </a:solidFill>
            </a:endParaRPr>
          </a:p>
        </p:txBody>
      </p:sp>
      <p:sp>
        <p:nvSpPr>
          <p:cNvPr id="3" name="Subtitle 2">
            <a:extLst>
              <a:ext uri="{FF2B5EF4-FFF2-40B4-BE49-F238E27FC236}">
                <a16:creationId xmlns:a16="http://schemas.microsoft.com/office/drawing/2014/main" id="{8BE196E7-2F76-D735-0ED7-8A67B3A75199}"/>
              </a:ext>
            </a:extLst>
          </p:cNvPr>
          <p:cNvSpPr>
            <a:spLocks noGrp="1"/>
          </p:cNvSpPr>
          <p:nvPr>
            <p:ph type="subTitle" idx="1"/>
          </p:nvPr>
        </p:nvSpPr>
        <p:spPr>
          <a:xfrm>
            <a:off x="-1" y="589454"/>
            <a:ext cx="7199313" cy="8410085"/>
          </a:xfrm>
        </p:spPr>
        <p:txBody>
          <a:bodyPr>
            <a:normAutofit/>
          </a:bodyPr>
          <a:lstStyle/>
          <a:p>
            <a:pPr algn="l"/>
            <a:r>
              <a:rPr lang="en-US" dirty="0"/>
              <a:t>4. Both phases success:</a:t>
            </a:r>
            <a:br>
              <a:rPr lang="en-US" dirty="0"/>
            </a:br>
            <a:r>
              <a:rPr lang="en-US" dirty="0"/>
              <a:t>     </a:t>
            </a:r>
          </a:p>
        </p:txBody>
      </p:sp>
      <p:pic>
        <p:nvPicPr>
          <p:cNvPr id="16" name="Picture 15">
            <a:extLst>
              <a:ext uri="{FF2B5EF4-FFF2-40B4-BE49-F238E27FC236}">
                <a16:creationId xmlns:a16="http://schemas.microsoft.com/office/drawing/2014/main" id="{48C37EB6-67DA-0820-921C-408F35CE8EDE}"/>
              </a:ext>
            </a:extLst>
          </p:cNvPr>
          <p:cNvPicPr>
            <a:picLocks noChangeAspect="1"/>
          </p:cNvPicPr>
          <p:nvPr/>
        </p:nvPicPr>
        <p:blipFill>
          <a:blip r:embed="rId3"/>
          <a:stretch>
            <a:fillRect/>
          </a:stretch>
        </p:blipFill>
        <p:spPr>
          <a:xfrm>
            <a:off x="535658" y="1382653"/>
            <a:ext cx="6235532" cy="991004"/>
          </a:xfrm>
          <a:prstGeom prst="rect">
            <a:avLst/>
          </a:prstGeom>
        </p:spPr>
      </p:pic>
      <p:pic>
        <p:nvPicPr>
          <p:cNvPr id="29" name="Picture 28">
            <a:extLst>
              <a:ext uri="{FF2B5EF4-FFF2-40B4-BE49-F238E27FC236}">
                <a16:creationId xmlns:a16="http://schemas.microsoft.com/office/drawing/2014/main" id="{75EED716-7168-5395-FC4A-2B1706F7D2CC}"/>
              </a:ext>
            </a:extLst>
          </p:cNvPr>
          <p:cNvPicPr>
            <a:picLocks noChangeAspect="1"/>
          </p:cNvPicPr>
          <p:nvPr/>
        </p:nvPicPr>
        <p:blipFill>
          <a:blip r:embed="rId4"/>
          <a:stretch>
            <a:fillRect/>
          </a:stretch>
        </p:blipFill>
        <p:spPr>
          <a:xfrm>
            <a:off x="502351" y="2560961"/>
            <a:ext cx="6268839" cy="1762842"/>
          </a:xfrm>
          <a:prstGeom prst="rect">
            <a:avLst/>
          </a:prstGeom>
        </p:spPr>
      </p:pic>
    </p:spTree>
    <p:extLst>
      <p:ext uri="{BB962C8B-B14F-4D97-AF65-F5344CB8AC3E}">
        <p14:creationId xmlns:p14="http://schemas.microsoft.com/office/powerpoint/2010/main" val="21851326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1329</TotalTime>
  <Words>742</Words>
  <Application>Microsoft Office PowerPoint</Application>
  <PresentationFormat>Custom</PresentationFormat>
  <Paragraphs>187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TOPOLOGY</vt:lpstr>
      <vt:lpstr>Checkpoint Configuration</vt:lpstr>
      <vt:lpstr>Checkpoint Configuration</vt:lpstr>
      <vt:lpstr>PowerPoint Presentation</vt:lpstr>
      <vt:lpstr>PowerPoint Presentation</vt:lpstr>
      <vt:lpstr>SITE-TO-SITE VPN (TROUBLESHOOT) On Checkpoint</vt:lpstr>
      <vt:lpstr>SITE-TO-SITE VPN (TROUBLESHOOT) On Checkpoint</vt:lpstr>
      <vt:lpstr>SITE-TO-SITE VPN (TROUBLESHOOT) On ASA</vt:lpstr>
      <vt:lpstr>SITE-TO-SITE VPN (TROUBLESHOOT) On ASA</vt:lpstr>
      <vt:lpstr>SITE-TO-SITE VPN (TROUBLESHOOT) On Router</vt:lpstr>
      <vt:lpstr>SITE-TO-SITE VPN (TROUBLESHOOT) On Router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69</cp:revision>
  <dcterms:created xsi:type="dcterms:W3CDTF">2025-08-26T06:54:12Z</dcterms:created>
  <dcterms:modified xsi:type="dcterms:W3CDTF">2025-08-28T10:37:44Z</dcterms:modified>
</cp:coreProperties>
</file>