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65" r:id="rId5"/>
    <p:sldId id="266" r:id="rId6"/>
    <p:sldId id="316" r:id="rId7"/>
    <p:sldId id="259" r:id="rId8"/>
    <p:sldId id="260" r:id="rId9"/>
    <p:sldId id="261" r:id="rId10"/>
    <p:sldId id="262" r:id="rId11"/>
    <p:sldId id="268" r:id="rId12"/>
    <p:sldId id="263" r:id="rId13"/>
    <p:sldId id="269" r:id="rId14"/>
    <p:sldId id="270" r:id="rId15"/>
    <p:sldId id="271" r:id="rId16"/>
    <p:sldId id="272" r:id="rId17"/>
    <p:sldId id="273" r:id="rId18"/>
    <p:sldId id="274" r:id="rId19"/>
    <p:sldId id="276" r:id="rId20"/>
    <p:sldId id="277" r:id="rId21"/>
    <p:sldId id="278" r:id="rId22"/>
    <p:sldId id="279" r:id="rId23"/>
    <p:sldId id="280" r:id="rId24"/>
    <p:sldId id="281" r:id="rId25"/>
    <p:sldId id="282" r:id="rId26"/>
    <p:sldId id="284" r:id="rId27"/>
    <p:sldId id="286" r:id="rId28"/>
    <p:sldId id="287" r:id="rId29"/>
    <p:sldId id="288" r:id="rId30"/>
    <p:sldId id="289" r:id="rId31"/>
    <p:sldId id="290" r:id="rId32"/>
    <p:sldId id="291" r:id="rId33"/>
    <p:sldId id="292" r:id="rId34"/>
    <p:sldId id="293" r:id="rId35"/>
    <p:sldId id="295" r:id="rId36"/>
    <p:sldId id="294" r:id="rId37"/>
    <p:sldId id="298" r:id="rId38"/>
    <p:sldId id="296" r:id="rId39"/>
    <p:sldId id="297" r:id="rId40"/>
    <p:sldId id="300" r:id="rId41"/>
    <p:sldId id="299" r:id="rId42"/>
    <p:sldId id="301" r:id="rId43"/>
    <p:sldId id="302" r:id="rId44"/>
    <p:sldId id="304" r:id="rId45"/>
    <p:sldId id="305" r:id="rId46"/>
    <p:sldId id="306" r:id="rId47"/>
    <p:sldId id="308" r:id="rId48"/>
    <p:sldId id="313" r:id="rId49"/>
    <p:sldId id="315" r:id="rId50"/>
    <p:sldId id="314" r:id="rId51"/>
    <p:sldId id="310" r:id="rId52"/>
    <p:sldId id="30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94660"/>
  </p:normalViewPr>
  <p:slideViewPr>
    <p:cSldViewPr snapToGrid="0" showGuides="1">
      <p:cViewPr varScale="1">
        <p:scale>
          <a:sx n="78" d="100"/>
          <a:sy n="78" d="100"/>
        </p:scale>
        <p:origin x="816" y="67"/>
      </p:cViewPr>
      <p:guideLst>
        <p:guide orient="horz" pos="2160"/>
        <p:guide pos="381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D3107-A3EC-94A9-DE84-E12028A0B9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22DD54-37F9-BB92-7A27-A5659E8597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D6C38D5-16E2-2A93-B44A-66DD81613F1D}"/>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5" name="Footer Placeholder 4">
            <a:extLst>
              <a:ext uri="{FF2B5EF4-FFF2-40B4-BE49-F238E27FC236}">
                <a16:creationId xmlns:a16="http://schemas.microsoft.com/office/drawing/2014/main" id="{037AE679-9C5D-2A4D-9B79-2BA553A3D6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60F880-E579-874B-B7C9-8372B8F35F7F}"/>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192185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2944-D897-C569-9C29-8C100B3E99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274285-54F9-83A7-1CB5-D04C8E5ECA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91123F-B9E0-2035-E84B-A11C258998C1}"/>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5" name="Footer Placeholder 4">
            <a:extLst>
              <a:ext uri="{FF2B5EF4-FFF2-40B4-BE49-F238E27FC236}">
                <a16:creationId xmlns:a16="http://schemas.microsoft.com/office/drawing/2014/main" id="{77DC21A8-78A7-B831-FB75-AA52C8C9A9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A83352-8D7B-F626-F1D3-35BA2609B53C}"/>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2339986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FC5F1-668E-3CCD-D077-9CAF150510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80BAE3A-DB62-54B9-9766-29A50DF2C7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490F25-5C54-D8BD-1EBC-2EC820400CE7}"/>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5" name="Footer Placeholder 4">
            <a:extLst>
              <a:ext uri="{FF2B5EF4-FFF2-40B4-BE49-F238E27FC236}">
                <a16:creationId xmlns:a16="http://schemas.microsoft.com/office/drawing/2014/main" id="{04F5C063-6638-48EB-4CBA-3B982B0581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A319B6-EB9C-55B2-02BA-A40B18CE1254}"/>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314854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F10B7-5367-849A-58C0-E7E91E276D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C20062-B306-6E15-0612-0F0A2CED23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79895CA-E8F4-716F-FB4B-C79BCC0BE6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26CDF5-49A5-4A95-C165-D45D1AAC0199}"/>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6" name="Footer Placeholder 5">
            <a:extLst>
              <a:ext uri="{FF2B5EF4-FFF2-40B4-BE49-F238E27FC236}">
                <a16:creationId xmlns:a16="http://schemas.microsoft.com/office/drawing/2014/main" id="{A4698E1F-C095-3E18-8E09-13438C0E72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5B35AC-DF0B-3916-22AE-6724ECDEC98D}"/>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794626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B07AA-B7B9-A705-8343-4F3C2A5F2E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A1CF5D-4C69-677A-905E-2E3B2A126F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D47564-9C53-EE7D-2AC1-A961893EF1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268C346-48D2-05AB-2FD7-230DA138AA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70A457-D137-D661-BE2C-496D70E6AE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17FA8F-68D4-2EBB-A6D3-9BDA59C61ED1}"/>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8" name="Footer Placeholder 7">
            <a:extLst>
              <a:ext uri="{FF2B5EF4-FFF2-40B4-BE49-F238E27FC236}">
                <a16:creationId xmlns:a16="http://schemas.microsoft.com/office/drawing/2014/main" id="{AD31234B-DCFB-019B-8809-1F0BA64ACC5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BD1C974-CFC4-FD49-FA51-81FE15EAEBAC}"/>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3763962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8C507-6BD2-B050-AF2C-C54CD24CB1A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3C98686-D2FB-EB49-92FC-174F914F9F47}"/>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4" name="Footer Placeholder 3">
            <a:extLst>
              <a:ext uri="{FF2B5EF4-FFF2-40B4-BE49-F238E27FC236}">
                <a16:creationId xmlns:a16="http://schemas.microsoft.com/office/drawing/2014/main" id="{2FC6E05D-A4C0-EC52-ACA2-0D973D8BEA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84DB12-88F6-1D03-B66B-4E3CA06932AC}"/>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3437433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5B7848-8027-48DE-F92B-15E9F99D73FD}"/>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3" name="Footer Placeholder 2">
            <a:extLst>
              <a:ext uri="{FF2B5EF4-FFF2-40B4-BE49-F238E27FC236}">
                <a16:creationId xmlns:a16="http://schemas.microsoft.com/office/drawing/2014/main" id="{7F9908E9-3CAF-A53F-D373-7E88FEDA64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AA4649-E266-2DA3-2C47-8F0D53D89EC4}"/>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1250612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6DF36-488F-5D07-D430-91B0EAADCF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CA4FEE-73A3-FEEE-735E-A70340E765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3D4B23-904E-C4DA-E279-0DBAEEE81B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52D0DE-4C92-B13C-45EE-9FFC89A59ACD}"/>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6" name="Footer Placeholder 5">
            <a:extLst>
              <a:ext uri="{FF2B5EF4-FFF2-40B4-BE49-F238E27FC236}">
                <a16:creationId xmlns:a16="http://schemas.microsoft.com/office/drawing/2014/main" id="{FA221C82-5A06-BA04-B4A8-8743CFFFC7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623306-1D85-95D4-AF40-2E99D2CB7234}"/>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3595026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89F5B-0F46-F6F5-9721-2ADE07C00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63D0DF-31E1-4C1A-F937-790595B25C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701A62-182D-9002-A13F-BF21AC7A7F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880B27-B9C4-0160-E62F-853FF234D5B0}"/>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6" name="Footer Placeholder 5">
            <a:extLst>
              <a:ext uri="{FF2B5EF4-FFF2-40B4-BE49-F238E27FC236}">
                <a16:creationId xmlns:a16="http://schemas.microsoft.com/office/drawing/2014/main" id="{E6CA1327-4C73-D865-4E64-2A07A667D0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6149F3-0B3D-4DC7-E078-5494ED321572}"/>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1230595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5FEEC-998B-22D6-FCC4-B9300F45F71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33457E-F476-6CDF-78F4-A6027A6C77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1F3E1B-8A9E-4239-AF7D-99203AB452D5}"/>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5" name="Footer Placeholder 4">
            <a:extLst>
              <a:ext uri="{FF2B5EF4-FFF2-40B4-BE49-F238E27FC236}">
                <a16:creationId xmlns:a16="http://schemas.microsoft.com/office/drawing/2014/main" id="{ECAB9EB8-C053-23A3-9FD9-CAC0406F2E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05EE4-6FC9-BB40-5321-14567104BE25}"/>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2669402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6B410C-E428-08B7-3C21-3B0F76D25F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B04145-C1F7-56B7-643A-86A17F1665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E7C0CD-AAAE-4E36-123B-0297C0731EC4}"/>
              </a:ext>
            </a:extLst>
          </p:cNvPr>
          <p:cNvSpPr>
            <a:spLocks noGrp="1"/>
          </p:cNvSpPr>
          <p:nvPr>
            <p:ph type="dt" sz="half" idx="10"/>
          </p:nvPr>
        </p:nvSpPr>
        <p:spPr/>
        <p:txBody>
          <a:bodyPr/>
          <a:lstStyle/>
          <a:p>
            <a:fld id="{AD9C1B84-CD8C-4D45-A4CB-B997DF3A40D7}" type="datetimeFigureOut">
              <a:rPr lang="en-IN" smtClean="0"/>
              <a:t>28-07-2025</a:t>
            </a:fld>
            <a:endParaRPr lang="en-IN"/>
          </a:p>
        </p:txBody>
      </p:sp>
      <p:sp>
        <p:nvSpPr>
          <p:cNvPr id="5" name="Footer Placeholder 4">
            <a:extLst>
              <a:ext uri="{FF2B5EF4-FFF2-40B4-BE49-F238E27FC236}">
                <a16:creationId xmlns:a16="http://schemas.microsoft.com/office/drawing/2014/main" id="{E201D981-832A-3F76-A263-1A8C3FD164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6B9477-2BAB-0A86-7C74-B027421D4A83}"/>
              </a:ext>
            </a:extLst>
          </p:cNvPr>
          <p:cNvSpPr>
            <a:spLocks noGrp="1"/>
          </p:cNvSpPr>
          <p:nvPr>
            <p:ph type="sldNum" sz="quarter" idx="12"/>
          </p:nvPr>
        </p:nvSpPr>
        <p:spPr/>
        <p:txBody>
          <a:bodyPr/>
          <a:lstStyle/>
          <a:p>
            <a:fld id="{17AC95B5-3611-4443-AF72-A6382CB91867}" type="slidenum">
              <a:rPr lang="en-IN" smtClean="0"/>
              <a:t>‹#›</a:t>
            </a:fld>
            <a:endParaRPr lang="en-IN"/>
          </a:p>
        </p:txBody>
      </p:sp>
    </p:spTree>
    <p:extLst>
      <p:ext uri="{BB962C8B-B14F-4D97-AF65-F5344CB8AC3E}">
        <p14:creationId xmlns:p14="http://schemas.microsoft.com/office/powerpoint/2010/main" val="1761714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940AC-7173-5BAC-E01E-F64A4C9C7D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AB3D72-E726-A3B6-B617-73031379A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F43040-35AD-C7C0-EBE2-F346C20ADF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9C1B84-CD8C-4D45-A4CB-B997DF3A40D7}" type="datetimeFigureOut">
              <a:rPr lang="en-IN" smtClean="0"/>
              <a:t>28-07-2025</a:t>
            </a:fld>
            <a:endParaRPr lang="en-IN"/>
          </a:p>
        </p:txBody>
      </p:sp>
      <p:sp>
        <p:nvSpPr>
          <p:cNvPr id="5" name="Footer Placeholder 4">
            <a:extLst>
              <a:ext uri="{FF2B5EF4-FFF2-40B4-BE49-F238E27FC236}">
                <a16:creationId xmlns:a16="http://schemas.microsoft.com/office/drawing/2014/main" id="{4481792B-0573-3BD2-C583-DFB4C71EE2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7CA9E8-1351-CA02-2BCA-66F9301CDE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AC95B5-3611-4443-AF72-A6382CB91867}" type="slidenum">
              <a:rPr lang="en-IN" smtClean="0"/>
              <a:t>‹#›</a:t>
            </a:fld>
            <a:endParaRPr lang="en-IN"/>
          </a:p>
        </p:txBody>
      </p:sp>
    </p:spTree>
    <p:extLst>
      <p:ext uri="{BB962C8B-B14F-4D97-AF65-F5344CB8AC3E}">
        <p14:creationId xmlns:p14="http://schemas.microsoft.com/office/powerpoint/2010/main" val="27070571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3586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7DEC4-49B0-B671-7029-4796DC927A1C}"/>
              </a:ext>
            </a:extLst>
          </p:cNvPr>
          <p:cNvSpPr>
            <a:spLocks noGrp="1"/>
          </p:cNvSpPr>
          <p:nvPr>
            <p:ph type="title"/>
          </p:nvPr>
        </p:nvSpPr>
        <p:spPr>
          <a:xfrm>
            <a:off x="169607" y="148815"/>
            <a:ext cx="10515600" cy="696759"/>
          </a:xfrm>
        </p:spPr>
        <p:txBody>
          <a:bodyPr/>
          <a:lstStyle/>
          <a:p>
            <a:r>
              <a:rPr lang="en-IN" b="1" dirty="0">
                <a:solidFill>
                  <a:schemeClr val="accent1"/>
                </a:solidFill>
              </a:rPr>
              <a:t>Introduction</a:t>
            </a:r>
          </a:p>
        </p:txBody>
      </p:sp>
      <p:sp>
        <p:nvSpPr>
          <p:cNvPr id="3" name="Content Placeholder 2">
            <a:extLst>
              <a:ext uri="{FF2B5EF4-FFF2-40B4-BE49-F238E27FC236}">
                <a16:creationId xmlns:a16="http://schemas.microsoft.com/office/drawing/2014/main" id="{549705CF-FCD6-B307-2D6C-0DE954A17DE6}"/>
              </a:ext>
            </a:extLst>
          </p:cNvPr>
          <p:cNvSpPr>
            <a:spLocks noGrp="1"/>
          </p:cNvSpPr>
          <p:nvPr>
            <p:ph idx="1"/>
          </p:nvPr>
        </p:nvSpPr>
        <p:spPr>
          <a:xfrm>
            <a:off x="641555" y="1048875"/>
            <a:ext cx="10515600" cy="5660309"/>
          </a:xfrm>
        </p:spPr>
        <p:txBody>
          <a:bodyPr>
            <a:normAutofit/>
          </a:bodyPr>
          <a:lstStyle/>
          <a:p>
            <a:pPr marL="0" indent="0">
              <a:buNone/>
            </a:pPr>
            <a:r>
              <a:rPr lang="en-US" sz="2000" dirty="0"/>
              <a:t>BGP is an exterior gateway Path Vector routing protocol used for sharing routing information between different autonomous systems. (BGP is an inter-autonomous system routing protocol)</a:t>
            </a:r>
            <a:br>
              <a:rPr lang="en-US" sz="2000" dirty="0"/>
            </a:br>
            <a:r>
              <a:rPr lang="en-US" sz="2000" dirty="0"/>
              <a:t>-&gt; current </a:t>
            </a:r>
            <a:r>
              <a:rPr lang="en-US" sz="2000" dirty="0" err="1"/>
              <a:t>ver</a:t>
            </a:r>
            <a:r>
              <a:rPr lang="en-US" sz="2000" dirty="0"/>
              <a:t> – BGPV4</a:t>
            </a:r>
          </a:p>
          <a:p>
            <a:pPr marL="0" indent="0">
              <a:buNone/>
            </a:pPr>
            <a:r>
              <a:rPr lang="en-US" sz="2000" dirty="0"/>
              <a:t>It maintains a separate routing table based on shortest AS Path and various other attributes. </a:t>
            </a:r>
          </a:p>
          <a:p>
            <a:pPr marL="0" indent="0">
              <a:buNone/>
            </a:pPr>
            <a:r>
              <a:rPr lang="en-US" sz="2000" dirty="0"/>
              <a:t>BGP works on TCP port no 179. </a:t>
            </a:r>
            <a:br>
              <a:rPr lang="en-US" sz="2000" dirty="0"/>
            </a:br>
            <a:r>
              <a:rPr lang="en-US" sz="2000" dirty="0"/>
              <a:t>ASNs 64512 through 65535 are private ASNs in the 16-bit range.</a:t>
            </a:r>
            <a:br>
              <a:rPr lang="en-IN" sz="2000" dirty="0"/>
            </a:br>
            <a:r>
              <a:rPr lang="en-IN" sz="2000" dirty="0"/>
              <a:t>ASNs 4.2B through 4,29,49,67,295 are private ASNs in the 32-bit range.</a:t>
            </a:r>
            <a:br>
              <a:rPr lang="en-IN" sz="2000" dirty="0"/>
            </a:br>
            <a:r>
              <a:rPr lang="en-IN" sz="2000" dirty="0"/>
              <a:t>BGP can form neighbour adjacencies. It can also form neighbour adjacencies with routers that multihop away. (sh ip bgp summary)</a:t>
            </a:r>
          </a:p>
          <a:p>
            <a:pPr marL="0" indent="0">
              <a:buNone/>
            </a:pPr>
            <a:endParaRPr lang="en-IN" sz="2000" dirty="0"/>
          </a:p>
          <a:p>
            <a:pPr marL="0" indent="0">
              <a:buNone/>
            </a:pPr>
            <a:r>
              <a:rPr lang="en-IN" sz="2000" dirty="0"/>
              <a:t>ASN is 16bit or 32 bit which is typically provided by service provider or IANA.</a:t>
            </a:r>
          </a:p>
          <a:p>
            <a:pPr marL="0" indent="0">
              <a:buNone/>
            </a:pPr>
            <a:endParaRPr lang="en-IN" sz="2000" dirty="0"/>
          </a:p>
          <a:p>
            <a:pPr marL="0" indent="0">
              <a:buNone/>
            </a:pPr>
            <a:endParaRPr lang="en-US" sz="2000" dirty="0"/>
          </a:p>
          <a:p>
            <a:pPr marL="0" indent="0">
              <a:buNone/>
            </a:pPr>
            <a:r>
              <a:rPr lang="en-US" sz="2000" b="1" dirty="0">
                <a:highlight>
                  <a:srgbClr val="FFFF00"/>
                </a:highlight>
              </a:rPr>
              <a:t>Full mesh </a:t>
            </a:r>
            <a:r>
              <a:rPr lang="en-US" sz="2000" dirty="0"/>
              <a:t>in BGP means that every BGP router establishes a TCP session with every other BGP router, forming a complete set of </a:t>
            </a:r>
            <a:r>
              <a:rPr lang="en-US" sz="2000" dirty="0" err="1"/>
              <a:t>peerings</a:t>
            </a:r>
            <a:r>
              <a:rPr lang="en-US" sz="2000" dirty="0"/>
              <a:t>.”</a:t>
            </a:r>
            <a:br>
              <a:rPr lang="en-US" sz="2000" dirty="0"/>
            </a:br>
            <a:endParaRPr lang="en-IN" sz="2000" dirty="0"/>
          </a:p>
        </p:txBody>
      </p:sp>
    </p:spTree>
    <p:extLst>
      <p:ext uri="{BB962C8B-B14F-4D97-AF65-F5344CB8AC3E}">
        <p14:creationId xmlns:p14="http://schemas.microsoft.com/office/powerpoint/2010/main" val="515793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1A8799-FB07-DCBF-B73B-C9D55D3DC47B}"/>
              </a:ext>
            </a:extLst>
          </p:cNvPr>
          <p:cNvPicPr>
            <a:picLocks noChangeAspect="1"/>
          </p:cNvPicPr>
          <p:nvPr/>
        </p:nvPicPr>
        <p:blipFill>
          <a:blip r:embed="rId2"/>
          <a:srcRect t="10349" b="2565"/>
          <a:stretch/>
        </p:blipFill>
        <p:spPr>
          <a:xfrm>
            <a:off x="0" y="1150374"/>
            <a:ext cx="12192000" cy="5004620"/>
          </a:xfrm>
          <a:prstGeom prst="rect">
            <a:avLst/>
          </a:prstGeom>
        </p:spPr>
      </p:pic>
    </p:spTree>
    <p:extLst>
      <p:ext uri="{BB962C8B-B14F-4D97-AF65-F5344CB8AC3E}">
        <p14:creationId xmlns:p14="http://schemas.microsoft.com/office/powerpoint/2010/main" val="3693939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A83B0-ACA4-F50A-BBB4-90988E202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D05E2-3376-6AD6-CB40-3BCBE39C8D90}"/>
              </a:ext>
            </a:extLst>
          </p:cNvPr>
          <p:cNvSpPr>
            <a:spLocks noGrp="1"/>
          </p:cNvSpPr>
          <p:nvPr>
            <p:ph type="title"/>
          </p:nvPr>
        </p:nvSpPr>
        <p:spPr>
          <a:xfrm>
            <a:off x="169607" y="148815"/>
            <a:ext cx="10515600" cy="696759"/>
          </a:xfrm>
        </p:spPr>
        <p:txBody>
          <a:bodyPr/>
          <a:lstStyle/>
          <a:p>
            <a:r>
              <a:rPr lang="en-IN" b="1" dirty="0">
                <a:solidFill>
                  <a:schemeClr val="accent1"/>
                </a:solidFill>
              </a:rPr>
              <a:t>BGP PEER MESSAGES</a:t>
            </a:r>
          </a:p>
        </p:txBody>
      </p:sp>
      <p:sp>
        <p:nvSpPr>
          <p:cNvPr id="3" name="Content Placeholder 2">
            <a:extLst>
              <a:ext uri="{FF2B5EF4-FFF2-40B4-BE49-F238E27FC236}">
                <a16:creationId xmlns:a16="http://schemas.microsoft.com/office/drawing/2014/main" id="{6A98D141-0F97-C843-ACF9-4896CF8573D5}"/>
              </a:ext>
            </a:extLst>
          </p:cNvPr>
          <p:cNvSpPr>
            <a:spLocks noGrp="1"/>
          </p:cNvSpPr>
          <p:nvPr>
            <p:ph idx="1"/>
          </p:nvPr>
        </p:nvSpPr>
        <p:spPr>
          <a:xfrm>
            <a:off x="641555" y="845574"/>
            <a:ext cx="11380838" cy="5433204"/>
          </a:xfrm>
        </p:spPr>
        <p:txBody>
          <a:bodyPr>
            <a:noAutofit/>
          </a:bodyPr>
          <a:lstStyle/>
          <a:p>
            <a:pPr marL="0" indent="0" algn="just">
              <a:buNone/>
            </a:pPr>
            <a:r>
              <a:rPr lang="en-US" sz="2000" dirty="0"/>
              <a:t>BGP forms its peer relationships through a series of messages. </a:t>
            </a:r>
          </a:p>
          <a:p>
            <a:pPr marL="514350" indent="-514350">
              <a:buAutoNum type="romanLcPeriod"/>
            </a:pPr>
            <a:r>
              <a:rPr lang="en-US" sz="2400" b="1" i="1" dirty="0"/>
              <a:t>Open</a:t>
            </a:r>
            <a:r>
              <a:rPr lang="en-US" sz="3200" dirty="0"/>
              <a:t> </a:t>
            </a:r>
            <a:r>
              <a:rPr lang="en-US" sz="2000" dirty="0"/>
              <a:t>message is sent between peers to initiate the session. It contains:</a:t>
            </a:r>
            <a:br>
              <a:rPr lang="en-US" sz="2000" dirty="0"/>
            </a:br>
            <a:r>
              <a:rPr lang="en-US" sz="2000" dirty="0"/>
              <a:t>• BGP Version – must be the same between BGP peers </a:t>
            </a:r>
            <a:br>
              <a:rPr lang="en-US" sz="2000" dirty="0"/>
            </a:br>
            <a:r>
              <a:rPr lang="en-US" sz="2000" dirty="0"/>
              <a:t>• Local AS Number </a:t>
            </a:r>
            <a:br>
              <a:rPr lang="en-US" sz="2000" dirty="0"/>
            </a:br>
            <a:r>
              <a:rPr lang="en-US" sz="2000" dirty="0"/>
              <a:t>• BGP Router ID</a:t>
            </a:r>
            <a:br>
              <a:rPr lang="en-US" sz="2000" dirty="0"/>
            </a:br>
            <a:r>
              <a:rPr lang="en-US" sz="2000" dirty="0"/>
              <a:t>• Hold down timer</a:t>
            </a:r>
            <a:endParaRPr lang="en-US" sz="3200" dirty="0"/>
          </a:p>
          <a:p>
            <a:pPr marL="571500" indent="-571500" algn="just">
              <a:buAutoNum type="romanLcPeriod"/>
            </a:pPr>
            <a:r>
              <a:rPr lang="en-US" sz="2000" b="1" i="1" dirty="0"/>
              <a:t>KEEPALIVE</a:t>
            </a:r>
            <a:r>
              <a:rPr lang="en-US" sz="2000" dirty="0"/>
              <a:t> messages are sent periodically (every 60 seconds by default) to ensure that the remote peer is still available. If a router does not receive a KEEPALIVE from a peer for a Hold-time period (by default, 180 seconds), the router declares that peer dead.</a:t>
            </a:r>
          </a:p>
          <a:p>
            <a:pPr marL="571500" indent="-571500" algn="just">
              <a:buAutoNum type="romanLcPeriod"/>
            </a:pPr>
            <a:r>
              <a:rPr lang="en-US" sz="2000" b="1" i="1" dirty="0"/>
              <a:t>UPDATE</a:t>
            </a:r>
            <a:r>
              <a:rPr lang="en-US" sz="2400" b="1" i="1" dirty="0"/>
              <a:t> </a:t>
            </a:r>
            <a:r>
              <a:rPr lang="en-US" sz="2000" dirty="0"/>
              <a:t>messages are used to exchange routes between peers. (NLRI)</a:t>
            </a:r>
          </a:p>
          <a:p>
            <a:pPr marL="571500" indent="-571500" algn="just">
              <a:buAutoNum type="romanLcPeriod"/>
            </a:pPr>
            <a:r>
              <a:rPr lang="en-US" sz="2000" dirty="0"/>
              <a:t>Finally</a:t>
            </a:r>
            <a:r>
              <a:rPr lang="en-US" sz="2000" b="1" i="1" dirty="0"/>
              <a:t>, NOTIFICATION</a:t>
            </a:r>
            <a:r>
              <a:rPr lang="en-US" sz="2000" dirty="0"/>
              <a:t> messages are sent when there is a fatal error condition. If a NOTIFICATION message is sent, the BGP peer session is torn down and reset.</a:t>
            </a:r>
            <a:endParaRPr lang="en-US" sz="3200" dirty="0"/>
          </a:p>
          <a:p>
            <a:pPr marL="0" indent="0" algn="just">
              <a:buNone/>
            </a:pPr>
            <a:endParaRPr lang="en-US" sz="3200" dirty="0"/>
          </a:p>
        </p:txBody>
      </p:sp>
    </p:spTree>
    <p:extLst>
      <p:ext uri="{BB962C8B-B14F-4D97-AF65-F5344CB8AC3E}">
        <p14:creationId xmlns:p14="http://schemas.microsoft.com/office/powerpoint/2010/main" val="161864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AC500-E9C7-0370-783D-1ADA8A62A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ED31BA-6BCC-62A0-2C35-F3780F1B402E}"/>
              </a:ext>
            </a:extLst>
          </p:cNvPr>
          <p:cNvSpPr>
            <a:spLocks noGrp="1"/>
          </p:cNvSpPr>
          <p:nvPr>
            <p:ph type="title"/>
          </p:nvPr>
        </p:nvSpPr>
        <p:spPr>
          <a:xfrm>
            <a:off x="169607" y="148815"/>
            <a:ext cx="10515600" cy="696759"/>
          </a:xfrm>
        </p:spPr>
        <p:txBody>
          <a:bodyPr/>
          <a:lstStyle/>
          <a:p>
            <a:r>
              <a:rPr lang="en-IN" b="1" dirty="0">
                <a:solidFill>
                  <a:schemeClr val="accent1"/>
                </a:solidFill>
              </a:rPr>
              <a:t>BGP PEER STATES</a:t>
            </a:r>
          </a:p>
        </p:txBody>
      </p:sp>
      <p:sp>
        <p:nvSpPr>
          <p:cNvPr id="3" name="Content Placeholder 2">
            <a:extLst>
              <a:ext uri="{FF2B5EF4-FFF2-40B4-BE49-F238E27FC236}">
                <a16:creationId xmlns:a16="http://schemas.microsoft.com/office/drawing/2014/main" id="{808DAF20-992F-387E-5C02-F93E594874F7}"/>
              </a:ext>
            </a:extLst>
          </p:cNvPr>
          <p:cNvSpPr>
            <a:spLocks noGrp="1"/>
          </p:cNvSpPr>
          <p:nvPr>
            <p:ph idx="1"/>
          </p:nvPr>
        </p:nvSpPr>
        <p:spPr>
          <a:xfrm>
            <a:off x="641555" y="845574"/>
            <a:ext cx="11174525" cy="6012426"/>
          </a:xfrm>
        </p:spPr>
        <p:txBody>
          <a:bodyPr>
            <a:noAutofit/>
          </a:bodyPr>
          <a:lstStyle/>
          <a:p>
            <a:pPr marL="0" indent="0">
              <a:buNone/>
            </a:pPr>
            <a:r>
              <a:rPr lang="en-US" sz="2000" dirty="0"/>
              <a:t>As a BGP peer session is forming, it will pass through several states. This process is known as the BGP Finite-State Machine (FSM): </a:t>
            </a:r>
          </a:p>
          <a:p>
            <a:pPr marL="182563" indent="-182563">
              <a:buFont typeface="+mj-lt"/>
              <a:buAutoNum type="romanLcPeriod"/>
            </a:pPr>
            <a:r>
              <a:rPr lang="en-US" sz="1800" b="1" i="1" dirty="0"/>
              <a:t>Idle</a:t>
            </a:r>
            <a:r>
              <a:rPr lang="en-US" sz="1800" dirty="0"/>
              <a:t>: administratively down or waiting for the next retry attempt.</a:t>
            </a:r>
          </a:p>
          <a:p>
            <a:pPr marL="182563" indent="-182563">
              <a:buFont typeface="+mj-lt"/>
              <a:buAutoNum type="romanLcPeriod"/>
            </a:pPr>
            <a:r>
              <a:rPr lang="en-US" sz="1800" b="1" i="1" dirty="0"/>
              <a:t>Connect</a:t>
            </a:r>
            <a:r>
              <a:rPr lang="en-US" sz="1800" dirty="0"/>
              <a:t>: BGP waits for a TCP connection with the remote peer. If successful, an open message is sent. If unsuccessful, the session is place in an active state.</a:t>
            </a:r>
            <a:br>
              <a:rPr lang="en-US" sz="1800" dirty="0"/>
            </a:br>
            <a:r>
              <a:rPr lang="en-US" sz="1800" dirty="0"/>
              <a:t>(goes active only if – routing issue, </a:t>
            </a:r>
            <a:r>
              <a:rPr lang="en-US" sz="1800" dirty="0" err="1"/>
              <a:t>tcp</a:t>
            </a:r>
            <a:r>
              <a:rPr lang="en-US" sz="1800" dirty="0"/>
              <a:t> port 179 is blocked, and ACL must Blocking the traffic)</a:t>
            </a:r>
          </a:p>
          <a:p>
            <a:pPr marL="182563" indent="-182563">
              <a:buFont typeface="+mj-lt"/>
              <a:buAutoNum type="romanLcPeriod"/>
            </a:pPr>
            <a:r>
              <a:rPr lang="en-US" sz="1800" b="1" i="1" dirty="0"/>
              <a:t>Active</a:t>
            </a:r>
            <a:r>
              <a:rPr lang="en-US" sz="1800" dirty="0"/>
              <a:t> – BGP attempts to initiate a TCP connection with the remote peer. If successful, an OPEN message is sent. If unsuccessful, BGP will wait for a </a:t>
            </a:r>
            <a:r>
              <a:rPr lang="en-US" sz="1800" dirty="0" err="1"/>
              <a:t>ConnectRetry</a:t>
            </a:r>
            <a:r>
              <a:rPr lang="en-US" sz="1800" dirty="0"/>
              <a:t> timer to expire, and place the session back in a Connect State</a:t>
            </a:r>
          </a:p>
          <a:p>
            <a:pPr marL="182563" indent="-182563">
              <a:buFont typeface="+mj-lt"/>
              <a:buAutoNum type="romanLcPeriod"/>
            </a:pPr>
            <a:r>
              <a:rPr lang="en-US" sz="1800" b="1" i="1" dirty="0" err="1"/>
              <a:t>OpenSent</a:t>
            </a:r>
            <a:r>
              <a:rPr lang="en-US" sz="1800" dirty="0"/>
              <a:t> – BGP has both established the TCP connection and sent an OPEN Message, and is awaiting a reply OPEN Message. Once it receives a reply OPEN Message, the BGP peer will send a KEEPALIVE message. </a:t>
            </a:r>
            <a:br>
              <a:rPr lang="en-US" sz="1800" dirty="0"/>
            </a:br>
            <a:r>
              <a:rPr lang="en-US" sz="1800" dirty="0"/>
              <a:t>(BGP compares the content of OPEN messages) (</a:t>
            </a:r>
            <a:r>
              <a:rPr lang="en-US" sz="1800" dirty="0" err="1"/>
              <a:t>bgp</a:t>
            </a:r>
            <a:r>
              <a:rPr lang="en-US" sz="1800" dirty="0"/>
              <a:t> </a:t>
            </a:r>
            <a:r>
              <a:rPr lang="en-US" sz="1800" dirty="0" err="1"/>
              <a:t>ver</a:t>
            </a:r>
            <a:r>
              <a:rPr lang="en-US" sz="1800" dirty="0"/>
              <a:t>, source </a:t>
            </a:r>
            <a:r>
              <a:rPr lang="en-US" sz="1800" dirty="0" err="1"/>
              <a:t>ip</a:t>
            </a:r>
            <a:r>
              <a:rPr lang="en-US" sz="1800" dirty="0"/>
              <a:t> address must match that is configured for the router, as, RID)</a:t>
            </a:r>
          </a:p>
          <a:p>
            <a:pPr marL="182563" indent="-182563">
              <a:buFont typeface="+mj-lt"/>
              <a:buAutoNum type="romanLcPeriod"/>
            </a:pPr>
            <a:r>
              <a:rPr lang="en-US" sz="1800" b="1" i="1" dirty="0" err="1"/>
              <a:t>OpenConfirm</a:t>
            </a:r>
            <a:r>
              <a:rPr lang="en-US" sz="1800" dirty="0"/>
              <a:t> – If all of the opensent is goes well then it will move to openconfirm state.  In openconfirm state, BGP waits for a keepalive or a notification message.</a:t>
            </a:r>
          </a:p>
          <a:p>
            <a:pPr marL="182563" indent="-182563">
              <a:buFont typeface="+mj-lt"/>
              <a:buAutoNum type="romanLcPeriod"/>
            </a:pPr>
            <a:r>
              <a:rPr lang="en-US" sz="1800" b="1" i="1" dirty="0"/>
              <a:t>Established</a:t>
            </a:r>
            <a:r>
              <a:rPr lang="en-US" sz="1800" dirty="0"/>
              <a:t> – the BGP peer session is fully established. UPDATE messages containing routing information will now be sent.</a:t>
            </a:r>
            <a:endParaRPr lang="en-US" dirty="0"/>
          </a:p>
          <a:p>
            <a:pPr marL="0" indent="0">
              <a:buNone/>
            </a:pPr>
            <a:r>
              <a:rPr lang="en-US" sz="1800" dirty="0"/>
              <a:t>(</a:t>
            </a:r>
            <a:r>
              <a:rPr lang="en-US" sz="1800" dirty="0" err="1"/>
              <a:t>sh</a:t>
            </a:r>
            <a:r>
              <a:rPr lang="en-US" sz="1800" dirty="0"/>
              <a:t> </a:t>
            </a:r>
            <a:r>
              <a:rPr lang="en-US" sz="1800" dirty="0" err="1"/>
              <a:t>tcp</a:t>
            </a:r>
            <a:r>
              <a:rPr lang="en-US" sz="1800" dirty="0"/>
              <a:t> brief    -     to check bgp state of the router)</a:t>
            </a:r>
          </a:p>
          <a:p>
            <a:pPr marL="0" indent="0">
              <a:buNone/>
            </a:pPr>
            <a:r>
              <a:rPr lang="en-US" sz="1800" dirty="0"/>
              <a:t>When a BGP speaker is in the </a:t>
            </a:r>
            <a:r>
              <a:rPr lang="en-US" sz="1800" b="1" dirty="0"/>
              <a:t>Idle</a:t>
            </a:r>
            <a:r>
              <a:rPr lang="en-US" sz="1800" dirty="0"/>
              <a:t> or </a:t>
            </a:r>
            <a:r>
              <a:rPr lang="en-US" sz="1800" b="1" dirty="0"/>
              <a:t>Active</a:t>
            </a:r>
            <a:r>
              <a:rPr lang="en-US" sz="1800" dirty="0"/>
              <a:t> state, it is not yet ready to </a:t>
            </a:r>
            <a:r>
              <a:rPr lang="en-US" sz="1800" b="1" dirty="0"/>
              <a:t>accept</a:t>
            </a:r>
            <a:r>
              <a:rPr lang="en-US" sz="1800" dirty="0"/>
              <a:t> or </a:t>
            </a:r>
            <a:r>
              <a:rPr lang="en-US" sz="1800" b="1" dirty="0"/>
              <a:t>fully establish</a:t>
            </a:r>
            <a:r>
              <a:rPr lang="en-US" sz="1800" dirty="0"/>
              <a:t> BGP sessions. In the </a:t>
            </a:r>
            <a:r>
              <a:rPr lang="en-US" sz="1800" b="1" dirty="0"/>
              <a:t>Active</a:t>
            </a:r>
            <a:r>
              <a:rPr lang="en-US" sz="1800" dirty="0"/>
              <a:t> state, BGP actively </a:t>
            </a:r>
            <a:r>
              <a:rPr lang="en-US" sz="1800" b="1" dirty="0"/>
              <a:t>tries to initiate</a:t>
            </a:r>
            <a:r>
              <a:rPr lang="en-US" sz="1800" dirty="0"/>
              <a:t> a TCP connection (port </a:t>
            </a:r>
            <a:r>
              <a:rPr lang="en-US" sz="1800" b="1" dirty="0"/>
              <a:t>179</a:t>
            </a:r>
            <a:r>
              <a:rPr lang="en-US" sz="1800" dirty="0"/>
              <a:t>) to its peer but </a:t>
            </a:r>
            <a:r>
              <a:rPr lang="en-US" sz="1800" b="1" dirty="0"/>
              <a:t>may not accept incoming TCP connections</a:t>
            </a:r>
            <a:r>
              <a:rPr lang="en-US" sz="1800" dirty="0"/>
              <a:t> from the peer (depending on timing or configuration).</a:t>
            </a:r>
          </a:p>
        </p:txBody>
      </p:sp>
    </p:spTree>
    <p:extLst>
      <p:ext uri="{BB962C8B-B14F-4D97-AF65-F5344CB8AC3E}">
        <p14:creationId xmlns:p14="http://schemas.microsoft.com/office/powerpoint/2010/main" val="2899093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36E55-03F1-589E-18CC-929D804D1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70EAB-5634-E2BD-603A-786C1C9D9CB9}"/>
              </a:ext>
            </a:extLst>
          </p:cNvPr>
          <p:cNvSpPr>
            <a:spLocks noGrp="1"/>
          </p:cNvSpPr>
          <p:nvPr>
            <p:ph type="title"/>
          </p:nvPr>
        </p:nvSpPr>
        <p:spPr>
          <a:xfrm>
            <a:off x="169607" y="148815"/>
            <a:ext cx="10515600" cy="696759"/>
          </a:xfrm>
        </p:spPr>
        <p:txBody>
          <a:bodyPr/>
          <a:lstStyle/>
          <a:p>
            <a:r>
              <a:rPr lang="en-IN" b="1" dirty="0">
                <a:solidFill>
                  <a:schemeClr val="accent1"/>
                </a:solidFill>
              </a:rPr>
              <a:t>BGP PEER STATES</a:t>
            </a:r>
          </a:p>
        </p:txBody>
      </p:sp>
      <p:sp>
        <p:nvSpPr>
          <p:cNvPr id="3" name="Content Placeholder 2">
            <a:extLst>
              <a:ext uri="{FF2B5EF4-FFF2-40B4-BE49-F238E27FC236}">
                <a16:creationId xmlns:a16="http://schemas.microsoft.com/office/drawing/2014/main" id="{3D7A2647-324A-5115-F4E2-29F55F36D4E0}"/>
              </a:ext>
            </a:extLst>
          </p:cNvPr>
          <p:cNvSpPr>
            <a:spLocks noGrp="1"/>
          </p:cNvSpPr>
          <p:nvPr>
            <p:ph idx="1"/>
          </p:nvPr>
        </p:nvSpPr>
        <p:spPr>
          <a:xfrm>
            <a:off x="641555" y="845574"/>
            <a:ext cx="11174525" cy="6012426"/>
          </a:xfrm>
        </p:spPr>
        <p:txBody>
          <a:bodyPr>
            <a:noAutofit/>
          </a:bodyPr>
          <a:lstStyle/>
          <a:p>
            <a:pPr marL="0" indent="0">
              <a:buNone/>
            </a:pPr>
            <a:r>
              <a:rPr lang="en-US" sz="2000" dirty="0"/>
              <a:t>As a BGP peer session is forming, it will pass through several states. This process is known as the BGP Finite-State Machine (FSM): </a:t>
            </a:r>
          </a:p>
          <a:p>
            <a:pPr marL="88900" indent="-88900">
              <a:spcBef>
                <a:spcPts val="0"/>
              </a:spcBef>
              <a:buAutoNum type="romanLcPeriod"/>
            </a:pPr>
            <a:r>
              <a:rPr lang="en-US" sz="1800" b="1" i="1" dirty="0"/>
              <a:t> Idle</a:t>
            </a:r>
            <a:r>
              <a:rPr lang="en-US" sz="1800" dirty="0"/>
              <a:t>: </a:t>
            </a:r>
          </a:p>
          <a:p>
            <a:pPr marL="0" indent="0">
              <a:spcBef>
                <a:spcPts val="0"/>
              </a:spcBef>
              <a:buNone/>
            </a:pPr>
            <a:r>
              <a:rPr lang="en-US" sz="1800" dirty="0"/>
              <a:t>In this state BGP refuses all incoming BGP connections.  No resources are allocated to the BGP neighbor.  In response to the Start event (initiated by either system or operator) the local system initializes all BGP resources and changes its state to </a:t>
            </a:r>
            <a:r>
              <a:rPr lang="en-US" sz="1800" dirty="0" err="1"/>
              <a:t>BGP_Active</a:t>
            </a:r>
            <a:r>
              <a:rPr lang="en-US" sz="1800" dirty="0"/>
              <a:t>.</a:t>
            </a:r>
            <a:br>
              <a:rPr lang="en-US" sz="1800" dirty="0"/>
            </a:br>
            <a:r>
              <a:rPr lang="en-US" sz="1800" dirty="0"/>
              <a:t>BGP waits for a start event (such as configuration of a neighbor).</a:t>
            </a:r>
          </a:p>
          <a:p>
            <a:pPr marL="0" indent="0">
              <a:spcBef>
                <a:spcPts val="0"/>
              </a:spcBef>
              <a:buNone/>
            </a:pPr>
            <a:r>
              <a:rPr lang="en-US" sz="1800" dirty="0">
                <a:sym typeface="Wingdings" panose="05000000000000000000" pitchFamily="2" charset="2"/>
              </a:rPr>
              <a:t> </a:t>
            </a:r>
            <a:r>
              <a:rPr lang="en-US" sz="1800" dirty="0"/>
              <a:t>It initializes resources, such as TCB (TCP Control Block).</a:t>
            </a:r>
          </a:p>
          <a:p>
            <a:pPr marL="0" indent="0">
              <a:spcBef>
                <a:spcPts val="0"/>
              </a:spcBef>
              <a:buNone/>
            </a:pPr>
            <a:r>
              <a:rPr lang="en-US" sz="1800" dirty="0">
                <a:sym typeface="Wingdings" panose="05000000000000000000" pitchFamily="2" charset="2"/>
              </a:rPr>
              <a:t> </a:t>
            </a:r>
            <a:r>
              <a:rPr lang="en-US" sz="1800" dirty="0"/>
              <a:t>It starts the </a:t>
            </a:r>
            <a:r>
              <a:rPr lang="en-US" sz="1800" dirty="0" err="1"/>
              <a:t>ConnectRetryTimer</a:t>
            </a:r>
            <a:r>
              <a:rPr lang="en-US" sz="1800" dirty="0"/>
              <a:t>.</a:t>
            </a:r>
          </a:p>
          <a:p>
            <a:pPr marL="0" indent="0">
              <a:spcBef>
                <a:spcPts val="0"/>
              </a:spcBef>
              <a:buNone/>
            </a:pPr>
            <a:r>
              <a:rPr lang="en-US" sz="1800" dirty="0">
                <a:sym typeface="Wingdings" panose="05000000000000000000" pitchFamily="2" charset="2"/>
              </a:rPr>
              <a:t> </a:t>
            </a:r>
            <a:r>
              <a:rPr lang="en-US" sz="1800" dirty="0"/>
              <a:t>But it does not yet send a TCP SYN or accept incoming TCP connections.</a:t>
            </a:r>
          </a:p>
          <a:p>
            <a:pPr marL="0" indent="0">
              <a:buNone/>
            </a:pPr>
            <a:r>
              <a:rPr lang="en-US" sz="1800" b="1" i="1" dirty="0"/>
              <a:t>ii. Connect</a:t>
            </a:r>
            <a:r>
              <a:rPr lang="en-US" sz="1800" dirty="0"/>
              <a:t>: BGP waits for a TCP connection with the remote peer. If successful, an open message is sent. If unsuccessful, the session is place in an active state.</a:t>
            </a:r>
            <a:br>
              <a:rPr lang="en-US" sz="1800" dirty="0"/>
            </a:br>
            <a:r>
              <a:rPr lang="en-US" sz="1800" dirty="0"/>
              <a:t>(goes active only if – routing issue, </a:t>
            </a:r>
            <a:r>
              <a:rPr lang="en-US" sz="1800" dirty="0" err="1"/>
              <a:t>tcp</a:t>
            </a:r>
            <a:r>
              <a:rPr lang="en-US" sz="1800" dirty="0"/>
              <a:t> port 179 is blocked, and ACL must Blocking the traffic)</a:t>
            </a:r>
          </a:p>
          <a:p>
            <a:pPr marL="182563" indent="-182563">
              <a:buFont typeface="+mj-lt"/>
              <a:buAutoNum type="romanLcPeriod"/>
            </a:pPr>
            <a:r>
              <a:rPr lang="en-US" sz="1800" b="1" i="1" dirty="0"/>
              <a:t>Active</a:t>
            </a:r>
            <a:r>
              <a:rPr lang="en-US" sz="1800" dirty="0"/>
              <a:t> – BGP attempts to initiate a TCP connection with the remote peer. If successful, an OPEN message is sent. If unsuccessful, BGP will wait for a </a:t>
            </a:r>
            <a:r>
              <a:rPr lang="en-US" sz="1800" dirty="0" err="1"/>
              <a:t>ConnectRetry</a:t>
            </a:r>
            <a:r>
              <a:rPr lang="en-US" sz="1800" dirty="0"/>
              <a:t> timer to expire, and place the session back in a Connect State</a:t>
            </a:r>
          </a:p>
          <a:p>
            <a:pPr marL="182563" indent="-182563">
              <a:buFont typeface="+mj-lt"/>
              <a:buAutoNum type="romanLcPeriod"/>
            </a:pPr>
            <a:r>
              <a:rPr lang="en-US" sz="1800" b="1" i="1" dirty="0" err="1"/>
              <a:t>OpenSent</a:t>
            </a:r>
            <a:r>
              <a:rPr lang="en-US" sz="1800" dirty="0"/>
              <a:t> – BGP has both established the TCP connection and sent an OPEN Message, and is awaiting a reply OPEN Message. Once it receives a reply OPEN Message, the BGP peer will send a KEEPALIVE message. </a:t>
            </a:r>
            <a:br>
              <a:rPr lang="en-US" sz="1800" dirty="0"/>
            </a:br>
            <a:r>
              <a:rPr lang="en-US" sz="1800" dirty="0"/>
              <a:t>(BGP compares the content of OPEN messages) (</a:t>
            </a:r>
            <a:r>
              <a:rPr lang="en-US" sz="1800" dirty="0" err="1"/>
              <a:t>bgp</a:t>
            </a:r>
            <a:r>
              <a:rPr lang="en-US" sz="1800" dirty="0"/>
              <a:t> </a:t>
            </a:r>
            <a:r>
              <a:rPr lang="en-US" sz="1800" dirty="0" err="1"/>
              <a:t>ver</a:t>
            </a:r>
            <a:r>
              <a:rPr lang="en-US" sz="1800" dirty="0"/>
              <a:t>, source </a:t>
            </a:r>
            <a:r>
              <a:rPr lang="en-US" sz="1800" dirty="0" err="1"/>
              <a:t>ip</a:t>
            </a:r>
            <a:r>
              <a:rPr lang="en-US" sz="1800" dirty="0"/>
              <a:t> address must match that is configured for the router, as, RID)</a:t>
            </a:r>
          </a:p>
          <a:p>
            <a:pPr marL="182563" indent="-182563">
              <a:buFont typeface="+mj-lt"/>
              <a:buAutoNum type="romanLcPeriod"/>
            </a:pPr>
            <a:r>
              <a:rPr lang="en-US" sz="1800" b="1" i="1" dirty="0" err="1"/>
              <a:t>OpenConfirm</a:t>
            </a:r>
            <a:r>
              <a:rPr lang="en-US" sz="1800" dirty="0"/>
              <a:t> – If all of the opensent is goes well then it will move to openconfirm state.  In openconfirm state, BGP waits for a keepalive or a notification message.</a:t>
            </a:r>
          </a:p>
          <a:p>
            <a:pPr marL="182563" indent="-182563">
              <a:buFont typeface="+mj-lt"/>
              <a:buAutoNum type="romanLcPeriod"/>
            </a:pPr>
            <a:r>
              <a:rPr lang="en-US" sz="1800" b="1" i="1" dirty="0"/>
              <a:t>Established</a:t>
            </a:r>
            <a:r>
              <a:rPr lang="en-US" sz="1800" dirty="0"/>
              <a:t> – the BGP peer session is fully established. UPDATE messages containing routing information will now be sent.</a:t>
            </a:r>
            <a:endParaRPr lang="en-US" dirty="0"/>
          </a:p>
          <a:p>
            <a:pPr marL="0" indent="0">
              <a:buNone/>
            </a:pPr>
            <a:r>
              <a:rPr lang="en-US" sz="1800" dirty="0"/>
              <a:t>(</a:t>
            </a:r>
            <a:r>
              <a:rPr lang="en-US" sz="1800" dirty="0" err="1"/>
              <a:t>sh</a:t>
            </a:r>
            <a:r>
              <a:rPr lang="en-US" sz="1800" dirty="0"/>
              <a:t> </a:t>
            </a:r>
            <a:r>
              <a:rPr lang="en-US" sz="1800" dirty="0" err="1"/>
              <a:t>tcp</a:t>
            </a:r>
            <a:r>
              <a:rPr lang="en-US" sz="1800" dirty="0"/>
              <a:t> brief    -     to check bgp state of the router)</a:t>
            </a:r>
          </a:p>
        </p:txBody>
      </p:sp>
    </p:spTree>
    <p:extLst>
      <p:ext uri="{BB962C8B-B14F-4D97-AF65-F5344CB8AC3E}">
        <p14:creationId xmlns:p14="http://schemas.microsoft.com/office/powerpoint/2010/main" val="1563096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6004-7746-9DA3-B3E5-D58E7E5D8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F309C5-55D6-379D-4AAA-6D63F56ACA40}"/>
              </a:ext>
            </a:extLst>
          </p:cNvPr>
          <p:cNvSpPr>
            <a:spLocks noGrp="1"/>
          </p:cNvSpPr>
          <p:nvPr>
            <p:ph type="title"/>
          </p:nvPr>
        </p:nvSpPr>
        <p:spPr>
          <a:xfrm>
            <a:off x="169607" y="148815"/>
            <a:ext cx="10515600" cy="696759"/>
          </a:xfrm>
        </p:spPr>
        <p:txBody>
          <a:bodyPr/>
          <a:lstStyle/>
          <a:p>
            <a:r>
              <a:rPr lang="en-IN" b="1" dirty="0">
                <a:solidFill>
                  <a:schemeClr val="accent1"/>
                </a:solidFill>
              </a:rPr>
              <a:t>When do you use BGP??</a:t>
            </a:r>
          </a:p>
        </p:txBody>
      </p:sp>
      <p:sp>
        <p:nvSpPr>
          <p:cNvPr id="3" name="Content Placeholder 2">
            <a:extLst>
              <a:ext uri="{FF2B5EF4-FFF2-40B4-BE49-F238E27FC236}">
                <a16:creationId xmlns:a16="http://schemas.microsoft.com/office/drawing/2014/main" id="{FCBA9253-3DA2-769B-E4DD-4070EA8BA8F9}"/>
              </a:ext>
            </a:extLst>
          </p:cNvPr>
          <p:cNvSpPr>
            <a:spLocks noGrp="1"/>
          </p:cNvSpPr>
          <p:nvPr>
            <p:ph idx="1"/>
          </p:nvPr>
        </p:nvSpPr>
        <p:spPr>
          <a:xfrm>
            <a:off x="641555" y="1048876"/>
            <a:ext cx="5637325" cy="5433204"/>
          </a:xfrm>
        </p:spPr>
        <p:txBody>
          <a:bodyPr>
            <a:normAutofit fontScale="92500" lnSpcReduction="20000"/>
          </a:bodyPr>
          <a:lstStyle/>
          <a:p>
            <a:pPr algn="l">
              <a:lnSpc>
                <a:spcPct val="100000"/>
              </a:lnSpc>
              <a:spcBef>
                <a:spcPts val="1372"/>
              </a:spcBef>
              <a:spcAft>
                <a:spcPts val="1029"/>
              </a:spcAft>
              <a:buNone/>
            </a:pPr>
            <a:r>
              <a:rPr lang="en-US" sz="1600" b="1" i="0" dirty="0">
                <a:effectLst/>
                <a:latin typeface="DeepSeek-CJK-patch"/>
              </a:rPr>
              <a:t>Multi-Homed Internet Connections (Dual/Multiple ISPs)</a:t>
            </a:r>
            <a:endParaRPr lang="en-US" sz="1600" b="0" i="0" dirty="0">
              <a:effectLst/>
              <a:latin typeface="DeepSeek-CJK-patch"/>
            </a:endParaRPr>
          </a:p>
          <a:p>
            <a:pPr algn="l">
              <a:lnSpc>
                <a:spcPct val="100000"/>
              </a:lnSpc>
              <a:spcBef>
                <a:spcPts val="1029"/>
              </a:spcBef>
              <a:spcAft>
                <a:spcPts val="1029"/>
              </a:spcAft>
              <a:buFont typeface="Arial" panose="020B0604020202020204" pitchFamily="34" charset="0"/>
              <a:buChar char="•"/>
            </a:pPr>
            <a:r>
              <a:rPr lang="en-US" sz="1600" b="1" i="0" dirty="0">
                <a:effectLst/>
                <a:latin typeface="DeepSeek-CJK-patch"/>
              </a:rPr>
              <a:t>Scenario:</a:t>
            </a:r>
            <a:r>
              <a:rPr lang="en-US" sz="1600" b="0" i="0" dirty="0">
                <a:effectLst/>
                <a:latin typeface="DeepSeek-CJK-patch"/>
              </a:rPr>
              <a:t> Your company connects to </a:t>
            </a:r>
            <a:r>
              <a:rPr lang="en-US" sz="1600" b="1" i="0" dirty="0">
                <a:effectLst/>
                <a:latin typeface="DeepSeek-CJK-patch"/>
              </a:rPr>
              <a:t>two or more ISPs</a:t>
            </a:r>
            <a:r>
              <a:rPr lang="en-US" sz="1600" b="0" i="0" dirty="0">
                <a:effectLst/>
                <a:latin typeface="DeepSeek-CJK-patch"/>
              </a:rPr>
              <a:t> for redundancy and load balancing.</a:t>
            </a:r>
          </a:p>
          <a:p>
            <a:pPr algn="l">
              <a:lnSpc>
                <a:spcPct val="100000"/>
              </a:lnSpc>
              <a:spcBef>
                <a:spcPts val="300"/>
              </a:spcBef>
              <a:spcAft>
                <a:spcPts val="300"/>
              </a:spcAft>
              <a:buFont typeface="Arial" panose="020B0604020202020204" pitchFamily="34" charset="0"/>
              <a:buChar char="•"/>
            </a:pPr>
            <a:r>
              <a:rPr lang="en-US" sz="1600" b="1" i="0" dirty="0">
                <a:effectLst/>
                <a:latin typeface="DeepSeek-CJK-patch"/>
              </a:rPr>
              <a:t>Why BGP?</a:t>
            </a:r>
            <a:endParaRPr lang="en-US" sz="1600" b="0" i="0" dirty="0">
              <a:effectLst/>
              <a:latin typeface="DeepSeek-CJK-patch"/>
            </a:endParaRPr>
          </a:p>
          <a:p>
            <a:pPr marL="742950" lvl="1" indent="-285750" algn="l">
              <a:lnSpc>
                <a:spcPct val="100000"/>
              </a:lnSpc>
              <a:spcBef>
                <a:spcPts val="300"/>
              </a:spcBef>
              <a:spcAft>
                <a:spcPts val="1029"/>
              </a:spcAft>
              <a:buFont typeface="Arial" panose="020B0604020202020204" pitchFamily="34" charset="0"/>
              <a:buChar char="•"/>
            </a:pPr>
            <a:r>
              <a:rPr lang="en-US" sz="1600" b="0" i="0" dirty="0">
                <a:effectLst/>
                <a:latin typeface="DeepSeek-CJK-patch"/>
              </a:rPr>
              <a:t>Allows </a:t>
            </a:r>
            <a:r>
              <a:rPr lang="en-US" sz="1600" b="1" i="0" dirty="0">
                <a:effectLst/>
                <a:latin typeface="DeepSeek-CJK-patch"/>
              </a:rPr>
              <a:t>failover</a:t>
            </a:r>
            <a:r>
              <a:rPr lang="en-US" sz="1600" b="0" i="0" dirty="0">
                <a:effectLst/>
                <a:latin typeface="DeepSeek-CJK-patch"/>
              </a:rPr>
              <a:t> if one ISP fails.</a:t>
            </a:r>
          </a:p>
          <a:p>
            <a:pPr marL="742950" lvl="1" indent="-285750" algn="l">
              <a:lnSpc>
                <a:spcPct val="100000"/>
              </a:lnSpc>
              <a:spcBef>
                <a:spcPts val="300"/>
              </a:spcBef>
              <a:spcAft>
                <a:spcPts val="1029"/>
              </a:spcAft>
              <a:buFont typeface="Arial" panose="020B0604020202020204" pitchFamily="34" charset="0"/>
              <a:buChar char="•"/>
            </a:pPr>
            <a:r>
              <a:rPr lang="en-US" sz="1600" b="0" i="0" dirty="0">
                <a:effectLst/>
                <a:latin typeface="DeepSeek-CJK-patch"/>
              </a:rPr>
              <a:t>Enables </a:t>
            </a:r>
            <a:r>
              <a:rPr lang="en-US" sz="1600" b="1" i="0" dirty="0">
                <a:effectLst/>
                <a:latin typeface="DeepSeek-CJK-patch"/>
              </a:rPr>
              <a:t>traffic engineering</a:t>
            </a:r>
            <a:r>
              <a:rPr lang="en-US" sz="1600" b="0" i="0" dirty="0">
                <a:effectLst/>
                <a:latin typeface="DeepSeek-CJK-patch"/>
              </a:rPr>
              <a:t> (e.g., prefer ISP-A for outbound, ISP-B for inbound).</a:t>
            </a:r>
          </a:p>
          <a:p>
            <a:pPr marL="742950" lvl="1" indent="-285750" algn="l">
              <a:lnSpc>
                <a:spcPct val="100000"/>
              </a:lnSpc>
              <a:spcBef>
                <a:spcPts val="300"/>
              </a:spcBef>
              <a:spcAft>
                <a:spcPts val="1029"/>
              </a:spcAft>
              <a:buFont typeface="Arial" panose="020B0604020202020204" pitchFamily="34" charset="0"/>
              <a:buChar char="•"/>
            </a:pPr>
            <a:r>
              <a:rPr lang="en-US" sz="1600" b="0" i="0" dirty="0">
                <a:effectLst/>
                <a:latin typeface="DeepSeek-CJK-patch"/>
              </a:rPr>
              <a:t>Advertises your public IP space (</a:t>
            </a:r>
            <a:r>
              <a:rPr lang="en-US" sz="1600" b="1" i="0" dirty="0">
                <a:effectLst/>
                <a:latin typeface="DeepSeek-CJK-patch"/>
              </a:rPr>
              <a:t>PI/PA addresses</a:t>
            </a:r>
            <a:r>
              <a:rPr lang="en-US" sz="1600" b="0" i="0" dirty="0">
                <a:effectLst/>
                <a:latin typeface="DeepSeek-CJK-patch"/>
              </a:rPr>
              <a:t>) to the Internet.</a:t>
            </a:r>
          </a:p>
          <a:p>
            <a:pPr algn="l">
              <a:lnSpc>
                <a:spcPct val="100000"/>
              </a:lnSpc>
              <a:spcBef>
                <a:spcPts val="1372"/>
              </a:spcBef>
              <a:spcAft>
                <a:spcPts val="1029"/>
              </a:spcAft>
              <a:buNone/>
            </a:pPr>
            <a:r>
              <a:rPr lang="en-IN" sz="1600" b="1" i="0" dirty="0">
                <a:effectLst/>
                <a:latin typeface="DeepSeek-CJK-patch"/>
              </a:rPr>
              <a:t>2. Internet Exchange (IXP) &amp; Peering</a:t>
            </a:r>
            <a:endParaRPr lang="en-IN" sz="1600" b="0" i="0" dirty="0">
              <a:effectLst/>
              <a:latin typeface="DeepSeek-CJK-patch"/>
            </a:endParaRPr>
          </a:p>
          <a:p>
            <a:pPr algn="l">
              <a:lnSpc>
                <a:spcPct val="100000"/>
              </a:lnSpc>
              <a:spcBef>
                <a:spcPts val="1029"/>
              </a:spcBef>
              <a:spcAft>
                <a:spcPts val="1029"/>
              </a:spcAft>
              <a:buFont typeface="Arial" panose="020B0604020202020204" pitchFamily="34" charset="0"/>
              <a:buChar char="•"/>
            </a:pPr>
            <a:r>
              <a:rPr lang="en-IN" sz="1600" b="1" i="0" dirty="0">
                <a:effectLst/>
                <a:latin typeface="DeepSeek-CJK-patch"/>
              </a:rPr>
              <a:t>Scenario:</a:t>
            </a:r>
            <a:r>
              <a:rPr lang="en-IN" sz="1600" b="0" i="0" dirty="0">
                <a:effectLst/>
                <a:latin typeface="DeepSeek-CJK-patch"/>
              </a:rPr>
              <a:t> Your company/ISP connects to an </a:t>
            </a:r>
            <a:r>
              <a:rPr lang="en-IN" sz="1600" b="1" i="0" dirty="0">
                <a:effectLst/>
                <a:latin typeface="DeepSeek-CJK-patch"/>
              </a:rPr>
              <a:t>Internet Exchange Point (IXP)</a:t>
            </a:r>
            <a:r>
              <a:rPr lang="en-IN" sz="1600" b="0" i="0" dirty="0">
                <a:effectLst/>
                <a:latin typeface="DeepSeek-CJK-patch"/>
              </a:rPr>
              <a:t> to peer with other networks (e.g., Google, Netflix, Cloudflare).</a:t>
            </a:r>
          </a:p>
          <a:p>
            <a:pPr algn="l">
              <a:lnSpc>
                <a:spcPct val="100000"/>
              </a:lnSpc>
              <a:spcBef>
                <a:spcPts val="300"/>
              </a:spcBef>
              <a:spcAft>
                <a:spcPts val="300"/>
              </a:spcAft>
              <a:buFont typeface="Arial" panose="020B0604020202020204" pitchFamily="34" charset="0"/>
              <a:buChar char="•"/>
            </a:pPr>
            <a:r>
              <a:rPr lang="en-IN" sz="1600" b="1" i="0" dirty="0">
                <a:effectLst/>
                <a:latin typeface="DeepSeek-CJK-patch"/>
              </a:rPr>
              <a:t>Why BGP?</a:t>
            </a:r>
            <a:endParaRPr lang="en-IN" sz="1600" b="0" i="0" dirty="0">
              <a:effectLst/>
              <a:latin typeface="DeepSeek-CJK-patch"/>
            </a:endParaRPr>
          </a:p>
          <a:p>
            <a:pPr marL="742950" lvl="1" indent="-285750" algn="l">
              <a:lnSpc>
                <a:spcPct val="100000"/>
              </a:lnSpc>
              <a:spcBef>
                <a:spcPts val="300"/>
              </a:spcBef>
              <a:spcAft>
                <a:spcPts val="1029"/>
              </a:spcAft>
              <a:buFont typeface="Arial" panose="020B0604020202020204" pitchFamily="34" charset="0"/>
              <a:buChar char="•"/>
            </a:pPr>
            <a:r>
              <a:rPr lang="en-IN" sz="1600" b="0" i="0" dirty="0">
                <a:effectLst/>
                <a:latin typeface="DeepSeek-CJK-patch"/>
              </a:rPr>
              <a:t>Reduces latency by </a:t>
            </a:r>
            <a:r>
              <a:rPr lang="en-IN" sz="1600" b="1" i="0" dirty="0">
                <a:effectLst/>
                <a:latin typeface="DeepSeek-CJK-patch"/>
              </a:rPr>
              <a:t>directly exchanging traffic</a:t>
            </a:r>
            <a:r>
              <a:rPr lang="en-IN" sz="1600" b="0" i="0" dirty="0">
                <a:effectLst/>
                <a:latin typeface="DeepSeek-CJK-patch"/>
              </a:rPr>
              <a:t> (instead of routing through an ISP).</a:t>
            </a:r>
          </a:p>
          <a:p>
            <a:pPr marL="742950" lvl="1" indent="-285750" algn="l">
              <a:lnSpc>
                <a:spcPct val="100000"/>
              </a:lnSpc>
              <a:spcBef>
                <a:spcPts val="300"/>
              </a:spcBef>
              <a:spcAft>
                <a:spcPts val="1029"/>
              </a:spcAft>
              <a:buFont typeface="Arial" panose="020B0604020202020204" pitchFamily="34" charset="0"/>
              <a:buChar char="•"/>
            </a:pPr>
            <a:r>
              <a:rPr lang="en-IN" sz="1600" b="0" i="0" dirty="0">
                <a:effectLst/>
                <a:latin typeface="DeepSeek-CJK-patch"/>
              </a:rPr>
              <a:t>Lowers bandwidth costs (</a:t>
            </a:r>
            <a:r>
              <a:rPr lang="en-IN" sz="1600" b="1" i="0" dirty="0">
                <a:effectLst/>
                <a:latin typeface="DeepSeek-CJK-patch"/>
              </a:rPr>
              <a:t>settlement-free peering</a:t>
            </a:r>
            <a:r>
              <a:rPr lang="en-IN" sz="2000" b="0" i="0" dirty="0">
                <a:effectLst/>
                <a:latin typeface="DeepSeek-CJK-patch"/>
              </a:rPr>
              <a:t>).</a:t>
            </a:r>
          </a:p>
          <a:p>
            <a:pPr marL="0" indent="0">
              <a:lnSpc>
                <a:spcPct val="100000"/>
              </a:lnSpc>
              <a:buNone/>
            </a:pPr>
            <a:endParaRPr lang="en-IN" sz="3200" dirty="0"/>
          </a:p>
        </p:txBody>
      </p:sp>
      <p:sp>
        <p:nvSpPr>
          <p:cNvPr id="4" name="TextBox 3">
            <a:extLst>
              <a:ext uri="{FF2B5EF4-FFF2-40B4-BE49-F238E27FC236}">
                <a16:creationId xmlns:a16="http://schemas.microsoft.com/office/drawing/2014/main" id="{E02617B8-26B7-69EA-D05A-9DFF07159736}"/>
              </a:ext>
            </a:extLst>
          </p:cNvPr>
          <p:cNvSpPr txBox="1"/>
          <p:nvPr/>
        </p:nvSpPr>
        <p:spPr>
          <a:xfrm>
            <a:off x="6207760" y="987106"/>
            <a:ext cx="5814633" cy="5722079"/>
          </a:xfrm>
          <a:prstGeom prst="rect">
            <a:avLst/>
          </a:prstGeom>
          <a:noFill/>
        </p:spPr>
        <p:txBody>
          <a:bodyPr wrap="square" rtlCol="0">
            <a:spAutoFit/>
          </a:bodyPr>
          <a:lstStyle/>
          <a:p>
            <a:pPr algn="l">
              <a:spcBef>
                <a:spcPts val="1372"/>
              </a:spcBef>
              <a:spcAft>
                <a:spcPts val="1029"/>
              </a:spcAft>
              <a:buNone/>
            </a:pPr>
            <a:r>
              <a:rPr lang="en-IN" sz="1600" b="1" i="0" dirty="0">
                <a:effectLst/>
                <a:latin typeface="DeepSeek-CJK-patch"/>
              </a:rPr>
              <a:t>3. Large Enterprise Networks with Multiple Data </a:t>
            </a:r>
            <a:r>
              <a:rPr lang="en-IN" sz="1600" b="1" i="0" dirty="0" err="1">
                <a:effectLst/>
                <a:latin typeface="DeepSeek-CJK-patch"/>
              </a:rPr>
              <a:t>Centers</a:t>
            </a:r>
            <a:endParaRPr lang="en-IN" sz="1600" b="0" i="0" dirty="0">
              <a:effectLst/>
              <a:latin typeface="DeepSeek-CJK-patch"/>
            </a:endParaRPr>
          </a:p>
          <a:p>
            <a:pPr algn="l">
              <a:spcBef>
                <a:spcPts val="1029"/>
              </a:spcBef>
              <a:spcAft>
                <a:spcPts val="1029"/>
              </a:spcAft>
              <a:buFont typeface="Arial" panose="020B0604020202020204" pitchFamily="34" charset="0"/>
              <a:buChar char="•"/>
            </a:pPr>
            <a:r>
              <a:rPr lang="en-IN" sz="1600" b="1" i="0" dirty="0">
                <a:effectLst/>
                <a:latin typeface="DeepSeek-CJK-patch"/>
              </a:rPr>
              <a:t>Scenario:</a:t>
            </a:r>
            <a:r>
              <a:rPr lang="en-IN" sz="1600" b="0" i="0" dirty="0">
                <a:effectLst/>
                <a:latin typeface="DeepSeek-CJK-patch"/>
              </a:rPr>
              <a:t> A global company has </a:t>
            </a:r>
            <a:r>
              <a:rPr lang="en-IN" sz="1600" b="1" i="0" dirty="0">
                <a:effectLst/>
                <a:latin typeface="DeepSeek-CJK-patch"/>
              </a:rPr>
              <a:t>multiple data </a:t>
            </a:r>
            <a:r>
              <a:rPr lang="en-IN" sz="1600" b="1" i="0" dirty="0" err="1">
                <a:effectLst/>
                <a:latin typeface="DeepSeek-CJK-patch"/>
              </a:rPr>
              <a:t>centers</a:t>
            </a:r>
            <a:r>
              <a:rPr lang="en-IN" sz="1600" b="1" i="0" dirty="0">
                <a:effectLst/>
                <a:latin typeface="DeepSeek-CJK-patch"/>
              </a:rPr>
              <a:t> (DCs)</a:t>
            </a:r>
            <a:r>
              <a:rPr lang="en-IN" sz="1600" b="0" i="0" dirty="0">
                <a:effectLst/>
                <a:latin typeface="DeepSeek-CJK-patch"/>
              </a:rPr>
              <a:t> in different regions (e.g., AWS, Azure, on-prem).</a:t>
            </a:r>
          </a:p>
          <a:p>
            <a:pPr algn="l">
              <a:spcBef>
                <a:spcPts val="300"/>
              </a:spcBef>
              <a:spcAft>
                <a:spcPts val="300"/>
              </a:spcAft>
              <a:buFont typeface="Arial" panose="020B0604020202020204" pitchFamily="34" charset="0"/>
              <a:buChar char="•"/>
            </a:pPr>
            <a:r>
              <a:rPr lang="en-IN" sz="1600" b="1" i="0" dirty="0">
                <a:effectLst/>
                <a:latin typeface="DeepSeek-CJK-patch"/>
              </a:rPr>
              <a:t>Why BGP?</a:t>
            </a:r>
            <a:endParaRPr lang="en-IN" sz="1600" b="0" i="0" dirty="0">
              <a:effectLst/>
              <a:latin typeface="DeepSeek-CJK-patch"/>
            </a:endParaRPr>
          </a:p>
          <a:p>
            <a:pPr marL="742950" lvl="1" indent="-285750" algn="l">
              <a:spcBef>
                <a:spcPts val="300"/>
              </a:spcBef>
              <a:spcAft>
                <a:spcPts val="1029"/>
              </a:spcAft>
              <a:buFont typeface="Arial" panose="020B0604020202020204" pitchFamily="34" charset="0"/>
              <a:buChar char="•"/>
            </a:pPr>
            <a:r>
              <a:rPr lang="en-IN" sz="1600" b="0" i="0" dirty="0">
                <a:effectLst/>
                <a:latin typeface="DeepSeek-CJK-patch"/>
              </a:rPr>
              <a:t>Ensures </a:t>
            </a:r>
            <a:r>
              <a:rPr lang="en-IN" sz="1600" b="1" i="0" dirty="0">
                <a:effectLst/>
                <a:latin typeface="DeepSeek-CJK-patch"/>
              </a:rPr>
              <a:t>optimal routing</a:t>
            </a:r>
            <a:r>
              <a:rPr lang="en-IN" sz="1600" b="0" i="0" dirty="0">
                <a:effectLst/>
                <a:latin typeface="DeepSeek-CJK-patch"/>
              </a:rPr>
              <a:t> between DCs.</a:t>
            </a:r>
          </a:p>
          <a:p>
            <a:pPr marL="742950" lvl="1" indent="-285750" algn="l">
              <a:spcBef>
                <a:spcPts val="300"/>
              </a:spcBef>
              <a:spcAft>
                <a:spcPts val="1029"/>
              </a:spcAft>
              <a:buFont typeface="Arial" panose="020B0604020202020204" pitchFamily="34" charset="0"/>
              <a:buChar char="•"/>
            </a:pPr>
            <a:r>
              <a:rPr lang="en-IN" sz="1600" b="0" i="0" dirty="0">
                <a:effectLst/>
                <a:latin typeface="DeepSeek-CJK-patch"/>
              </a:rPr>
              <a:t>Supports </a:t>
            </a:r>
            <a:r>
              <a:rPr lang="en-IN" sz="1600" b="1" i="0" dirty="0">
                <a:effectLst/>
                <a:latin typeface="DeepSeek-CJK-patch"/>
              </a:rPr>
              <a:t>SD-WAN</a:t>
            </a:r>
            <a:r>
              <a:rPr lang="en-IN" sz="1600" b="0" i="0" dirty="0">
                <a:effectLst/>
                <a:latin typeface="DeepSeek-CJK-patch"/>
              </a:rPr>
              <a:t> and hybrid cloud setups.</a:t>
            </a:r>
          </a:p>
          <a:p>
            <a:pPr marL="742950" lvl="1" indent="-285750" algn="l">
              <a:spcBef>
                <a:spcPts val="300"/>
              </a:spcBef>
              <a:spcAft>
                <a:spcPts val="1029"/>
              </a:spcAft>
              <a:buFont typeface="Arial" panose="020B0604020202020204" pitchFamily="34" charset="0"/>
              <a:buChar char="•"/>
            </a:pPr>
            <a:r>
              <a:rPr lang="en-IN" sz="1600" b="0" i="0" dirty="0">
                <a:effectLst/>
                <a:latin typeface="DeepSeek-CJK-patch"/>
              </a:rPr>
              <a:t>Used with </a:t>
            </a:r>
            <a:r>
              <a:rPr lang="en-IN" sz="1600" b="1" i="0" dirty="0">
                <a:effectLst/>
                <a:latin typeface="DeepSeek-CJK-patch"/>
              </a:rPr>
              <a:t>MPLS</a:t>
            </a:r>
            <a:r>
              <a:rPr lang="en-IN" sz="1600" b="0" i="0" dirty="0">
                <a:effectLst/>
                <a:latin typeface="DeepSeek-CJK-patch"/>
              </a:rPr>
              <a:t> for WAN routing.</a:t>
            </a:r>
          </a:p>
          <a:p>
            <a:pPr algn="l">
              <a:spcBef>
                <a:spcPts val="1372"/>
              </a:spcBef>
              <a:spcAft>
                <a:spcPts val="1029"/>
              </a:spcAft>
              <a:buNone/>
            </a:pPr>
            <a:r>
              <a:rPr lang="en-IN" sz="1600" b="1" i="0" dirty="0">
                <a:effectLst/>
                <a:latin typeface="DeepSeek-CJK-patch"/>
              </a:rPr>
              <a:t>4. Cloud &amp; Hybrid Cloud Networking (AWS, Azure, GCP)</a:t>
            </a:r>
            <a:endParaRPr lang="en-IN" sz="1600" b="0" i="0" dirty="0">
              <a:effectLst/>
              <a:latin typeface="DeepSeek-CJK-patch"/>
            </a:endParaRPr>
          </a:p>
          <a:p>
            <a:pPr algn="l">
              <a:spcBef>
                <a:spcPts val="1029"/>
              </a:spcBef>
              <a:spcAft>
                <a:spcPts val="1029"/>
              </a:spcAft>
              <a:buFont typeface="Arial" panose="020B0604020202020204" pitchFamily="34" charset="0"/>
              <a:buChar char="•"/>
            </a:pPr>
            <a:r>
              <a:rPr lang="en-IN" sz="1600" b="1" i="0" dirty="0">
                <a:effectLst/>
                <a:latin typeface="DeepSeek-CJK-patch"/>
              </a:rPr>
              <a:t>Scenario:</a:t>
            </a:r>
            <a:r>
              <a:rPr lang="en-IN" sz="1600" b="0" i="0" dirty="0">
                <a:effectLst/>
                <a:latin typeface="DeepSeek-CJK-patch"/>
              </a:rPr>
              <a:t> Connecting your on-prem network to </a:t>
            </a:r>
            <a:r>
              <a:rPr lang="en-IN" sz="1600" b="1" i="0" dirty="0">
                <a:effectLst/>
                <a:latin typeface="DeepSeek-CJK-patch"/>
              </a:rPr>
              <a:t>AWS (Direct Connect), Azure (ExpressRoute), or Google Cloud</a:t>
            </a:r>
            <a:r>
              <a:rPr lang="en-IN" sz="1600" b="0" i="0" dirty="0">
                <a:effectLst/>
                <a:latin typeface="DeepSeek-CJK-patch"/>
              </a:rPr>
              <a:t>.</a:t>
            </a:r>
          </a:p>
          <a:p>
            <a:pPr algn="l">
              <a:spcBef>
                <a:spcPts val="300"/>
              </a:spcBef>
              <a:spcAft>
                <a:spcPts val="300"/>
              </a:spcAft>
              <a:buFont typeface="Arial" panose="020B0604020202020204" pitchFamily="34" charset="0"/>
              <a:buChar char="•"/>
            </a:pPr>
            <a:r>
              <a:rPr lang="en-IN" sz="1600" b="1" i="0" dirty="0">
                <a:effectLst/>
                <a:latin typeface="DeepSeek-CJK-patch"/>
              </a:rPr>
              <a:t>Why BGP?</a:t>
            </a:r>
            <a:endParaRPr lang="en-IN" sz="1600" b="0" i="0" dirty="0">
              <a:effectLst/>
              <a:latin typeface="DeepSeek-CJK-patch"/>
            </a:endParaRPr>
          </a:p>
          <a:p>
            <a:pPr marL="742950" lvl="1" indent="-285750" algn="l">
              <a:spcBef>
                <a:spcPts val="300"/>
              </a:spcBef>
              <a:spcAft>
                <a:spcPts val="1029"/>
              </a:spcAft>
              <a:buFont typeface="Arial" panose="020B0604020202020204" pitchFamily="34" charset="0"/>
              <a:buChar char="•"/>
            </a:pPr>
            <a:r>
              <a:rPr lang="en-IN" sz="1600" b="0" i="0" dirty="0">
                <a:effectLst/>
                <a:latin typeface="DeepSeek-CJK-patch"/>
              </a:rPr>
              <a:t>Dynamically advertises </a:t>
            </a:r>
            <a:r>
              <a:rPr lang="en-IN" sz="1600" b="1" i="0" dirty="0">
                <a:effectLst/>
                <a:latin typeface="DeepSeek-CJK-patch"/>
              </a:rPr>
              <a:t>on-prem routes</a:t>
            </a:r>
            <a:r>
              <a:rPr lang="en-IN" sz="1600" b="0" i="0" dirty="0">
                <a:effectLst/>
                <a:latin typeface="DeepSeek-CJK-patch"/>
              </a:rPr>
              <a:t> to the cloud.</a:t>
            </a:r>
          </a:p>
          <a:p>
            <a:pPr marL="742950" lvl="1" indent="-285750" algn="l">
              <a:spcBef>
                <a:spcPts val="300"/>
              </a:spcBef>
              <a:spcAft>
                <a:spcPts val="1029"/>
              </a:spcAft>
              <a:buFont typeface="Arial" panose="020B0604020202020204" pitchFamily="34" charset="0"/>
              <a:buChar char="•"/>
            </a:pPr>
            <a:r>
              <a:rPr lang="en-IN" sz="1600" b="0" i="0" dirty="0">
                <a:effectLst/>
                <a:latin typeface="DeepSeek-CJK-patch"/>
              </a:rPr>
              <a:t>Allows </a:t>
            </a:r>
            <a:r>
              <a:rPr lang="en-IN" sz="1600" b="1" i="0" dirty="0">
                <a:effectLst/>
                <a:latin typeface="DeepSeek-CJK-patch"/>
              </a:rPr>
              <a:t>VPN failover</a:t>
            </a:r>
            <a:r>
              <a:rPr lang="en-IN" sz="1600" b="0" i="0" dirty="0">
                <a:effectLst/>
                <a:latin typeface="DeepSeek-CJK-patch"/>
              </a:rPr>
              <a:t> (e.g., backup connection via IPSec if Direct Connect fails).</a:t>
            </a:r>
          </a:p>
          <a:p>
            <a:endParaRPr lang="en-IN" sz="1600" dirty="0"/>
          </a:p>
        </p:txBody>
      </p:sp>
    </p:spTree>
    <p:extLst>
      <p:ext uri="{BB962C8B-B14F-4D97-AF65-F5344CB8AC3E}">
        <p14:creationId xmlns:p14="http://schemas.microsoft.com/office/powerpoint/2010/main" val="2179195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5B34C-037C-4D52-DE6B-DF660F06A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E7DCE-3799-ABEA-C263-A85F184854EB}"/>
              </a:ext>
            </a:extLst>
          </p:cNvPr>
          <p:cNvSpPr>
            <a:spLocks noGrp="1"/>
          </p:cNvSpPr>
          <p:nvPr>
            <p:ph type="title"/>
          </p:nvPr>
        </p:nvSpPr>
        <p:spPr>
          <a:xfrm>
            <a:off x="169607" y="148815"/>
            <a:ext cx="10515600" cy="696759"/>
          </a:xfrm>
        </p:spPr>
        <p:txBody>
          <a:bodyPr/>
          <a:lstStyle/>
          <a:p>
            <a:r>
              <a:rPr lang="en-IN" b="1" dirty="0">
                <a:solidFill>
                  <a:schemeClr val="accent1"/>
                </a:solidFill>
              </a:rPr>
              <a:t>When do you use BGP??</a:t>
            </a:r>
          </a:p>
        </p:txBody>
      </p:sp>
      <p:sp>
        <p:nvSpPr>
          <p:cNvPr id="3" name="Content Placeholder 2">
            <a:extLst>
              <a:ext uri="{FF2B5EF4-FFF2-40B4-BE49-F238E27FC236}">
                <a16:creationId xmlns:a16="http://schemas.microsoft.com/office/drawing/2014/main" id="{1F54EC50-617A-35DC-4DD9-A60C14904BAE}"/>
              </a:ext>
            </a:extLst>
          </p:cNvPr>
          <p:cNvSpPr>
            <a:spLocks noGrp="1"/>
          </p:cNvSpPr>
          <p:nvPr>
            <p:ph idx="1"/>
          </p:nvPr>
        </p:nvSpPr>
        <p:spPr>
          <a:xfrm>
            <a:off x="641555" y="1048876"/>
            <a:ext cx="11093245" cy="5433204"/>
          </a:xfrm>
        </p:spPr>
        <p:txBody>
          <a:bodyPr>
            <a:normAutofit/>
          </a:bodyPr>
          <a:lstStyle/>
          <a:p>
            <a:pPr algn="l">
              <a:lnSpc>
                <a:spcPct val="100000"/>
              </a:lnSpc>
              <a:spcBef>
                <a:spcPts val="1372"/>
              </a:spcBef>
              <a:spcAft>
                <a:spcPts val="1029"/>
              </a:spcAft>
              <a:buNone/>
            </a:pPr>
            <a:r>
              <a:rPr lang="en-US" sz="2000" b="1" i="0" dirty="0">
                <a:effectLst/>
                <a:latin typeface="Calibri "/>
              </a:rPr>
              <a:t>5. ISP &amp; Carrier Networks</a:t>
            </a:r>
            <a:endParaRPr lang="en-US" sz="2000" b="0" i="0" dirty="0">
              <a:effectLst/>
              <a:latin typeface="Calibri "/>
            </a:endParaRPr>
          </a:p>
          <a:p>
            <a:pPr algn="l">
              <a:lnSpc>
                <a:spcPct val="100000"/>
              </a:lnSpc>
              <a:spcBef>
                <a:spcPts val="1029"/>
              </a:spcBef>
              <a:spcAft>
                <a:spcPts val="1029"/>
              </a:spcAft>
              <a:buFont typeface="Arial" panose="020B0604020202020204" pitchFamily="34" charset="0"/>
              <a:buChar char="•"/>
            </a:pPr>
            <a:r>
              <a:rPr lang="en-US" sz="2000" b="1" i="0" dirty="0">
                <a:effectLst/>
                <a:latin typeface="Calibri "/>
              </a:rPr>
              <a:t>Scenario:</a:t>
            </a:r>
            <a:r>
              <a:rPr lang="en-US" sz="2000" b="0" i="0" dirty="0">
                <a:effectLst/>
                <a:latin typeface="Calibri "/>
              </a:rPr>
              <a:t> ISPs use BGP to </a:t>
            </a:r>
            <a:r>
              <a:rPr lang="en-US" sz="2000" b="1" i="0" dirty="0">
                <a:effectLst/>
                <a:latin typeface="Calibri "/>
              </a:rPr>
              <a:t>route traffic between their own network and other ISPs</a:t>
            </a:r>
            <a:r>
              <a:rPr lang="en-US" sz="2000" b="0" i="0" dirty="0">
                <a:effectLst/>
                <a:latin typeface="Calibri "/>
              </a:rPr>
              <a:t>.</a:t>
            </a:r>
          </a:p>
          <a:p>
            <a:pPr algn="l">
              <a:lnSpc>
                <a:spcPct val="100000"/>
              </a:lnSpc>
              <a:spcBef>
                <a:spcPts val="300"/>
              </a:spcBef>
              <a:spcAft>
                <a:spcPts val="300"/>
              </a:spcAft>
              <a:buFont typeface="Arial" panose="020B0604020202020204" pitchFamily="34" charset="0"/>
              <a:buChar char="•"/>
            </a:pPr>
            <a:r>
              <a:rPr lang="en-US" sz="2000" b="1" i="0" dirty="0">
                <a:effectLst/>
                <a:latin typeface="Calibri "/>
              </a:rPr>
              <a:t>Why BGP?</a:t>
            </a:r>
            <a:endParaRPr lang="en-US" sz="2000" b="0" i="0" dirty="0">
              <a:effectLst/>
              <a:latin typeface="Calibri "/>
            </a:endParaRPr>
          </a:p>
          <a:p>
            <a:pPr marL="742950" lvl="1" indent="-285750" algn="l">
              <a:lnSpc>
                <a:spcPct val="100000"/>
              </a:lnSpc>
              <a:spcBef>
                <a:spcPts val="300"/>
              </a:spcBef>
              <a:spcAft>
                <a:spcPts val="1029"/>
              </a:spcAft>
              <a:buFont typeface="Arial" panose="020B0604020202020204" pitchFamily="34" charset="0"/>
              <a:buChar char="•"/>
            </a:pPr>
            <a:r>
              <a:rPr lang="en-US" sz="2000" b="0" i="0" dirty="0">
                <a:effectLst/>
                <a:latin typeface="Calibri "/>
              </a:rPr>
              <a:t>The </a:t>
            </a:r>
            <a:r>
              <a:rPr lang="en-US" sz="2000" b="1" i="0" dirty="0">
                <a:effectLst/>
                <a:latin typeface="Calibri "/>
              </a:rPr>
              <a:t>only protocol</a:t>
            </a:r>
            <a:r>
              <a:rPr lang="en-US" sz="2000" b="0" i="0" dirty="0">
                <a:effectLst/>
                <a:latin typeface="Calibri "/>
              </a:rPr>
              <a:t> that scales for the entire Internet.</a:t>
            </a:r>
          </a:p>
          <a:p>
            <a:pPr marL="742950" lvl="1" indent="-285750" algn="l">
              <a:lnSpc>
                <a:spcPct val="100000"/>
              </a:lnSpc>
              <a:spcBef>
                <a:spcPts val="300"/>
              </a:spcBef>
              <a:spcAft>
                <a:spcPts val="1029"/>
              </a:spcAft>
              <a:buFont typeface="Arial" panose="020B0604020202020204" pitchFamily="34" charset="0"/>
              <a:buChar char="•"/>
            </a:pPr>
            <a:r>
              <a:rPr lang="en-US" sz="2000" b="0" i="0" dirty="0">
                <a:effectLst/>
                <a:latin typeface="Calibri "/>
              </a:rPr>
              <a:t>Supports </a:t>
            </a:r>
            <a:r>
              <a:rPr lang="en-US" sz="2000" b="1" i="0" dirty="0">
                <a:effectLst/>
                <a:latin typeface="Calibri "/>
              </a:rPr>
              <a:t>traffic engineering</a:t>
            </a:r>
            <a:r>
              <a:rPr lang="en-US" sz="2000" b="0" i="0" dirty="0">
                <a:effectLst/>
                <a:latin typeface="Calibri "/>
              </a:rPr>
              <a:t> (e.g., preferring certain paths).</a:t>
            </a:r>
            <a:br>
              <a:rPr lang="en-US" sz="2000" dirty="0">
                <a:latin typeface="Calibri "/>
              </a:rPr>
            </a:br>
            <a:r>
              <a:rPr lang="en-US" sz="2000" b="1" i="0" dirty="0">
                <a:effectLst/>
                <a:latin typeface="Calibri "/>
              </a:rPr>
              <a:t>6. Anycast Routing (Global Load Balancing)</a:t>
            </a:r>
            <a:endParaRPr lang="en-US" sz="2000" b="0" i="0" dirty="0">
              <a:effectLst/>
              <a:latin typeface="Calibri "/>
            </a:endParaRPr>
          </a:p>
          <a:p>
            <a:pPr algn="l">
              <a:lnSpc>
                <a:spcPct val="100000"/>
              </a:lnSpc>
              <a:spcBef>
                <a:spcPts val="1029"/>
              </a:spcBef>
              <a:spcAft>
                <a:spcPts val="1029"/>
              </a:spcAft>
              <a:buFont typeface="Arial" panose="020B0604020202020204" pitchFamily="34" charset="0"/>
              <a:buChar char="•"/>
            </a:pPr>
            <a:r>
              <a:rPr lang="en-US" sz="2000" b="1" i="0" dirty="0">
                <a:effectLst/>
                <a:latin typeface="Calibri "/>
              </a:rPr>
              <a:t>Scenario:</a:t>
            </a:r>
            <a:r>
              <a:rPr lang="en-US" sz="2000" b="0" i="0" dirty="0">
                <a:effectLst/>
                <a:latin typeface="Calibri "/>
              </a:rPr>
              <a:t> Services like </a:t>
            </a:r>
            <a:r>
              <a:rPr lang="en-US" sz="2000" b="1" i="0" dirty="0">
                <a:effectLst/>
                <a:latin typeface="Calibri "/>
              </a:rPr>
              <a:t>DNS (Cloudflare, Google DNS 8.8.8.8)</a:t>
            </a:r>
            <a:r>
              <a:rPr lang="en-US" sz="2000" b="0" i="0" dirty="0">
                <a:effectLst/>
                <a:latin typeface="Calibri "/>
              </a:rPr>
              <a:t> or CDNs use Anycast (same IP in multiple locations).</a:t>
            </a:r>
          </a:p>
          <a:p>
            <a:pPr algn="l">
              <a:lnSpc>
                <a:spcPct val="100000"/>
              </a:lnSpc>
              <a:spcBef>
                <a:spcPts val="300"/>
              </a:spcBef>
              <a:spcAft>
                <a:spcPts val="300"/>
              </a:spcAft>
              <a:buFont typeface="Arial" panose="020B0604020202020204" pitchFamily="34" charset="0"/>
              <a:buChar char="•"/>
            </a:pPr>
            <a:r>
              <a:rPr lang="en-US" sz="2000" b="1" i="0" dirty="0">
                <a:effectLst/>
                <a:latin typeface="Calibri "/>
              </a:rPr>
              <a:t>Why BGP?</a:t>
            </a:r>
            <a:endParaRPr lang="en-US" sz="2000" b="0" i="0" dirty="0">
              <a:effectLst/>
              <a:latin typeface="Calibri "/>
            </a:endParaRPr>
          </a:p>
          <a:p>
            <a:pPr marL="742950" lvl="1" indent="-285750" algn="l">
              <a:lnSpc>
                <a:spcPct val="100000"/>
              </a:lnSpc>
              <a:spcBef>
                <a:spcPts val="300"/>
              </a:spcBef>
              <a:spcAft>
                <a:spcPts val="1029"/>
              </a:spcAft>
              <a:buFont typeface="Arial" panose="020B0604020202020204" pitchFamily="34" charset="0"/>
              <a:buChar char="•"/>
            </a:pPr>
            <a:r>
              <a:rPr lang="en-US" sz="2000" b="0" i="0" dirty="0">
                <a:effectLst/>
                <a:latin typeface="Calibri "/>
              </a:rPr>
              <a:t>Advertises the </a:t>
            </a:r>
            <a:r>
              <a:rPr lang="en-US" sz="2000" b="1" i="0" dirty="0">
                <a:effectLst/>
                <a:latin typeface="Calibri "/>
              </a:rPr>
              <a:t>same IP prefix from multiple locations</a:t>
            </a:r>
            <a:r>
              <a:rPr lang="en-US" sz="2000" b="0" i="0" dirty="0">
                <a:effectLst/>
                <a:latin typeface="Calibri "/>
              </a:rPr>
              <a:t>.</a:t>
            </a:r>
          </a:p>
          <a:p>
            <a:pPr marL="742950" lvl="1" indent="-285750" algn="l">
              <a:lnSpc>
                <a:spcPct val="100000"/>
              </a:lnSpc>
              <a:spcBef>
                <a:spcPts val="300"/>
              </a:spcBef>
              <a:spcAft>
                <a:spcPts val="1029"/>
              </a:spcAft>
              <a:buFont typeface="Arial" panose="020B0604020202020204" pitchFamily="34" charset="0"/>
              <a:buChar char="•"/>
            </a:pPr>
            <a:r>
              <a:rPr lang="en-US" sz="2000" b="0" i="0" dirty="0">
                <a:effectLst/>
                <a:latin typeface="Calibri "/>
              </a:rPr>
              <a:t>Users connect to the </a:t>
            </a:r>
            <a:r>
              <a:rPr lang="en-US" sz="2000" b="1" i="0" dirty="0">
                <a:effectLst/>
                <a:latin typeface="Calibri "/>
              </a:rPr>
              <a:t>nearest server</a:t>
            </a:r>
            <a:r>
              <a:rPr lang="en-US" sz="2000" b="0" i="0" dirty="0">
                <a:effectLst/>
                <a:latin typeface="Calibri "/>
              </a:rPr>
              <a:t> automatically.</a:t>
            </a:r>
          </a:p>
          <a:p>
            <a:pPr>
              <a:lnSpc>
                <a:spcPct val="100000"/>
              </a:lnSpc>
              <a:buNone/>
            </a:pPr>
            <a:endParaRPr lang="en-IN" sz="2000" dirty="0">
              <a:latin typeface="Calibri "/>
            </a:endParaRPr>
          </a:p>
        </p:txBody>
      </p:sp>
    </p:spTree>
    <p:extLst>
      <p:ext uri="{BB962C8B-B14F-4D97-AF65-F5344CB8AC3E}">
        <p14:creationId xmlns:p14="http://schemas.microsoft.com/office/powerpoint/2010/main" val="3967240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A33CA-564E-E8EA-E17A-0F36BAE2A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3AA967-335F-D91C-5D63-48C98B08F38E}"/>
              </a:ext>
            </a:extLst>
          </p:cNvPr>
          <p:cNvSpPr>
            <a:spLocks noGrp="1"/>
          </p:cNvSpPr>
          <p:nvPr>
            <p:ph type="title"/>
          </p:nvPr>
        </p:nvSpPr>
        <p:spPr>
          <a:xfrm>
            <a:off x="169607" y="148815"/>
            <a:ext cx="10515600" cy="696759"/>
          </a:xfrm>
        </p:spPr>
        <p:txBody>
          <a:bodyPr/>
          <a:lstStyle/>
          <a:p>
            <a:r>
              <a:rPr lang="en-IN" b="1" dirty="0">
                <a:solidFill>
                  <a:schemeClr val="accent1"/>
                </a:solidFill>
              </a:rPr>
              <a:t>BGP PEERS??</a:t>
            </a:r>
          </a:p>
        </p:txBody>
      </p:sp>
      <p:sp>
        <p:nvSpPr>
          <p:cNvPr id="3" name="Content Placeholder 2">
            <a:extLst>
              <a:ext uri="{FF2B5EF4-FFF2-40B4-BE49-F238E27FC236}">
                <a16:creationId xmlns:a16="http://schemas.microsoft.com/office/drawing/2014/main" id="{236666D5-900F-C659-B0EE-7668CD2E2E0D}"/>
              </a:ext>
            </a:extLst>
          </p:cNvPr>
          <p:cNvSpPr>
            <a:spLocks noGrp="1"/>
          </p:cNvSpPr>
          <p:nvPr>
            <p:ph idx="1"/>
          </p:nvPr>
        </p:nvSpPr>
        <p:spPr>
          <a:xfrm>
            <a:off x="661875" y="845574"/>
            <a:ext cx="11093245" cy="5433204"/>
          </a:xfrm>
        </p:spPr>
        <p:txBody>
          <a:bodyPr>
            <a:normAutofit/>
          </a:bodyPr>
          <a:lstStyle/>
          <a:p>
            <a:pPr>
              <a:lnSpc>
                <a:spcPct val="100000"/>
              </a:lnSpc>
              <a:buNone/>
            </a:pPr>
            <a:r>
              <a:rPr lang="en-US" sz="2000" dirty="0"/>
              <a:t>There are two types of BGP neighbor relationships: </a:t>
            </a:r>
            <a:br>
              <a:rPr lang="en-US" sz="2000" dirty="0"/>
            </a:br>
            <a:r>
              <a:rPr lang="en-US" sz="2000" dirty="0"/>
              <a:t>• iBGP Peers – BGP neighbors within the same autonomous system. </a:t>
            </a:r>
            <a:br>
              <a:rPr lang="en-US" sz="2000" dirty="0"/>
            </a:br>
            <a:r>
              <a:rPr lang="en-US" sz="2000" dirty="0"/>
              <a:t>• eBGP Peers – BGP neighbors connecting separate autonomous systems</a:t>
            </a:r>
          </a:p>
          <a:p>
            <a:pPr>
              <a:lnSpc>
                <a:spcPct val="100000"/>
              </a:lnSpc>
              <a:buFont typeface="Wingdings" panose="05000000000000000000" pitchFamily="2" charset="2"/>
              <a:buChar char="q"/>
            </a:pPr>
            <a:r>
              <a:rPr lang="en-US" sz="2000" dirty="0"/>
              <a:t>By default, BGP assumes that eBGP peers are a maximum of one hop away. </a:t>
            </a:r>
            <a:endParaRPr lang="en-IN" sz="2000" dirty="0"/>
          </a:p>
          <a:p>
            <a:pPr>
              <a:lnSpc>
                <a:spcPct val="100000"/>
              </a:lnSpc>
              <a:buFont typeface="Wingdings" panose="05000000000000000000" pitchFamily="2" charset="2"/>
              <a:buChar char="q"/>
            </a:pPr>
            <a:r>
              <a:rPr lang="en-IN" sz="2000" dirty="0"/>
              <a:t>The administrative distance of routes learn from </a:t>
            </a:r>
            <a:r>
              <a:rPr lang="en-IN" sz="2000" dirty="0" err="1"/>
              <a:t>egbp</a:t>
            </a:r>
            <a:r>
              <a:rPr lang="en-IN" sz="2000" dirty="0"/>
              <a:t> peer (outside the autonomous system) is 20, while the AD for the </a:t>
            </a:r>
            <a:r>
              <a:rPr lang="en-IN" sz="2000" dirty="0" err="1"/>
              <a:t>ibgp</a:t>
            </a:r>
            <a:r>
              <a:rPr lang="en-IN" sz="2000" dirty="0"/>
              <a:t> and locally-originated routes is 200.</a:t>
            </a:r>
            <a:endParaRPr lang="en-US" sz="2000" dirty="0"/>
          </a:p>
        </p:txBody>
      </p:sp>
    </p:spTree>
    <p:extLst>
      <p:ext uri="{BB962C8B-B14F-4D97-AF65-F5344CB8AC3E}">
        <p14:creationId xmlns:p14="http://schemas.microsoft.com/office/powerpoint/2010/main" val="1476434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8C8D5-0F0E-62E6-068A-3BE242A4B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6E8EA-D86F-1C71-1ABD-69FFC2DDF0DD}"/>
              </a:ext>
            </a:extLst>
          </p:cNvPr>
          <p:cNvSpPr>
            <a:spLocks noGrp="1"/>
          </p:cNvSpPr>
          <p:nvPr>
            <p:ph type="title"/>
          </p:nvPr>
        </p:nvSpPr>
        <p:spPr>
          <a:xfrm>
            <a:off x="120446" y="0"/>
            <a:ext cx="10515600" cy="453615"/>
          </a:xfrm>
        </p:spPr>
        <p:txBody>
          <a:bodyPr>
            <a:normAutofit fontScale="90000"/>
          </a:bodyPr>
          <a:lstStyle/>
          <a:p>
            <a:r>
              <a:rPr lang="en-IN" b="1" dirty="0">
                <a:solidFill>
                  <a:schemeClr val="accent1"/>
                </a:solidFill>
              </a:rPr>
              <a:t>BGP ATTRIBUTES</a:t>
            </a:r>
          </a:p>
        </p:txBody>
      </p:sp>
      <p:sp>
        <p:nvSpPr>
          <p:cNvPr id="3" name="Content Placeholder 2">
            <a:extLst>
              <a:ext uri="{FF2B5EF4-FFF2-40B4-BE49-F238E27FC236}">
                <a16:creationId xmlns:a16="http://schemas.microsoft.com/office/drawing/2014/main" id="{7210CE08-71CB-E84A-9203-9DE1F843EB36}"/>
              </a:ext>
            </a:extLst>
          </p:cNvPr>
          <p:cNvSpPr>
            <a:spLocks noGrp="1"/>
          </p:cNvSpPr>
          <p:nvPr>
            <p:ph idx="1"/>
          </p:nvPr>
        </p:nvSpPr>
        <p:spPr>
          <a:xfrm>
            <a:off x="498577" y="453614"/>
            <a:ext cx="5597423" cy="6261817"/>
          </a:xfrm>
        </p:spPr>
        <p:txBody>
          <a:bodyPr>
            <a:noAutofit/>
          </a:bodyPr>
          <a:lstStyle/>
          <a:p>
            <a:pPr marL="0" indent="0" algn="just">
              <a:buNone/>
            </a:pPr>
            <a:r>
              <a:rPr lang="en-US" sz="1800" dirty="0"/>
              <a:t>Each BGP route (prefix) is associated with attributes. These attributes help routers </a:t>
            </a:r>
            <a:r>
              <a:rPr lang="en-US" sz="1800" b="1" dirty="0"/>
              <a:t>choose the best path</a:t>
            </a:r>
            <a:r>
              <a:rPr lang="en-US" sz="1800" dirty="0"/>
              <a:t> when multiple routes are available.</a:t>
            </a:r>
          </a:p>
          <a:p>
            <a:pPr>
              <a:buNone/>
            </a:pPr>
            <a:r>
              <a:rPr lang="en-US" sz="1800" b="1" dirty="0"/>
              <a:t>🟩 Well-known Mandatory Attributes</a:t>
            </a:r>
            <a:br>
              <a:rPr lang="en-US" sz="1800" b="1" dirty="0"/>
            </a:br>
            <a:r>
              <a:rPr lang="en-US" sz="1800" dirty="0"/>
              <a:t>mut be recognized by all </a:t>
            </a:r>
            <a:r>
              <a:rPr lang="en-US" sz="1800" dirty="0" err="1"/>
              <a:t>bgp</a:t>
            </a:r>
            <a:r>
              <a:rPr lang="en-US" sz="1800" dirty="0"/>
              <a:t> implementation</a:t>
            </a:r>
            <a:br>
              <a:rPr lang="en-US" sz="1800" dirty="0"/>
            </a:br>
            <a:r>
              <a:rPr lang="en-US" sz="1800" dirty="0"/>
              <a:t>must be included in every update message that contains NLRIs.</a:t>
            </a:r>
          </a:p>
          <a:p>
            <a:pPr>
              <a:buFont typeface="+mj-lt"/>
              <a:buAutoNum type="arabicPeriod"/>
            </a:pPr>
            <a:r>
              <a:rPr lang="en-US" sz="1800" b="1" dirty="0"/>
              <a:t>ORIGIN</a:t>
            </a:r>
            <a:r>
              <a:rPr lang="en-US" sz="1800" dirty="0"/>
              <a:t> – Describes where the route originated (IGP, EGP, or Incomplete).</a:t>
            </a:r>
          </a:p>
          <a:p>
            <a:pPr>
              <a:buFont typeface="+mj-lt"/>
              <a:buAutoNum type="arabicPeriod"/>
            </a:pPr>
            <a:r>
              <a:rPr lang="en-US" sz="1800" b="1" dirty="0"/>
              <a:t>AS_PATH</a:t>
            </a:r>
            <a:r>
              <a:rPr lang="en-US" sz="1800" dirty="0"/>
              <a:t> – Lists all AS numbers a route has passed through.</a:t>
            </a:r>
          </a:p>
          <a:p>
            <a:pPr>
              <a:buFont typeface="+mj-lt"/>
              <a:buAutoNum type="arabicPeriod"/>
            </a:pPr>
            <a:r>
              <a:rPr lang="en-US" sz="1800" b="1" dirty="0"/>
              <a:t>NEXT_HOP</a:t>
            </a:r>
            <a:r>
              <a:rPr lang="en-US" sz="1800" dirty="0"/>
              <a:t> – IP address of the next router to reach the destination.</a:t>
            </a:r>
            <a:br>
              <a:rPr lang="en-US" sz="1800" dirty="0"/>
            </a:br>
            <a:endParaRPr lang="en-US" sz="1800" dirty="0"/>
          </a:p>
          <a:p>
            <a:pPr>
              <a:buNone/>
            </a:pPr>
            <a:r>
              <a:rPr lang="en-US" sz="1800" b="1" dirty="0"/>
              <a:t>🟨 Well-known Discretionary Attributes</a:t>
            </a:r>
          </a:p>
          <a:p>
            <a:pPr>
              <a:buNone/>
            </a:pPr>
            <a:r>
              <a:rPr lang="en-US" sz="1800" dirty="0"/>
              <a:t>Recognized by all BGP routers, but not mandatory.</a:t>
            </a:r>
          </a:p>
          <a:p>
            <a:pPr>
              <a:buFont typeface="+mj-lt"/>
              <a:buAutoNum type="arabicPeriod" startAt="4"/>
            </a:pPr>
            <a:r>
              <a:rPr lang="en-US" sz="1800" b="1" dirty="0"/>
              <a:t>LOCAL_PREF (Local Preference)</a:t>
            </a:r>
            <a:r>
              <a:rPr lang="en-US" sz="1800" dirty="0"/>
              <a:t> – Used within an AS to prefer one path over another.</a:t>
            </a:r>
          </a:p>
          <a:p>
            <a:pPr>
              <a:buFont typeface="+mj-lt"/>
              <a:buAutoNum type="arabicPeriod" startAt="4"/>
            </a:pPr>
            <a:r>
              <a:rPr lang="en-US" sz="1800" b="1" dirty="0"/>
              <a:t>ATOMIC_AGGREGATE</a:t>
            </a:r>
            <a:r>
              <a:rPr lang="en-US" sz="1800" dirty="0"/>
              <a:t> – Informs that some information was lost during route aggregation.</a:t>
            </a:r>
            <a:br>
              <a:rPr lang="en-US" sz="1800" dirty="0"/>
            </a:br>
            <a:endParaRPr lang="en-US" sz="1800" dirty="0"/>
          </a:p>
        </p:txBody>
      </p:sp>
      <p:sp>
        <p:nvSpPr>
          <p:cNvPr id="5" name="TextBox 4">
            <a:extLst>
              <a:ext uri="{FF2B5EF4-FFF2-40B4-BE49-F238E27FC236}">
                <a16:creationId xmlns:a16="http://schemas.microsoft.com/office/drawing/2014/main" id="{A62CBC8A-D6A0-E832-4AE3-634997433049}"/>
              </a:ext>
            </a:extLst>
          </p:cNvPr>
          <p:cNvSpPr txBox="1"/>
          <p:nvPr/>
        </p:nvSpPr>
        <p:spPr>
          <a:xfrm>
            <a:off x="6312310" y="530942"/>
            <a:ext cx="5476567" cy="4801314"/>
          </a:xfrm>
          <a:prstGeom prst="rect">
            <a:avLst/>
          </a:prstGeom>
          <a:noFill/>
        </p:spPr>
        <p:txBody>
          <a:bodyPr wrap="square" rtlCol="0">
            <a:spAutoFit/>
          </a:bodyPr>
          <a:lstStyle/>
          <a:p>
            <a:pPr>
              <a:buNone/>
            </a:pPr>
            <a:r>
              <a:rPr lang="en-US" sz="1800" b="1" dirty="0"/>
              <a:t>🟧 Optional Transitive Attributes</a:t>
            </a:r>
          </a:p>
          <a:p>
            <a:pPr>
              <a:buNone/>
            </a:pPr>
            <a:r>
              <a:rPr lang="en-US" sz="1800" dirty="0"/>
              <a:t>Optional, but if a router doesn't recognize them, it still forwards them to other BGP peers.</a:t>
            </a:r>
          </a:p>
          <a:p>
            <a:pPr>
              <a:buFont typeface="+mj-lt"/>
              <a:buAutoNum type="arabicPeriod" startAt="6"/>
            </a:pPr>
            <a:r>
              <a:rPr lang="en-US" b="1" dirty="0"/>
              <a:t>AGGREGATOR</a:t>
            </a:r>
            <a:r>
              <a:rPr lang="en-US" dirty="0"/>
              <a:t> – </a:t>
            </a:r>
            <a:br>
              <a:rPr lang="en-US" dirty="0"/>
            </a:br>
            <a:r>
              <a:rPr lang="en-US" dirty="0"/>
              <a:t>Purpose: Identifies the router and AS that created the aggregated route</a:t>
            </a:r>
            <a:br>
              <a:rPr lang="en-US" dirty="0"/>
            </a:br>
            <a:r>
              <a:rPr lang="en-US" dirty="0"/>
              <a:t>Use Case: When multiple routes are summarized into one, this attribute stores info about the origin of the summary</a:t>
            </a:r>
          </a:p>
          <a:p>
            <a:pPr>
              <a:buFont typeface="+mj-lt"/>
              <a:buAutoNum type="arabicPeriod" startAt="6"/>
            </a:pPr>
            <a:r>
              <a:rPr lang="en-US" b="1" dirty="0"/>
              <a:t>COMMUNITY</a:t>
            </a:r>
            <a:r>
              <a:rPr lang="en-US" dirty="0"/>
              <a:t> – Allows tagging routes for easier filtering and control.</a:t>
            </a:r>
            <a:br>
              <a:rPr lang="en-US" dirty="0"/>
            </a:br>
            <a:r>
              <a:rPr lang="en-US" dirty="0"/>
              <a:t>Purpose: Used to tag routes with extra information for grouping, filtering, or policy control.</a:t>
            </a:r>
            <a:br>
              <a:rPr lang="en-US" dirty="0"/>
            </a:br>
            <a:r>
              <a:rPr lang="en-US" dirty="0"/>
              <a:t>Use Case: You might tag routes with a community value like </a:t>
            </a:r>
            <a:r>
              <a:rPr lang="en-IN" dirty="0"/>
              <a:t>no-export, local-AS, or custom value like 65000:100 to control routing behaviour within and across </a:t>
            </a:r>
            <a:r>
              <a:rPr lang="en-IN" dirty="0" err="1"/>
              <a:t>Ases</a:t>
            </a:r>
            <a:r>
              <a:rPr lang="en-IN" dirty="0"/>
              <a:t>.</a:t>
            </a:r>
            <a:endParaRPr lang="en-US" dirty="0"/>
          </a:p>
          <a:p>
            <a:endParaRPr lang="en-IN" dirty="0"/>
          </a:p>
        </p:txBody>
      </p:sp>
    </p:spTree>
    <p:extLst>
      <p:ext uri="{BB962C8B-B14F-4D97-AF65-F5344CB8AC3E}">
        <p14:creationId xmlns:p14="http://schemas.microsoft.com/office/powerpoint/2010/main" val="588470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04205B-963D-119B-34C7-0E2F02488C85}"/>
              </a:ext>
            </a:extLst>
          </p:cNvPr>
          <p:cNvPicPr>
            <a:picLocks noChangeAspect="1"/>
          </p:cNvPicPr>
          <p:nvPr/>
        </p:nvPicPr>
        <p:blipFill>
          <a:blip r:embed="rId2"/>
          <a:stretch>
            <a:fillRect/>
          </a:stretch>
        </p:blipFill>
        <p:spPr>
          <a:xfrm>
            <a:off x="0" y="570738"/>
            <a:ext cx="12192000" cy="5716523"/>
          </a:xfrm>
          <a:prstGeom prst="rect">
            <a:avLst/>
          </a:prstGeom>
        </p:spPr>
      </p:pic>
    </p:spTree>
    <p:extLst>
      <p:ext uri="{BB962C8B-B14F-4D97-AF65-F5344CB8AC3E}">
        <p14:creationId xmlns:p14="http://schemas.microsoft.com/office/powerpoint/2010/main" val="876048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5421A-5183-3118-3007-D976DF44B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D2699-20AA-1296-108B-5DC779FAA90B}"/>
              </a:ext>
            </a:extLst>
          </p:cNvPr>
          <p:cNvSpPr>
            <a:spLocks noGrp="1"/>
          </p:cNvSpPr>
          <p:nvPr>
            <p:ph type="title"/>
          </p:nvPr>
        </p:nvSpPr>
        <p:spPr>
          <a:xfrm>
            <a:off x="169607" y="148815"/>
            <a:ext cx="10515600" cy="696759"/>
          </a:xfrm>
        </p:spPr>
        <p:txBody>
          <a:bodyPr/>
          <a:lstStyle/>
          <a:p>
            <a:r>
              <a:rPr lang="en-IN" b="1" dirty="0">
                <a:solidFill>
                  <a:schemeClr val="accent1"/>
                </a:solidFill>
              </a:rPr>
              <a:t>BGP ATTRIBUTES</a:t>
            </a:r>
          </a:p>
        </p:txBody>
      </p:sp>
      <p:sp>
        <p:nvSpPr>
          <p:cNvPr id="3" name="Content Placeholder 2">
            <a:extLst>
              <a:ext uri="{FF2B5EF4-FFF2-40B4-BE49-F238E27FC236}">
                <a16:creationId xmlns:a16="http://schemas.microsoft.com/office/drawing/2014/main" id="{B49EFEB9-D38C-EC8E-63C5-EE36CA42C39F}"/>
              </a:ext>
            </a:extLst>
          </p:cNvPr>
          <p:cNvSpPr>
            <a:spLocks noGrp="1"/>
          </p:cNvSpPr>
          <p:nvPr>
            <p:ph idx="1"/>
          </p:nvPr>
        </p:nvSpPr>
        <p:spPr>
          <a:xfrm>
            <a:off x="641555" y="845574"/>
            <a:ext cx="9772445" cy="5738004"/>
          </a:xfrm>
        </p:spPr>
        <p:txBody>
          <a:bodyPr>
            <a:noAutofit/>
          </a:bodyPr>
          <a:lstStyle/>
          <a:p>
            <a:pPr>
              <a:buNone/>
            </a:pPr>
            <a:r>
              <a:rPr lang="en-US" sz="2000" b="1" dirty="0"/>
              <a:t>🟥 Optional Non-Transitive Attributes</a:t>
            </a:r>
          </a:p>
          <a:p>
            <a:pPr>
              <a:buNone/>
            </a:pPr>
            <a:r>
              <a:rPr lang="en-US" sz="2000" dirty="0"/>
              <a:t>Optional and </a:t>
            </a:r>
            <a:r>
              <a:rPr lang="en-US" sz="2000" b="1" dirty="0"/>
              <a:t>not</a:t>
            </a:r>
            <a:r>
              <a:rPr lang="en-US" sz="2000" dirty="0"/>
              <a:t> passed to other BGP peers if not understood.</a:t>
            </a:r>
          </a:p>
          <a:p>
            <a:pPr>
              <a:buFont typeface="+mj-lt"/>
              <a:buAutoNum type="arabicPeriod" startAt="8"/>
            </a:pPr>
            <a:r>
              <a:rPr lang="en-US" sz="2000" b="1" dirty="0"/>
              <a:t>MULTI_EXIT_DISC (MED)</a:t>
            </a:r>
            <a:r>
              <a:rPr lang="en-US" sz="2000" dirty="0"/>
              <a:t> – Suggests the preferred path into an AS when multiple links exist.</a:t>
            </a:r>
          </a:p>
          <a:p>
            <a:pPr>
              <a:buFont typeface="+mj-lt"/>
              <a:buAutoNum type="arabicPeriod" startAt="8"/>
            </a:pPr>
            <a:r>
              <a:rPr lang="en-US" sz="2000" b="1" dirty="0"/>
              <a:t>ORIGINATOR_ID</a:t>
            </a:r>
            <a:r>
              <a:rPr lang="en-US" sz="2000" dirty="0"/>
              <a:t> – Identifies the originator of a route in BGP Route Reflector environments.</a:t>
            </a:r>
          </a:p>
          <a:p>
            <a:pPr>
              <a:buFont typeface="+mj-lt"/>
              <a:buAutoNum type="arabicPeriod" startAt="8"/>
            </a:pPr>
            <a:r>
              <a:rPr lang="en-US" sz="2000" b="1" dirty="0"/>
              <a:t>CLUSTER_LIST</a:t>
            </a:r>
            <a:r>
              <a:rPr lang="en-US" sz="2000" dirty="0"/>
              <a:t> – Used in BGP Route Reflectors to prevent routing loops.</a:t>
            </a:r>
            <a:br>
              <a:rPr lang="en-US" sz="2000" dirty="0"/>
            </a:br>
            <a:endParaRPr lang="en-US" sz="2000" dirty="0"/>
          </a:p>
          <a:p>
            <a:pPr>
              <a:buNone/>
            </a:pPr>
            <a:r>
              <a:rPr lang="en-US" sz="2000" b="1" dirty="0"/>
              <a:t>🔵 Additional Modern Attributes (Extended Features)</a:t>
            </a:r>
          </a:p>
          <a:p>
            <a:pPr>
              <a:buNone/>
            </a:pPr>
            <a:r>
              <a:rPr lang="en-US" sz="2000" dirty="0"/>
              <a:t>These may not be part of the core BGP-4 spec but are widely used in modern networks:</a:t>
            </a:r>
          </a:p>
          <a:p>
            <a:pPr>
              <a:buFont typeface="+mj-lt"/>
              <a:buAutoNum type="arabicPeriod" startAt="11"/>
            </a:pPr>
            <a:r>
              <a:rPr lang="en-US" sz="2000" b="1" dirty="0"/>
              <a:t>BGP Confederation Attributes</a:t>
            </a:r>
            <a:r>
              <a:rPr lang="en-US" sz="2000" dirty="0"/>
              <a:t> – For internal AS structuring.</a:t>
            </a:r>
          </a:p>
          <a:p>
            <a:pPr>
              <a:buFont typeface="+mj-lt"/>
              <a:buAutoNum type="arabicPeriod" startAt="11"/>
            </a:pPr>
            <a:r>
              <a:rPr lang="en-US" sz="2000" b="1" dirty="0"/>
              <a:t>Extended Communities</a:t>
            </a:r>
            <a:r>
              <a:rPr lang="en-US" sz="2000" dirty="0"/>
              <a:t> – Allow more tagging options.</a:t>
            </a:r>
          </a:p>
          <a:p>
            <a:pPr>
              <a:buFont typeface="+mj-lt"/>
              <a:buAutoNum type="arabicPeriod" startAt="11"/>
            </a:pPr>
            <a:r>
              <a:rPr lang="en-US" sz="2000" b="1" dirty="0"/>
              <a:t>AIGP (Accumulated IGP Metric)</a:t>
            </a:r>
            <a:r>
              <a:rPr lang="en-US" sz="2000" dirty="0"/>
              <a:t> – Helps with IGP-based path selection.</a:t>
            </a:r>
          </a:p>
          <a:p>
            <a:pPr>
              <a:buFont typeface="+mj-lt"/>
              <a:buAutoNum type="arabicPeriod" startAt="11"/>
            </a:pPr>
            <a:r>
              <a:rPr lang="en-US" sz="2000" b="1" dirty="0"/>
              <a:t>BGP-LS (Link-State)</a:t>
            </a:r>
            <a:r>
              <a:rPr lang="en-US" sz="2000" dirty="0"/>
              <a:t> – Used in SDN and IGP interworking.</a:t>
            </a:r>
          </a:p>
          <a:p>
            <a:pPr>
              <a:buFont typeface="+mj-lt"/>
              <a:buAutoNum type="arabicPeriod" startAt="11"/>
            </a:pPr>
            <a:r>
              <a:rPr lang="en-US" sz="2000" b="1" dirty="0" err="1"/>
              <a:t>BGPsec_PATH</a:t>
            </a:r>
            <a:r>
              <a:rPr lang="en-US" sz="2000" dirty="0"/>
              <a:t> – Security extension (cryptographically signed AS_PATH).</a:t>
            </a:r>
          </a:p>
          <a:p>
            <a:pPr marL="0" indent="0" algn="just">
              <a:buNone/>
            </a:pPr>
            <a:endParaRPr lang="en-US" sz="2000" dirty="0"/>
          </a:p>
        </p:txBody>
      </p:sp>
    </p:spTree>
    <p:extLst>
      <p:ext uri="{BB962C8B-B14F-4D97-AF65-F5344CB8AC3E}">
        <p14:creationId xmlns:p14="http://schemas.microsoft.com/office/powerpoint/2010/main" val="2951834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6225CB-820B-8739-AC75-5572E582B4FF}"/>
              </a:ext>
            </a:extLst>
          </p:cNvPr>
          <p:cNvPicPr>
            <a:picLocks noChangeAspect="1"/>
          </p:cNvPicPr>
          <p:nvPr/>
        </p:nvPicPr>
        <p:blipFill>
          <a:blip r:embed="rId2"/>
          <a:srcRect t="3554"/>
          <a:stretch/>
        </p:blipFill>
        <p:spPr>
          <a:xfrm>
            <a:off x="1720644" y="1101577"/>
            <a:ext cx="10186219" cy="5309869"/>
          </a:xfrm>
          <a:prstGeom prst="rect">
            <a:avLst/>
          </a:prstGeom>
        </p:spPr>
      </p:pic>
      <p:sp>
        <p:nvSpPr>
          <p:cNvPr id="6" name="Title 1">
            <a:extLst>
              <a:ext uri="{FF2B5EF4-FFF2-40B4-BE49-F238E27FC236}">
                <a16:creationId xmlns:a16="http://schemas.microsoft.com/office/drawing/2014/main" id="{0993BE9F-B645-5659-0155-4F42D47C0492}"/>
              </a:ext>
            </a:extLst>
          </p:cNvPr>
          <p:cNvSpPr>
            <a:spLocks noGrp="1"/>
          </p:cNvSpPr>
          <p:nvPr>
            <p:ph type="title"/>
          </p:nvPr>
        </p:nvSpPr>
        <p:spPr>
          <a:xfrm>
            <a:off x="159774" y="167148"/>
            <a:ext cx="10515600" cy="602148"/>
          </a:xfrm>
        </p:spPr>
        <p:txBody>
          <a:bodyPr>
            <a:normAutofit fontScale="90000"/>
          </a:bodyPr>
          <a:lstStyle/>
          <a:p>
            <a:r>
              <a:rPr lang="en-IN" dirty="0"/>
              <a:t>IPV4:</a:t>
            </a:r>
          </a:p>
        </p:txBody>
      </p:sp>
    </p:spTree>
    <p:extLst>
      <p:ext uri="{BB962C8B-B14F-4D97-AF65-F5344CB8AC3E}">
        <p14:creationId xmlns:p14="http://schemas.microsoft.com/office/powerpoint/2010/main" val="4118287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18A85-49D8-8519-36E1-B4AD95185492}"/>
              </a:ext>
            </a:extLst>
          </p:cNvPr>
          <p:cNvSpPr>
            <a:spLocks noGrp="1"/>
          </p:cNvSpPr>
          <p:nvPr>
            <p:ph type="title"/>
          </p:nvPr>
        </p:nvSpPr>
        <p:spPr>
          <a:xfrm>
            <a:off x="248264" y="167149"/>
            <a:ext cx="10515600" cy="717294"/>
          </a:xfrm>
        </p:spPr>
        <p:txBody>
          <a:bodyPr/>
          <a:lstStyle/>
          <a:p>
            <a:r>
              <a:rPr lang="en-IN" b="1" dirty="0">
                <a:solidFill>
                  <a:schemeClr val="accent1"/>
                </a:solidFill>
              </a:rPr>
              <a:t>commands</a:t>
            </a:r>
          </a:p>
        </p:txBody>
      </p:sp>
      <p:sp>
        <p:nvSpPr>
          <p:cNvPr id="3" name="Content Placeholder 2">
            <a:extLst>
              <a:ext uri="{FF2B5EF4-FFF2-40B4-BE49-F238E27FC236}">
                <a16:creationId xmlns:a16="http://schemas.microsoft.com/office/drawing/2014/main" id="{25B4DE1F-1F57-E4E2-1B93-6E0F0DB6EF4A}"/>
              </a:ext>
            </a:extLst>
          </p:cNvPr>
          <p:cNvSpPr>
            <a:spLocks noGrp="1"/>
          </p:cNvSpPr>
          <p:nvPr>
            <p:ph idx="1"/>
          </p:nvPr>
        </p:nvSpPr>
        <p:spPr>
          <a:xfrm>
            <a:off x="739877" y="1098038"/>
            <a:ext cx="10515600" cy="4351338"/>
          </a:xfrm>
        </p:spPr>
        <p:txBody>
          <a:bodyPr>
            <a:normAutofit lnSpcReduction="10000"/>
          </a:bodyPr>
          <a:lstStyle/>
          <a:p>
            <a:pPr marL="0" indent="0">
              <a:buNone/>
            </a:pPr>
            <a:r>
              <a:rPr lang="en-IN" dirty="0"/>
              <a:t>router bgp &lt;as-no&gt;</a:t>
            </a:r>
            <a:br>
              <a:rPr lang="en-IN" dirty="0"/>
            </a:br>
            <a:r>
              <a:rPr lang="en-IN" dirty="0" err="1"/>
              <a:t>neighbor</a:t>
            </a:r>
            <a:r>
              <a:rPr lang="en-IN" dirty="0"/>
              <a:t> &lt;</a:t>
            </a:r>
            <a:r>
              <a:rPr lang="en-IN" dirty="0" err="1"/>
              <a:t>neighbor</a:t>
            </a:r>
            <a:r>
              <a:rPr lang="en-IN" dirty="0"/>
              <a:t>-ip-address&gt; remote-as &lt;</a:t>
            </a:r>
            <a:r>
              <a:rPr lang="en-IN" dirty="0" err="1"/>
              <a:t>neighbor</a:t>
            </a:r>
            <a:r>
              <a:rPr lang="en-IN" dirty="0"/>
              <a:t> </a:t>
            </a:r>
            <a:r>
              <a:rPr lang="en-IN" dirty="0" err="1"/>
              <a:t>asn</a:t>
            </a:r>
            <a:r>
              <a:rPr lang="en-IN" dirty="0"/>
              <a:t>&gt;</a:t>
            </a:r>
            <a:br>
              <a:rPr lang="en-IN" dirty="0"/>
            </a:br>
            <a:r>
              <a:rPr lang="en-IN" dirty="0"/>
              <a:t>network &lt;network-address&gt; mask &lt;subnet-mask&gt;</a:t>
            </a:r>
            <a:br>
              <a:rPr lang="en-IN" dirty="0"/>
            </a:br>
            <a:br>
              <a:rPr lang="en-IN" dirty="0"/>
            </a:br>
            <a:r>
              <a:rPr lang="en-IN" dirty="0"/>
              <a:t>BGP network statement don’t identify network, instead identify the specific network installed into the routing table.</a:t>
            </a:r>
            <a:br>
              <a:rPr lang="en-IN" dirty="0"/>
            </a:br>
            <a:br>
              <a:rPr lang="en-IN" dirty="0"/>
            </a:br>
            <a:r>
              <a:rPr lang="en-IN" dirty="0"/>
              <a:t>redistribute network to other routers: </a:t>
            </a:r>
            <a:br>
              <a:rPr lang="en-IN" dirty="0"/>
            </a:br>
            <a:r>
              <a:rPr lang="en-IN" dirty="0"/>
              <a:t>redistribute &lt;sub-command&gt;</a:t>
            </a:r>
            <a:br>
              <a:rPr lang="en-IN" dirty="0"/>
            </a:br>
            <a:br>
              <a:rPr lang="en-IN" dirty="0"/>
            </a:br>
            <a:r>
              <a:rPr lang="en-IN" dirty="0"/>
              <a:t>configure router id:</a:t>
            </a:r>
            <a:br>
              <a:rPr lang="en-IN" dirty="0"/>
            </a:br>
            <a:r>
              <a:rPr lang="en-IN" dirty="0"/>
              <a:t>bgp router-id &lt;router-id&gt;</a:t>
            </a:r>
          </a:p>
        </p:txBody>
      </p:sp>
    </p:spTree>
    <p:extLst>
      <p:ext uri="{BB962C8B-B14F-4D97-AF65-F5344CB8AC3E}">
        <p14:creationId xmlns:p14="http://schemas.microsoft.com/office/powerpoint/2010/main" val="549397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EABD47-6131-04E4-DBB2-1413D1EFAB82}"/>
              </a:ext>
            </a:extLst>
          </p:cNvPr>
          <p:cNvPicPr>
            <a:picLocks noChangeAspect="1"/>
          </p:cNvPicPr>
          <p:nvPr/>
        </p:nvPicPr>
        <p:blipFill>
          <a:blip r:embed="rId2"/>
          <a:stretch>
            <a:fillRect/>
          </a:stretch>
        </p:blipFill>
        <p:spPr>
          <a:xfrm>
            <a:off x="3097161" y="290620"/>
            <a:ext cx="5997677" cy="894303"/>
          </a:xfrm>
          <a:prstGeom prst="rect">
            <a:avLst/>
          </a:prstGeom>
        </p:spPr>
      </p:pic>
      <p:pic>
        <p:nvPicPr>
          <p:cNvPr id="7" name="Picture 6">
            <a:extLst>
              <a:ext uri="{FF2B5EF4-FFF2-40B4-BE49-F238E27FC236}">
                <a16:creationId xmlns:a16="http://schemas.microsoft.com/office/drawing/2014/main" id="{7AA37FE6-774F-7D24-D5AA-476D69ED77BE}"/>
              </a:ext>
            </a:extLst>
          </p:cNvPr>
          <p:cNvPicPr>
            <a:picLocks noChangeAspect="1"/>
          </p:cNvPicPr>
          <p:nvPr/>
        </p:nvPicPr>
        <p:blipFill>
          <a:blip r:embed="rId3"/>
          <a:stretch>
            <a:fillRect/>
          </a:stretch>
        </p:blipFill>
        <p:spPr>
          <a:xfrm>
            <a:off x="2590689" y="1184923"/>
            <a:ext cx="7313960" cy="894303"/>
          </a:xfrm>
          <a:prstGeom prst="rect">
            <a:avLst/>
          </a:prstGeom>
        </p:spPr>
      </p:pic>
      <p:sp>
        <p:nvSpPr>
          <p:cNvPr id="9" name="TextBox 8">
            <a:extLst>
              <a:ext uri="{FF2B5EF4-FFF2-40B4-BE49-F238E27FC236}">
                <a16:creationId xmlns:a16="http://schemas.microsoft.com/office/drawing/2014/main" id="{CB1DD15E-66FC-3B09-B749-FAFAD190CADD}"/>
              </a:ext>
            </a:extLst>
          </p:cNvPr>
          <p:cNvSpPr txBox="1"/>
          <p:nvPr/>
        </p:nvSpPr>
        <p:spPr>
          <a:xfrm>
            <a:off x="539313" y="2311809"/>
            <a:ext cx="10964429" cy="1631216"/>
          </a:xfrm>
          <a:prstGeom prst="rect">
            <a:avLst/>
          </a:prstGeom>
          <a:noFill/>
        </p:spPr>
        <p:txBody>
          <a:bodyPr wrap="square" rtlCol="0">
            <a:spAutoFit/>
          </a:bodyPr>
          <a:lstStyle/>
          <a:p>
            <a:r>
              <a:rPr lang="en-IN" sz="2000" dirty="0"/>
              <a:t>🔍 </a:t>
            </a:r>
            <a:r>
              <a:rPr lang="en-IN" sz="2000" b="1" dirty="0"/>
              <a:t>Purpose and Use:</a:t>
            </a:r>
            <a:br>
              <a:rPr lang="en-IN" sz="2000" b="1" dirty="0"/>
            </a:br>
            <a:r>
              <a:rPr lang="en-US" sz="2000" dirty="0"/>
              <a:t>Modern BGP implementations support </a:t>
            </a:r>
            <a:r>
              <a:rPr lang="en-US" sz="2000" b="1" dirty="0"/>
              <a:t>multiple address families</a:t>
            </a:r>
            <a:r>
              <a:rPr lang="en-US" sz="2000" dirty="0"/>
              <a:t>—not just IPv4. This includes IPv6, VPNv4, multicast, etc. The command tells the router:</a:t>
            </a:r>
            <a:br>
              <a:rPr lang="en-US" sz="2000" dirty="0"/>
            </a:br>
            <a:r>
              <a:rPr lang="en-US" sz="2000" dirty="0"/>
              <a:t>“I want to configure BGP for sending and receiving </a:t>
            </a:r>
            <a:r>
              <a:rPr lang="en-US" sz="2000" b="1" dirty="0"/>
              <a:t>IPv4 unicast</a:t>
            </a:r>
            <a:r>
              <a:rPr lang="en-US" sz="2000" dirty="0"/>
              <a:t> routes.”</a:t>
            </a:r>
            <a:br>
              <a:rPr lang="en-US" sz="2000" dirty="0"/>
            </a:br>
            <a:r>
              <a:rPr lang="en-US" sz="2000" dirty="0"/>
              <a:t>IOS XR CONFIG:</a:t>
            </a:r>
            <a:endParaRPr lang="en-IN" sz="2000" dirty="0"/>
          </a:p>
        </p:txBody>
      </p:sp>
      <p:pic>
        <p:nvPicPr>
          <p:cNvPr id="14" name="Picture 13">
            <a:extLst>
              <a:ext uri="{FF2B5EF4-FFF2-40B4-BE49-F238E27FC236}">
                <a16:creationId xmlns:a16="http://schemas.microsoft.com/office/drawing/2014/main" id="{9ADF6E82-79FF-C78C-88D1-1E4FA56B4573}"/>
              </a:ext>
            </a:extLst>
          </p:cNvPr>
          <p:cNvPicPr>
            <a:picLocks noChangeAspect="1"/>
          </p:cNvPicPr>
          <p:nvPr/>
        </p:nvPicPr>
        <p:blipFill>
          <a:blip r:embed="rId4"/>
          <a:stretch>
            <a:fillRect/>
          </a:stretch>
        </p:blipFill>
        <p:spPr>
          <a:xfrm>
            <a:off x="2834864" y="3867831"/>
            <a:ext cx="6187976" cy="1874682"/>
          </a:xfrm>
          <a:prstGeom prst="rect">
            <a:avLst/>
          </a:prstGeom>
        </p:spPr>
      </p:pic>
      <p:sp>
        <p:nvSpPr>
          <p:cNvPr id="15" name="TextBox 14">
            <a:extLst>
              <a:ext uri="{FF2B5EF4-FFF2-40B4-BE49-F238E27FC236}">
                <a16:creationId xmlns:a16="http://schemas.microsoft.com/office/drawing/2014/main" id="{6CD6A522-0968-A2CD-A9AA-EBB75B46FDC5}"/>
              </a:ext>
            </a:extLst>
          </p:cNvPr>
          <p:cNvSpPr txBox="1"/>
          <p:nvPr/>
        </p:nvSpPr>
        <p:spPr>
          <a:xfrm>
            <a:off x="865239" y="5975096"/>
            <a:ext cx="10638503" cy="400110"/>
          </a:xfrm>
          <a:prstGeom prst="rect">
            <a:avLst/>
          </a:prstGeom>
          <a:noFill/>
        </p:spPr>
        <p:txBody>
          <a:bodyPr wrap="square" rtlCol="0">
            <a:spAutoFit/>
          </a:bodyPr>
          <a:lstStyle/>
          <a:p>
            <a:r>
              <a:rPr lang="en-IN" sz="2000" dirty="0"/>
              <a:t>Router </a:t>
            </a:r>
            <a:r>
              <a:rPr lang="en-IN" sz="2000" dirty="0" err="1"/>
              <a:t>differen</a:t>
            </a:r>
            <a:r>
              <a:rPr lang="en-IN" sz="2000" dirty="0"/>
              <a:t> </a:t>
            </a:r>
            <a:r>
              <a:rPr lang="en-IN" sz="2000" dirty="0" err="1"/>
              <a:t>ios</a:t>
            </a:r>
            <a:r>
              <a:rPr lang="en-IN" sz="2000" dirty="0"/>
              <a:t>:  </a:t>
            </a:r>
            <a:r>
              <a:rPr lang="en-IN" sz="2000" dirty="0" err="1"/>
              <a:t>ios</a:t>
            </a:r>
            <a:r>
              <a:rPr lang="en-IN" sz="2000" dirty="0"/>
              <a:t>, </a:t>
            </a:r>
            <a:r>
              <a:rPr lang="en-IN" sz="2000" dirty="0" err="1"/>
              <a:t>ios</a:t>
            </a:r>
            <a:r>
              <a:rPr lang="en-IN" sz="2000" dirty="0"/>
              <a:t> </a:t>
            </a:r>
            <a:r>
              <a:rPr lang="en-IN" sz="2000" dirty="0" err="1"/>
              <a:t>xe</a:t>
            </a:r>
            <a:r>
              <a:rPr lang="en-IN" sz="2000" dirty="0"/>
              <a:t>, </a:t>
            </a:r>
            <a:r>
              <a:rPr lang="en-IN" sz="2000" dirty="0" err="1"/>
              <a:t>ios</a:t>
            </a:r>
            <a:r>
              <a:rPr lang="en-IN" sz="2000" dirty="0"/>
              <a:t> </a:t>
            </a:r>
            <a:r>
              <a:rPr lang="en-IN" sz="2000" dirty="0" err="1"/>
              <a:t>xr</a:t>
            </a:r>
            <a:r>
              <a:rPr lang="en-IN" sz="2000" dirty="0"/>
              <a:t>, </a:t>
            </a:r>
            <a:r>
              <a:rPr lang="en-IN" sz="2000" dirty="0" err="1"/>
              <a:t>nx-os</a:t>
            </a:r>
            <a:r>
              <a:rPr lang="en-IN" sz="2000" dirty="0"/>
              <a:t> </a:t>
            </a:r>
          </a:p>
        </p:txBody>
      </p:sp>
    </p:spTree>
    <p:extLst>
      <p:ext uri="{BB962C8B-B14F-4D97-AF65-F5344CB8AC3E}">
        <p14:creationId xmlns:p14="http://schemas.microsoft.com/office/powerpoint/2010/main" val="3517927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5937-BB72-F5C0-FDEF-98FD5B203275}"/>
              </a:ext>
            </a:extLst>
          </p:cNvPr>
          <p:cNvSpPr>
            <a:spLocks noGrp="1"/>
          </p:cNvSpPr>
          <p:nvPr>
            <p:ph type="title"/>
          </p:nvPr>
        </p:nvSpPr>
        <p:spPr>
          <a:xfrm>
            <a:off x="189271" y="196645"/>
            <a:ext cx="10515600" cy="658301"/>
          </a:xfrm>
        </p:spPr>
        <p:txBody>
          <a:bodyPr>
            <a:normAutofit fontScale="90000"/>
          </a:bodyPr>
          <a:lstStyle/>
          <a:p>
            <a:r>
              <a:rPr lang="en-IN" dirty="0">
                <a:solidFill>
                  <a:schemeClr val="accent1"/>
                </a:solidFill>
              </a:rPr>
              <a:t>IOS NX-OS</a:t>
            </a:r>
          </a:p>
        </p:txBody>
      </p:sp>
      <p:pic>
        <p:nvPicPr>
          <p:cNvPr id="5" name="Picture 4">
            <a:extLst>
              <a:ext uri="{FF2B5EF4-FFF2-40B4-BE49-F238E27FC236}">
                <a16:creationId xmlns:a16="http://schemas.microsoft.com/office/drawing/2014/main" id="{6541A6E9-E7F8-90A3-02B6-E443BFFFDE63}"/>
              </a:ext>
            </a:extLst>
          </p:cNvPr>
          <p:cNvPicPr>
            <a:picLocks noChangeAspect="1"/>
          </p:cNvPicPr>
          <p:nvPr/>
        </p:nvPicPr>
        <p:blipFill>
          <a:blip r:embed="rId2"/>
          <a:stretch>
            <a:fillRect/>
          </a:stretch>
        </p:blipFill>
        <p:spPr>
          <a:xfrm>
            <a:off x="838200" y="1690688"/>
            <a:ext cx="9653210" cy="2655170"/>
          </a:xfrm>
          <a:prstGeom prst="rect">
            <a:avLst/>
          </a:prstGeom>
        </p:spPr>
      </p:pic>
    </p:spTree>
    <p:extLst>
      <p:ext uri="{BB962C8B-B14F-4D97-AF65-F5344CB8AC3E}">
        <p14:creationId xmlns:p14="http://schemas.microsoft.com/office/powerpoint/2010/main" val="3005808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ED698-980E-1F76-447C-FAB1749BD708}"/>
              </a:ext>
            </a:extLst>
          </p:cNvPr>
          <p:cNvSpPr>
            <a:spLocks noGrp="1"/>
          </p:cNvSpPr>
          <p:nvPr>
            <p:ph type="title"/>
          </p:nvPr>
        </p:nvSpPr>
        <p:spPr>
          <a:xfrm>
            <a:off x="159774" y="167148"/>
            <a:ext cx="10515600" cy="602148"/>
          </a:xfrm>
        </p:spPr>
        <p:txBody>
          <a:bodyPr>
            <a:normAutofit fontScale="90000"/>
          </a:bodyPr>
          <a:lstStyle/>
          <a:p>
            <a:r>
              <a:rPr lang="en-IN" b="1" dirty="0">
                <a:solidFill>
                  <a:schemeClr val="accent1"/>
                </a:solidFill>
              </a:rPr>
              <a:t>AS PATH  </a:t>
            </a:r>
          </a:p>
        </p:txBody>
      </p:sp>
      <p:sp>
        <p:nvSpPr>
          <p:cNvPr id="3" name="Content Placeholder 2">
            <a:extLst>
              <a:ext uri="{FF2B5EF4-FFF2-40B4-BE49-F238E27FC236}">
                <a16:creationId xmlns:a16="http://schemas.microsoft.com/office/drawing/2014/main" id="{206E621D-DCA2-6548-25BB-51E84FDA521E}"/>
              </a:ext>
            </a:extLst>
          </p:cNvPr>
          <p:cNvSpPr>
            <a:spLocks noGrp="1"/>
          </p:cNvSpPr>
          <p:nvPr>
            <p:ph idx="1"/>
          </p:nvPr>
        </p:nvSpPr>
        <p:spPr>
          <a:xfrm>
            <a:off x="582561" y="919034"/>
            <a:ext cx="10515600" cy="5865224"/>
          </a:xfrm>
        </p:spPr>
        <p:txBody>
          <a:bodyPr>
            <a:normAutofit/>
          </a:bodyPr>
          <a:lstStyle/>
          <a:p>
            <a:pPr marL="0" indent="0">
              <a:buNone/>
            </a:pPr>
            <a:r>
              <a:rPr lang="en-US" sz="1800" dirty="0"/>
              <a:t>AS_PATH is a well-known mandatory attribute. This attribute identifies the autonomous systems through which routing information carried in this UPDATE message has passed. The components of this list can be AS_SETS or AS_SEQUENCES.</a:t>
            </a:r>
          </a:p>
          <a:p>
            <a:pPr marL="0" indent="0">
              <a:buNone/>
            </a:pPr>
            <a:r>
              <a:rPr lang="en-US" sz="1800" dirty="0"/>
              <a:t>When a BGP speaker propagates a route, it learned from another BGP speaker's UPDATE message, it modifies the route's AS_PATH attribute based on the location of the BGP speaker to which the route will be sent:</a:t>
            </a:r>
          </a:p>
          <a:p>
            <a:pPr marL="0" indent="0">
              <a:buNone/>
            </a:pPr>
            <a:r>
              <a:rPr lang="en-US" sz="1800" dirty="0"/>
              <a:t>a) When a given BGP speaker advertises the route to an internal peer, the advertising speaker SHALL NOT modify the AS_PATH attribute associated with the route.</a:t>
            </a:r>
          </a:p>
          <a:p>
            <a:pPr marL="0" indent="0">
              <a:buNone/>
            </a:pPr>
            <a:r>
              <a:rPr lang="en-US" sz="1800" dirty="0"/>
              <a:t>b) When a given BGP speaker advertises the route to an external peer, the advertising speaker updates the AS_PATH attribute as follows:</a:t>
            </a:r>
            <a:br>
              <a:rPr lang="en-US" sz="1800" dirty="0"/>
            </a:br>
            <a:br>
              <a:rPr lang="en-US" sz="1800" dirty="0"/>
            </a:br>
            <a:br>
              <a:rPr lang="en-US" sz="1800" dirty="0"/>
            </a:br>
            <a:r>
              <a:rPr lang="en-US" sz="1800" dirty="0">
                <a:highlight>
                  <a:srgbClr val="FFFF00"/>
                </a:highlight>
              </a:rPr>
              <a:t>Simply understand, when a router advertises routes to an iBGP peer (within the same autonomous system), it advertises the routes learned from eBGP with the same next-hop IP address. This creates a problem because other iBGP peers might not have reachability to that next hop.</a:t>
            </a:r>
          </a:p>
          <a:p>
            <a:pPr marL="0" indent="0">
              <a:buNone/>
            </a:pPr>
            <a:r>
              <a:rPr lang="en-US" sz="1800" dirty="0"/>
              <a:t>Solution advertise IBGP learned networks:</a:t>
            </a:r>
            <a:br>
              <a:rPr lang="en-US" sz="1800" dirty="0"/>
            </a:br>
            <a:r>
              <a:rPr lang="en-US" sz="1800" dirty="0"/>
              <a:t>R2 - network 12.12.12.0 mask 255.255.255.0                     </a:t>
            </a:r>
            <a:r>
              <a:rPr lang="en-US" sz="2000" dirty="0">
                <a:solidFill>
                  <a:srgbClr val="FF0000"/>
                </a:solidFill>
              </a:rPr>
              <a:t>(route redistribution)</a:t>
            </a:r>
            <a:br>
              <a:rPr lang="en-US" sz="2000" dirty="0"/>
            </a:br>
            <a:r>
              <a:rPr lang="en-US" sz="1800" dirty="0"/>
              <a:t>R3 – network 34.34.34.0 mask 255.255.255.0</a:t>
            </a:r>
            <a:br>
              <a:rPr lang="en-US" sz="1800" dirty="0"/>
            </a:br>
            <a:r>
              <a:rPr lang="en-US" sz="1800" dirty="0"/>
              <a:t>or</a:t>
            </a:r>
            <a:br>
              <a:rPr lang="en-US" sz="1800" dirty="0"/>
            </a:br>
            <a:r>
              <a:rPr lang="en-US" sz="1800" dirty="0"/>
              <a:t>R2 - neighbor 23.23.23.3 next-hop-self                  </a:t>
            </a:r>
            <a:r>
              <a:rPr lang="en-US" sz="2000" dirty="0">
                <a:solidFill>
                  <a:srgbClr val="FF0000"/>
                </a:solidFill>
              </a:rPr>
              <a:t>(next-hop-self feature)</a:t>
            </a:r>
            <a:br>
              <a:rPr lang="en-US" sz="2000" dirty="0">
                <a:solidFill>
                  <a:srgbClr val="FF0000"/>
                </a:solidFill>
              </a:rPr>
            </a:br>
            <a:r>
              <a:rPr lang="en-US" sz="1800" dirty="0"/>
              <a:t>R3 - neighbor 23.23.23.3 next-hop-self</a:t>
            </a:r>
            <a:endParaRPr lang="en-US" sz="1800" dirty="0">
              <a:solidFill>
                <a:srgbClr val="FF0000"/>
              </a:solidFill>
            </a:endParaRPr>
          </a:p>
        </p:txBody>
      </p:sp>
    </p:spTree>
    <p:extLst>
      <p:ext uri="{BB962C8B-B14F-4D97-AF65-F5344CB8AC3E}">
        <p14:creationId xmlns:p14="http://schemas.microsoft.com/office/powerpoint/2010/main" val="563404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168C73-2C02-0BD3-A644-F2CB841D86D7}"/>
              </a:ext>
            </a:extLst>
          </p:cNvPr>
          <p:cNvPicPr>
            <a:picLocks noChangeAspect="1"/>
          </p:cNvPicPr>
          <p:nvPr/>
        </p:nvPicPr>
        <p:blipFill>
          <a:blip r:embed="rId2"/>
          <a:stretch>
            <a:fillRect/>
          </a:stretch>
        </p:blipFill>
        <p:spPr>
          <a:xfrm>
            <a:off x="2442614" y="449747"/>
            <a:ext cx="7719729" cy="1828958"/>
          </a:xfrm>
          <a:prstGeom prst="rect">
            <a:avLst/>
          </a:prstGeom>
        </p:spPr>
      </p:pic>
      <p:pic>
        <p:nvPicPr>
          <p:cNvPr id="9" name="Picture 8">
            <a:extLst>
              <a:ext uri="{FF2B5EF4-FFF2-40B4-BE49-F238E27FC236}">
                <a16:creationId xmlns:a16="http://schemas.microsoft.com/office/drawing/2014/main" id="{196CA25A-14CF-0B21-D41B-8A91A7E2483F}"/>
              </a:ext>
            </a:extLst>
          </p:cNvPr>
          <p:cNvPicPr>
            <a:picLocks noChangeAspect="1"/>
          </p:cNvPicPr>
          <p:nvPr/>
        </p:nvPicPr>
        <p:blipFill>
          <a:blip r:embed="rId3"/>
          <a:stretch>
            <a:fillRect/>
          </a:stretch>
        </p:blipFill>
        <p:spPr>
          <a:xfrm>
            <a:off x="1791500" y="2278705"/>
            <a:ext cx="9906859" cy="876376"/>
          </a:xfrm>
          <a:prstGeom prst="rect">
            <a:avLst/>
          </a:prstGeom>
        </p:spPr>
      </p:pic>
      <p:pic>
        <p:nvPicPr>
          <p:cNvPr id="11" name="Picture 10">
            <a:extLst>
              <a:ext uri="{FF2B5EF4-FFF2-40B4-BE49-F238E27FC236}">
                <a16:creationId xmlns:a16="http://schemas.microsoft.com/office/drawing/2014/main" id="{F768195F-E9DA-E5EB-8E84-694E4F00AB2F}"/>
              </a:ext>
            </a:extLst>
          </p:cNvPr>
          <p:cNvPicPr>
            <a:picLocks noChangeAspect="1"/>
          </p:cNvPicPr>
          <p:nvPr/>
        </p:nvPicPr>
        <p:blipFill>
          <a:blip r:embed="rId4"/>
          <a:stretch>
            <a:fillRect/>
          </a:stretch>
        </p:blipFill>
        <p:spPr>
          <a:xfrm>
            <a:off x="3059888" y="3087154"/>
            <a:ext cx="7102455" cy="1013548"/>
          </a:xfrm>
          <a:prstGeom prst="rect">
            <a:avLst/>
          </a:prstGeom>
        </p:spPr>
      </p:pic>
      <p:pic>
        <p:nvPicPr>
          <p:cNvPr id="13" name="Picture 12">
            <a:extLst>
              <a:ext uri="{FF2B5EF4-FFF2-40B4-BE49-F238E27FC236}">
                <a16:creationId xmlns:a16="http://schemas.microsoft.com/office/drawing/2014/main" id="{AE0E1A17-B380-54F3-61A1-F6DBA64FFED1}"/>
              </a:ext>
            </a:extLst>
          </p:cNvPr>
          <p:cNvPicPr>
            <a:picLocks noChangeAspect="1"/>
          </p:cNvPicPr>
          <p:nvPr/>
        </p:nvPicPr>
        <p:blipFill>
          <a:blip r:embed="rId5"/>
          <a:stretch>
            <a:fillRect/>
          </a:stretch>
        </p:blipFill>
        <p:spPr>
          <a:xfrm>
            <a:off x="3593333" y="4372711"/>
            <a:ext cx="6035563" cy="1455546"/>
          </a:xfrm>
          <a:prstGeom prst="rect">
            <a:avLst/>
          </a:prstGeom>
        </p:spPr>
      </p:pic>
    </p:spTree>
    <p:extLst>
      <p:ext uri="{BB962C8B-B14F-4D97-AF65-F5344CB8AC3E}">
        <p14:creationId xmlns:p14="http://schemas.microsoft.com/office/powerpoint/2010/main" val="2649519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479DF-BB7E-0770-B5BD-4BC6C9DD8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B04F0-754D-DDD0-1F26-5761AE32BEC3}"/>
              </a:ext>
            </a:extLst>
          </p:cNvPr>
          <p:cNvSpPr>
            <a:spLocks noGrp="1"/>
          </p:cNvSpPr>
          <p:nvPr>
            <p:ph type="title"/>
          </p:nvPr>
        </p:nvSpPr>
        <p:spPr>
          <a:xfrm>
            <a:off x="159774" y="167148"/>
            <a:ext cx="10515600" cy="602148"/>
          </a:xfrm>
        </p:spPr>
        <p:txBody>
          <a:bodyPr>
            <a:normAutofit fontScale="90000"/>
          </a:bodyPr>
          <a:lstStyle/>
          <a:p>
            <a:r>
              <a:rPr lang="en-IN" b="1" dirty="0">
                <a:solidFill>
                  <a:schemeClr val="accent1"/>
                </a:solidFill>
              </a:rPr>
              <a:t>BGP TABLES:</a:t>
            </a:r>
          </a:p>
        </p:txBody>
      </p:sp>
      <p:sp>
        <p:nvSpPr>
          <p:cNvPr id="3" name="Content Placeholder 2">
            <a:extLst>
              <a:ext uri="{FF2B5EF4-FFF2-40B4-BE49-F238E27FC236}">
                <a16:creationId xmlns:a16="http://schemas.microsoft.com/office/drawing/2014/main" id="{54CEDC7C-009A-03F2-5427-59A770033CAC}"/>
              </a:ext>
            </a:extLst>
          </p:cNvPr>
          <p:cNvSpPr>
            <a:spLocks noGrp="1"/>
          </p:cNvSpPr>
          <p:nvPr>
            <p:ph idx="1"/>
          </p:nvPr>
        </p:nvSpPr>
        <p:spPr>
          <a:xfrm>
            <a:off x="582561" y="919034"/>
            <a:ext cx="10515600" cy="5865224"/>
          </a:xfrm>
        </p:spPr>
        <p:txBody>
          <a:bodyPr>
            <a:normAutofit fontScale="92500" lnSpcReduction="10000"/>
          </a:bodyPr>
          <a:lstStyle/>
          <a:p>
            <a:pPr marL="176213" indent="-176213">
              <a:buAutoNum type="romanLcPeriod"/>
            </a:pPr>
            <a:r>
              <a:rPr lang="en-US" sz="1800" dirty="0"/>
              <a:t>Loc – RIB</a:t>
            </a:r>
          </a:p>
          <a:p>
            <a:pPr marL="176213" indent="-176213">
              <a:buAutoNum type="romanLcPeriod"/>
            </a:pPr>
            <a:r>
              <a:rPr lang="en-US" sz="1800" dirty="0"/>
              <a:t>Adj – RIB – in</a:t>
            </a:r>
          </a:p>
          <a:p>
            <a:pPr marL="176213" indent="-176213">
              <a:buAutoNum type="romanLcPeriod"/>
            </a:pPr>
            <a:r>
              <a:rPr lang="en-US" sz="1800" dirty="0"/>
              <a:t>Adj – RIB – out</a:t>
            </a:r>
          </a:p>
          <a:p>
            <a:pPr marL="0" indent="0">
              <a:lnSpc>
                <a:spcPct val="150000"/>
              </a:lnSpc>
              <a:buNone/>
            </a:pPr>
            <a:r>
              <a:rPr lang="en-US" sz="1800" dirty="0"/>
              <a:t>📦 </a:t>
            </a:r>
            <a:r>
              <a:rPr lang="en-US" sz="1800" b="1" dirty="0"/>
              <a:t>1. Adj-RIB-In (Adjacency RIB-In)</a:t>
            </a:r>
            <a:br>
              <a:rPr lang="en-US" sz="1800" b="1" dirty="0"/>
            </a:br>
            <a:r>
              <a:rPr lang="en-US" sz="1800" dirty="0"/>
              <a:t>📥 What it stores: All routes received from BGP neighbors</a:t>
            </a:r>
            <a:br>
              <a:rPr lang="en-US" sz="1800" dirty="0"/>
            </a:br>
            <a:r>
              <a:rPr lang="en-US" sz="1800" dirty="0"/>
              <a:t>🔍 Use: Before any filtering or policy is applied.</a:t>
            </a:r>
            <a:br>
              <a:rPr lang="en-US" sz="1800" dirty="0"/>
            </a:br>
            <a:r>
              <a:rPr lang="en-US" sz="1800" dirty="0"/>
              <a:t>⚙️ Next Step: Routes are filtered and passed to Loc-RIB.</a:t>
            </a:r>
          </a:p>
          <a:p>
            <a:pPr marL="0" indent="0">
              <a:lnSpc>
                <a:spcPct val="150000"/>
              </a:lnSpc>
              <a:buNone/>
            </a:pPr>
            <a:r>
              <a:rPr lang="pt-BR" sz="1800" dirty="0"/>
              <a:t>📘 </a:t>
            </a:r>
            <a:r>
              <a:rPr lang="pt-BR" sz="1800" b="1" dirty="0"/>
              <a:t>2. Loc-RIB (Local RIB) (BGP Table) (sh ip bgp	or 	sh bgp ipv4 unicast)</a:t>
            </a:r>
            <a:br>
              <a:rPr lang="pt-BR" sz="1800" b="1" dirty="0"/>
            </a:br>
            <a:r>
              <a:rPr lang="en-US" sz="1800" dirty="0"/>
              <a:t>🧠 What it stores: Best routes selected by BGP after applying policies and comparing paths</a:t>
            </a:r>
            <a:br>
              <a:rPr lang="en-US" sz="1800" dirty="0"/>
            </a:br>
            <a:r>
              <a:rPr lang="en-US" sz="1800" dirty="0"/>
              <a:t>🧾 This is the main BGP routing table</a:t>
            </a:r>
            <a:br>
              <a:rPr lang="en-US" sz="1800" dirty="0"/>
            </a:br>
            <a:r>
              <a:rPr lang="en-US" sz="1800" dirty="0"/>
              <a:t>✅ Routes from here are installed in the main routing table (RIB/FIB) if chosen</a:t>
            </a:r>
          </a:p>
          <a:p>
            <a:pPr marL="0" indent="0">
              <a:lnSpc>
                <a:spcPct val="150000"/>
              </a:lnSpc>
              <a:buNone/>
            </a:pPr>
            <a:r>
              <a:rPr lang="en-US" sz="1800" dirty="0"/>
              <a:t>📤 </a:t>
            </a:r>
            <a:r>
              <a:rPr lang="en-US" sz="1800" b="1" dirty="0"/>
              <a:t>3. Adj-RIB-Out (Adjacency RIB-Out) (</a:t>
            </a:r>
            <a:r>
              <a:rPr lang="en-US" sz="1800" b="1" dirty="0" err="1"/>
              <a:t>sh</a:t>
            </a:r>
            <a:r>
              <a:rPr lang="en-US" sz="1800" b="1" dirty="0"/>
              <a:t> </a:t>
            </a:r>
            <a:r>
              <a:rPr lang="en-US" sz="1800" b="1" dirty="0" err="1"/>
              <a:t>ip</a:t>
            </a:r>
            <a:r>
              <a:rPr lang="en-US" sz="1800" b="1" dirty="0"/>
              <a:t> </a:t>
            </a:r>
            <a:r>
              <a:rPr lang="en-US" sz="1800" b="1" dirty="0" err="1"/>
              <a:t>bgp</a:t>
            </a:r>
            <a:r>
              <a:rPr lang="en-US" sz="1800" b="1" dirty="0"/>
              <a:t> neighbor  &lt;</a:t>
            </a:r>
            <a:r>
              <a:rPr lang="en-US" sz="1800" b="1" dirty="0" err="1"/>
              <a:t>ip</a:t>
            </a:r>
            <a:r>
              <a:rPr lang="en-US" sz="1800" b="1" dirty="0"/>
              <a:t>-address&gt; advertised-routes)</a:t>
            </a:r>
            <a:br>
              <a:rPr lang="en-US" sz="1800" b="1" dirty="0"/>
            </a:br>
            <a:r>
              <a:rPr lang="en-US" sz="1800" dirty="0"/>
              <a:t>📦 What it stores: Routes that are ready to be sent to BGP neighbors</a:t>
            </a:r>
            <a:br>
              <a:rPr lang="en-US" sz="1800" dirty="0"/>
            </a:br>
            <a:r>
              <a:rPr lang="en-US" sz="1800" dirty="0"/>
              <a:t>🧰 These may be influenced by outbound route-maps, filters, </a:t>
            </a:r>
            <a:r>
              <a:rPr lang="en-US" sz="1800" dirty="0" err="1"/>
              <a:t>etc</a:t>
            </a:r>
            <a:br>
              <a:rPr lang="en-US" sz="1800" dirty="0"/>
            </a:br>
            <a:r>
              <a:rPr lang="en-US" sz="1800" dirty="0"/>
              <a:t>📡 Sent to each neighbor based on their policies</a:t>
            </a:r>
          </a:p>
        </p:txBody>
      </p:sp>
    </p:spTree>
    <p:extLst>
      <p:ext uri="{BB962C8B-B14F-4D97-AF65-F5344CB8AC3E}">
        <p14:creationId xmlns:p14="http://schemas.microsoft.com/office/powerpoint/2010/main" val="56411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52D3EF-E5F0-6147-C27E-314A249244ED}"/>
              </a:ext>
            </a:extLst>
          </p:cNvPr>
          <p:cNvPicPr>
            <a:picLocks noChangeAspect="1"/>
          </p:cNvPicPr>
          <p:nvPr/>
        </p:nvPicPr>
        <p:blipFill>
          <a:blip r:embed="rId2"/>
          <a:stretch>
            <a:fillRect/>
          </a:stretch>
        </p:blipFill>
        <p:spPr>
          <a:xfrm>
            <a:off x="875847" y="1062785"/>
            <a:ext cx="10440305" cy="4732430"/>
          </a:xfrm>
          <a:prstGeom prst="rect">
            <a:avLst/>
          </a:prstGeom>
        </p:spPr>
      </p:pic>
    </p:spTree>
    <p:extLst>
      <p:ext uri="{BB962C8B-B14F-4D97-AF65-F5344CB8AC3E}">
        <p14:creationId xmlns:p14="http://schemas.microsoft.com/office/powerpoint/2010/main" val="3223565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C1AD2C-F505-A092-3E90-1A9890D00ADA}"/>
              </a:ext>
            </a:extLst>
          </p:cNvPr>
          <p:cNvPicPr>
            <a:picLocks noChangeAspect="1"/>
          </p:cNvPicPr>
          <p:nvPr/>
        </p:nvPicPr>
        <p:blipFill>
          <a:blip r:embed="rId2"/>
          <a:stretch>
            <a:fillRect/>
          </a:stretch>
        </p:blipFill>
        <p:spPr>
          <a:xfrm>
            <a:off x="210020" y="1626567"/>
            <a:ext cx="5757395" cy="2365330"/>
          </a:xfrm>
          <a:prstGeom prst="rect">
            <a:avLst/>
          </a:prstGeom>
        </p:spPr>
      </p:pic>
      <p:sp>
        <p:nvSpPr>
          <p:cNvPr id="6" name="TextBox 5">
            <a:extLst>
              <a:ext uri="{FF2B5EF4-FFF2-40B4-BE49-F238E27FC236}">
                <a16:creationId xmlns:a16="http://schemas.microsoft.com/office/drawing/2014/main" id="{D5AF4115-59B9-F1C9-7302-FB4A3BA1D2F1}"/>
              </a:ext>
            </a:extLst>
          </p:cNvPr>
          <p:cNvSpPr txBox="1"/>
          <p:nvPr/>
        </p:nvSpPr>
        <p:spPr>
          <a:xfrm>
            <a:off x="1523604" y="965732"/>
            <a:ext cx="8042787" cy="584775"/>
          </a:xfrm>
          <a:prstGeom prst="rect">
            <a:avLst/>
          </a:prstGeom>
          <a:noFill/>
        </p:spPr>
        <p:txBody>
          <a:bodyPr wrap="square" rtlCol="0">
            <a:spAutoFit/>
          </a:bodyPr>
          <a:lstStyle/>
          <a:p>
            <a:r>
              <a:rPr lang="en-IN" sz="3200" b="1" dirty="0">
                <a:solidFill>
                  <a:schemeClr val="accent1"/>
                </a:solidFill>
              </a:rPr>
              <a:t>Show bgp ipv4 unicast</a:t>
            </a:r>
          </a:p>
        </p:txBody>
      </p:sp>
      <p:sp>
        <p:nvSpPr>
          <p:cNvPr id="7" name="TextBox 6">
            <a:extLst>
              <a:ext uri="{FF2B5EF4-FFF2-40B4-BE49-F238E27FC236}">
                <a16:creationId xmlns:a16="http://schemas.microsoft.com/office/drawing/2014/main" id="{01A0D179-34E9-9287-E260-0749B3E6CA40}"/>
              </a:ext>
            </a:extLst>
          </p:cNvPr>
          <p:cNvSpPr txBox="1"/>
          <p:nvPr/>
        </p:nvSpPr>
        <p:spPr>
          <a:xfrm>
            <a:off x="1297858" y="5307493"/>
            <a:ext cx="8780207" cy="646331"/>
          </a:xfrm>
          <a:prstGeom prst="rect">
            <a:avLst/>
          </a:prstGeom>
          <a:noFill/>
        </p:spPr>
        <p:txBody>
          <a:bodyPr wrap="square" rtlCol="0">
            <a:spAutoFit/>
          </a:bodyPr>
          <a:lstStyle/>
          <a:p>
            <a:r>
              <a:rPr lang="en-IN" dirty="0"/>
              <a:t>When bgp route is learned from a </a:t>
            </a:r>
            <a:r>
              <a:rPr lang="en-IN" dirty="0" err="1"/>
              <a:t>ibgp</a:t>
            </a:r>
            <a:r>
              <a:rPr lang="en-IN" dirty="0"/>
              <a:t> peer, it sets the next-hop 0.0.0.0</a:t>
            </a:r>
            <a:br>
              <a:rPr lang="en-IN" dirty="0"/>
            </a:br>
            <a:r>
              <a:rPr lang="en-IN" dirty="0"/>
              <a:t>                               if it learns from </a:t>
            </a:r>
            <a:r>
              <a:rPr lang="en-IN" dirty="0" err="1"/>
              <a:t>ebgp</a:t>
            </a:r>
            <a:r>
              <a:rPr lang="en-IN" dirty="0"/>
              <a:t> peer or </a:t>
            </a:r>
            <a:r>
              <a:rPr lang="en-IN" dirty="0" err="1"/>
              <a:t>anyother</a:t>
            </a:r>
            <a:r>
              <a:rPr lang="en-IN" dirty="0"/>
              <a:t> protocol:  next-hop &lt;next-hop-ip&gt;</a:t>
            </a:r>
          </a:p>
        </p:txBody>
      </p:sp>
      <p:pic>
        <p:nvPicPr>
          <p:cNvPr id="9" name="Picture 8">
            <a:extLst>
              <a:ext uri="{FF2B5EF4-FFF2-40B4-BE49-F238E27FC236}">
                <a16:creationId xmlns:a16="http://schemas.microsoft.com/office/drawing/2014/main" id="{D8D3EC0F-C93C-730E-CA10-50593B497838}"/>
              </a:ext>
            </a:extLst>
          </p:cNvPr>
          <p:cNvPicPr>
            <a:picLocks noChangeAspect="1"/>
          </p:cNvPicPr>
          <p:nvPr/>
        </p:nvPicPr>
        <p:blipFill>
          <a:blip r:embed="rId3"/>
          <a:stretch>
            <a:fillRect/>
          </a:stretch>
        </p:blipFill>
        <p:spPr>
          <a:xfrm>
            <a:off x="5967415" y="1626567"/>
            <a:ext cx="5894499" cy="3035667"/>
          </a:xfrm>
          <a:prstGeom prst="rect">
            <a:avLst/>
          </a:prstGeom>
        </p:spPr>
      </p:pic>
    </p:spTree>
    <p:extLst>
      <p:ext uri="{BB962C8B-B14F-4D97-AF65-F5344CB8AC3E}">
        <p14:creationId xmlns:p14="http://schemas.microsoft.com/office/powerpoint/2010/main" val="3543650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80E1A0-6AC9-4573-69DB-DD3AF908CA8C}"/>
              </a:ext>
            </a:extLst>
          </p:cNvPr>
          <p:cNvPicPr>
            <a:picLocks noChangeAspect="1"/>
          </p:cNvPicPr>
          <p:nvPr/>
        </p:nvPicPr>
        <p:blipFill>
          <a:blip r:embed="rId2"/>
          <a:stretch>
            <a:fillRect/>
          </a:stretch>
        </p:blipFill>
        <p:spPr>
          <a:xfrm>
            <a:off x="2555991" y="475942"/>
            <a:ext cx="6902641" cy="3669904"/>
          </a:xfrm>
          <a:prstGeom prst="rect">
            <a:avLst/>
          </a:prstGeom>
        </p:spPr>
      </p:pic>
      <p:pic>
        <p:nvPicPr>
          <p:cNvPr id="7" name="Picture 6">
            <a:extLst>
              <a:ext uri="{FF2B5EF4-FFF2-40B4-BE49-F238E27FC236}">
                <a16:creationId xmlns:a16="http://schemas.microsoft.com/office/drawing/2014/main" id="{3B6B59DD-17E8-0556-10CB-578439A20FFC}"/>
              </a:ext>
            </a:extLst>
          </p:cNvPr>
          <p:cNvPicPr>
            <a:picLocks noChangeAspect="1"/>
          </p:cNvPicPr>
          <p:nvPr/>
        </p:nvPicPr>
        <p:blipFill>
          <a:blip r:embed="rId3"/>
          <a:stretch>
            <a:fillRect/>
          </a:stretch>
        </p:blipFill>
        <p:spPr>
          <a:xfrm>
            <a:off x="2201842" y="4547106"/>
            <a:ext cx="7788315" cy="1539373"/>
          </a:xfrm>
          <a:prstGeom prst="rect">
            <a:avLst/>
          </a:prstGeom>
        </p:spPr>
      </p:pic>
      <p:sp>
        <p:nvSpPr>
          <p:cNvPr id="8" name="Title 1">
            <a:extLst>
              <a:ext uri="{FF2B5EF4-FFF2-40B4-BE49-F238E27FC236}">
                <a16:creationId xmlns:a16="http://schemas.microsoft.com/office/drawing/2014/main" id="{C75150D5-F60B-5BF6-E457-B2993A31C68B}"/>
              </a:ext>
            </a:extLst>
          </p:cNvPr>
          <p:cNvSpPr>
            <a:spLocks noGrp="1"/>
          </p:cNvSpPr>
          <p:nvPr>
            <p:ph type="title"/>
          </p:nvPr>
        </p:nvSpPr>
        <p:spPr>
          <a:xfrm>
            <a:off x="159774" y="167148"/>
            <a:ext cx="10515600" cy="602148"/>
          </a:xfrm>
        </p:spPr>
        <p:txBody>
          <a:bodyPr>
            <a:normAutofit fontScale="90000"/>
          </a:bodyPr>
          <a:lstStyle/>
          <a:p>
            <a:r>
              <a:rPr lang="en-IN" b="1" dirty="0">
                <a:solidFill>
                  <a:schemeClr val="accent1"/>
                </a:solidFill>
              </a:rPr>
              <a:t>IPV6:</a:t>
            </a:r>
          </a:p>
        </p:txBody>
      </p:sp>
    </p:spTree>
    <p:extLst>
      <p:ext uri="{BB962C8B-B14F-4D97-AF65-F5344CB8AC3E}">
        <p14:creationId xmlns:p14="http://schemas.microsoft.com/office/powerpoint/2010/main" val="4225507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0DCD41-974E-5C5E-D476-2FE69452D772}"/>
              </a:ext>
            </a:extLst>
          </p:cNvPr>
          <p:cNvPicPr>
            <a:picLocks noChangeAspect="1"/>
          </p:cNvPicPr>
          <p:nvPr/>
        </p:nvPicPr>
        <p:blipFill>
          <a:blip r:embed="rId2"/>
          <a:stretch>
            <a:fillRect/>
          </a:stretch>
        </p:blipFill>
        <p:spPr>
          <a:xfrm>
            <a:off x="1638379" y="534974"/>
            <a:ext cx="9140119" cy="2800427"/>
          </a:xfrm>
          <a:prstGeom prst="rect">
            <a:avLst/>
          </a:prstGeom>
        </p:spPr>
      </p:pic>
      <p:pic>
        <p:nvPicPr>
          <p:cNvPr id="7" name="Picture 6">
            <a:extLst>
              <a:ext uri="{FF2B5EF4-FFF2-40B4-BE49-F238E27FC236}">
                <a16:creationId xmlns:a16="http://schemas.microsoft.com/office/drawing/2014/main" id="{3BF7AAFF-A689-5089-399A-38F33795DAA8}"/>
              </a:ext>
            </a:extLst>
          </p:cNvPr>
          <p:cNvPicPr>
            <a:picLocks noChangeAspect="1"/>
          </p:cNvPicPr>
          <p:nvPr/>
        </p:nvPicPr>
        <p:blipFill>
          <a:blip r:embed="rId3"/>
          <a:stretch>
            <a:fillRect/>
          </a:stretch>
        </p:blipFill>
        <p:spPr>
          <a:xfrm>
            <a:off x="2768691" y="4536152"/>
            <a:ext cx="6879494" cy="1170258"/>
          </a:xfrm>
          <a:prstGeom prst="rect">
            <a:avLst/>
          </a:prstGeom>
        </p:spPr>
      </p:pic>
    </p:spTree>
    <p:extLst>
      <p:ext uri="{BB962C8B-B14F-4D97-AF65-F5344CB8AC3E}">
        <p14:creationId xmlns:p14="http://schemas.microsoft.com/office/powerpoint/2010/main" val="4199239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C92AB63-F948-8549-0CF0-73CD92941E33}"/>
              </a:ext>
            </a:extLst>
          </p:cNvPr>
          <p:cNvPicPr>
            <a:picLocks noChangeAspect="1"/>
          </p:cNvPicPr>
          <p:nvPr/>
        </p:nvPicPr>
        <p:blipFill>
          <a:blip r:embed="rId2"/>
          <a:srcRect l="4829" t="19477" r="3530" b="16115"/>
          <a:stretch/>
        </p:blipFill>
        <p:spPr>
          <a:xfrm>
            <a:off x="1238864" y="565355"/>
            <a:ext cx="9714271" cy="3106993"/>
          </a:xfrm>
          <a:prstGeom prst="rect">
            <a:avLst/>
          </a:prstGeom>
        </p:spPr>
      </p:pic>
      <p:sp>
        <p:nvSpPr>
          <p:cNvPr id="4" name="TextBox 3">
            <a:extLst>
              <a:ext uri="{FF2B5EF4-FFF2-40B4-BE49-F238E27FC236}">
                <a16:creationId xmlns:a16="http://schemas.microsoft.com/office/drawing/2014/main" id="{467795E1-24AF-B791-0078-2659406A6D61}"/>
              </a:ext>
            </a:extLst>
          </p:cNvPr>
          <p:cNvSpPr txBox="1"/>
          <p:nvPr/>
        </p:nvSpPr>
        <p:spPr>
          <a:xfrm>
            <a:off x="1091381" y="3529781"/>
            <a:ext cx="9861754" cy="369332"/>
          </a:xfrm>
          <a:prstGeom prst="rect">
            <a:avLst/>
          </a:prstGeom>
          <a:noFill/>
        </p:spPr>
        <p:txBody>
          <a:bodyPr wrap="square" rtlCol="0">
            <a:spAutoFit/>
          </a:bodyPr>
          <a:lstStyle/>
          <a:p>
            <a:r>
              <a:rPr lang="en-IN" dirty="0"/>
              <a:t>redistribute connected</a:t>
            </a:r>
          </a:p>
        </p:txBody>
      </p:sp>
      <p:pic>
        <p:nvPicPr>
          <p:cNvPr id="6" name="Picture 5">
            <a:extLst>
              <a:ext uri="{FF2B5EF4-FFF2-40B4-BE49-F238E27FC236}">
                <a16:creationId xmlns:a16="http://schemas.microsoft.com/office/drawing/2014/main" id="{8425C1A7-DCF7-31A6-DB0D-03B798E6C867}"/>
              </a:ext>
            </a:extLst>
          </p:cNvPr>
          <p:cNvPicPr>
            <a:picLocks noChangeAspect="1"/>
          </p:cNvPicPr>
          <p:nvPr/>
        </p:nvPicPr>
        <p:blipFill>
          <a:blip r:embed="rId3"/>
          <a:stretch>
            <a:fillRect/>
          </a:stretch>
        </p:blipFill>
        <p:spPr>
          <a:xfrm>
            <a:off x="1005185" y="4129804"/>
            <a:ext cx="9434378" cy="2728196"/>
          </a:xfrm>
          <a:prstGeom prst="rect">
            <a:avLst/>
          </a:prstGeom>
        </p:spPr>
      </p:pic>
    </p:spTree>
    <p:extLst>
      <p:ext uri="{BB962C8B-B14F-4D97-AF65-F5344CB8AC3E}">
        <p14:creationId xmlns:p14="http://schemas.microsoft.com/office/powerpoint/2010/main" val="2259685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B20B4-FF87-E360-E98F-459C4A3C1B82}"/>
              </a:ext>
            </a:extLst>
          </p:cNvPr>
          <p:cNvSpPr>
            <a:spLocks noGrp="1"/>
          </p:cNvSpPr>
          <p:nvPr>
            <p:ph type="title"/>
          </p:nvPr>
        </p:nvSpPr>
        <p:spPr>
          <a:xfrm>
            <a:off x="366252" y="176980"/>
            <a:ext cx="10515600" cy="766456"/>
          </a:xfrm>
        </p:spPr>
        <p:txBody>
          <a:bodyPr/>
          <a:lstStyle/>
          <a:p>
            <a:r>
              <a:rPr lang="en-IN" b="1" dirty="0">
                <a:solidFill>
                  <a:schemeClr val="accent1"/>
                </a:solidFill>
              </a:rPr>
              <a:t>Reminders</a:t>
            </a:r>
          </a:p>
        </p:txBody>
      </p:sp>
      <p:pic>
        <p:nvPicPr>
          <p:cNvPr id="5" name="Picture 4">
            <a:extLst>
              <a:ext uri="{FF2B5EF4-FFF2-40B4-BE49-F238E27FC236}">
                <a16:creationId xmlns:a16="http://schemas.microsoft.com/office/drawing/2014/main" id="{692A007E-2986-802E-5D72-1336C9049057}"/>
              </a:ext>
            </a:extLst>
          </p:cNvPr>
          <p:cNvPicPr>
            <a:picLocks noChangeAspect="1"/>
          </p:cNvPicPr>
          <p:nvPr/>
        </p:nvPicPr>
        <p:blipFill>
          <a:blip r:embed="rId2"/>
          <a:srcRect t="18768"/>
          <a:stretch/>
        </p:blipFill>
        <p:spPr>
          <a:xfrm>
            <a:off x="1146914" y="1012879"/>
            <a:ext cx="8954276" cy="3318073"/>
          </a:xfrm>
          <a:prstGeom prst="rect">
            <a:avLst/>
          </a:prstGeom>
        </p:spPr>
      </p:pic>
    </p:spTree>
    <p:extLst>
      <p:ext uri="{BB962C8B-B14F-4D97-AF65-F5344CB8AC3E}">
        <p14:creationId xmlns:p14="http://schemas.microsoft.com/office/powerpoint/2010/main" val="1308634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7B92A-A717-8CDE-F25A-F5EBA74A7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817FC-A083-7E8D-FAA8-54DE6D14EC71}"/>
              </a:ext>
            </a:extLst>
          </p:cNvPr>
          <p:cNvSpPr>
            <a:spLocks noGrp="1"/>
          </p:cNvSpPr>
          <p:nvPr>
            <p:ph type="title"/>
          </p:nvPr>
        </p:nvSpPr>
        <p:spPr>
          <a:xfrm>
            <a:off x="366252" y="176980"/>
            <a:ext cx="10515600" cy="766456"/>
          </a:xfrm>
        </p:spPr>
        <p:txBody>
          <a:bodyPr/>
          <a:lstStyle/>
          <a:p>
            <a:r>
              <a:rPr lang="en-IN" b="1" dirty="0">
                <a:solidFill>
                  <a:schemeClr val="accent1"/>
                </a:solidFill>
              </a:rPr>
              <a:t>BGP Path Attributes</a:t>
            </a:r>
          </a:p>
        </p:txBody>
      </p:sp>
      <p:pic>
        <p:nvPicPr>
          <p:cNvPr id="4" name="Picture 3">
            <a:extLst>
              <a:ext uri="{FF2B5EF4-FFF2-40B4-BE49-F238E27FC236}">
                <a16:creationId xmlns:a16="http://schemas.microsoft.com/office/drawing/2014/main" id="{F7302E92-2CDD-DBBB-6442-F8A3D8BFF00A}"/>
              </a:ext>
            </a:extLst>
          </p:cNvPr>
          <p:cNvPicPr>
            <a:picLocks noChangeAspect="1"/>
          </p:cNvPicPr>
          <p:nvPr/>
        </p:nvPicPr>
        <p:blipFill>
          <a:blip r:embed="rId2"/>
          <a:stretch>
            <a:fillRect/>
          </a:stretch>
        </p:blipFill>
        <p:spPr>
          <a:xfrm>
            <a:off x="1081605" y="1390473"/>
            <a:ext cx="10028789" cy="4077053"/>
          </a:xfrm>
          <a:prstGeom prst="rect">
            <a:avLst/>
          </a:prstGeom>
        </p:spPr>
      </p:pic>
    </p:spTree>
    <p:extLst>
      <p:ext uri="{BB962C8B-B14F-4D97-AF65-F5344CB8AC3E}">
        <p14:creationId xmlns:p14="http://schemas.microsoft.com/office/powerpoint/2010/main" val="1452864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BAF30-899C-D4CA-D190-AC3078C07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CF44C-2B2C-6B50-9AE6-EBE57196E3B3}"/>
              </a:ext>
            </a:extLst>
          </p:cNvPr>
          <p:cNvSpPr>
            <a:spLocks noGrp="1"/>
          </p:cNvSpPr>
          <p:nvPr>
            <p:ph type="title"/>
          </p:nvPr>
        </p:nvSpPr>
        <p:spPr>
          <a:xfrm>
            <a:off x="366252" y="176980"/>
            <a:ext cx="10515600" cy="766456"/>
          </a:xfrm>
        </p:spPr>
        <p:txBody>
          <a:bodyPr/>
          <a:lstStyle/>
          <a:p>
            <a:r>
              <a:rPr lang="en-IN" b="1" dirty="0">
                <a:solidFill>
                  <a:schemeClr val="accent1"/>
                </a:solidFill>
              </a:rPr>
              <a:t>BGP Path Attributes</a:t>
            </a:r>
          </a:p>
        </p:txBody>
      </p:sp>
      <p:pic>
        <p:nvPicPr>
          <p:cNvPr id="8" name="Picture 7">
            <a:extLst>
              <a:ext uri="{FF2B5EF4-FFF2-40B4-BE49-F238E27FC236}">
                <a16:creationId xmlns:a16="http://schemas.microsoft.com/office/drawing/2014/main" id="{C9AEF167-A0EB-1CA0-DDF6-2DA2584B11DC}"/>
              </a:ext>
            </a:extLst>
          </p:cNvPr>
          <p:cNvPicPr>
            <a:picLocks noChangeAspect="1"/>
          </p:cNvPicPr>
          <p:nvPr/>
        </p:nvPicPr>
        <p:blipFill>
          <a:blip r:embed="rId2"/>
          <a:srcRect l="844" t="3291" r="333"/>
          <a:stretch/>
        </p:blipFill>
        <p:spPr>
          <a:xfrm>
            <a:off x="3464915" y="1190163"/>
            <a:ext cx="8255137" cy="4198374"/>
          </a:xfrm>
          <a:prstGeom prst="rect">
            <a:avLst/>
          </a:prstGeom>
        </p:spPr>
      </p:pic>
      <p:pic>
        <p:nvPicPr>
          <p:cNvPr id="10" name="Picture 9">
            <a:extLst>
              <a:ext uri="{FF2B5EF4-FFF2-40B4-BE49-F238E27FC236}">
                <a16:creationId xmlns:a16="http://schemas.microsoft.com/office/drawing/2014/main" id="{1E8ED277-9E28-E411-E295-2DB40DEC6DE3}"/>
              </a:ext>
            </a:extLst>
          </p:cNvPr>
          <p:cNvPicPr>
            <a:picLocks noChangeAspect="1"/>
          </p:cNvPicPr>
          <p:nvPr/>
        </p:nvPicPr>
        <p:blipFill>
          <a:blip r:embed="rId3"/>
          <a:stretch>
            <a:fillRect/>
          </a:stretch>
        </p:blipFill>
        <p:spPr>
          <a:xfrm>
            <a:off x="366252" y="1621359"/>
            <a:ext cx="2564335" cy="1935462"/>
          </a:xfrm>
          <a:prstGeom prst="rect">
            <a:avLst/>
          </a:prstGeom>
        </p:spPr>
      </p:pic>
    </p:spTree>
    <p:extLst>
      <p:ext uri="{BB962C8B-B14F-4D97-AF65-F5344CB8AC3E}">
        <p14:creationId xmlns:p14="http://schemas.microsoft.com/office/powerpoint/2010/main" val="3630994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3669-CE8B-AD3F-383B-E8CFCD8C5607}"/>
              </a:ext>
            </a:extLst>
          </p:cNvPr>
          <p:cNvSpPr>
            <a:spLocks noGrp="1"/>
          </p:cNvSpPr>
          <p:nvPr>
            <p:ph type="title"/>
          </p:nvPr>
        </p:nvSpPr>
        <p:spPr>
          <a:xfrm>
            <a:off x="376084" y="521110"/>
            <a:ext cx="1954161" cy="579643"/>
          </a:xfrm>
        </p:spPr>
        <p:txBody>
          <a:bodyPr>
            <a:noAutofit/>
          </a:bodyPr>
          <a:lstStyle/>
          <a:p>
            <a:r>
              <a:rPr lang="en-IN" sz="4000" b="1" dirty="0">
                <a:solidFill>
                  <a:schemeClr val="accent1"/>
                </a:solidFill>
              </a:rPr>
              <a:t>WEIGHT</a:t>
            </a:r>
          </a:p>
        </p:txBody>
      </p:sp>
      <p:pic>
        <p:nvPicPr>
          <p:cNvPr id="5" name="Picture 4">
            <a:extLst>
              <a:ext uri="{FF2B5EF4-FFF2-40B4-BE49-F238E27FC236}">
                <a16:creationId xmlns:a16="http://schemas.microsoft.com/office/drawing/2014/main" id="{B71E2440-0B45-29C2-8A4A-B2601179E46E}"/>
              </a:ext>
            </a:extLst>
          </p:cNvPr>
          <p:cNvPicPr>
            <a:picLocks noChangeAspect="1"/>
          </p:cNvPicPr>
          <p:nvPr/>
        </p:nvPicPr>
        <p:blipFill>
          <a:blip r:embed="rId2"/>
          <a:stretch>
            <a:fillRect/>
          </a:stretch>
        </p:blipFill>
        <p:spPr>
          <a:xfrm>
            <a:off x="247034" y="1100753"/>
            <a:ext cx="3832123" cy="1874338"/>
          </a:xfrm>
          <a:prstGeom prst="rect">
            <a:avLst/>
          </a:prstGeom>
        </p:spPr>
      </p:pic>
      <p:pic>
        <p:nvPicPr>
          <p:cNvPr id="7" name="Picture 6">
            <a:extLst>
              <a:ext uri="{FF2B5EF4-FFF2-40B4-BE49-F238E27FC236}">
                <a16:creationId xmlns:a16="http://schemas.microsoft.com/office/drawing/2014/main" id="{FAE36CF7-EE5B-AB13-295E-DFFA6AE39962}"/>
              </a:ext>
            </a:extLst>
          </p:cNvPr>
          <p:cNvPicPr>
            <a:picLocks noChangeAspect="1"/>
          </p:cNvPicPr>
          <p:nvPr/>
        </p:nvPicPr>
        <p:blipFill>
          <a:blip r:embed="rId3"/>
          <a:stretch>
            <a:fillRect/>
          </a:stretch>
        </p:blipFill>
        <p:spPr>
          <a:xfrm>
            <a:off x="4874341" y="1100753"/>
            <a:ext cx="3753656" cy="1210230"/>
          </a:xfrm>
          <a:prstGeom prst="rect">
            <a:avLst/>
          </a:prstGeom>
        </p:spPr>
      </p:pic>
      <p:sp>
        <p:nvSpPr>
          <p:cNvPr id="8" name="Title 1">
            <a:extLst>
              <a:ext uri="{FF2B5EF4-FFF2-40B4-BE49-F238E27FC236}">
                <a16:creationId xmlns:a16="http://schemas.microsoft.com/office/drawing/2014/main" id="{DB24B102-6AA0-68C6-F146-B082B7AB02AA}"/>
              </a:ext>
            </a:extLst>
          </p:cNvPr>
          <p:cNvSpPr txBox="1">
            <a:spLocks/>
          </p:cNvSpPr>
          <p:nvPr/>
        </p:nvSpPr>
        <p:spPr>
          <a:xfrm>
            <a:off x="4874341" y="324465"/>
            <a:ext cx="4419983" cy="11007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chemeClr val="accent1"/>
                </a:solidFill>
              </a:rPr>
              <a:t>LOCAL_PREFERNCE</a:t>
            </a:r>
          </a:p>
        </p:txBody>
      </p:sp>
      <p:pic>
        <p:nvPicPr>
          <p:cNvPr id="10" name="Picture 9">
            <a:extLst>
              <a:ext uri="{FF2B5EF4-FFF2-40B4-BE49-F238E27FC236}">
                <a16:creationId xmlns:a16="http://schemas.microsoft.com/office/drawing/2014/main" id="{C35132FD-A1EB-ED34-49E0-E78120F48E15}"/>
              </a:ext>
            </a:extLst>
          </p:cNvPr>
          <p:cNvPicPr>
            <a:picLocks noChangeAspect="1"/>
          </p:cNvPicPr>
          <p:nvPr/>
        </p:nvPicPr>
        <p:blipFill>
          <a:blip r:embed="rId4"/>
          <a:stretch>
            <a:fillRect/>
          </a:stretch>
        </p:blipFill>
        <p:spPr>
          <a:xfrm>
            <a:off x="376084" y="4342304"/>
            <a:ext cx="5877232" cy="1809835"/>
          </a:xfrm>
          <a:prstGeom prst="rect">
            <a:avLst/>
          </a:prstGeom>
        </p:spPr>
      </p:pic>
      <p:sp>
        <p:nvSpPr>
          <p:cNvPr id="11" name="Title 1">
            <a:extLst>
              <a:ext uri="{FF2B5EF4-FFF2-40B4-BE49-F238E27FC236}">
                <a16:creationId xmlns:a16="http://schemas.microsoft.com/office/drawing/2014/main" id="{1E13868C-BB40-23B9-C2E8-1EB58E8C78B4}"/>
              </a:ext>
            </a:extLst>
          </p:cNvPr>
          <p:cNvSpPr txBox="1">
            <a:spLocks/>
          </p:cNvSpPr>
          <p:nvPr/>
        </p:nvSpPr>
        <p:spPr>
          <a:xfrm>
            <a:off x="529541" y="3685092"/>
            <a:ext cx="2498794" cy="5796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chemeClr val="accent1"/>
                </a:solidFill>
              </a:rPr>
              <a:t>ORIGINATE</a:t>
            </a:r>
          </a:p>
        </p:txBody>
      </p:sp>
      <p:sp>
        <p:nvSpPr>
          <p:cNvPr id="12" name="Title 1">
            <a:extLst>
              <a:ext uri="{FF2B5EF4-FFF2-40B4-BE49-F238E27FC236}">
                <a16:creationId xmlns:a16="http://schemas.microsoft.com/office/drawing/2014/main" id="{4AD23389-0C2C-7F94-6BD5-8D3EEDC0C64E}"/>
              </a:ext>
            </a:extLst>
          </p:cNvPr>
          <p:cNvSpPr txBox="1">
            <a:spLocks/>
          </p:cNvSpPr>
          <p:nvPr/>
        </p:nvSpPr>
        <p:spPr>
          <a:xfrm>
            <a:off x="7084332" y="3762661"/>
            <a:ext cx="1954161" cy="5796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chemeClr val="accent1"/>
                </a:solidFill>
              </a:rPr>
              <a:t>AS PATH</a:t>
            </a:r>
          </a:p>
        </p:txBody>
      </p:sp>
      <p:pic>
        <p:nvPicPr>
          <p:cNvPr id="14" name="Picture 13">
            <a:extLst>
              <a:ext uri="{FF2B5EF4-FFF2-40B4-BE49-F238E27FC236}">
                <a16:creationId xmlns:a16="http://schemas.microsoft.com/office/drawing/2014/main" id="{E52EE208-1A45-4E63-905B-B60CB732F928}"/>
              </a:ext>
            </a:extLst>
          </p:cNvPr>
          <p:cNvPicPr>
            <a:picLocks noChangeAspect="1"/>
          </p:cNvPicPr>
          <p:nvPr/>
        </p:nvPicPr>
        <p:blipFill>
          <a:blip r:embed="rId5"/>
          <a:stretch>
            <a:fillRect/>
          </a:stretch>
        </p:blipFill>
        <p:spPr>
          <a:xfrm>
            <a:off x="7084332" y="4440733"/>
            <a:ext cx="4911864" cy="950126"/>
          </a:xfrm>
          <a:prstGeom prst="rect">
            <a:avLst/>
          </a:prstGeom>
        </p:spPr>
      </p:pic>
    </p:spTree>
    <p:extLst>
      <p:ext uri="{BB962C8B-B14F-4D97-AF65-F5344CB8AC3E}">
        <p14:creationId xmlns:p14="http://schemas.microsoft.com/office/powerpoint/2010/main" val="2394329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A1576C-E4EC-4111-A08D-A22345CC51D4}"/>
              </a:ext>
            </a:extLst>
          </p:cNvPr>
          <p:cNvPicPr>
            <a:picLocks noChangeAspect="1"/>
          </p:cNvPicPr>
          <p:nvPr/>
        </p:nvPicPr>
        <p:blipFill>
          <a:blip r:embed="rId2"/>
          <a:stretch>
            <a:fillRect/>
          </a:stretch>
        </p:blipFill>
        <p:spPr>
          <a:xfrm>
            <a:off x="707737" y="1059284"/>
            <a:ext cx="3274328" cy="1789186"/>
          </a:xfrm>
          <a:prstGeom prst="rect">
            <a:avLst/>
          </a:prstGeom>
        </p:spPr>
      </p:pic>
      <p:sp>
        <p:nvSpPr>
          <p:cNvPr id="6" name="Title 1">
            <a:extLst>
              <a:ext uri="{FF2B5EF4-FFF2-40B4-BE49-F238E27FC236}">
                <a16:creationId xmlns:a16="http://schemas.microsoft.com/office/drawing/2014/main" id="{756CC5EE-1B9F-66C6-8245-6B184BFAAE87}"/>
              </a:ext>
            </a:extLst>
          </p:cNvPr>
          <p:cNvSpPr>
            <a:spLocks noGrp="1"/>
          </p:cNvSpPr>
          <p:nvPr>
            <p:ph type="title"/>
          </p:nvPr>
        </p:nvSpPr>
        <p:spPr>
          <a:xfrm>
            <a:off x="707737" y="245808"/>
            <a:ext cx="3274328" cy="579643"/>
          </a:xfrm>
        </p:spPr>
        <p:txBody>
          <a:bodyPr>
            <a:noAutofit/>
          </a:bodyPr>
          <a:lstStyle/>
          <a:p>
            <a:r>
              <a:rPr lang="en-IN" sz="4000" b="1" dirty="0">
                <a:solidFill>
                  <a:schemeClr val="accent1"/>
                </a:solidFill>
              </a:rPr>
              <a:t>ORIGIN TYPE</a:t>
            </a:r>
          </a:p>
        </p:txBody>
      </p:sp>
      <p:sp>
        <p:nvSpPr>
          <p:cNvPr id="7" name="Title 1">
            <a:extLst>
              <a:ext uri="{FF2B5EF4-FFF2-40B4-BE49-F238E27FC236}">
                <a16:creationId xmlns:a16="http://schemas.microsoft.com/office/drawing/2014/main" id="{8282CB40-ABB0-A9E1-CF8C-CCE7C5BBDCF8}"/>
              </a:ext>
            </a:extLst>
          </p:cNvPr>
          <p:cNvSpPr txBox="1">
            <a:spLocks/>
          </p:cNvSpPr>
          <p:nvPr/>
        </p:nvSpPr>
        <p:spPr>
          <a:xfrm>
            <a:off x="4827639" y="95724"/>
            <a:ext cx="7256206" cy="9635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chemeClr val="accent1"/>
                </a:solidFill>
              </a:rPr>
              <a:t>MED (MULTI EXIT DISCRIMINATOR)</a:t>
            </a:r>
          </a:p>
        </p:txBody>
      </p:sp>
      <p:pic>
        <p:nvPicPr>
          <p:cNvPr id="9" name="Picture 8">
            <a:extLst>
              <a:ext uri="{FF2B5EF4-FFF2-40B4-BE49-F238E27FC236}">
                <a16:creationId xmlns:a16="http://schemas.microsoft.com/office/drawing/2014/main" id="{C7C65D13-6EA7-A02C-2F5E-141471BCB398}"/>
              </a:ext>
            </a:extLst>
          </p:cNvPr>
          <p:cNvPicPr>
            <a:picLocks noChangeAspect="1"/>
          </p:cNvPicPr>
          <p:nvPr/>
        </p:nvPicPr>
        <p:blipFill>
          <a:blip r:embed="rId3"/>
          <a:stretch>
            <a:fillRect/>
          </a:stretch>
        </p:blipFill>
        <p:spPr>
          <a:xfrm>
            <a:off x="4991353" y="1059284"/>
            <a:ext cx="6757414" cy="2042652"/>
          </a:xfrm>
          <a:prstGeom prst="rect">
            <a:avLst/>
          </a:prstGeom>
        </p:spPr>
      </p:pic>
      <p:pic>
        <p:nvPicPr>
          <p:cNvPr id="11" name="Picture 10">
            <a:extLst>
              <a:ext uri="{FF2B5EF4-FFF2-40B4-BE49-F238E27FC236}">
                <a16:creationId xmlns:a16="http://schemas.microsoft.com/office/drawing/2014/main" id="{55B3EFFC-892A-079B-C054-F70119074C22}"/>
              </a:ext>
            </a:extLst>
          </p:cNvPr>
          <p:cNvPicPr>
            <a:picLocks noChangeAspect="1"/>
          </p:cNvPicPr>
          <p:nvPr/>
        </p:nvPicPr>
        <p:blipFill>
          <a:blip r:embed="rId4"/>
          <a:srcRect l="10976" t="18454" r="10416" b="29087"/>
          <a:stretch/>
        </p:blipFill>
        <p:spPr>
          <a:xfrm>
            <a:off x="851972" y="4465420"/>
            <a:ext cx="4516441" cy="1389262"/>
          </a:xfrm>
          <a:prstGeom prst="rect">
            <a:avLst/>
          </a:prstGeom>
        </p:spPr>
      </p:pic>
      <p:sp>
        <p:nvSpPr>
          <p:cNvPr id="12" name="Title 1">
            <a:extLst>
              <a:ext uri="{FF2B5EF4-FFF2-40B4-BE49-F238E27FC236}">
                <a16:creationId xmlns:a16="http://schemas.microsoft.com/office/drawing/2014/main" id="{9FFDE806-2713-9D1A-1131-E9B98E31A509}"/>
              </a:ext>
            </a:extLst>
          </p:cNvPr>
          <p:cNvSpPr txBox="1">
            <a:spLocks/>
          </p:cNvSpPr>
          <p:nvPr/>
        </p:nvSpPr>
        <p:spPr>
          <a:xfrm>
            <a:off x="707737" y="3429000"/>
            <a:ext cx="3274328" cy="5796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chemeClr val="accent1"/>
                </a:solidFill>
              </a:rPr>
              <a:t>PATH</a:t>
            </a:r>
          </a:p>
        </p:txBody>
      </p:sp>
      <p:pic>
        <p:nvPicPr>
          <p:cNvPr id="14" name="Picture 13">
            <a:extLst>
              <a:ext uri="{FF2B5EF4-FFF2-40B4-BE49-F238E27FC236}">
                <a16:creationId xmlns:a16="http://schemas.microsoft.com/office/drawing/2014/main" id="{FE9B5D73-BD81-AAF6-5FE0-8A7C29556C45}"/>
              </a:ext>
            </a:extLst>
          </p:cNvPr>
          <p:cNvPicPr>
            <a:picLocks noChangeAspect="1"/>
          </p:cNvPicPr>
          <p:nvPr/>
        </p:nvPicPr>
        <p:blipFill>
          <a:blip r:embed="rId5"/>
          <a:stretch>
            <a:fillRect/>
          </a:stretch>
        </p:blipFill>
        <p:spPr>
          <a:xfrm>
            <a:off x="5873238" y="4061361"/>
            <a:ext cx="5875529" cy="548688"/>
          </a:xfrm>
          <a:prstGeom prst="rect">
            <a:avLst/>
          </a:prstGeom>
        </p:spPr>
      </p:pic>
      <p:sp>
        <p:nvSpPr>
          <p:cNvPr id="15" name="Title 1">
            <a:extLst>
              <a:ext uri="{FF2B5EF4-FFF2-40B4-BE49-F238E27FC236}">
                <a16:creationId xmlns:a16="http://schemas.microsoft.com/office/drawing/2014/main" id="{4F190ACF-6695-E821-95B0-DC433EC4814E}"/>
              </a:ext>
            </a:extLst>
          </p:cNvPr>
          <p:cNvSpPr txBox="1">
            <a:spLocks/>
          </p:cNvSpPr>
          <p:nvPr/>
        </p:nvSpPr>
        <p:spPr>
          <a:xfrm>
            <a:off x="6096000" y="3428999"/>
            <a:ext cx="3274328" cy="5796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chemeClr val="accent1"/>
                </a:solidFill>
              </a:rPr>
              <a:t>PREFERENCE</a:t>
            </a:r>
          </a:p>
        </p:txBody>
      </p:sp>
    </p:spTree>
    <p:extLst>
      <p:ext uri="{BB962C8B-B14F-4D97-AF65-F5344CB8AC3E}">
        <p14:creationId xmlns:p14="http://schemas.microsoft.com/office/powerpoint/2010/main" val="3153630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87B0E-DF41-549A-B01C-7799C04730E8}"/>
              </a:ext>
            </a:extLst>
          </p:cNvPr>
          <p:cNvSpPr>
            <a:spLocks noGrp="1"/>
          </p:cNvSpPr>
          <p:nvPr>
            <p:ph type="title"/>
          </p:nvPr>
        </p:nvSpPr>
        <p:spPr>
          <a:xfrm>
            <a:off x="680883" y="427986"/>
            <a:ext cx="10515600" cy="631351"/>
          </a:xfrm>
        </p:spPr>
        <p:txBody>
          <a:bodyPr>
            <a:normAutofit fontScale="90000"/>
          </a:bodyPr>
          <a:lstStyle/>
          <a:p>
            <a:r>
              <a:rPr lang="en-IN" b="1" dirty="0">
                <a:solidFill>
                  <a:schemeClr val="accent1"/>
                </a:solidFill>
              </a:rPr>
              <a:t>PATH CHANGING</a:t>
            </a:r>
          </a:p>
        </p:txBody>
      </p:sp>
      <p:pic>
        <p:nvPicPr>
          <p:cNvPr id="5" name="Picture 4">
            <a:extLst>
              <a:ext uri="{FF2B5EF4-FFF2-40B4-BE49-F238E27FC236}">
                <a16:creationId xmlns:a16="http://schemas.microsoft.com/office/drawing/2014/main" id="{2956FE18-4DAA-57B1-0C03-AE9C8A61297A}"/>
              </a:ext>
            </a:extLst>
          </p:cNvPr>
          <p:cNvPicPr>
            <a:picLocks noChangeAspect="1"/>
          </p:cNvPicPr>
          <p:nvPr/>
        </p:nvPicPr>
        <p:blipFill>
          <a:blip r:embed="rId2"/>
          <a:stretch>
            <a:fillRect/>
          </a:stretch>
        </p:blipFill>
        <p:spPr>
          <a:xfrm>
            <a:off x="1504335" y="980289"/>
            <a:ext cx="8377084" cy="4346425"/>
          </a:xfrm>
          <a:prstGeom prst="rect">
            <a:avLst/>
          </a:prstGeom>
        </p:spPr>
      </p:pic>
      <p:pic>
        <p:nvPicPr>
          <p:cNvPr id="7" name="Picture 6">
            <a:extLst>
              <a:ext uri="{FF2B5EF4-FFF2-40B4-BE49-F238E27FC236}">
                <a16:creationId xmlns:a16="http://schemas.microsoft.com/office/drawing/2014/main" id="{120C3420-453E-BF43-853B-40039DD94457}"/>
              </a:ext>
            </a:extLst>
          </p:cNvPr>
          <p:cNvPicPr>
            <a:picLocks noChangeAspect="1"/>
          </p:cNvPicPr>
          <p:nvPr/>
        </p:nvPicPr>
        <p:blipFill>
          <a:blip r:embed="rId3"/>
          <a:stretch>
            <a:fillRect/>
          </a:stretch>
        </p:blipFill>
        <p:spPr>
          <a:xfrm>
            <a:off x="983599" y="5723806"/>
            <a:ext cx="5524979" cy="975445"/>
          </a:xfrm>
          <a:prstGeom prst="rect">
            <a:avLst/>
          </a:prstGeom>
        </p:spPr>
      </p:pic>
      <p:pic>
        <p:nvPicPr>
          <p:cNvPr id="9" name="Picture 8">
            <a:extLst>
              <a:ext uri="{FF2B5EF4-FFF2-40B4-BE49-F238E27FC236}">
                <a16:creationId xmlns:a16="http://schemas.microsoft.com/office/drawing/2014/main" id="{09957C41-9DCF-9718-7A6E-51FA3443DD19}"/>
              </a:ext>
            </a:extLst>
          </p:cNvPr>
          <p:cNvPicPr>
            <a:picLocks noChangeAspect="1"/>
          </p:cNvPicPr>
          <p:nvPr/>
        </p:nvPicPr>
        <p:blipFill>
          <a:blip r:embed="rId4"/>
          <a:stretch>
            <a:fillRect/>
          </a:stretch>
        </p:blipFill>
        <p:spPr>
          <a:xfrm>
            <a:off x="6872747" y="5625445"/>
            <a:ext cx="3942736" cy="1172165"/>
          </a:xfrm>
          <a:prstGeom prst="rect">
            <a:avLst/>
          </a:prstGeom>
        </p:spPr>
      </p:pic>
    </p:spTree>
    <p:extLst>
      <p:ext uri="{BB962C8B-B14F-4D97-AF65-F5344CB8AC3E}">
        <p14:creationId xmlns:p14="http://schemas.microsoft.com/office/powerpoint/2010/main" val="2597616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1652CD-DCA1-9E99-5DA9-FBDA1A8CEB40}"/>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rcRect l="4187" t="6339" r="4958" b="6772"/>
          <a:stretch/>
        </p:blipFill>
        <p:spPr>
          <a:xfrm>
            <a:off x="1602657" y="1196122"/>
            <a:ext cx="8774158" cy="4286865"/>
          </a:xfrm>
          <a:prstGeom prst="rect">
            <a:avLst/>
          </a:prstGeom>
          <a:effectLst>
            <a:glow>
              <a:schemeClr val="accent1"/>
            </a:glow>
            <a:softEdge rad="0"/>
          </a:effectLst>
        </p:spPr>
      </p:pic>
      <p:sp>
        <p:nvSpPr>
          <p:cNvPr id="6" name="Title 1">
            <a:extLst>
              <a:ext uri="{FF2B5EF4-FFF2-40B4-BE49-F238E27FC236}">
                <a16:creationId xmlns:a16="http://schemas.microsoft.com/office/drawing/2014/main" id="{744AB896-518D-4DC1-EFB6-0EAF86181D92}"/>
              </a:ext>
            </a:extLst>
          </p:cNvPr>
          <p:cNvSpPr txBox="1">
            <a:spLocks/>
          </p:cNvSpPr>
          <p:nvPr/>
        </p:nvSpPr>
        <p:spPr>
          <a:xfrm>
            <a:off x="1007239" y="564771"/>
            <a:ext cx="10515600" cy="631351"/>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chemeClr val="accent1"/>
                </a:solidFill>
              </a:rPr>
              <a:t>PATH CHANGING</a:t>
            </a:r>
          </a:p>
        </p:txBody>
      </p:sp>
      <p:pic>
        <p:nvPicPr>
          <p:cNvPr id="8" name="Picture 7">
            <a:extLst>
              <a:ext uri="{FF2B5EF4-FFF2-40B4-BE49-F238E27FC236}">
                <a16:creationId xmlns:a16="http://schemas.microsoft.com/office/drawing/2014/main" id="{B9463C29-447A-0C5E-934A-2946562F46D1}"/>
              </a:ext>
            </a:extLst>
          </p:cNvPr>
          <p:cNvPicPr>
            <a:picLocks noChangeAspect="1"/>
          </p:cNvPicPr>
          <p:nvPr/>
        </p:nvPicPr>
        <p:blipFill>
          <a:blip r:embed="rId4"/>
          <a:stretch>
            <a:fillRect/>
          </a:stretch>
        </p:blipFill>
        <p:spPr>
          <a:xfrm>
            <a:off x="1602657" y="5611374"/>
            <a:ext cx="8771380" cy="1005927"/>
          </a:xfrm>
          <a:prstGeom prst="rect">
            <a:avLst/>
          </a:prstGeom>
        </p:spPr>
      </p:pic>
    </p:spTree>
    <p:extLst>
      <p:ext uri="{BB962C8B-B14F-4D97-AF65-F5344CB8AC3E}">
        <p14:creationId xmlns:p14="http://schemas.microsoft.com/office/powerpoint/2010/main" val="2442968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5E509-F9EE-238C-AF50-9CC25F150726}"/>
              </a:ext>
            </a:extLst>
          </p:cNvPr>
          <p:cNvSpPr>
            <a:spLocks noGrp="1"/>
          </p:cNvSpPr>
          <p:nvPr>
            <p:ph type="title"/>
          </p:nvPr>
        </p:nvSpPr>
        <p:spPr>
          <a:xfrm>
            <a:off x="415413" y="235973"/>
            <a:ext cx="10515600" cy="648469"/>
          </a:xfrm>
        </p:spPr>
        <p:txBody>
          <a:bodyPr>
            <a:normAutofit fontScale="90000"/>
          </a:bodyPr>
          <a:lstStyle/>
          <a:p>
            <a:r>
              <a:rPr lang="en-IN" b="1" dirty="0">
                <a:solidFill>
                  <a:schemeClr val="accent1"/>
                </a:solidFill>
              </a:rPr>
              <a:t>ADVANCED BGP</a:t>
            </a:r>
          </a:p>
        </p:txBody>
      </p:sp>
      <p:pic>
        <p:nvPicPr>
          <p:cNvPr id="5" name="Picture 4">
            <a:extLst>
              <a:ext uri="{FF2B5EF4-FFF2-40B4-BE49-F238E27FC236}">
                <a16:creationId xmlns:a16="http://schemas.microsoft.com/office/drawing/2014/main" id="{9DD5B52D-3B90-E649-8795-EDC73B205273}"/>
              </a:ext>
            </a:extLst>
          </p:cNvPr>
          <p:cNvPicPr>
            <a:picLocks noChangeAspect="1"/>
          </p:cNvPicPr>
          <p:nvPr/>
        </p:nvPicPr>
        <p:blipFill>
          <a:blip r:embed="rId2"/>
          <a:srcRect l="5403" r="5475"/>
          <a:stretch/>
        </p:blipFill>
        <p:spPr>
          <a:xfrm>
            <a:off x="1750141" y="884442"/>
            <a:ext cx="8890821" cy="5727357"/>
          </a:xfrm>
          <a:prstGeom prst="rect">
            <a:avLst/>
          </a:prstGeom>
        </p:spPr>
      </p:pic>
    </p:spTree>
    <p:extLst>
      <p:ext uri="{BB962C8B-B14F-4D97-AF65-F5344CB8AC3E}">
        <p14:creationId xmlns:p14="http://schemas.microsoft.com/office/powerpoint/2010/main" val="4032094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1C74E2-C432-89AC-1944-26E5BEBC3B50}"/>
              </a:ext>
            </a:extLst>
          </p:cNvPr>
          <p:cNvPicPr>
            <a:picLocks noChangeAspect="1"/>
          </p:cNvPicPr>
          <p:nvPr/>
        </p:nvPicPr>
        <p:blipFill>
          <a:blip r:embed="rId2"/>
          <a:stretch>
            <a:fillRect/>
          </a:stretch>
        </p:blipFill>
        <p:spPr>
          <a:xfrm>
            <a:off x="463531" y="1126253"/>
            <a:ext cx="7056732" cy="731583"/>
          </a:xfrm>
          <a:prstGeom prst="rect">
            <a:avLst/>
          </a:prstGeom>
        </p:spPr>
      </p:pic>
      <p:sp>
        <p:nvSpPr>
          <p:cNvPr id="6" name="Title 1">
            <a:extLst>
              <a:ext uri="{FF2B5EF4-FFF2-40B4-BE49-F238E27FC236}">
                <a16:creationId xmlns:a16="http://schemas.microsoft.com/office/drawing/2014/main" id="{BBC7C93C-4B49-B76C-A4B1-284384707473}"/>
              </a:ext>
            </a:extLst>
          </p:cNvPr>
          <p:cNvSpPr>
            <a:spLocks noGrp="1"/>
          </p:cNvSpPr>
          <p:nvPr>
            <p:ph type="title"/>
          </p:nvPr>
        </p:nvSpPr>
        <p:spPr>
          <a:xfrm>
            <a:off x="707736" y="245808"/>
            <a:ext cx="5014637" cy="579643"/>
          </a:xfrm>
        </p:spPr>
        <p:txBody>
          <a:bodyPr>
            <a:noAutofit/>
          </a:bodyPr>
          <a:lstStyle/>
          <a:p>
            <a:r>
              <a:rPr lang="en-IN" sz="4000" b="1" dirty="0">
                <a:solidFill>
                  <a:schemeClr val="accent1"/>
                </a:solidFill>
              </a:rPr>
              <a:t>If IPV4 DEACTIVATED</a:t>
            </a:r>
          </a:p>
        </p:txBody>
      </p:sp>
      <p:sp>
        <p:nvSpPr>
          <p:cNvPr id="7" name="Title 1">
            <a:extLst>
              <a:ext uri="{FF2B5EF4-FFF2-40B4-BE49-F238E27FC236}">
                <a16:creationId xmlns:a16="http://schemas.microsoft.com/office/drawing/2014/main" id="{886FA505-349B-74D9-9409-7F1C311471B7}"/>
              </a:ext>
            </a:extLst>
          </p:cNvPr>
          <p:cNvSpPr txBox="1">
            <a:spLocks/>
          </p:cNvSpPr>
          <p:nvPr/>
        </p:nvSpPr>
        <p:spPr>
          <a:xfrm>
            <a:off x="707734" y="2256505"/>
            <a:ext cx="9665297" cy="7315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chemeClr val="accent1"/>
                </a:solidFill>
              </a:rPr>
              <a:t>BGP MULTI HOMING AND MULTIPATHING</a:t>
            </a:r>
          </a:p>
        </p:txBody>
      </p:sp>
      <p:pic>
        <p:nvPicPr>
          <p:cNvPr id="9" name="Picture 8">
            <a:extLst>
              <a:ext uri="{FF2B5EF4-FFF2-40B4-BE49-F238E27FC236}">
                <a16:creationId xmlns:a16="http://schemas.microsoft.com/office/drawing/2014/main" id="{97022BDA-18EE-4662-CC92-D1F4F29BCF4B}"/>
              </a:ext>
            </a:extLst>
          </p:cNvPr>
          <p:cNvPicPr>
            <a:picLocks noChangeAspect="1"/>
          </p:cNvPicPr>
          <p:nvPr/>
        </p:nvPicPr>
        <p:blipFill>
          <a:blip r:embed="rId3"/>
          <a:stretch>
            <a:fillRect/>
          </a:stretch>
        </p:blipFill>
        <p:spPr>
          <a:xfrm>
            <a:off x="230635" y="2883087"/>
            <a:ext cx="3176668" cy="2012077"/>
          </a:xfrm>
          <a:prstGeom prst="rect">
            <a:avLst/>
          </a:prstGeom>
        </p:spPr>
      </p:pic>
      <p:pic>
        <p:nvPicPr>
          <p:cNvPr id="11" name="Picture 10">
            <a:extLst>
              <a:ext uri="{FF2B5EF4-FFF2-40B4-BE49-F238E27FC236}">
                <a16:creationId xmlns:a16="http://schemas.microsoft.com/office/drawing/2014/main" id="{00D88E2B-D63B-C6CC-D876-D7EDEC417C9D}"/>
              </a:ext>
            </a:extLst>
          </p:cNvPr>
          <p:cNvPicPr>
            <a:picLocks noChangeAspect="1"/>
          </p:cNvPicPr>
          <p:nvPr/>
        </p:nvPicPr>
        <p:blipFill>
          <a:blip r:embed="rId4"/>
          <a:stretch>
            <a:fillRect/>
          </a:stretch>
        </p:blipFill>
        <p:spPr>
          <a:xfrm>
            <a:off x="2979175" y="4264962"/>
            <a:ext cx="3667938" cy="2347230"/>
          </a:xfrm>
          <a:prstGeom prst="rect">
            <a:avLst/>
          </a:prstGeom>
        </p:spPr>
      </p:pic>
      <p:pic>
        <p:nvPicPr>
          <p:cNvPr id="13" name="Picture 12">
            <a:extLst>
              <a:ext uri="{FF2B5EF4-FFF2-40B4-BE49-F238E27FC236}">
                <a16:creationId xmlns:a16="http://schemas.microsoft.com/office/drawing/2014/main" id="{7601398E-F5BD-BCAD-A67B-2673917950EB}"/>
              </a:ext>
            </a:extLst>
          </p:cNvPr>
          <p:cNvPicPr>
            <a:picLocks noChangeAspect="1"/>
          </p:cNvPicPr>
          <p:nvPr/>
        </p:nvPicPr>
        <p:blipFill>
          <a:blip r:embed="rId5"/>
          <a:stretch>
            <a:fillRect/>
          </a:stretch>
        </p:blipFill>
        <p:spPr>
          <a:xfrm>
            <a:off x="6570754" y="2839545"/>
            <a:ext cx="2966535" cy="2099162"/>
          </a:xfrm>
          <a:prstGeom prst="rect">
            <a:avLst/>
          </a:prstGeom>
        </p:spPr>
      </p:pic>
      <p:pic>
        <p:nvPicPr>
          <p:cNvPr id="15" name="Picture 14">
            <a:extLst>
              <a:ext uri="{FF2B5EF4-FFF2-40B4-BE49-F238E27FC236}">
                <a16:creationId xmlns:a16="http://schemas.microsoft.com/office/drawing/2014/main" id="{9A566E13-515B-9A4E-499D-DA520EA2E24A}"/>
              </a:ext>
            </a:extLst>
          </p:cNvPr>
          <p:cNvPicPr>
            <a:picLocks noChangeAspect="1"/>
          </p:cNvPicPr>
          <p:nvPr/>
        </p:nvPicPr>
        <p:blipFill>
          <a:blip r:embed="rId6"/>
          <a:stretch>
            <a:fillRect/>
          </a:stretch>
        </p:blipFill>
        <p:spPr>
          <a:xfrm>
            <a:off x="8877519" y="4938707"/>
            <a:ext cx="3176669" cy="1919293"/>
          </a:xfrm>
          <a:prstGeom prst="rect">
            <a:avLst/>
          </a:prstGeom>
        </p:spPr>
      </p:pic>
    </p:spTree>
    <p:extLst>
      <p:ext uri="{BB962C8B-B14F-4D97-AF65-F5344CB8AC3E}">
        <p14:creationId xmlns:p14="http://schemas.microsoft.com/office/powerpoint/2010/main" val="8191954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85B48D4-6D85-96D4-2317-5A52175FB266}"/>
              </a:ext>
            </a:extLst>
          </p:cNvPr>
          <p:cNvGraphicFramePr>
            <a:graphicFrameLocks noGrp="1"/>
          </p:cNvGraphicFramePr>
          <p:nvPr>
            <p:extLst>
              <p:ext uri="{D42A27DB-BD31-4B8C-83A1-F6EECF244321}">
                <p14:modId xmlns:p14="http://schemas.microsoft.com/office/powerpoint/2010/main" val="655706162"/>
              </p:ext>
            </p:extLst>
          </p:nvPr>
        </p:nvGraphicFramePr>
        <p:xfrm>
          <a:off x="985684" y="2694068"/>
          <a:ext cx="10515600" cy="2651760"/>
        </p:xfrm>
        <a:graphic>
          <a:graphicData uri="http://schemas.openxmlformats.org/drawingml/2006/table">
            <a:tbl>
              <a:tblPr/>
              <a:tblGrid>
                <a:gridCol w="3505200">
                  <a:extLst>
                    <a:ext uri="{9D8B030D-6E8A-4147-A177-3AD203B41FA5}">
                      <a16:colId xmlns:a16="http://schemas.microsoft.com/office/drawing/2014/main" val="1775176737"/>
                    </a:ext>
                  </a:extLst>
                </a:gridCol>
                <a:gridCol w="3505200">
                  <a:extLst>
                    <a:ext uri="{9D8B030D-6E8A-4147-A177-3AD203B41FA5}">
                      <a16:colId xmlns:a16="http://schemas.microsoft.com/office/drawing/2014/main" val="1167719159"/>
                    </a:ext>
                  </a:extLst>
                </a:gridCol>
                <a:gridCol w="3505200">
                  <a:extLst>
                    <a:ext uri="{9D8B030D-6E8A-4147-A177-3AD203B41FA5}">
                      <a16:colId xmlns:a16="http://schemas.microsoft.com/office/drawing/2014/main" val="3295952133"/>
                    </a:ext>
                  </a:extLst>
                </a:gridCol>
              </a:tblGrid>
              <a:tr h="0">
                <a:tc>
                  <a:txBody>
                    <a:bodyPr/>
                    <a:lstStyle/>
                    <a:p>
                      <a:r>
                        <a:rPr lang="en-IN"/>
                        <a:t>Feature</a:t>
                      </a:r>
                    </a:p>
                  </a:txBody>
                  <a:tcPr anchor="ctr">
                    <a:lnL>
                      <a:noFill/>
                    </a:lnL>
                    <a:lnR>
                      <a:noFill/>
                    </a:lnR>
                    <a:lnT>
                      <a:noFill/>
                    </a:lnT>
                    <a:lnB>
                      <a:noFill/>
                    </a:lnB>
                    <a:noFill/>
                  </a:tcPr>
                </a:tc>
                <a:tc>
                  <a:txBody>
                    <a:bodyPr/>
                    <a:lstStyle/>
                    <a:p>
                      <a:r>
                        <a:rPr lang="en-IN" dirty="0"/>
                        <a:t>BGP Multihoming</a:t>
                      </a:r>
                    </a:p>
                  </a:txBody>
                  <a:tcPr anchor="ctr">
                    <a:lnL>
                      <a:noFill/>
                    </a:lnL>
                    <a:lnR>
                      <a:noFill/>
                    </a:lnR>
                    <a:lnT>
                      <a:noFill/>
                    </a:lnT>
                    <a:lnB>
                      <a:noFill/>
                    </a:lnB>
                    <a:noFill/>
                  </a:tcPr>
                </a:tc>
                <a:tc>
                  <a:txBody>
                    <a:bodyPr/>
                    <a:lstStyle/>
                    <a:p>
                      <a:r>
                        <a:rPr lang="en-IN" dirty="0"/>
                        <a:t>BGP Multipathing</a:t>
                      </a:r>
                    </a:p>
                  </a:txBody>
                  <a:tcPr anchor="ctr">
                    <a:lnL>
                      <a:noFill/>
                    </a:lnL>
                    <a:lnR>
                      <a:noFill/>
                    </a:lnR>
                    <a:lnT>
                      <a:noFill/>
                    </a:lnT>
                    <a:lnB>
                      <a:noFill/>
                    </a:lnB>
                    <a:noFill/>
                  </a:tcPr>
                </a:tc>
                <a:extLst>
                  <a:ext uri="{0D108BD9-81ED-4DB2-BD59-A6C34878D82A}">
                    <a16:rowId xmlns:a16="http://schemas.microsoft.com/office/drawing/2014/main" val="1541588167"/>
                  </a:ext>
                </a:extLst>
              </a:tr>
              <a:tr h="0">
                <a:tc>
                  <a:txBody>
                    <a:bodyPr/>
                    <a:lstStyle/>
                    <a:p>
                      <a:r>
                        <a:rPr lang="en-IN" dirty="0"/>
                        <a:t>Connects to</a:t>
                      </a:r>
                    </a:p>
                  </a:txBody>
                  <a:tcPr anchor="ctr">
                    <a:lnL>
                      <a:noFill/>
                    </a:lnL>
                    <a:lnR>
                      <a:noFill/>
                    </a:lnR>
                    <a:lnT>
                      <a:noFill/>
                    </a:lnT>
                    <a:lnB>
                      <a:noFill/>
                    </a:lnB>
                    <a:noFill/>
                  </a:tcPr>
                </a:tc>
                <a:tc>
                  <a:txBody>
                    <a:bodyPr/>
                    <a:lstStyle/>
                    <a:p>
                      <a:r>
                        <a:rPr lang="en-IN" dirty="0"/>
                        <a:t>Multiple ISPs or external </a:t>
                      </a:r>
                      <a:r>
                        <a:rPr lang="en-IN" dirty="0" err="1"/>
                        <a:t>ASes</a:t>
                      </a:r>
                      <a:endParaRPr lang="en-IN" dirty="0"/>
                    </a:p>
                  </a:txBody>
                  <a:tcPr anchor="ctr">
                    <a:lnL>
                      <a:noFill/>
                    </a:lnL>
                    <a:lnR>
                      <a:noFill/>
                    </a:lnR>
                    <a:lnT>
                      <a:noFill/>
                    </a:lnT>
                    <a:lnB>
                      <a:noFill/>
                    </a:lnB>
                    <a:noFill/>
                  </a:tcPr>
                </a:tc>
                <a:tc>
                  <a:txBody>
                    <a:bodyPr/>
                    <a:lstStyle/>
                    <a:p>
                      <a:r>
                        <a:rPr lang="en-US"/>
                        <a:t>Multiple paths to the </a:t>
                      </a:r>
                      <a:r>
                        <a:rPr lang="en-US" b="1"/>
                        <a:t>same destination</a:t>
                      </a:r>
                      <a:endParaRPr lang="en-US"/>
                    </a:p>
                  </a:txBody>
                  <a:tcPr anchor="ctr">
                    <a:lnL>
                      <a:noFill/>
                    </a:lnL>
                    <a:lnR>
                      <a:noFill/>
                    </a:lnR>
                    <a:lnT>
                      <a:noFill/>
                    </a:lnT>
                    <a:lnB>
                      <a:noFill/>
                    </a:lnB>
                    <a:noFill/>
                  </a:tcPr>
                </a:tc>
                <a:extLst>
                  <a:ext uri="{0D108BD9-81ED-4DB2-BD59-A6C34878D82A}">
                    <a16:rowId xmlns:a16="http://schemas.microsoft.com/office/drawing/2014/main" val="3052661738"/>
                  </a:ext>
                </a:extLst>
              </a:tr>
              <a:tr h="0">
                <a:tc>
                  <a:txBody>
                    <a:bodyPr/>
                    <a:lstStyle/>
                    <a:p>
                      <a:r>
                        <a:rPr lang="en-IN"/>
                        <a:t>Goal</a:t>
                      </a:r>
                    </a:p>
                  </a:txBody>
                  <a:tcPr anchor="ctr">
                    <a:lnL>
                      <a:noFill/>
                    </a:lnL>
                    <a:lnR>
                      <a:noFill/>
                    </a:lnR>
                    <a:lnT>
                      <a:noFill/>
                    </a:lnT>
                    <a:lnB>
                      <a:noFill/>
                    </a:lnB>
                    <a:noFill/>
                  </a:tcPr>
                </a:tc>
                <a:tc>
                  <a:txBody>
                    <a:bodyPr/>
                    <a:lstStyle/>
                    <a:p>
                      <a:r>
                        <a:rPr lang="en-IN"/>
                        <a:t>Redundancy &amp; availability</a:t>
                      </a:r>
                    </a:p>
                  </a:txBody>
                  <a:tcPr anchor="ctr">
                    <a:lnL>
                      <a:noFill/>
                    </a:lnL>
                    <a:lnR>
                      <a:noFill/>
                    </a:lnR>
                    <a:lnT>
                      <a:noFill/>
                    </a:lnT>
                    <a:lnB>
                      <a:noFill/>
                    </a:lnB>
                    <a:noFill/>
                  </a:tcPr>
                </a:tc>
                <a:tc>
                  <a:txBody>
                    <a:bodyPr/>
                    <a:lstStyle/>
                    <a:p>
                      <a:r>
                        <a:rPr lang="en-IN"/>
                        <a:t>Load sharing / bandwidth balancing</a:t>
                      </a:r>
                    </a:p>
                  </a:txBody>
                  <a:tcPr anchor="ctr">
                    <a:lnL>
                      <a:noFill/>
                    </a:lnL>
                    <a:lnR>
                      <a:noFill/>
                    </a:lnR>
                    <a:lnT>
                      <a:noFill/>
                    </a:lnT>
                    <a:lnB>
                      <a:noFill/>
                    </a:lnB>
                    <a:noFill/>
                  </a:tcPr>
                </a:tc>
                <a:extLst>
                  <a:ext uri="{0D108BD9-81ED-4DB2-BD59-A6C34878D82A}">
                    <a16:rowId xmlns:a16="http://schemas.microsoft.com/office/drawing/2014/main" val="4114188902"/>
                  </a:ext>
                </a:extLst>
              </a:tr>
              <a:tr h="0">
                <a:tc>
                  <a:txBody>
                    <a:bodyPr/>
                    <a:lstStyle/>
                    <a:p>
                      <a:r>
                        <a:rPr lang="en-IN" dirty="0"/>
                        <a:t>Route use</a:t>
                      </a:r>
                    </a:p>
                  </a:txBody>
                  <a:tcPr anchor="ctr">
                    <a:lnL>
                      <a:noFill/>
                    </a:lnL>
                    <a:lnR>
                      <a:noFill/>
                    </a:lnR>
                    <a:lnT>
                      <a:noFill/>
                    </a:lnT>
                    <a:lnB>
                      <a:noFill/>
                    </a:lnB>
                    <a:noFill/>
                  </a:tcPr>
                </a:tc>
                <a:tc>
                  <a:txBody>
                    <a:bodyPr/>
                    <a:lstStyle/>
                    <a:p>
                      <a:r>
                        <a:rPr lang="en-US"/>
                        <a:t>Chooses best route by default</a:t>
                      </a:r>
                    </a:p>
                  </a:txBody>
                  <a:tcPr anchor="ctr">
                    <a:lnL>
                      <a:noFill/>
                    </a:lnL>
                    <a:lnR>
                      <a:noFill/>
                    </a:lnR>
                    <a:lnT>
                      <a:noFill/>
                    </a:lnT>
                    <a:lnB>
                      <a:noFill/>
                    </a:lnB>
                    <a:noFill/>
                  </a:tcPr>
                </a:tc>
                <a:tc>
                  <a:txBody>
                    <a:bodyPr/>
                    <a:lstStyle/>
                    <a:p>
                      <a:r>
                        <a:rPr lang="en-US"/>
                        <a:t>Can install/use </a:t>
                      </a:r>
                      <a:r>
                        <a:rPr lang="en-US" b="1"/>
                        <a:t>multiple equal-cost routes</a:t>
                      </a:r>
                      <a:endParaRPr lang="en-US"/>
                    </a:p>
                  </a:txBody>
                  <a:tcPr anchor="ctr">
                    <a:lnL>
                      <a:noFill/>
                    </a:lnL>
                    <a:lnR>
                      <a:noFill/>
                    </a:lnR>
                    <a:lnT>
                      <a:noFill/>
                    </a:lnT>
                    <a:lnB>
                      <a:noFill/>
                    </a:lnB>
                    <a:noFill/>
                  </a:tcPr>
                </a:tc>
                <a:extLst>
                  <a:ext uri="{0D108BD9-81ED-4DB2-BD59-A6C34878D82A}">
                    <a16:rowId xmlns:a16="http://schemas.microsoft.com/office/drawing/2014/main" val="832448722"/>
                  </a:ext>
                </a:extLst>
              </a:tr>
              <a:tr h="0">
                <a:tc>
                  <a:txBody>
                    <a:bodyPr/>
                    <a:lstStyle/>
                    <a:p>
                      <a:r>
                        <a:rPr lang="en-IN"/>
                        <a:t>Common Use</a:t>
                      </a:r>
                    </a:p>
                  </a:txBody>
                  <a:tcPr anchor="ctr">
                    <a:lnL>
                      <a:noFill/>
                    </a:lnL>
                    <a:lnR>
                      <a:noFill/>
                    </a:lnR>
                    <a:lnT>
                      <a:noFill/>
                    </a:lnT>
                    <a:lnB>
                      <a:noFill/>
                    </a:lnB>
                    <a:noFill/>
                  </a:tcPr>
                </a:tc>
                <a:tc>
                  <a:txBody>
                    <a:bodyPr/>
                    <a:lstStyle/>
                    <a:p>
                      <a:r>
                        <a:rPr lang="en-IN"/>
                        <a:t>Enterprise-ISP setups</a:t>
                      </a:r>
                    </a:p>
                  </a:txBody>
                  <a:tcPr anchor="ctr">
                    <a:lnL>
                      <a:noFill/>
                    </a:lnL>
                    <a:lnR>
                      <a:noFill/>
                    </a:lnR>
                    <a:lnT>
                      <a:noFill/>
                    </a:lnT>
                    <a:lnB>
                      <a:noFill/>
                    </a:lnB>
                    <a:noFill/>
                  </a:tcPr>
                </a:tc>
                <a:tc>
                  <a:txBody>
                    <a:bodyPr/>
                    <a:lstStyle/>
                    <a:p>
                      <a:r>
                        <a:rPr lang="en-US" dirty="0"/>
                        <a:t>Data centers / ISPs with redundant links</a:t>
                      </a:r>
                    </a:p>
                  </a:txBody>
                  <a:tcPr anchor="ctr">
                    <a:lnL>
                      <a:noFill/>
                    </a:lnL>
                    <a:lnR>
                      <a:noFill/>
                    </a:lnR>
                    <a:lnT>
                      <a:noFill/>
                    </a:lnT>
                    <a:lnB>
                      <a:noFill/>
                    </a:lnB>
                    <a:noFill/>
                  </a:tcPr>
                </a:tc>
                <a:extLst>
                  <a:ext uri="{0D108BD9-81ED-4DB2-BD59-A6C34878D82A}">
                    <a16:rowId xmlns:a16="http://schemas.microsoft.com/office/drawing/2014/main" val="703212512"/>
                  </a:ext>
                </a:extLst>
              </a:tr>
            </a:tbl>
          </a:graphicData>
        </a:graphic>
      </p:graphicFrame>
      <p:sp>
        <p:nvSpPr>
          <p:cNvPr id="5" name="TextBox 4">
            <a:extLst>
              <a:ext uri="{FF2B5EF4-FFF2-40B4-BE49-F238E27FC236}">
                <a16:creationId xmlns:a16="http://schemas.microsoft.com/office/drawing/2014/main" id="{D2658DF4-BC57-0DF4-D16F-B8FC0C63A51B}"/>
              </a:ext>
            </a:extLst>
          </p:cNvPr>
          <p:cNvSpPr txBox="1"/>
          <p:nvPr/>
        </p:nvSpPr>
        <p:spPr>
          <a:xfrm>
            <a:off x="806057" y="1209366"/>
            <a:ext cx="10173929" cy="1477328"/>
          </a:xfrm>
          <a:prstGeom prst="rect">
            <a:avLst/>
          </a:prstGeom>
          <a:noFill/>
        </p:spPr>
        <p:txBody>
          <a:bodyPr wrap="square" rtlCol="0">
            <a:spAutoFit/>
          </a:bodyPr>
          <a:lstStyle/>
          <a:p>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Multihoming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means connecting your network to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two or more ISPs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(or BGP peers) for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redundancy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or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load balancing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Multipathing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allows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installing and using multiple BGP routes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to the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same destination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even if one is not the “best” path.</a:t>
            </a:r>
          </a:p>
          <a:p>
            <a:endParaRPr lang="en-IN" dirty="0"/>
          </a:p>
        </p:txBody>
      </p:sp>
      <p:sp>
        <p:nvSpPr>
          <p:cNvPr id="6" name="Title 1">
            <a:extLst>
              <a:ext uri="{FF2B5EF4-FFF2-40B4-BE49-F238E27FC236}">
                <a16:creationId xmlns:a16="http://schemas.microsoft.com/office/drawing/2014/main" id="{D4020E58-766C-952B-CE3D-411F601F0785}"/>
              </a:ext>
            </a:extLst>
          </p:cNvPr>
          <p:cNvSpPr txBox="1">
            <a:spLocks/>
          </p:cNvSpPr>
          <p:nvPr/>
        </p:nvSpPr>
        <p:spPr>
          <a:xfrm>
            <a:off x="806057" y="299885"/>
            <a:ext cx="9665297" cy="73158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dirty="0">
                <a:solidFill>
                  <a:schemeClr val="accent1"/>
                </a:solidFill>
              </a:rPr>
              <a:t>MULTIHOMING AND MULTIPATHING</a:t>
            </a:r>
          </a:p>
        </p:txBody>
      </p:sp>
      <p:pic>
        <p:nvPicPr>
          <p:cNvPr id="8" name="Picture 7">
            <a:extLst>
              <a:ext uri="{FF2B5EF4-FFF2-40B4-BE49-F238E27FC236}">
                <a16:creationId xmlns:a16="http://schemas.microsoft.com/office/drawing/2014/main" id="{284F442E-2A99-CF93-6B4D-C740D8773F49}"/>
              </a:ext>
            </a:extLst>
          </p:cNvPr>
          <p:cNvPicPr>
            <a:picLocks noChangeAspect="1"/>
          </p:cNvPicPr>
          <p:nvPr/>
        </p:nvPicPr>
        <p:blipFill>
          <a:blip r:embed="rId2"/>
          <a:stretch>
            <a:fillRect/>
          </a:stretch>
        </p:blipFill>
        <p:spPr>
          <a:xfrm>
            <a:off x="346529" y="5404383"/>
            <a:ext cx="4766245" cy="659383"/>
          </a:xfrm>
          <a:prstGeom prst="rect">
            <a:avLst/>
          </a:prstGeom>
        </p:spPr>
      </p:pic>
      <p:pic>
        <p:nvPicPr>
          <p:cNvPr id="10" name="Picture 9">
            <a:extLst>
              <a:ext uri="{FF2B5EF4-FFF2-40B4-BE49-F238E27FC236}">
                <a16:creationId xmlns:a16="http://schemas.microsoft.com/office/drawing/2014/main" id="{C340F7E8-6F52-EBDA-2EE7-31C67C7B0BCD}"/>
              </a:ext>
            </a:extLst>
          </p:cNvPr>
          <p:cNvPicPr>
            <a:picLocks noChangeAspect="1"/>
          </p:cNvPicPr>
          <p:nvPr/>
        </p:nvPicPr>
        <p:blipFill>
          <a:blip r:embed="rId3"/>
          <a:stretch>
            <a:fillRect/>
          </a:stretch>
        </p:blipFill>
        <p:spPr>
          <a:xfrm>
            <a:off x="5638705" y="5354982"/>
            <a:ext cx="5233477" cy="758184"/>
          </a:xfrm>
          <a:prstGeom prst="rect">
            <a:avLst/>
          </a:prstGeom>
        </p:spPr>
      </p:pic>
      <p:pic>
        <p:nvPicPr>
          <p:cNvPr id="12" name="Picture 11">
            <a:extLst>
              <a:ext uri="{FF2B5EF4-FFF2-40B4-BE49-F238E27FC236}">
                <a16:creationId xmlns:a16="http://schemas.microsoft.com/office/drawing/2014/main" id="{A0D7B42A-F68F-B865-616F-3D847A3D78A3}"/>
              </a:ext>
            </a:extLst>
          </p:cNvPr>
          <p:cNvPicPr>
            <a:picLocks noChangeAspect="1"/>
          </p:cNvPicPr>
          <p:nvPr/>
        </p:nvPicPr>
        <p:blipFill>
          <a:blip r:embed="rId4"/>
          <a:stretch>
            <a:fillRect/>
          </a:stretch>
        </p:blipFill>
        <p:spPr>
          <a:xfrm>
            <a:off x="4051592" y="6278378"/>
            <a:ext cx="4777775" cy="559474"/>
          </a:xfrm>
          <a:prstGeom prst="rect">
            <a:avLst/>
          </a:prstGeom>
        </p:spPr>
      </p:pic>
    </p:spTree>
    <p:extLst>
      <p:ext uri="{BB962C8B-B14F-4D97-AF65-F5344CB8AC3E}">
        <p14:creationId xmlns:p14="http://schemas.microsoft.com/office/powerpoint/2010/main" val="101560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24BC2-0836-FEC3-D438-A9B4BD6E74A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9A7CB4-2FFA-85E7-B017-6CE24B56D317}"/>
              </a:ext>
            </a:extLst>
          </p:cNvPr>
          <p:cNvPicPr>
            <a:picLocks noChangeAspect="1"/>
          </p:cNvPicPr>
          <p:nvPr/>
        </p:nvPicPr>
        <p:blipFill>
          <a:blip r:embed="rId2"/>
          <a:stretch>
            <a:fillRect/>
          </a:stretch>
        </p:blipFill>
        <p:spPr>
          <a:xfrm>
            <a:off x="780829" y="288461"/>
            <a:ext cx="10767993" cy="2682472"/>
          </a:xfrm>
          <a:prstGeom prst="rect">
            <a:avLst/>
          </a:prstGeom>
        </p:spPr>
      </p:pic>
      <p:pic>
        <p:nvPicPr>
          <p:cNvPr id="9" name="Picture 8">
            <a:extLst>
              <a:ext uri="{FF2B5EF4-FFF2-40B4-BE49-F238E27FC236}">
                <a16:creationId xmlns:a16="http://schemas.microsoft.com/office/drawing/2014/main" id="{45C9873D-2899-1898-0E5F-A12BFA2C0244}"/>
              </a:ext>
            </a:extLst>
          </p:cNvPr>
          <p:cNvPicPr>
            <a:picLocks noChangeAspect="1"/>
          </p:cNvPicPr>
          <p:nvPr/>
        </p:nvPicPr>
        <p:blipFill>
          <a:blip r:embed="rId3"/>
          <a:stretch>
            <a:fillRect/>
          </a:stretch>
        </p:blipFill>
        <p:spPr>
          <a:xfrm>
            <a:off x="3335283" y="2715671"/>
            <a:ext cx="5798886" cy="3767753"/>
          </a:xfrm>
          <a:prstGeom prst="rect">
            <a:avLst/>
          </a:prstGeom>
        </p:spPr>
      </p:pic>
    </p:spTree>
    <p:extLst>
      <p:ext uri="{BB962C8B-B14F-4D97-AF65-F5344CB8AC3E}">
        <p14:creationId xmlns:p14="http://schemas.microsoft.com/office/powerpoint/2010/main" val="2310128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9059B-D8EB-7653-3B3A-16B58760A622}"/>
              </a:ext>
            </a:extLst>
          </p:cNvPr>
          <p:cNvSpPr>
            <a:spLocks noGrp="1"/>
          </p:cNvSpPr>
          <p:nvPr>
            <p:ph type="title"/>
          </p:nvPr>
        </p:nvSpPr>
        <p:spPr>
          <a:xfrm>
            <a:off x="523568" y="471949"/>
            <a:ext cx="10515600" cy="1179871"/>
          </a:xfrm>
        </p:spPr>
        <p:txBody>
          <a:bodyPr>
            <a:noAutofit/>
          </a:bodyPr>
          <a:lstStyle/>
          <a:p>
            <a:br>
              <a:rPr lang="en-US" sz="3600" b="1" dirty="0">
                <a:solidFill>
                  <a:schemeClr val="accent1"/>
                </a:solidFill>
              </a:rPr>
            </a:br>
            <a:r>
              <a:rPr lang="en-US" sz="3600" b="1" dirty="0">
                <a:solidFill>
                  <a:schemeClr val="accent1"/>
                </a:solidFill>
              </a:rPr>
              <a:t>🧠 Why All BGP Routers Within a Single AS Must Be Fully Meshed (in iBGP):</a:t>
            </a:r>
            <a:br>
              <a:rPr lang="en-US" sz="3600" b="1" dirty="0">
                <a:solidFill>
                  <a:schemeClr val="accent1"/>
                </a:solidFill>
              </a:rPr>
            </a:br>
            <a:endParaRPr lang="en-IN" sz="3600" b="1" dirty="0">
              <a:solidFill>
                <a:schemeClr val="accent1"/>
              </a:solidFill>
            </a:endParaRPr>
          </a:p>
        </p:txBody>
      </p:sp>
      <p:sp>
        <p:nvSpPr>
          <p:cNvPr id="3" name="Content Placeholder 2">
            <a:extLst>
              <a:ext uri="{FF2B5EF4-FFF2-40B4-BE49-F238E27FC236}">
                <a16:creationId xmlns:a16="http://schemas.microsoft.com/office/drawing/2014/main" id="{4A9215E8-AC5E-2590-E440-1C50B87E7865}"/>
              </a:ext>
            </a:extLst>
          </p:cNvPr>
          <p:cNvSpPr>
            <a:spLocks noGrp="1"/>
          </p:cNvSpPr>
          <p:nvPr>
            <p:ph idx="1"/>
          </p:nvPr>
        </p:nvSpPr>
        <p:spPr/>
        <p:txBody>
          <a:bodyPr>
            <a:normAutofit/>
          </a:bodyPr>
          <a:lstStyle/>
          <a:p>
            <a:pPr marL="0" indent="0">
              <a:buNone/>
            </a:pPr>
            <a:r>
              <a:rPr lang="en-US" sz="2000" dirty="0"/>
              <a:t>📌 Because of the iBGP Split-Horizon Rule:</a:t>
            </a:r>
          </a:p>
          <a:p>
            <a:pPr marL="0" indent="0">
              <a:buNone/>
            </a:pPr>
            <a:r>
              <a:rPr lang="en-US" sz="2000" dirty="0"/>
              <a:t>An iBGP router will never advertise routes learned from one iBGP peer to another iBGP peer.</a:t>
            </a:r>
            <a:br>
              <a:rPr lang="en-US" sz="2000" dirty="0"/>
            </a:br>
            <a:br>
              <a:rPr lang="en-US" sz="2000" dirty="0"/>
            </a:br>
            <a:r>
              <a:rPr lang="en-US" sz="2000" dirty="0"/>
              <a:t>✅ Solution Options:</a:t>
            </a:r>
          </a:p>
          <a:p>
            <a:pPr marL="0" indent="0">
              <a:buNone/>
            </a:pPr>
            <a:r>
              <a:rPr lang="en-US" sz="2000" dirty="0"/>
              <a:t>Option	Description</a:t>
            </a:r>
          </a:p>
          <a:p>
            <a:pPr marL="0" indent="0">
              <a:buNone/>
            </a:pPr>
            <a:r>
              <a:rPr lang="en-US" sz="2000" dirty="0"/>
              <a:t>🔁 </a:t>
            </a:r>
            <a:r>
              <a:rPr lang="en-US" sz="2000" dirty="0">
                <a:highlight>
                  <a:srgbClr val="FFFF00"/>
                </a:highlight>
              </a:rPr>
              <a:t>Full Mesh</a:t>
            </a:r>
            <a:r>
              <a:rPr lang="en-US" sz="2000" dirty="0"/>
              <a:t>: Every iBGP router forms a session with every other iBGP router.</a:t>
            </a:r>
          </a:p>
          <a:p>
            <a:pPr marL="0" indent="0">
              <a:buNone/>
            </a:pPr>
            <a:r>
              <a:rPr lang="en-US" sz="2000" dirty="0"/>
              <a:t>🌐 </a:t>
            </a:r>
            <a:r>
              <a:rPr lang="en-US" sz="2000" dirty="0">
                <a:highlight>
                  <a:srgbClr val="FFFF00"/>
                </a:highlight>
              </a:rPr>
              <a:t>Route Reflector </a:t>
            </a:r>
            <a:r>
              <a:rPr lang="en-US" sz="2000" dirty="0"/>
              <a:t>(RR): A central router reflects iBGP routes to clients.</a:t>
            </a:r>
          </a:p>
          <a:p>
            <a:pPr marL="0" indent="0">
              <a:buNone/>
            </a:pPr>
            <a:r>
              <a:rPr lang="en-US" sz="2000" dirty="0"/>
              <a:t>🧱 </a:t>
            </a:r>
            <a:r>
              <a:rPr lang="en-US" sz="2000" dirty="0">
                <a:highlight>
                  <a:srgbClr val="FFFF00"/>
                </a:highlight>
              </a:rPr>
              <a:t>Confederation</a:t>
            </a:r>
            <a:r>
              <a:rPr lang="en-US" sz="2000" dirty="0"/>
              <a:t>:	Split AS into sub-</a:t>
            </a:r>
            <a:r>
              <a:rPr lang="en-US" sz="2000" dirty="0" err="1"/>
              <a:t>ASes</a:t>
            </a:r>
            <a:r>
              <a:rPr lang="en-US" sz="2000" dirty="0"/>
              <a:t> to reduce session count.</a:t>
            </a:r>
            <a:endParaRPr lang="en-IN" sz="2000" dirty="0"/>
          </a:p>
        </p:txBody>
      </p:sp>
    </p:spTree>
    <p:extLst>
      <p:ext uri="{BB962C8B-B14F-4D97-AF65-F5344CB8AC3E}">
        <p14:creationId xmlns:p14="http://schemas.microsoft.com/office/powerpoint/2010/main" val="473770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6507C-C188-799C-9504-52C52E9095EF}"/>
              </a:ext>
            </a:extLst>
          </p:cNvPr>
          <p:cNvSpPr>
            <a:spLocks noGrp="1"/>
          </p:cNvSpPr>
          <p:nvPr>
            <p:ph type="title"/>
          </p:nvPr>
        </p:nvSpPr>
        <p:spPr>
          <a:xfrm>
            <a:off x="651387" y="248878"/>
            <a:ext cx="10515600" cy="815617"/>
          </a:xfrm>
        </p:spPr>
        <p:txBody>
          <a:bodyPr/>
          <a:lstStyle/>
          <a:p>
            <a:r>
              <a:rPr lang="en-IN" b="1" dirty="0">
                <a:solidFill>
                  <a:schemeClr val="accent1"/>
                </a:solidFill>
              </a:rPr>
              <a:t>BGP Route Reflector</a:t>
            </a:r>
          </a:p>
        </p:txBody>
      </p:sp>
      <p:sp>
        <p:nvSpPr>
          <p:cNvPr id="3" name="Content Placeholder 2">
            <a:extLst>
              <a:ext uri="{FF2B5EF4-FFF2-40B4-BE49-F238E27FC236}">
                <a16:creationId xmlns:a16="http://schemas.microsoft.com/office/drawing/2014/main" id="{324CBB6B-E10C-5D64-CF62-2F2738DB671C}"/>
              </a:ext>
            </a:extLst>
          </p:cNvPr>
          <p:cNvSpPr>
            <a:spLocks noGrp="1"/>
          </p:cNvSpPr>
          <p:nvPr>
            <p:ph idx="1"/>
          </p:nvPr>
        </p:nvSpPr>
        <p:spPr>
          <a:xfrm>
            <a:off x="838200" y="1064495"/>
            <a:ext cx="10515600" cy="5011840"/>
          </a:xfrm>
        </p:spPr>
        <p:txBody>
          <a:bodyPr>
            <a:noAutofit/>
          </a:bodyPr>
          <a:lstStyle/>
          <a:p>
            <a:pPr marL="0" indent="0">
              <a:buNone/>
            </a:pPr>
            <a:r>
              <a:rPr lang="en-US" sz="2000" dirty="0"/>
              <a:t>✅ A </a:t>
            </a:r>
            <a:r>
              <a:rPr lang="en-US" sz="2000" b="1" dirty="0"/>
              <a:t>Route Reflector (RR)</a:t>
            </a:r>
            <a:r>
              <a:rPr lang="en-US" sz="2000" dirty="0"/>
              <a:t> allows an iBGP router to </a:t>
            </a:r>
            <a:r>
              <a:rPr lang="en-US" sz="2000" b="1" dirty="0"/>
              <a:t>reflect BGP routes</a:t>
            </a:r>
            <a:r>
              <a:rPr lang="en-US" sz="2000" dirty="0"/>
              <a:t> to other iBGP peers, removing the full mesh requirement. (Full Mesh means </a:t>
            </a:r>
            <a:r>
              <a:rPr lang="en-US" sz="2000" dirty="0" err="1"/>
              <a:t>tcp</a:t>
            </a:r>
            <a:r>
              <a:rPr lang="en-US" sz="2000" dirty="0"/>
              <a:t> connection between two routers)</a:t>
            </a:r>
            <a:endParaRPr lang="en-US" sz="3200" dirty="0"/>
          </a:p>
          <a:p>
            <a:pPr marL="0" indent="0">
              <a:buNone/>
            </a:pPr>
            <a:r>
              <a:rPr lang="en-US" sz="2000" dirty="0"/>
              <a:t>📤 Route Reflector Behavior</a:t>
            </a:r>
          </a:p>
          <a:p>
            <a:pPr marL="0" indent="0">
              <a:buNone/>
            </a:pPr>
            <a:r>
              <a:rPr lang="en-US" sz="2000" dirty="0"/>
              <a:t>Routes learned from	Sent to</a:t>
            </a:r>
          </a:p>
          <a:p>
            <a:pPr marL="0" indent="0">
              <a:buNone/>
            </a:pPr>
            <a:r>
              <a:rPr lang="en-US" sz="2000" dirty="0"/>
              <a:t>Client	 		Other clients + non-clients</a:t>
            </a:r>
          </a:p>
          <a:p>
            <a:pPr marL="0" indent="0">
              <a:buNone/>
            </a:pPr>
            <a:r>
              <a:rPr lang="en-US" sz="2000" dirty="0"/>
              <a:t>Non-client		Only to clients</a:t>
            </a:r>
          </a:p>
          <a:p>
            <a:pPr marL="0" indent="0">
              <a:buNone/>
            </a:pPr>
            <a:r>
              <a:rPr lang="en-US" sz="2000" dirty="0"/>
              <a:t>eBGP peer		To everyone (clients + non-clients)</a:t>
            </a:r>
            <a:br>
              <a:rPr lang="en-US" sz="2000" dirty="0"/>
            </a:br>
            <a:endParaRPr lang="en-US" sz="2000" dirty="0"/>
          </a:p>
          <a:p>
            <a:pPr marL="0" indent="0">
              <a:buNone/>
            </a:pPr>
            <a:r>
              <a:rPr lang="en-US" sz="2000" dirty="0"/>
              <a:t>📘 Key Roles</a:t>
            </a:r>
          </a:p>
          <a:p>
            <a:pPr marL="0" indent="0">
              <a:buNone/>
            </a:pPr>
            <a:r>
              <a:rPr lang="en-US" sz="2000" dirty="0"/>
              <a:t>Term			Role</a:t>
            </a:r>
          </a:p>
          <a:p>
            <a:pPr marL="0" indent="0">
              <a:buNone/>
            </a:pPr>
            <a:r>
              <a:rPr lang="en-US" sz="2000" dirty="0"/>
              <a:t>Route Reflector (RR)	Central router that reflects routes.</a:t>
            </a:r>
          </a:p>
          <a:p>
            <a:pPr marL="0" indent="0">
              <a:buNone/>
            </a:pPr>
            <a:r>
              <a:rPr lang="en-US" sz="2000" dirty="0"/>
              <a:t>Client			Router that peers with the RR.</a:t>
            </a:r>
          </a:p>
          <a:p>
            <a:pPr marL="0" indent="0">
              <a:buNone/>
            </a:pPr>
            <a:r>
              <a:rPr lang="en-US" sz="2000" dirty="0"/>
              <a:t>Non-Client		Other routers that peer with RR but are not clients.</a:t>
            </a:r>
            <a:endParaRPr lang="en-IN" sz="2000" dirty="0"/>
          </a:p>
        </p:txBody>
      </p:sp>
      <p:pic>
        <p:nvPicPr>
          <p:cNvPr id="5" name="Picture 4">
            <a:extLst>
              <a:ext uri="{FF2B5EF4-FFF2-40B4-BE49-F238E27FC236}">
                <a16:creationId xmlns:a16="http://schemas.microsoft.com/office/drawing/2014/main" id="{86A1EB5E-5685-0590-A9A9-7B7374F58E2C}"/>
              </a:ext>
            </a:extLst>
          </p:cNvPr>
          <p:cNvPicPr>
            <a:picLocks noChangeAspect="1"/>
          </p:cNvPicPr>
          <p:nvPr/>
        </p:nvPicPr>
        <p:blipFill>
          <a:blip r:embed="rId2"/>
          <a:stretch>
            <a:fillRect/>
          </a:stretch>
        </p:blipFill>
        <p:spPr>
          <a:xfrm>
            <a:off x="1046646" y="6076335"/>
            <a:ext cx="8894308" cy="683256"/>
          </a:xfrm>
          <a:prstGeom prst="rect">
            <a:avLst/>
          </a:prstGeom>
        </p:spPr>
      </p:pic>
    </p:spTree>
    <p:extLst>
      <p:ext uri="{BB962C8B-B14F-4D97-AF65-F5344CB8AC3E}">
        <p14:creationId xmlns:p14="http://schemas.microsoft.com/office/powerpoint/2010/main" val="9263770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CE104-E342-BBE4-19D9-681B4859E227}"/>
              </a:ext>
            </a:extLst>
          </p:cNvPr>
          <p:cNvSpPr>
            <a:spLocks noGrp="1"/>
          </p:cNvSpPr>
          <p:nvPr>
            <p:ph type="title"/>
          </p:nvPr>
        </p:nvSpPr>
        <p:spPr>
          <a:xfrm>
            <a:off x="128067" y="32664"/>
            <a:ext cx="10515600" cy="756624"/>
          </a:xfrm>
        </p:spPr>
        <p:txBody>
          <a:bodyPr/>
          <a:lstStyle/>
          <a:p>
            <a:r>
              <a:rPr lang="en-IN" b="1" dirty="0">
                <a:solidFill>
                  <a:schemeClr val="accent1"/>
                </a:solidFill>
              </a:rPr>
              <a:t>Why route reflector</a:t>
            </a:r>
          </a:p>
        </p:txBody>
      </p:sp>
      <p:sp>
        <p:nvSpPr>
          <p:cNvPr id="3" name="Content Placeholder 2">
            <a:extLst>
              <a:ext uri="{FF2B5EF4-FFF2-40B4-BE49-F238E27FC236}">
                <a16:creationId xmlns:a16="http://schemas.microsoft.com/office/drawing/2014/main" id="{A7ADD03B-0367-7B71-BBAD-2B10B176B0E6}"/>
              </a:ext>
            </a:extLst>
          </p:cNvPr>
          <p:cNvSpPr>
            <a:spLocks noGrp="1"/>
          </p:cNvSpPr>
          <p:nvPr>
            <p:ph idx="1"/>
          </p:nvPr>
        </p:nvSpPr>
        <p:spPr>
          <a:xfrm>
            <a:off x="128067" y="754776"/>
            <a:ext cx="10515600" cy="2382581"/>
          </a:xfrm>
        </p:spPr>
        <p:txBody>
          <a:bodyPr/>
          <a:lstStyle/>
          <a:p>
            <a:pPr marL="0" indent="0">
              <a:buNone/>
            </a:pPr>
            <a:r>
              <a:rPr lang="en-IN" dirty="0"/>
              <a:t>When we use full mesh between IBGP peers, then the total TCP session will be n*(n-1)/2</a:t>
            </a:r>
            <a:br>
              <a:rPr lang="en-IN" dirty="0"/>
            </a:br>
            <a:r>
              <a:rPr lang="en-IN" dirty="0"/>
              <a:t>to solve this; router reflector is used.</a:t>
            </a:r>
          </a:p>
        </p:txBody>
      </p:sp>
      <p:pic>
        <p:nvPicPr>
          <p:cNvPr id="5" name="Picture 4">
            <a:extLst>
              <a:ext uri="{FF2B5EF4-FFF2-40B4-BE49-F238E27FC236}">
                <a16:creationId xmlns:a16="http://schemas.microsoft.com/office/drawing/2014/main" id="{2FBD5F3E-047C-4D00-C0F1-CEE7A6C9D8CE}"/>
              </a:ext>
            </a:extLst>
          </p:cNvPr>
          <p:cNvPicPr>
            <a:picLocks noChangeAspect="1"/>
          </p:cNvPicPr>
          <p:nvPr/>
        </p:nvPicPr>
        <p:blipFill>
          <a:blip r:embed="rId2"/>
          <a:stretch>
            <a:fillRect/>
          </a:stretch>
        </p:blipFill>
        <p:spPr>
          <a:xfrm>
            <a:off x="464524" y="2634393"/>
            <a:ext cx="5875529" cy="502964"/>
          </a:xfrm>
          <a:prstGeom prst="rect">
            <a:avLst/>
          </a:prstGeom>
        </p:spPr>
      </p:pic>
      <p:pic>
        <p:nvPicPr>
          <p:cNvPr id="7" name="Picture 6">
            <a:extLst>
              <a:ext uri="{FF2B5EF4-FFF2-40B4-BE49-F238E27FC236}">
                <a16:creationId xmlns:a16="http://schemas.microsoft.com/office/drawing/2014/main" id="{B5D301E9-3F49-5E09-B91C-B0A7EBCEE807}"/>
              </a:ext>
            </a:extLst>
          </p:cNvPr>
          <p:cNvPicPr>
            <a:picLocks noChangeAspect="1"/>
          </p:cNvPicPr>
          <p:nvPr/>
        </p:nvPicPr>
        <p:blipFill>
          <a:blip r:embed="rId3"/>
          <a:stretch>
            <a:fillRect/>
          </a:stretch>
        </p:blipFill>
        <p:spPr>
          <a:xfrm>
            <a:off x="6676510" y="1183852"/>
            <a:ext cx="4487929" cy="2901082"/>
          </a:xfrm>
          <a:prstGeom prst="rect">
            <a:avLst/>
          </a:prstGeom>
        </p:spPr>
      </p:pic>
      <p:sp>
        <p:nvSpPr>
          <p:cNvPr id="9" name="TextBox 8">
            <a:extLst>
              <a:ext uri="{FF2B5EF4-FFF2-40B4-BE49-F238E27FC236}">
                <a16:creationId xmlns:a16="http://schemas.microsoft.com/office/drawing/2014/main" id="{2C4B666A-4585-08B1-98EC-77CB0B1C605C}"/>
              </a:ext>
            </a:extLst>
          </p:cNvPr>
          <p:cNvSpPr txBox="1"/>
          <p:nvPr/>
        </p:nvSpPr>
        <p:spPr>
          <a:xfrm>
            <a:off x="384137" y="4982462"/>
            <a:ext cx="10427889"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Normally, </a:t>
            </a:r>
            <a:r>
              <a:rPr kumimoji="0" lang="en-US" altLang="en-US" sz="1800" b="1" i="0" u="none" strike="noStrike" cap="none" normalizeH="0" baseline="0" dirty="0">
                <a:ln>
                  <a:noFill/>
                </a:ln>
                <a:solidFill>
                  <a:schemeClr val="tx1"/>
                </a:solidFill>
                <a:effectLst/>
                <a:latin typeface="Arial" panose="020B0604020202020204" pitchFamily="34" charset="0"/>
              </a:rPr>
              <a:t>iBGP peers</a:t>
            </a:r>
            <a:r>
              <a:rPr kumimoji="0" lang="en-US" altLang="en-US" sz="1800" b="0" i="0" u="none" strike="noStrike" cap="none" normalizeH="0" baseline="0" dirty="0">
                <a:ln>
                  <a:noFill/>
                </a:ln>
                <a:solidFill>
                  <a:schemeClr val="tx1"/>
                </a:solidFill>
                <a:effectLst/>
                <a:latin typeface="Arial" panose="020B0604020202020204" pitchFamily="34" charset="0"/>
              </a:rPr>
              <a:t> don't advertise routes to other iBGP peers (split-horizon rule).</a:t>
            </a:r>
          </a:p>
        </p:txBody>
      </p:sp>
    </p:spTree>
    <p:extLst>
      <p:ext uri="{BB962C8B-B14F-4D97-AF65-F5344CB8AC3E}">
        <p14:creationId xmlns:p14="http://schemas.microsoft.com/office/powerpoint/2010/main" val="3208905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112368-E136-0D63-2405-ED77267748B6}"/>
              </a:ext>
            </a:extLst>
          </p:cNvPr>
          <p:cNvPicPr>
            <a:picLocks noChangeAspect="1"/>
          </p:cNvPicPr>
          <p:nvPr/>
        </p:nvPicPr>
        <p:blipFill>
          <a:blip r:embed="rId2"/>
          <a:stretch>
            <a:fillRect/>
          </a:stretch>
        </p:blipFill>
        <p:spPr>
          <a:xfrm>
            <a:off x="2160525" y="3496209"/>
            <a:ext cx="7870950" cy="2782530"/>
          </a:xfrm>
          <a:prstGeom prst="rect">
            <a:avLst/>
          </a:prstGeom>
        </p:spPr>
      </p:pic>
      <p:pic>
        <p:nvPicPr>
          <p:cNvPr id="7" name="Picture 6">
            <a:extLst>
              <a:ext uri="{FF2B5EF4-FFF2-40B4-BE49-F238E27FC236}">
                <a16:creationId xmlns:a16="http://schemas.microsoft.com/office/drawing/2014/main" id="{2E78B4A2-4D28-2F13-E619-854DCF4B0D70}"/>
              </a:ext>
            </a:extLst>
          </p:cNvPr>
          <p:cNvPicPr>
            <a:picLocks noChangeAspect="1"/>
          </p:cNvPicPr>
          <p:nvPr/>
        </p:nvPicPr>
        <p:blipFill>
          <a:blip r:embed="rId3"/>
          <a:srcRect b="19433"/>
          <a:stretch/>
        </p:blipFill>
        <p:spPr>
          <a:xfrm>
            <a:off x="2612783" y="387534"/>
            <a:ext cx="7116646" cy="2571976"/>
          </a:xfrm>
          <a:prstGeom prst="rect">
            <a:avLst/>
          </a:prstGeom>
        </p:spPr>
      </p:pic>
    </p:spTree>
    <p:extLst>
      <p:ext uri="{BB962C8B-B14F-4D97-AF65-F5344CB8AC3E}">
        <p14:creationId xmlns:p14="http://schemas.microsoft.com/office/powerpoint/2010/main" val="2380672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DBE91-83F0-D34B-4AAD-CA0D04A99E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6B5F7-D280-20C2-FC94-ED19E2E3F8C2}"/>
              </a:ext>
            </a:extLst>
          </p:cNvPr>
          <p:cNvSpPr>
            <a:spLocks noGrp="1"/>
          </p:cNvSpPr>
          <p:nvPr>
            <p:ph type="title"/>
          </p:nvPr>
        </p:nvSpPr>
        <p:spPr>
          <a:xfrm>
            <a:off x="651387" y="248878"/>
            <a:ext cx="10515600" cy="815617"/>
          </a:xfrm>
        </p:spPr>
        <p:txBody>
          <a:bodyPr/>
          <a:lstStyle/>
          <a:p>
            <a:r>
              <a:rPr lang="en-IN" b="1" dirty="0">
                <a:solidFill>
                  <a:schemeClr val="accent1"/>
                </a:solidFill>
              </a:rPr>
              <a:t>BGP Confederation</a:t>
            </a:r>
          </a:p>
        </p:txBody>
      </p:sp>
      <p:sp>
        <p:nvSpPr>
          <p:cNvPr id="3" name="Content Placeholder 2">
            <a:extLst>
              <a:ext uri="{FF2B5EF4-FFF2-40B4-BE49-F238E27FC236}">
                <a16:creationId xmlns:a16="http://schemas.microsoft.com/office/drawing/2014/main" id="{7A8B6707-6B87-C70A-5DB0-3FD5326D2190}"/>
              </a:ext>
            </a:extLst>
          </p:cNvPr>
          <p:cNvSpPr>
            <a:spLocks noGrp="1"/>
          </p:cNvSpPr>
          <p:nvPr>
            <p:ph idx="1"/>
          </p:nvPr>
        </p:nvSpPr>
        <p:spPr>
          <a:xfrm>
            <a:off x="838200" y="1064495"/>
            <a:ext cx="10515600" cy="5415834"/>
          </a:xfrm>
        </p:spPr>
        <p:txBody>
          <a:bodyPr>
            <a:noAutofit/>
          </a:bodyPr>
          <a:lstStyle/>
          <a:p>
            <a:pPr marL="0" indent="0">
              <a:buNone/>
            </a:pPr>
            <a:r>
              <a:rPr lang="en-US" sz="2000" dirty="0"/>
              <a:t>✅ BGP Confederation Explained (Simplified)</a:t>
            </a:r>
          </a:p>
          <a:p>
            <a:pPr marL="0" indent="0">
              <a:buNone/>
            </a:pPr>
            <a:r>
              <a:rPr lang="en-US" sz="2000" dirty="0"/>
              <a:t>A BGP confederation is a method used in large networks to scale iBGP by dividing a single AS (Autonomous System) into multiple sub-</a:t>
            </a:r>
            <a:r>
              <a:rPr lang="en-US" sz="2000" dirty="0" err="1"/>
              <a:t>ASes</a:t>
            </a:r>
            <a:r>
              <a:rPr lang="en-US" sz="2000" dirty="0"/>
              <a:t>, while still presenting itself as one AS to the outside world.</a:t>
            </a:r>
          </a:p>
          <a:p>
            <a:pPr marL="0" indent="0">
              <a:buNone/>
            </a:pPr>
            <a:r>
              <a:rPr lang="en-US" sz="2000" dirty="0"/>
              <a:t>Or </a:t>
            </a:r>
          </a:p>
          <a:p>
            <a:pPr marL="0" indent="0">
              <a:buNone/>
            </a:pPr>
            <a:r>
              <a:rPr lang="en-US" sz="2000" dirty="0"/>
              <a:t>Confederation is consists of member autonomous that then combine into a large autonomous system. The member As will use AS numbers from the private ASN range.</a:t>
            </a:r>
          </a:p>
          <a:p>
            <a:pPr marL="0" indent="0">
              <a:buNone/>
            </a:pPr>
            <a:br>
              <a:rPr lang="en-US" sz="2000" dirty="0"/>
            </a:br>
            <a:r>
              <a:rPr lang="en-US" sz="2000" dirty="0"/>
              <a:t>📌 Why Use BGP Confederation?</a:t>
            </a:r>
          </a:p>
          <a:p>
            <a:pPr marL="0" indent="0">
              <a:lnSpc>
                <a:spcPct val="100000"/>
              </a:lnSpc>
              <a:buNone/>
            </a:pPr>
            <a:r>
              <a:rPr lang="en-US" sz="2000" dirty="0"/>
              <a:t>Avoid full mesh iBGP requirement.</a:t>
            </a:r>
          </a:p>
          <a:p>
            <a:pPr marL="0" indent="0">
              <a:lnSpc>
                <a:spcPct val="100000"/>
              </a:lnSpc>
              <a:buNone/>
            </a:pPr>
            <a:r>
              <a:rPr lang="en-US" sz="2000" dirty="0"/>
              <a:t>Easier route reflectors or hierarchical BGP design.</a:t>
            </a:r>
          </a:p>
          <a:p>
            <a:pPr marL="0" indent="0">
              <a:lnSpc>
                <a:spcPct val="100000"/>
              </a:lnSpc>
              <a:buNone/>
            </a:pPr>
            <a:r>
              <a:rPr lang="en-US" sz="2000" dirty="0"/>
              <a:t>Better administrative control within large </a:t>
            </a:r>
            <a:r>
              <a:rPr lang="en-US" sz="2000" dirty="0" err="1"/>
              <a:t>ASes</a:t>
            </a:r>
            <a:r>
              <a:rPr lang="en-US" sz="2000" dirty="0"/>
              <a:t>.</a:t>
            </a:r>
          </a:p>
          <a:p>
            <a:pPr marL="0" indent="0">
              <a:lnSpc>
                <a:spcPct val="100000"/>
              </a:lnSpc>
              <a:buNone/>
            </a:pPr>
            <a:r>
              <a:rPr lang="en-US" sz="2000" dirty="0"/>
              <a:t>Keeps internal complexity hidden from external </a:t>
            </a:r>
            <a:r>
              <a:rPr lang="en-US" sz="2000" dirty="0" err="1"/>
              <a:t>ASes</a:t>
            </a:r>
            <a:r>
              <a:rPr lang="en-US" sz="2000" dirty="0"/>
              <a:t>.</a:t>
            </a:r>
          </a:p>
          <a:p>
            <a:pPr marL="0" indent="0">
              <a:buNone/>
            </a:pPr>
            <a:endParaRPr lang="en-US" sz="2000" dirty="0"/>
          </a:p>
          <a:p>
            <a:pPr marL="0" indent="0">
              <a:buNone/>
            </a:pPr>
            <a:endParaRPr lang="en-IN" sz="2000" dirty="0"/>
          </a:p>
        </p:txBody>
      </p:sp>
    </p:spTree>
    <p:extLst>
      <p:ext uri="{BB962C8B-B14F-4D97-AF65-F5344CB8AC3E}">
        <p14:creationId xmlns:p14="http://schemas.microsoft.com/office/powerpoint/2010/main" val="18258218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270F84-6D70-2641-FB34-ADBA68FF3E50}"/>
              </a:ext>
            </a:extLst>
          </p:cNvPr>
          <p:cNvPicPr>
            <a:picLocks noChangeAspect="1"/>
          </p:cNvPicPr>
          <p:nvPr/>
        </p:nvPicPr>
        <p:blipFill>
          <a:blip r:embed="rId2"/>
          <a:stretch>
            <a:fillRect/>
          </a:stretch>
        </p:blipFill>
        <p:spPr>
          <a:xfrm>
            <a:off x="89278" y="501445"/>
            <a:ext cx="11695868" cy="3883743"/>
          </a:xfrm>
          <a:prstGeom prst="rect">
            <a:avLst/>
          </a:prstGeom>
        </p:spPr>
      </p:pic>
      <p:sp>
        <p:nvSpPr>
          <p:cNvPr id="4" name="TextBox 3">
            <a:extLst>
              <a:ext uri="{FF2B5EF4-FFF2-40B4-BE49-F238E27FC236}">
                <a16:creationId xmlns:a16="http://schemas.microsoft.com/office/drawing/2014/main" id="{2C99B5D6-05F1-666A-CAEF-C85CED8AC85F}"/>
              </a:ext>
            </a:extLst>
          </p:cNvPr>
          <p:cNvSpPr txBox="1"/>
          <p:nvPr/>
        </p:nvSpPr>
        <p:spPr>
          <a:xfrm>
            <a:off x="855406" y="4778477"/>
            <a:ext cx="10481187" cy="1200329"/>
          </a:xfrm>
          <a:prstGeom prst="rect">
            <a:avLst/>
          </a:prstGeom>
          <a:noFill/>
        </p:spPr>
        <p:txBody>
          <a:bodyPr wrap="square" rtlCol="0">
            <a:spAutoFit/>
          </a:bodyPr>
          <a:lstStyle/>
          <a:p>
            <a:r>
              <a:rPr lang="en-US" dirty="0"/>
              <a:t>R2:</a:t>
            </a:r>
          </a:p>
          <a:p>
            <a:r>
              <a:rPr lang="en-US" dirty="0"/>
              <a:t>router </a:t>
            </a:r>
            <a:r>
              <a:rPr lang="en-US" dirty="0" err="1"/>
              <a:t>bgp</a:t>
            </a:r>
            <a:r>
              <a:rPr lang="en-US" dirty="0"/>
              <a:t> 65234</a:t>
            </a:r>
          </a:p>
          <a:p>
            <a:r>
              <a:rPr lang="en-US" dirty="0" err="1"/>
              <a:t>bgp</a:t>
            </a:r>
            <a:r>
              <a:rPr lang="en-US" dirty="0"/>
              <a:t> confederation identifier 23457                     (  router </a:t>
            </a:r>
            <a:r>
              <a:rPr lang="en-US" dirty="0" err="1"/>
              <a:t>bgp</a:t>
            </a:r>
            <a:r>
              <a:rPr lang="en-US" dirty="0"/>
              <a:t> confederation       &lt;outer-autonomous-system&gt;   )</a:t>
            </a:r>
            <a:br>
              <a:rPr lang="en-US" dirty="0"/>
            </a:br>
            <a:r>
              <a:rPr lang="en-US" dirty="0" err="1"/>
              <a:t>bgp</a:t>
            </a:r>
            <a:r>
              <a:rPr lang="en-US" dirty="0"/>
              <a:t> confederation peers 65067</a:t>
            </a:r>
            <a:endParaRPr lang="en-IN" dirty="0"/>
          </a:p>
        </p:txBody>
      </p:sp>
    </p:spTree>
    <p:extLst>
      <p:ext uri="{BB962C8B-B14F-4D97-AF65-F5344CB8AC3E}">
        <p14:creationId xmlns:p14="http://schemas.microsoft.com/office/powerpoint/2010/main" val="3048960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2205-3A32-AA50-2E77-C3EF73DA5549}"/>
              </a:ext>
            </a:extLst>
          </p:cNvPr>
          <p:cNvSpPr>
            <a:spLocks noGrp="1"/>
          </p:cNvSpPr>
          <p:nvPr>
            <p:ph type="title"/>
          </p:nvPr>
        </p:nvSpPr>
        <p:spPr>
          <a:xfrm>
            <a:off x="277761" y="158649"/>
            <a:ext cx="10515600" cy="814746"/>
          </a:xfrm>
        </p:spPr>
        <p:txBody>
          <a:bodyPr/>
          <a:lstStyle/>
          <a:p>
            <a:r>
              <a:rPr lang="en-US" b="1" dirty="0">
                <a:solidFill>
                  <a:schemeClr val="accent1"/>
                </a:solidFill>
              </a:rPr>
              <a:t>BGP COMMUNITY</a:t>
            </a:r>
            <a:endParaRPr lang="en-IN" b="1" dirty="0">
              <a:solidFill>
                <a:schemeClr val="accent1"/>
              </a:solidFill>
            </a:endParaRPr>
          </a:p>
        </p:txBody>
      </p:sp>
      <p:pic>
        <p:nvPicPr>
          <p:cNvPr id="5" name="Picture 4">
            <a:extLst>
              <a:ext uri="{FF2B5EF4-FFF2-40B4-BE49-F238E27FC236}">
                <a16:creationId xmlns:a16="http://schemas.microsoft.com/office/drawing/2014/main" id="{6F2A95F3-6ED6-7AFA-65D9-748B34364A8E}"/>
              </a:ext>
            </a:extLst>
          </p:cNvPr>
          <p:cNvPicPr>
            <a:picLocks noChangeAspect="1"/>
          </p:cNvPicPr>
          <p:nvPr/>
        </p:nvPicPr>
        <p:blipFill>
          <a:blip r:embed="rId2"/>
          <a:stretch>
            <a:fillRect/>
          </a:stretch>
        </p:blipFill>
        <p:spPr>
          <a:xfrm>
            <a:off x="495222" y="2803804"/>
            <a:ext cx="6283965" cy="944223"/>
          </a:xfrm>
          <a:prstGeom prst="rect">
            <a:avLst/>
          </a:prstGeom>
        </p:spPr>
      </p:pic>
      <p:pic>
        <p:nvPicPr>
          <p:cNvPr id="7" name="Picture 6">
            <a:extLst>
              <a:ext uri="{FF2B5EF4-FFF2-40B4-BE49-F238E27FC236}">
                <a16:creationId xmlns:a16="http://schemas.microsoft.com/office/drawing/2014/main" id="{0F27CF21-628A-4339-94A9-331B0B8A578E}"/>
              </a:ext>
            </a:extLst>
          </p:cNvPr>
          <p:cNvPicPr>
            <a:picLocks noChangeAspect="1"/>
          </p:cNvPicPr>
          <p:nvPr/>
        </p:nvPicPr>
        <p:blipFill>
          <a:blip r:embed="rId3"/>
          <a:stretch>
            <a:fillRect/>
          </a:stretch>
        </p:blipFill>
        <p:spPr>
          <a:xfrm>
            <a:off x="495222" y="4294060"/>
            <a:ext cx="6066503" cy="1590545"/>
          </a:xfrm>
          <a:prstGeom prst="rect">
            <a:avLst/>
          </a:prstGeom>
        </p:spPr>
      </p:pic>
      <p:pic>
        <p:nvPicPr>
          <p:cNvPr id="9" name="Picture 8">
            <a:extLst>
              <a:ext uri="{FF2B5EF4-FFF2-40B4-BE49-F238E27FC236}">
                <a16:creationId xmlns:a16="http://schemas.microsoft.com/office/drawing/2014/main" id="{3604C566-FF21-F472-15C9-F04585EBE383}"/>
              </a:ext>
            </a:extLst>
          </p:cNvPr>
          <p:cNvPicPr>
            <a:picLocks noChangeAspect="1"/>
          </p:cNvPicPr>
          <p:nvPr/>
        </p:nvPicPr>
        <p:blipFill>
          <a:blip r:embed="rId4"/>
          <a:stretch>
            <a:fillRect/>
          </a:stretch>
        </p:blipFill>
        <p:spPr>
          <a:xfrm>
            <a:off x="6918201" y="2636684"/>
            <a:ext cx="4996038" cy="2554748"/>
          </a:xfrm>
          <a:prstGeom prst="rect">
            <a:avLst/>
          </a:prstGeom>
        </p:spPr>
      </p:pic>
      <p:sp>
        <p:nvSpPr>
          <p:cNvPr id="12" name="TextBox 11">
            <a:extLst>
              <a:ext uri="{FF2B5EF4-FFF2-40B4-BE49-F238E27FC236}">
                <a16:creationId xmlns:a16="http://schemas.microsoft.com/office/drawing/2014/main" id="{EB5610CB-B882-7B92-5B0B-680E498F6800}"/>
              </a:ext>
            </a:extLst>
          </p:cNvPr>
          <p:cNvSpPr txBox="1"/>
          <p:nvPr/>
        </p:nvSpPr>
        <p:spPr>
          <a:xfrm>
            <a:off x="412955" y="973395"/>
            <a:ext cx="11501284" cy="1015663"/>
          </a:xfrm>
          <a:prstGeom prst="rect">
            <a:avLst/>
          </a:prstGeom>
          <a:noFill/>
        </p:spPr>
        <p:txBody>
          <a:bodyPr wrap="square" rtlCol="0">
            <a:spAutoFit/>
          </a:bodyPr>
          <a:lstStyle/>
          <a:p>
            <a:pPr marL="342900" indent="-342900">
              <a:buFont typeface="Wingdings" panose="05000000000000000000" pitchFamily="2" charset="2"/>
              <a:buChar char="q"/>
            </a:pPr>
            <a:r>
              <a:rPr lang="en-US" sz="2000" dirty="0"/>
              <a:t>A BGP community is a special tag that can be added to a route. It helps routers group certain routes together so they can be treated in a specific way, like choosing a faster path or blocking some traffic.</a:t>
            </a:r>
          </a:p>
          <a:p>
            <a:pPr marL="342900" indent="-342900">
              <a:buFont typeface="Wingdings" panose="05000000000000000000" pitchFamily="2" charset="2"/>
              <a:buChar char="q"/>
            </a:pPr>
            <a:r>
              <a:rPr lang="en-US" sz="2000" dirty="0"/>
              <a:t>It is 32-bit value colon mark in new format and decimal mark in old format.</a:t>
            </a:r>
          </a:p>
        </p:txBody>
      </p:sp>
    </p:spTree>
    <p:extLst>
      <p:ext uri="{BB962C8B-B14F-4D97-AF65-F5344CB8AC3E}">
        <p14:creationId xmlns:p14="http://schemas.microsoft.com/office/powerpoint/2010/main" val="17746117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222FA9-2EF8-A51C-5CCC-7508C73C0DEC}"/>
              </a:ext>
            </a:extLst>
          </p:cNvPr>
          <p:cNvPicPr>
            <a:picLocks noChangeAspect="1"/>
          </p:cNvPicPr>
          <p:nvPr/>
        </p:nvPicPr>
        <p:blipFill>
          <a:blip r:embed="rId2"/>
          <a:stretch>
            <a:fillRect/>
          </a:stretch>
        </p:blipFill>
        <p:spPr>
          <a:xfrm>
            <a:off x="211152" y="35161"/>
            <a:ext cx="4098196" cy="2284977"/>
          </a:xfrm>
          <a:prstGeom prst="rect">
            <a:avLst/>
          </a:prstGeom>
        </p:spPr>
      </p:pic>
      <p:pic>
        <p:nvPicPr>
          <p:cNvPr id="7" name="Picture 6">
            <a:extLst>
              <a:ext uri="{FF2B5EF4-FFF2-40B4-BE49-F238E27FC236}">
                <a16:creationId xmlns:a16="http://schemas.microsoft.com/office/drawing/2014/main" id="{C0DB9A62-CA98-04E0-8B88-B41EAB2B4CA9}"/>
              </a:ext>
            </a:extLst>
          </p:cNvPr>
          <p:cNvPicPr>
            <a:picLocks noChangeAspect="1"/>
          </p:cNvPicPr>
          <p:nvPr/>
        </p:nvPicPr>
        <p:blipFill>
          <a:blip r:embed="rId3"/>
          <a:stretch>
            <a:fillRect/>
          </a:stretch>
        </p:blipFill>
        <p:spPr>
          <a:xfrm>
            <a:off x="7787148" y="0"/>
            <a:ext cx="4290540" cy="2458703"/>
          </a:xfrm>
          <a:prstGeom prst="rect">
            <a:avLst/>
          </a:prstGeom>
        </p:spPr>
      </p:pic>
      <p:pic>
        <p:nvPicPr>
          <p:cNvPr id="9" name="Picture 8">
            <a:extLst>
              <a:ext uri="{FF2B5EF4-FFF2-40B4-BE49-F238E27FC236}">
                <a16:creationId xmlns:a16="http://schemas.microsoft.com/office/drawing/2014/main" id="{AFF02F07-1D04-D709-CBD7-1A54E4CE2DE7}"/>
              </a:ext>
            </a:extLst>
          </p:cNvPr>
          <p:cNvPicPr>
            <a:picLocks noChangeAspect="1"/>
          </p:cNvPicPr>
          <p:nvPr/>
        </p:nvPicPr>
        <p:blipFill>
          <a:blip r:embed="rId4"/>
          <a:stretch>
            <a:fillRect/>
          </a:stretch>
        </p:blipFill>
        <p:spPr>
          <a:xfrm>
            <a:off x="211152" y="3429000"/>
            <a:ext cx="3977577" cy="2250301"/>
          </a:xfrm>
          <a:prstGeom prst="rect">
            <a:avLst/>
          </a:prstGeom>
        </p:spPr>
      </p:pic>
      <p:pic>
        <p:nvPicPr>
          <p:cNvPr id="11" name="Picture 10">
            <a:extLst>
              <a:ext uri="{FF2B5EF4-FFF2-40B4-BE49-F238E27FC236}">
                <a16:creationId xmlns:a16="http://schemas.microsoft.com/office/drawing/2014/main" id="{3B66FB3A-498F-7BD3-17E2-24C6B3E230C5}"/>
              </a:ext>
            </a:extLst>
          </p:cNvPr>
          <p:cNvPicPr>
            <a:picLocks noChangeAspect="1"/>
          </p:cNvPicPr>
          <p:nvPr/>
        </p:nvPicPr>
        <p:blipFill>
          <a:blip r:embed="rId5"/>
          <a:stretch>
            <a:fillRect/>
          </a:stretch>
        </p:blipFill>
        <p:spPr>
          <a:xfrm>
            <a:off x="7918846" y="3222872"/>
            <a:ext cx="4062002" cy="1331278"/>
          </a:xfrm>
          <a:prstGeom prst="rect">
            <a:avLst/>
          </a:prstGeom>
        </p:spPr>
      </p:pic>
      <p:sp>
        <p:nvSpPr>
          <p:cNvPr id="12" name="TextBox 11">
            <a:extLst>
              <a:ext uri="{FF2B5EF4-FFF2-40B4-BE49-F238E27FC236}">
                <a16:creationId xmlns:a16="http://schemas.microsoft.com/office/drawing/2014/main" id="{7B959C73-F444-32AF-DB78-33906C5C8141}"/>
              </a:ext>
            </a:extLst>
          </p:cNvPr>
          <p:cNvSpPr txBox="1"/>
          <p:nvPr/>
        </p:nvSpPr>
        <p:spPr>
          <a:xfrm>
            <a:off x="0" y="2458703"/>
            <a:ext cx="5181600" cy="646331"/>
          </a:xfrm>
          <a:prstGeom prst="rect">
            <a:avLst/>
          </a:prstGeom>
          <a:noFill/>
        </p:spPr>
        <p:txBody>
          <a:bodyPr wrap="square" rtlCol="0">
            <a:spAutoFit/>
          </a:bodyPr>
          <a:lstStyle/>
          <a:p>
            <a:r>
              <a:rPr lang="en-US" dirty="0"/>
              <a:t>In this, when a router receives a advertise route, it doesn’t advertise to anyone else.</a:t>
            </a:r>
            <a:endParaRPr lang="en-IN" dirty="0"/>
          </a:p>
        </p:txBody>
      </p:sp>
      <p:sp>
        <p:nvSpPr>
          <p:cNvPr id="13" name="TextBox 12">
            <a:extLst>
              <a:ext uri="{FF2B5EF4-FFF2-40B4-BE49-F238E27FC236}">
                <a16:creationId xmlns:a16="http://schemas.microsoft.com/office/drawing/2014/main" id="{4114D4EC-E6B9-4BAE-CB15-157E9000EE4A}"/>
              </a:ext>
            </a:extLst>
          </p:cNvPr>
          <p:cNvSpPr txBox="1"/>
          <p:nvPr/>
        </p:nvSpPr>
        <p:spPr>
          <a:xfrm>
            <a:off x="6504039" y="2469646"/>
            <a:ext cx="5181600" cy="646331"/>
          </a:xfrm>
          <a:prstGeom prst="rect">
            <a:avLst/>
          </a:prstGeom>
          <a:noFill/>
        </p:spPr>
        <p:txBody>
          <a:bodyPr wrap="square" rtlCol="0">
            <a:spAutoFit/>
          </a:bodyPr>
          <a:lstStyle/>
          <a:p>
            <a:r>
              <a:rPr lang="en-US" dirty="0"/>
              <a:t>In this, when a router receives a advertise route, it advertises that route to routers in the same public as.</a:t>
            </a:r>
            <a:endParaRPr lang="en-IN" dirty="0"/>
          </a:p>
        </p:txBody>
      </p:sp>
      <p:sp>
        <p:nvSpPr>
          <p:cNvPr id="14" name="TextBox 13">
            <a:extLst>
              <a:ext uri="{FF2B5EF4-FFF2-40B4-BE49-F238E27FC236}">
                <a16:creationId xmlns:a16="http://schemas.microsoft.com/office/drawing/2014/main" id="{9CB1B274-3D31-7456-B9A5-B4D3170B8434}"/>
              </a:ext>
            </a:extLst>
          </p:cNvPr>
          <p:cNvSpPr txBox="1"/>
          <p:nvPr/>
        </p:nvSpPr>
        <p:spPr>
          <a:xfrm>
            <a:off x="4426353" y="4887007"/>
            <a:ext cx="5506065" cy="1200329"/>
          </a:xfrm>
          <a:prstGeom prst="rect">
            <a:avLst/>
          </a:prstGeom>
          <a:noFill/>
        </p:spPr>
        <p:txBody>
          <a:bodyPr wrap="square" rtlCol="0">
            <a:spAutoFit/>
          </a:bodyPr>
          <a:lstStyle/>
          <a:p>
            <a:r>
              <a:rPr lang="en-US" dirty="0"/>
              <a:t>In this, when a router receives advertised routes, it advertises those routes to routers within the same member AS. It does not advertise the routes to BGP confederation peers.</a:t>
            </a:r>
            <a:endParaRPr lang="en-IN" dirty="0"/>
          </a:p>
        </p:txBody>
      </p:sp>
    </p:spTree>
    <p:extLst>
      <p:ext uri="{BB962C8B-B14F-4D97-AF65-F5344CB8AC3E}">
        <p14:creationId xmlns:p14="http://schemas.microsoft.com/office/powerpoint/2010/main" val="35476118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819ED-46A1-61C1-EE0B-0445AECB9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18740-ECC8-3B23-A8EF-7D7D638F95E6}"/>
              </a:ext>
            </a:extLst>
          </p:cNvPr>
          <p:cNvSpPr>
            <a:spLocks noGrp="1"/>
          </p:cNvSpPr>
          <p:nvPr>
            <p:ph type="title"/>
          </p:nvPr>
        </p:nvSpPr>
        <p:spPr>
          <a:xfrm>
            <a:off x="277761" y="158649"/>
            <a:ext cx="10970342" cy="814746"/>
          </a:xfrm>
        </p:spPr>
        <p:txBody>
          <a:bodyPr>
            <a:normAutofit fontScale="90000"/>
          </a:bodyPr>
          <a:lstStyle/>
          <a:p>
            <a:r>
              <a:rPr lang="en-US" b="1" dirty="0">
                <a:solidFill>
                  <a:schemeClr val="accent1"/>
                </a:solidFill>
              </a:rPr>
              <a:t>Dynamic Route Summarization With Aggregation Tag</a:t>
            </a:r>
            <a:endParaRPr lang="en-IN" b="1" dirty="0">
              <a:solidFill>
                <a:schemeClr val="accent1"/>
              </a:solidFill>
            </a:endParaRPr>
          </a:p>
        </p:txBody>
      </p:sp>
      <p:sp>
        <p:nvSpPr>
          <p:cNvPr id="3" name="TextBox 2">
            <a:extLst>
              <a:ext uri="{FF2B5EF4-FFF2-40B4-BE49-F238E27FC236}">
                <a16:creationId xmlns:a16="http://schemas.microsoft.com/office/drawing/2014/main" id="{446B53A7-D4CD-A6D8-0323-A3821EAD3347}"/>
              </a:ext>
            </a:extLst>
          </p:cNvPr>
          <p:cNvSpPr txBox="1"/>
          <p:nvPr/>
        </p:nvSpPr>
        <p:spPr>
          <a:xfrm>
            <a:off x="403123" y="973395"/>
            <a:ext cx="10970342" cy="369332"/>
          </a:xfrm>
          <a:prstGeom prst="rect">
            <a:avLst/>
          </a:prstGeom>
          <a:noFill/>
        </p:spPr>
        <p:txBody>
          <a:bodyPr wrap="square" rtlCol="0">
            <a:spAutoFit/>
          </a:bodyPr>
          <a:lstStyle/>
          <a:p>
            <a:r>
              <a:rPr lang="en-US" dirty="0"/>
              <a:t>A route summary is a consolidation of multiple routes to single-route advertisement.</a:t>
            </a:r>
            <a:endParaRPr lang="en-IN" dirty="0"/>
          </a:p>
        </p:txBody>
      </p:sp>
      <p:pic>
        <p:nvPicPr>
          <p:cNvPr id="6" name="Picture 5">
            <a:extLst>
              <a:ext uri="{FF2B5EF4-FFF2-40B4-BE49-F238E27FC236}">
                <a16:creationId xmlns:a16="http://schemas.microsoft.com/office/drawing/2014/main" id="{8A4B9EAE-92C8-5809-9416-6B543ED69B09}"/>
              </a:ext>
            </a:extLst>
          </p:cNvPr>
          <p:cNvPicPr>
            <a:picLocks noChangeAspect="1"/>
          </p:cNvPicPr>
          <p:nvPr/>
        </p:nvPicPr>
        <p:blipFill>
          <a:blip r:embed="rId2"/>
          <a:stretch>
            <a:fillRect/>
          </a:stretch>
        </p:blipFill>
        <p:spPr>
          <a:xfrm>
            <a:off x="8329152" y="898161"/>
            <a:ext cx="3459725" cy="889132"/>
          </a:xfrm>
          <a:prstGeom prst="rect">
            <a:avLst/>
          </a:prstGeom>
        </p:spPr>
      </p:pic>
      <p:sp>
        <p:nvSpPr>
          <p:cNvPr id="11" name="TextBox 10">
            <a:extLst>
              <a:ext uri="{FF2B5EF4-FFF2-40B4-BE49-F238E27FC236}">
                <a16:creationId xmlns:a16="http://schemas.microsoft.com/office/drawing/2014/main" id="{A63A0A2D-E101-51C1-2467-E0B30D9459EE}"/>
              </a:ext>
            </a:extLst>
          </p:cNvPr>
          <p:cNvSpPr txBox="1"/>
          <p:nvPr/>
        </p:nvSpPr>
        <p:spPr>
          <a:xfrm>
            <a:off x="567813" y="1773733"/>
            <a:ext cx="10805652" cy="3785652"/>
          </a:xfrm>
          <a:prstGeom prst="rect">
            <a:avLst/>
          </a:prstGeom>
          <a:noFill/>
        </p:spPr>
        <p:txBody>
          <a:bodyPr wrap="square" rtlCol="0">
            <a:spAutoFit/>
          </a:bodyPr>
          <a:lstStyle/>
          <a:p>
            <a:r>
              <a:rPr lang="en-US" sz="2000" dirty="0"/>
              <a:t>router </a:t>
            </a:r>
            <a:r>
              <a:rPr lang="en-US" sz="2000" dirty="0" err="1"/>
              <a:t>bgp</a:t>
            </a:r>
            <a:r>
              <a:rPr lang="en-US" sz="2000" dirty="0"/>
              <a:t> 1</a:t>
            </a:r>
          </a:p>
          <a:p>
            <a:r>
              <a:rPr lang="en-US" sz="2000" dirty="0"/>
              <a:t>address-family ipv4 unicast</a:t>
            </a:r>
          </a:p>
          <a:p>
            <a:r>
              <a:rPr lang="en-US" sz="2000" dirty="0"/>
              <a:t>aggregate-address 1.1.0.0 255.255.252</a:t>
            </a:r>
            <a:r>
              <a:rPr lang="en-IN" sz="2000" dirty="0"/>
              <a:t>.0</a:t>
            </a:r>
          </a:p>
          <a:p>
            <a:endParaRPr lang="en-IN" sz="2000" dirty="0"/>
          </a:p>
          <a:p>
            <a:endParaRPr lang="en-IN" sz="2000" dirty="0"/>
          </a:p>
          <a:p>
            <a:endParaRPr lang="en-IN" sz="2000" dirty="0"/>
          </a:p>
          <a:p>
            <a:endParaRPr lang="en-IN" sz="2000" dirty="0"/>
          </a:p>
          <a:p>
            <a:br>
              <a:rPr lang="en-IN" sz="2000" dirty="0"/>
            </a:br>
            <a:r>
              <a:rPr lang="en-IN" sz="2000" dirty="0"/>
              <a:t>(the above command advertises the summary route in addition to the original networks)</a:t>
            </a:r>
            <a:br>
              <a:rPr lang="en-IN" sz="2000" dirty="0"/>
            </a:br>
            <a:endParaRPr lang="en-IN" sz="2000" dirty="0"/>
          </a:p>
          <a:p>
            <a:r>
              <a:rPr lang="en-US" sz="2000" dirty="0"/>
              <a:t>aggregate-address 1.1.0.0 255.255.252</a:t>
            </a:r>
            <a:r>
              <a:rPr lang="en-IN" sz="2000" dirty="0"/>
              <a:t>.0 summary-only</a:t>
            </a:r>
          </a:p>
          <a:p>
            <a:endParaRPr lang="en-US" sz="2000" dirty="0"/>
          </a:p>
        </p:txBody>
      </p:sp>
      <p:pic>
        <p:nvPicPr>
          <p:cNvPr id="14" name="Picture 13">
            <a:extLst>
              <a:ext uri="{FF2B5EF4-FFF2-40B4-BE49-F238E27FC236}">
                <a16:creationId xmlns:a16="http://schemas.microsoft.com/office/drawing/2014/main" id="{2957396B-CA49-17F4-D049-4770F86C7A64}"/>
              </a:ext>
            </a:extLst>
          </p:cNvPr>
          <p:cNvPicPr>
            <a:picLocks noChangeAspect="1"/>
          </p:cNvPicPr>
          <p:nvPr/>
        </p:nvPicPr>
        <p:blipFill>
          <a:blip r:embed="rId3"/>
          <a:stretch>
            <a:fillRect/>
          </a:stretch>
        </p:blipFill>
        <p:spPr>
          <a:xfrm>
            <a:off x="646471" y="2814222"/>
            <a:ext cx="4996224" cy="1334991"/>
          </a:xfrm>
          <a:prstGeom prst="rect">
            <a:avLst/>
          </a:prstGeom>
        </p:spPr>
      </p:pic>
      <p:pic>
        <p:nvPicPr>
          <p:cNvPr id="16" name="Picture 15">
            <a:extLst>
              <a:ext uri="{FF2B5EF4-FFF2-40B4-BE49-F238E27FC236}">
                <a16:creationId xmlns:a16="http://schemas.microsoft.com/office/drawing/2014/main" id="{568AF82B-E7CB-6D7C-92DD-C807FC7A17C4}"/>
              </a:ext>
            </a:extLst>
          </p:cNvPr>
          <p:cNvPicPr>
            <a:picLocks noChangeAspect="1"/>
          </p:cNvPicPr>
          <p:nvPr/>
        </p:nvPicPr>
        <p:blipFill>
          <a:blip r:embed="rId4"/>
          <a:stretch>
            <a:fillRect/>
          </a:stretch>
        </p:blipFill>
        <p:spPr>
          <a:xfrm>
            <a:off x="646471" y="5425792"/>
            <a:ext cx="5990490" cy="1129198"/>
          </a:xfrm>
          <a:prstGeom prst="rect">
            <a:avLst/>
          </a:prstGeom>
        </p:spPr>
      </p:pic>
    </p:spTree>
    <p:extLst>
      <p:ext uri="{BB962C8B-B14F-4D97-AF65-F5344CB8AC3E}">
        <p14:creationId xmlns:p14="http://schemas.microsoft.com/office/powerpoint/2010/main" val="26812235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2646A-747E-FB25-EC19-2E7D19A35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E9B4D-2B04-2381-233C-4AB77472887C}"/>
              </a:ext>
            </a:extLst>
          </p:cNvPr>
          <p:cNvSpPr>
            <a:spLocks noGrp="1"/>
          </p:cNvSpPr>
          <p:nvPr>
            <p:ph type="title"/>
          </p:nvPr>
        </p:nvSpPr>
        <p:spPr>
          <a:xfrm>
            <a:off x="277761" y="158649"/>
            <a:ext cx="10515600" cy="814746"/>
          </a:xfrm>
        </p:spPr>
        <p:txBody>
          <a:bodyPr/>
          <a:lstStyle/>
          <a:p>
            <a:r>
              <a:rPr lang="en-US" b="1" dirty="0">
                <a:solidFill>
                  <a:schemeClr val="accent1"/>
                </a:solidFill>
              </a:rPr>
              <a:t>BGP Atomic Aggregate</a:t>
            </a:r>
            <a:endParaRPr lang="en-IN" b="1" dirty="0">
              <a:solidFill>
                <a:schemeClr val="accent1"/>
              </a:solidFill>
            </a:endParaRPr>
          </a:p>
        </p:txBody>
      </p:sp>
      <p:sp>
        <p:nvSpPr>
          <p:cNvPr id="4" name="TextBox 3">
            <a:extLst>
              <a:ext uri="{FF2B5EF4-FFF2-40B4-BE49-F238E27FC236}">
                <a16:creationId xmlns:a16="http://schemas.microsoft.com/office/drawing/2014/main" id="{6360AE66-D7AA-D6F0-4391-1835AE4F5AF5}"/>
              </a:ext>
            </a:extLst>
          </p:cNvPr>
          <p:cNvSpPr txBox="1"/>
          <p:nvPr/>
        </p:nvSpPr>
        <p:spPr>
          <a:xfrm>
            <a:off x="412955" y="1052052"/>
            <a:ext cx="11326761" cy="646331"/>
          </a:xfrm>
          <a:prstGeom prst="rect">
            <a:avLst/>
          </a:prstGeom>
          <a:noFill/>
        </p:spPr>
        <p:txBody>
          <a:bodyPr wrap="square" rtlCol="0">
            <a:spAutoFit/>
          </a:bodyPr>
          <a:lstStyle/>
          <a:p>
            <a:r>
              <a:rPr lang="en-US" dirty="0"/>
              <a:t>It is used to summarize the routes after receiving from a router. So, the router will advertise a single route to other routers.</a:t>
            </a:r>
            <a:endParaRPr lang="en-IN" dirty="0"/>
          </a:p>
        </p:txBody>
      </p:sp>
      <p:sp>
        <p:nvSpPr>
          <p:cNvPr id="8" name="TextBox 7">
            <a:extLst>
              <a:ext uri="{FF2B5EF4-FFF2-40B4-BE49-F238E27FC236}">
                <a16:creationId xmlns:a16="http://schemas.microsoft.com/office/drawing/2014/main" id="{24D15BB4-7C58-DC97-E02C-B651110DA3A2}"/>
              </a:ext>
            </a:extLst>
          </p:cNvPr>
          <p:cNvSpPr txBox="1"/>
          <p:nvPr/>
        </p:nvSpPr>
        <p:spPr>
          <a:xfrm>
            <a:off x="412955" y="1875362"/>
            <a:ext cx="10380406" cy="4247317"/>
          </a:xfrm>
          <a:prstGeom prst="rect">
            <a:avLst/>
          </a:prstGeom>
          <a:noFill/>
        </p:spPr>
        <p:txBody>
          <a:bodyPr wrap="square">
            <a:spAutoFit/>
          </a:bodyPr>
          <a:lstStyle/>
          <a:p>
            <a:r>
              <a:rPr lang="en-US" sz="1800" dirty="0"/>
              <a:t>router </a:t>
            </a:r>
            <a:r>
              <a:rPr lang="en-US" sz="1800" dirty="0" err="1"/>
              <a:t>bgp</a:t>
            </a:r>
            <a:r>
              <a:rPr lang="en-US" sz="1800" dirty="0"/>
              <a:t> 1</a:t>
            </a:r>
          </a:p>
          <a:p>
            <a:r>
              <a:rPr lang="en-US" sz="1800" dirty="0"/>
              <a:t>address-family ipv4 unicast</a:t>
            </a:r>
          </a:p>
          <a:p>
            <a:r>
              <a:rPr lang="en-US" sz="1800" dirty="0"/>
              <a:t>aggregate-address 1.1.0.0 255.255.252</a:t>
            </a:r>
            <a:r>
              <a:rPr lang="en-IN" sz="1800" dirty="0"/>
              <a:t>.0 summary-only </a:t>
            </a:r>
            <a:br>
              <a:rPr lang="en-IN" sz="1800" dirty="0"/>
            </a:br>
            <a:br>
              <a:rPr lang="en-IN" sz="1800" dirty="0"/>
            </a:br>
            <a:r>
              <a:rPr lang="en-US" dirty="0"/>
              <a:t>To check the advertised routes got from bgp peers:</a:t>
            </a:r>
            <a:br>
              <a:rPr lang="en-US" dirty="0"/>
            </a:br>
            <a:r>
              <a:rPr lang="pt-BR" dirty="0"/>
              <a:t>sh ip bgp ipv4 unicast</a:t>
            </a:r>
            <a:br>
              <a:rPr lang="pt-BR" dirty="0"/>
            </a:br>
            <a:r>
              <a:rPr lang="en-IN" dirty="0" err="1"/>
              <a:t>sh</a:t>
            </a:r>
            <a:r>
              <a:rPr lang="en-IN" dirty="0"/>
              <a:t> </a:t>
            </a:r>
            <a:r>
              <a:rPr lang="en-IN" dirty="0" err="1"/>
              <a:t>ip</a:t>
            </a:r>
            <a:r>
              <a:rPr lang="en-IN" dirty="0"/>
              <a:t> bgp</a:t>
            </a:r>
          </a:p>
          <a:p>
            <a:br>
              <a:rPr lang="en-IN" sz="1800" dirty="0"/>
            </a:br>
            <a:br>
              <a:rPr lang="en-IN" sz="1800" dirty="0"/>
            </a:br>
            <a:br>
              <a:rPr lang="en-IN" sz="1800" dirty="0"/>
            </a:br>
            <a:r>
              <a:rPr lang="en-IN" sz="1800" dirty="0"/>
              <a:t>check atomic aggregate routes:</a:t>
            </a:r>
            <a:br>
              <a:rPr lang="en-IN" sz="1800" dirty="0"/>
            </a:br>
            <a:r>
              <a:rPr lang="en-IN" sz="1800" dirty="0" err="1"/>
              <a:t>sh</a:t>
            </a:r>
            <a:r>
              <a:rPr lang="en-IN" sz="1800" dirty="0"/>
              <a:t> bgp ip</a:t>
            </a:r>
            <a:r>
              <a:rPr lang="en-IN" dirty="0"/>
              <a:t>v4 unicast  1.1.0.0                             (&lt;summary-</a:t>
            </a:r>
            <a:r>
              <a:rPr lang="en-IN" dirty="0" err="1"/>
              <a:t>ip</a:t>
            </a:r>
            <a:r>
              <a:rPr lang="en-IN" dirty="0"/>
              <a:t>&gt;)</a:t>
            </a:r>
            <a:br>
              <a:rPr lang="en-IN" dirty="0"/>
            </a:br>
            <a:br>
              <a:rPr lang="en-IN" dirty="0"/>
            </a:br>
            <a:br>
              <a:rPr lang="en-IN" dirty="0"/>
            </a:br>
            <a:r>
              <a:rPr lang="en-IN" dirty="0"/>
              <a:t>if we want to keep the as number in the history</a:t>
            </a:r>
            <a:endParaRPr lang="en-IN" sz="1800" dirty="0"/>
          </a:p>
        </p:txBody>
      </p:sp>
      <p:pic>
        <p:nvPicPr>
          <p:cNvPr id="5" name="Picture 4">
            <a:extLst>
              <a:ext uri="{FF2B5EF4-FFF2-40B4-BE49-F238E27FC236}">
                <a16:creationId xmlns:a16="http://schemas.microsoft.com/office/drawing/2014/main" id="{3A5DA47F-B3B2-B83F-BAE1-CC59218E31D4}"/>
              </a:ext>
            </a:extLst>
          </p:cNvPr>
          <p:cNvPicPr>
            <a:picLocks noChangeAspect="1"/>
          </p:cNvPicPr>
          <p:nvPr/>
        </p:nvPicPr>
        <p:blipFill>
          <a:blip r:embed="rId2"/>
          <a:stretch>
            <a:fillRect/>
          </a:stretch>
        </p:blipFill>
        <p:spPr>
          <a:xfrm>
            <a:off x="3688379" y="6118796"/>
            <a:ext cx="7292972" cy="739204"/>
          </a:xfrm>
          <a:prstGeom prst="rect">
            <a:avLst/>
          </a:prstGeom>
        </p:spPr>
      </p:pic>
    </p:spTree>
    <p:extLst>
      <p:ext uri="{BB962C8B-B14F-4D97-AF65-F5344CB8AC3E}">
        <p14:creationId xmlns:p14="http://schemas.microsoft.com/office/powerpoint/2010/main" val="24256436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5CFE2-145E-5E17-0075-C856C94319CB}"/>
              </a:ext>
            </a:extLst>
          </p:cNvPr>
          <p:cNvSpPr>
            <a:spLocks noGrp="1"/>
          </p:cNvSpPr>
          <p:nvPr>
            <p:ph type="title"/>
          </p:nvPr>
        </p:nvSpPr>
        <p:spPr>
          <a:xfrm>
            <a:off x="159774" y="206477"/>
            <a:ext cx="10515600" cy="795953"/>
          </a:xfrm>
        </p:spPr>
        <p:txBody>
          <a:bodyPr/>
          <a:lstStyle/>
          <a:p>
            <a:r>
              <a:rPr lang="en-US" b="1" dirty="0">
                <a:solidFill>
                  <a:schemeClr val="accent1"/>
                </a:solidFill>
              </a:rPr>
              <a:t>BGP PEER Group</a:t>
            </a:r>
            <a:endParaRPr lang="en-IN" b="1" dirty="0">
              <a:solidFill>
                <a:schemeClr val="accent1"/>
              </a:solidFill>
            </a:endParaRPr>
          </a:p>
        </p:txBody>
      </p:sp>
      <p:sp>
        <p:nvSpPr>
          <p:cNvPr id="3" name="Content Placeholder 2">
            <a:extLst>
              <a:ext uri="{FF2B5EF4-FFF2-40B4-BE49-F238E27FC236}">
                <a16:creationId xmlns:a16="http://schemas.microsoft.com/office/drawing/2014/main" id="{3CB04116-0251-310A-CC48-B713E3A91AA7}"/>
              </a:ext>
            </a:extLst>
          </p:cNvPr>
          <p:cNvSpPr>
            <a:spLocks noGrp="1"/>
          </p:cNvSpPr>
          <p:nvPr>
            <p:ph idx="1"/>
          </p:nvPr>
        </p:nvSpPr>
        <p:spPr>
          <a:xfrm>
            <a:off x="801688" y="899280"/>
            <a:ext cx="10760392" cy="2006479"/>
          </a:xfrm>
        </p:spPr>
        <p:txBody>
          <a:bodyPr>
            <a:normAutofit lnSpcReduction="10000"/>
          </a:bodyPr>
          <a:lstStyle/>
          <a:p>
            <a:pPr marL="0" indent="0">
              <a:buNone/>
            </a:pPr>
            <a:r>
              <a:rPr lang="en-US" sz="2400" dirty="0"/>
              <a:t>Peer groups are used to apply the same policy to multiple routers that have the same AS.</a:t>
            </a:r>
            <a:br>
              <a:rPr lang="en-US" sz="2400" dirty="0"/>
            </a:br>
            <a:r>
              <a:rPr lang="en-US" sz="2400" dirty="0"/>
              <a:t>We create one object and apply the same object for multiple routes.</a:t>
            </a:r>
            <a:br>
              <a:rPr lang="en-US" sz="2400" dirty="0"/>
            </a:br>
            <a:r>
              <a:rPr lang="en-US" sz="2400" dirty="0"/>
              <a:t>Or </a:t>
            </a:r>
            <a:br>
              <a:rPr lang="en-US" sz="2400" dirty="0"/>
            </a:br>
            <a:r>
              <a:rPr lang="en-US" sz="2400" dirty="0"/>
              <a:t>Reduces BGP router’s </a:t>
            </a:r>
            <a:r>
              <a:rPr lang="en-US" sz="2400" dirty="0" err="1"/>
              <a:t>cpu</a:t>
            </a:r>
            <a:r>
              <a:rPr lang="en-US" sz="2400" dirty="0"/>
              <a:t> load by creating an update once per group, rather than one per neighbor.</a:t>
            </a:r>
            <a:endParaRPr lang="en-IN" sz="2400" dirty="0"/>
          </a:p>
          <a:p>
            <a:pPr marL="0" indent="0">
              <a:buNone/>
            </a:pPr>
            <a:endParaRPr lang="en-IN" sz="2400" dirty="0"/>
          </a:p>
        </p:txBody>
      </p:sp>
      <p:pic>
        <p:nvPicPr>
          <p:cNvPr id="5" name="Picture 4">
            <a:extLst>
              <a:ext uri="{FF2B5EF4-FFF2-40B4-BE49-F238E27FC236}">
                <a16:creationId xmlns:a16="http://schemas.microsoft.com/office/drawing/2014/main" id="{4E082F58-22F3-6710-0B5B-A37184A10C1D}"/>
              </a:ext>
            </a:extLst>
          </p:cNvPr>
          <p:cNvPicPr>
            <a:picLocks noChangeAspect="1"/>
          </p:cNvPicPr>
          <p:nvPr/>
        </p:nvPicPr>
        <p:blipFill>
          <a:blip r:embed="rId2"/>
          <a:srcRect l="4995"/>
          <a:stretch/>
        </p:blipFill>
        <p:spPr>
          <a:xfrm>
            <a:off x="114474" y="2985789"/>
            <a:ext cx="5981526" cy="3665734"/>
          </a:xfrm>
          <a:prstGeom prst="rect">
            <a:avLst/>
          </a:prstGeom>
        </p:spPr>
      </p:pic>
      <p:pic>
        <p:nvPicPr>
          <p:cNvPr id="6" name="Picture 5">
            <a:extLst>
              <a:ext uri="{FF2B5EF4-FFF2-40B4-BE49-F238E27FC236}">
                <a16:creationId xmlns:a16="http://schemas.microsoft.com/office/drawing/2014/main" id="{55BF817B-C99E-5583-539F-C3E8158B10E2}"/>
              </a:ext>
            </a:extLst>
          </p:cNvPr>
          <p:cNvPicPr>
            <a:picLocks noChangeAspect="1"/>
          </p:cNvPicPr>
          <p:nvPr/>
        </p:nvPicPr>
        <p:blipFill>
          <a:blip r:embed="rId3"/>
          <a:stretch>
            <a:fillRect/>
          </a:stretch>
        </p:blipFill>
        <p:spPr>
          <a:xfrm>
            <a:off x="6989885" y="2528589"/>
            <a:ext cx="4572195" cy="2795737"/>
          </a:xfrm>
          <a:prstGeom prst="rect">
            <a:avLst/>
          </a:prstGeom>
        </p:spPr>
      </p:pic>
      <p:sp>
        <p:nvSpPr>
          <p:cNvPr id="7" name="TextBox 6">
            <a:extLst>
              <a:ext uri="{FF2B5EF4-FFF2-40B4-BE49-F238E27FC236}">
                <a16:creationId xmlns:a16="http://schemas.microsoft.com/office/drawing/2014/main" id="{00A6B307-F28A-B318-6FCA-54E14CAFA3C7}"/>
              </a:ext>
            </a:extLst>
          </p:cNvPr>
          <p:cNvSpPr txBox="1"/>
          <p:nvPr/>
        </p:nvSpPr>
        <p:spPr>
          <a:xfrm>
            <a:off x="6309360" y="5324326"/>
            <a:ext cx="5252720" cy="646331"/>
          </a:xfrm>
          <a:prstGeom prst="rect">
            <a:avLst/>
          </a:prstGeom>
          <a:noFill/>
        </p:spPr>
        <p:txBody>
          <a:bodyPr wrap="square" rtlCol="0">
            <a:spAutoFit/>
          </a:bodyPr>
          <a:lstStyle/>
          <a:p>
            <a:r>
              <a:rPr lang="en-US" dirty="0" err="1"/>
              <a:t>i</a:t>
            </a:r>
            <a:r>
              <a:rPr lang="en-US" dirty="0"/>
              <a:t>. create the peer-group</a:t>
            </a:r>
            <a:br>
              <a:rPr lang="en-US" dirty="0"/>
            </a:br>
            <a:r>
              <a:rPr lang="en-US" dirty="0"/>
              <a:t>ii. Add the addresses in the peer-group</a:t>
            </a:r>
            <a:endParaRPr lang="en-IN" dirty="0"/>
          </a:p>
        </p:txBody>
      </p:sp>
    </p:spTree>
    <p:extLst>
      <p:ext uri="{BB962C8B-B14F-4D97-AF65-F5344CB8AC3E}">
        <p14:creationId xmlns:p14="http://schemas.microsoft.com/office/powerpoint/2010/main" val="10951956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5201C-172E-3646-EF54-31051C8D4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F6865-051D-C5C0-8F59-CC7C33854B3D}"/>
              </a:ext>
            </a:extLst>
          </p:cNvPr>
          <p:cNvSpPr>
            <a:spLocks noGrp="1"/>
          </p:cNvSpPr>
          <p:nvPr>
            <p:ph type="title"/>
          </p:nvPr>
        </p:nvSpPr>
        <p:spPr>
          <a:xfrm>
            <a:off x="159774" y="206477"/>
            <a:ext cx="10515600" cy="795953"/>
          </a:xfrm>
        </p:spPr>
        <p:txBody>
          <a:bodyPr/>
          <a:lstStyle/>
          <a:p>
            <a:r>
              <a:rPr lang="en-US" b="1" dirty="0">
                <a:solidFill>
                  <a:schemeClr val="accent1"/>
                </a:solidFill>
              </a:rPr>
              <a:t>BGP PEER GROUP</a:t>
            </a:r>
            <a:endParaRPr lang="en-IN" b="1" dirty="0">
              <a:solidFill>
                <a:schemeClr val="accent1"/>
              </a:solidFill>
            </a:endParaRPr>
          </a:p>
        </p:txBody>
      </p:sp>
      <p:sp>
        <p:nvSpPr>
          <p:cNvPr id="3" name="Content Placeholder 2">
            <a:extLst>
              <a:ext uri="{FF2B5EF4-FFF2-40B4-BE49-F238E27FC236}">
                <a16:creationId xmlns:a16="http://schemas.microsoft.com/office/drawing/2014/main" id="{619D13EB-87BC-C47F-DC93-42FAD90E5667}"/>
              </a:ext>
            </a:extLst>
          </p:cNvPr>
          <p:cNvSpPr>
            <a:spLocks noGrp="1"/>
          </p:cNvSpPr>
          <p:nvPr>
            <p:ph idx="1"/>
          </p:nvPr>
        </p:nvSpPr>
        <p:spPr>
          <a:xfrm>
            <a:off x="507048" y="928211"/>
            <a:ext cx="10515600" cy="4351338"/>
          </a:xfrm>
        </p:spPr>
        <p:txBody>
          <a:bodyPr/>
          <a:lstStyle/>
          <a:p>
            <a:pPr marL="0" indent="0">
              <a:buNone/>
            </a:pPr>
            <a:r>
              <a:rPr lang="en-US" dirty="0"/>
              <a:t>We can also apply common attributes to peer group (</a:t>
            </a:r>
            <a:r>
              <a:rPr lang="en-US" dirty="0" err="1"/>
              <a:t>e.g</a:t>
            </a:r>
            <a:r>
              <a:rPr lang="en-US" dirty="0"/>
              <a:t>: AS number)</a:t>
            </a:r>
            <a:br>
              <a:rPr lang="en-US" dirty="0"/>
            </a:br>
            <a:endParaRPr lang="en-IN" dirty="0"/>
          </a:p>
        </p:txBody>
      </p:sp>
      <p:pic>
        <p:nvPicPr>
          <p:cNvPr id="9" name="Picture 8">
            <a:extLst>
              <a:ext uri="{FF2B5EF4-FFF2-40B4-BE49-F238E27FC236}">
                <a16:creationId xmlns:a16="http://schemas.microsoft.com/office/drawing/2014/main" id="{80140240-DCBA-712B-1F0A-0EF83B7C8CA7}"/>
              </a:ext>
            </a:extLst>
          </p:cNvPr>
          <p:cNvPicPr>
            <a:picLocks noChangeAspect="1"/>
          </p:cNvPicPr>
          <p:nvPr/>
        </p:nvPicPr>
        <p:blipFill>
          <a:blip r:embed="rId2"/>
          <a:srcRect b="6094"/>
          <a:stretch/>
        </p:blipFill>
        <p:spPr>
          <a:xfrm>
            <a:off x="1885559" y="1815870"/>
            <a:ext cx="7278762" cy="4026130"/>
          </a:xfrm>
          <a:prstGeom prst="rect">
            <a:avLst/>
          </a:prstGeom>
        </p:spPr>
      </p:pic>
    </p:spTree>
    <p:extLst>
      <p:ext uri="{BB962C8B-B14F-4D97-AF65-F5344CB8AC3E}">
        <p14:creationId xmlns:p14="http://schemas.microsoft.com/office/powerpoint/2010/main" val="31701392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4D35-54D5-01AA-8611-338F1C69B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8C209D-3958-499E-C9A1-982C1B1BEE49}"/>
              </a:ext>
            </a:extLst>
          </p:cNvPr>
          <p:cNvSpPr>
            <a:spLocks noGrp="1"/>
          </p:cNvSpPr>
          <p:nvPr>
            <p:ph type="title"/>
          </p:nvPr>
        </p:nvSpPr>
        <p:spPr>
          <a:xfrm>
            <a:off x="159774" y="206477"/>
            <a:ext cx="10515600" cy="795953"/>
          </a:xfrm>
        </p:spPr>
        <p:txBody>
          <a:bodyPr/>
          <a:lstStyle/>
          <a:p>
            <a:r>
              <a:rPr lang="en-US" b="1" dirty="0">
                <a:solidFill>
                  <a:schemeClr val="accent1"/>
                </a:solidFill>
              </a:rPr>
              <a:t>Conditional Route Selection</a:t>
            </a:r>
            <a:endParaRPr lang="en-IN" b="1" dirty="0">
              <a:solidFill>
                <a:schemeClr val="accent1"/>
              </a:solidFill>
            </a:endParaRPr>
          </a:p>
        </p:txBody>
      </p:sp>
      <p:sp>
        <p:nvSpPr>
          <p:cNvPr id="3" name="Content Placeholder 2">
            <a:extLst>
              <a:ext uri="{FF2B5EF4-FFF2-40B4-BE49-F238E27FC236}">
                <a16:creationId xmlns:a16="http://schemas.microsoft.com/office/drawing/2014/main" id="{F55D028C-9BB8-A875-4AAF-386D0A1A56DD}"/>
              </a:ext>
            </a:extLst>
          </p:cNvPr>
          <p:cNvSpPr>
            <a:spLocks noGrp="1"/>
          </p:cNvSpPr>
          <p:nvPr>
            <p:ph idx="1"/>
          </p:nvPr>
        </p:nvSpPr>
        <p:spPr>
          <a:xfrm>
            <a:off x="507048" y="928211"/>
            <a:ext cx="10515600" cy="4351338"/>
          </a:xfrm>
        </p:spPr>
        <p:txBody>
          <a:bodyPr>
            <a:normAutofit/>
          </a:bodyPr>
          <a:lstStyle/>
          <a:p>
            <a:pPr marL="0" indent="0">
              <a:buNone/>
            </a:pPr>
            <a:r>
              <a:rPr lang="en-US" sz="2000" dirty="0"/>
              <a:t>The method of selectively identifying which prefixes should receive or advertise from peers to what we refer as conditional route selection.</a:t>
            </a:r>
          </a:p>
          <a:p>
            <a:pPr marL="514350" indent="-514350">
              <a:buAutoNum type="arabicPeriod"/>
            </a:pPr>
            <a:r>
              <a:rPr lang="en-US" sz="2000" dirty="0"/>
              <a:t>Distribute List – uses access-list to filter prefixes on neighbor-by-neighbor basis. (ACL)</a:t>
            </a:r>
          </a:p>
          <a:p>
            <a:pPr marL="514350" indent="-514350">
              <a:buAutoNum type="arabicPeriod"/>
            </a:pPr>
            <a:r>
              <a:rPr lang="en-US" sz="2000" dirty="0"/>
              <a:t>Prefix List  - same</a:t>
            </a:r>
          </a:p>
          <a:p>
            <a:pPr marL="514350" indent="-514350">
              <a:buFont typeface="Arial" panose="020B0604020202020204" pitchFamily="34" charset="0"/>
              <a:buAutoNum type="arabicPeriod"/>
            </a:pPr>
            <a:r>
              <a:rPr lang="en-US" sz="2000" dirty="0"/>
              <a:t>Route Maps – </a:t>
            </a:r>
          </a:p>
          <a:p>
            <a:pPr marL="514350" indent="-514350">
              <a:buAutoNum type="arabicPeriod"/>
            </a:pPr>
            <a:r>
              <a:rPr lang="en-US" sz="2000" dirty="0"/>
              <a:t>As-Path filtering – regular </a:t>
            </a:r>
            <a:r>
              <a:rPr lang="en-US" sz="2000" dirty="0" err="1"/>
              <a:t>epressions</a:t>
            </a:r>
            <a:endParaRPr lang="en-US" sz="2000" dirty="0"/>
          </a:p>
          <a:p>
            <a:pPr marL="514350" indent="-514350">
              <a:buAutoNum type="arabicPeriod"/>
            </a:pPr>
            <a:r>
              <a:rPr lang="en-US" sz="2000" dirty="0"/>
              <a:t>BGP community</a:t>
            </a:r>
          </a:p>
        </p:txBody>
      </p:sp>
      <p:pic>
        <p:nvPicPr>
          <p:cNvPr id="5" name="Picture 4">
            <a:extLst>
              <a:ext uri="{FF2B5EF4-FFF2-40B4-BE49-F238E27FC236}">
                <a16:creationId xmlns:a16="http://schemas.microsoft.com/office/drawing/2014/main" id="{0092D8D8-B021-BFF4-CCAC-4CFCBF1FC5A4}"/>
              </a:ext>
            </a:extLst>
          </p:cNvPr>
          <p:cNvPicPr>
            <a:picLocks noChangeAspect="1"/>
          </p:cNvPicPr>
          <p:nvPr/>
        </p:nvPicPr>
        <p:blipFill>
          <a:blip r:embed="rId2"/>
          <a:stretch>
            <a:fillRect/>
          </a:stretch>
        </p:blipFill>
        <p:spPr>
          <a:xfrm>
            <a:off x="2885783" y="3684294"/>
            <a:ext cx="6158619" cy="1743114"/>
          </a:xfrm>
          <a:prstGeom prst="rect">
            <a:avLst/>
          </a:prstGeom>
        </p:spPr>
      </p:pic>
    </p:spTree>
    <p:extLst>
      <p:ext uri="{BB962C8B-B14F-4D97-AF65-F5344CB8AC3E}">
        <p14:creationId xmlns:p14="http://schemas.microsoft.com/office/powerpoint/2010/main" val="2806549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F475A-D09B-C383-462E-80B41D8746E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6E38B28-80FD-A18B-CF3D-939725BEBBB7}"/>
              </a:ext>
            </a:extLst>
          </p:cNvPr>
          <p:cNvSpPr txBox="1"/>
          <p:nvPr/>
        </p:nvSpPr>
        <p:spPr>
          <a:xfrm>
            <a:off x="334297" y="176980"/>
            <a:ext cx="3598606" cy="769441"/>
          </a:xfrm>
          <a:prstGeom prst="rect">
            <a:avLst/>
          </a:prstGeom>
          <a:noFill/>
        </p:spPr>
        <p:txBody>
          <a:bodyPr wrap="square" rtlCol="0">
            <a:spAutoFit/>
          </a:bodyPr>
          <a:lstStyle/>
          <a:p>
            <a:r>
              <a:rPr lang="en-US" sz="4400" b="1" dirty="0">
                <a:solidFill>
                  <a:schemeClr val="accent1"/>
                </a:solidFill>
                <a:latin typeface="Calibri Header"/>
              </a:rPr>
              <a:t>ACCESS-LIST </a:t>
            </a:r>
            <a:endParaRPr lang="en-IN" sz="4400" b="1" dirty="0">
              <a:solidFill>
                <a:schemeClr val="accent1"/>
              </a:solidFill>
              <a:latin typeface="Calibri Header"/>
            </a:endParaRPr>
          </a:p>
        </p:txBody>
      </p:sp>
      <p:pic>
        <p:nvPicPr>
          <p:cNvPr id="8" name="Picture 7">
            <a:extLst>
              <a:ext uri="{FF2B5EF4-FFF2-40B4-BE49-F238E27FC236}">
                <a16:creationId xmlns:a16="http://schemas.microsoft.com/office/drawing/2014/main" id="{16DE2679-5A73-EA03-10C8-6F1DDDC9899B}"/>
              </a:ext>
            </a:extLst>
          </p:cNvPr>
          <p:cNvPicPr>
            <a:picLocks noChangeAspect="1"/>
          </p:cNvPicPr>
          <p:nvPr/>
        </p:nvPicPr>
        <p:blipFill>
          <a:blip r:embed="rId2"/>
          <a:srcRect l="7101" t="2763"/>
          <a:stretch/>
        </p:blipFill>
        <p:spPr>
          <a:xfrm>
            <a:off x="422786" y="1592826"/>
            <a:ext cx="4116356" cy="2902826"/>
          </a:xfrm>
          <a:prstGeom prst="rect">
            <a:avLst/>
          </a:prstGeom>
        </p:spPr>
      </p:pic>
      <p:sp>
        <p:nvSpPr>
          <p:cNvPr id="9" name="TextBox 8">
            <a:extLst>
              <a:ext uri="{FF2B5EF4-FFF2-40B4-BE49-F238E27FC236}">
                <a16:creationId xmlns:a16="http://schemas.microsoft.com/office/drawing/2014/main" id="{3D819041-9D36-0D02-50AE-03B564F26680}"/>
              </a:ext>
            </a:extLst>
          </p:cNvPr>
          <p:cNvSpPr txBox="1"/>
          <p:nvPr/>
        </p:nvSpPr>
        <p:spPr>
          <a:xfrm>
            <a:off x="445268" y="4495652"/>
            <a:ext cx="6489291" cy="1754326"/>
          </a:xfrm>
          <a:prstGeom prst="rect">
            <a:avLst/>
          </a:prstGeom>
          <a:noFill/>
        </p:spPr>
        <p:txBody>
          <a:bodyPr wrap="square" rtlCol="0">
            <a:spAutoFit/>
          </a:bodyPr>
          <a:lstStyle/>
          <a:p>
            <a:r>
              <a:rPr lang="en-US" dirty="0"/>
              <a:t>access-list    10     deny     10.1.1.0     0.255.255.255</a:t>
            </a:r>
            <a:br>
              <a:rPr lang="en-US" dirty="0"/>
            </a:br>
            <a:r>
              <a:rPr lang="en-US" dirty="0"/>
              <a:t>access-list    10      permit any</a:t>
            </a:r>
            <a:br>
              <a:rPr lang="en-US" dirty="0"/>
            </a:br>
            <a:r>
              <a:rPr lang="en-US" dirty="0"/>
              <a:t>router bgp 65001</a:t>
            </a:r>
          </a:p>
          <a:p>
            <a:r>
              <a:rPr lang="en-US" dirty="0"/>
              <a:t>neighbor 12.1.1.2 remote-as 65002</a:t>
            </a:r>
          </a:p>
          <a:p>
            <a:r>
              <a:rPr lang="en-US" dirty="0"/>
              <a:t> neighbor 12.1.1.2 distribute-list 10 in</a:t>
            </a:r>
          </a:p>
          <a:p>
            <a:r>
              <a:rPr lang="en-US" dirty="0"/>
              <a:t> neighbor 13.1.1.3 remote-as 65003</a:t>
            </a:r>
          </a:p>
        </p:txBody>
      </p:sp>
      <p:sp>
        <p:nvSpPr>
          <p:cNvPr id="11" name="TextBox 10">
            <a:extLst>
              <a:ext uri="{FF2B5EF4-FFF2-40B4-BE49-F238E27FC236}">
                <a16:creationId xmlns:a16="http://schemas.microsoft.com/office/drawing/2014/main" id="{B625AC40-2C05-C24D-F009-68552DFC4B3B}"/>
              </a:ext>
            </a:extLst>
          </p:cNvPr>
          <p:cNvSpPr txBox="1"/>
          <p:nvPr/>
        </p:nvSpPr>
        <p:spPr>
          <a:xfrm>
            <a:off x="5614219" y="3670231"/>
            <a:ext cx="3844413" cy="369332"/>
          </a:xfrm>
          <a:prstGeom prst="rect">
            <a:avLst/>
          </a:prstGeom>
          <a:noFill/>
        </p:spPr>
        <p:txBody>
          <a:bodyPr wrap="square">
            <a:spAutoFit/>
          </a:bodyPr>
          <a:lstStyle/>
          <a:p>
            <a:r>
              <a:rPr lang="en-IN" b="1" dirty="0"/>
              <a:t>Clear bgp session - clear </a:t>
            </a:r>
            <a:r>
              <a:rPr lang="en-IN" b="1" dirty="0" err="1"/>
              <a:t>ip</a:t>
            </a:r>
            <a:r>
              <a:rPr lang="en-IN" b="1" dirty="0"/>
              <a:t> bgp * soft   </a:t>
            </a:r>
          </a:p>
        </p:txBody>
      </p:sp>
      <p:sp>
        <p:nvSpPr>
          <p:cNvPr id="12" name="TextBox 11">
            <a:extLst>
              <a:ext uri="{FF2B5EF4-FFF2-40B4-BE49-F238E27FC236}">
                <a16:creationId xmlns:a16="http://schemas.microsoft.com/office/drawing/2014/main" id="{3FB2D402-F99D-23EE-740A-C08CFEA058DE}"/>
              </a:ext>
            </a:extLst>
          </p:cNvPr>
          <p:cNvSpPr txBox="1"/>
          <p:nvPr/>
        </p:nvSpPr>
        <p:spPr>
          <a:xfrm>
            <a:off x="5201265" y="1268361"/>
            <a:ext cx="5791200" cy="1200329"/>
          </a:xfrm>
          <a:prstGeom prst="rect">
            <a:avLst/>
          </a:prstGeom>
          <a:noFill/>
        </p:spPr>
        <p:txBody>
          <a:bodyPr wrap="square" rtlCol="0">
            <a:spAutoFit/>
          </a:bodyPr>
          <a:lstStyle/>
          <a:p>
            <a:r>
              <a:rPr lang="en-US" sz="2400" dirty="0">
                <a:solidFill>
                  <a:srgbClr val="FF0000"/>
                </a:solidFill>
              </a:rPr>
              <a:t>I want 10.1.1.0 traffic should not come through 12.1.1.0 network , it should come by 13.1.1.0 network</a:t>
            </a:r>
            <a:endParaRPr lang="en-IN" sz="2400" dirty="0">
              <a:solidFill>
                <a:srgbClr val="FF0000"/>
              </a:solidFill>
            </a:endParaRPr>
          </a:p>
        </p:txBody>
      </p:sp>
    </p:spTree>
    <p:extLst>
      <p:ext uri="{BB962C8B-B14F-4D97-AF65-F5344CB8AC3E}">
        <p14:creationId xmlns:p14="http://schemas.microsoft.com/office/powerpoint/2010/main" val="30711204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E3425-35C3-2396-77F9-3BE4A8A21A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981D8A-F0F9-3104-005D-DE983ECFA9C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287410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5AE63-F105-81B6-0217-599A50DEDF4E}"/>
              </a:ext>
            </a:extLst>
          </p:cNvPr>
          <p:cNvSpPr>
            <a:spLocks noGrp="1"/>
          </p:cNvSpPr>
          <p:nvPr>
            <p:ph type="title"/>
          </p:nvPr>
        </p:nvSpPr>
        <p:spPr>
          <a:xfrm>
            <a:off x="366252" y="229419"/>
            <a:ext cx="10515600" cy="903236"/>
          </a:xfrm>
        </p:spPr>
        <p:txBody>
          <a:bodyPr>
            <a:normAutofit/>
          </a:bodyPr>
          <a:lstStyle/>
          <a:p>
            <a:r>
              <a:rPr lang="en-US" b="1" dirty="0">
                <a:solidFill>
                  <a:schemeClr val="accent1"/>
                </a:solidFill>
              </a:rPr>
              <a:t>BGP QUESTIONS</a:t>
            </a:r>
            <a:endParaRPr lang="en-IN" b="1" dirty="0">
              <a:solidFill>
                <a:schemeClr val="accent1"/>
              </a:solidFill>
            </a:endParaRPr>
          </a:p>
        </p:txBody>
      </p:sp>
      <p:sp>
        <p:nvSpPr>
          <p:cNvPr id="3" name="Content Placeholder 2">
            <a:extLst>
              <a:ext uri="{FF2B5EF4-FFF2-40B4-BE49-F238E27FC236}">
                <a16:creationId xmlns:a16="http://schemas.microsoft.com/office/drawing/2014/main" id="{15149BCD-313C-4D31-CDC9-7833432A56D0}"/>
              </a:ext>
            </a:extLst>
          </p:cNvPr>
          <p:cNvSpPr>
            <a:spLocks noGrp="1"/>
          </p:cNvSpPr>
          <p:nvPr>
            <p:ph idx="1"/>
          </p:nvPr>
        </p:nvSpPr>
        <p:spPr>
          <a:xfrm>
            <a:off x="641555" y="1132655"/>
            <a:ext cx="10515600" cy="2888739"/>
          </a:xfrm>
        </p:spPr>
        <p:txBody>
          <a:bodyPr>
            <a:normAutofit fontScale="92500" lnSpcReduction="20000"/>
          </a:bodyPr>
          <a:lstStyle/>
          <a:p>
            <a:pPr marL="0" indent="0">
              <a:buNone/>
            </a:pPr>
            <a:r>
              <a:rPr lang="en-US" sz="2000" b="1" dirty="0">
                <a:highlight>
                  <a:srgbClr val="FFFF00"/>
                </a:highlight>
              </a:rPr>
              <a:t>1. </a:t>
            </a:r>
            <a:r>
              <a:rPr lang="en-US" sz="2000" dirty="0"/>
              <a:t>Do bgp advertise the received route from </a:t>
            </a:r>
            <a:r>
              <a:rPr lang="en-US" sz="2000" dirty="0" err="1"/>
              <a:t>ebgp</a:t>
            </a:r>
            <a:r>
              <a:rPr lang="en-US" sz="2000" dirty="0"/>
              <a:t> neighbor peer which is not routable by a router??</a:t>
            </a:r>
            <a:br>
              <a:rPr lang="en-US" sz="2000" dirty="0"/>
            </a:br>
            <a:r>
              <a:rPr lang="en-US" sz="2000" b="1" dirty="0"/>
              <a:t>ANS: </a:t>
            </a:r>
            <a:r>
              <a:rPr lang="en-US" sz="2000" dirty="0"/>
              <a:t>No, a route that is not considered valid/routable will not be advertised to other peers, even within iBGP or eBGP.</a:t>
            </a:r>
            <a:br>
              <a:rPr lang="en-US" sz="2000" dirty="0"/>
            </a:br>
            <a:endParaRPr lang="en-US" sz="2000" dirty="0"/>
          </a:p>
          <a:p>
            <a:pPr marL="0" indent="0">
              <a:buNone/>
            </a:pPr>
            <a:r>
              <a:rPr lang="en-US" sz="2000" dirty="0">
                <a:highlight>
                  <a:srgbClr val="FFFF00"/>
                </a:highlight>
              </a:rPr>
              <a:t>2. </a:t>
            </a:r>
            <a:r>
              <a:rPr lang="en-US" sz="2000" dirty="0"/>
              <a:t>Does route reflector advertises the routes received from neighbor?</a:t>
            </a:r>
            <a:br>
              <a:rPr lang="en-US" sz="2000" dirty="0"/>
            </a:br>
            <a:r>
              <a:rPr lang="en-US" sz="2000" b="1" dirty="0"/>
              <a:t>ANS: </a:t>
            </a:r>
            <a:r>
              <a:rPr lang="en-US" sz="1800" dirty="0"/>
              <a:t>Yes, a route reflector does advertise routes received from its clients. However, it does not modify the next-hop IP address by default; the next-hop remains as advertised by the original router</a:t>
            </a:r>
            <a:r>
              <a:rPr lang="en-US" sz="1400" dirty="0"/>
              <a:t>.</a:t>
            </a:r>
          </a:p>
          <a:p>
            <a:pPr>
              <a:lnSpc>
                <a:spcPct val="107000"/>
              </a:lnSpc>
              <a:spcAft>
                <a:spcPts val="800"/>
              </a:spcAft>
              <a:buNone/>
            </a:pPr>
            <a:r>
              <a:rPr lang="en-US" sz="2000" dirty="0"/>
              <a:t>3. When does a RIB failure occur in BGP?</a:t>
            </a:r>
            <a:br>
              <a:rPr lang="en-US" sz="2000" dirty="0"/>
            </a:br>
            <a:r>
              <a:rPr lang="en-US" sz="2000" b="1" dirty="0"/>
              <a:t>ANS: </a:t>
            </a:r>
            <a:r>
              <a:rPr lang="en-US" sz="2000" dirty="0"/>
              <a:t>The rib failure tells us that a route is present which is better than advertised route.</a:t>
            </a:r>
            <a:br>
              <a:rPr lang="en-US" sz="2000" dirty="0"/>
            </a:br>
            <a:r>
              <a:rPr lang="en-US" sz="2000" dirty="0"/>
              <a:t> </a:t>
            </a:r>
            <a:br>
              <a:rPr lang="en-US" sz="2000" dirty="0"/>
            </a:br>
            <a:endParaRPr lang="en-IN" sz="2000" b="1" dirty="0"/>
          </a:p>
        </p:txBody>
      </p:sp>
      <p:sp>
        <p:nvSpPr>
          <p:cNvPr id="8" name="TextBox 7">
            <a:extLst>
              <a:ext uri="{FF2B5EF4-FFF2-40B4-BE49-F238E27FC236}">
                <a16:creationId xmlns:a16="http://schemas.microsoft.com/office/drawing/2014/main" id="{B9480506-A38A-D1C8-7522-8FF3E3EC84BD}"/>
              </a:ext>
            </a:extLst>
          </p:cNvPr>
          <p:cNvSpPr txBox="1"/>
          <p:nvPr/>
        </p:nvSpPr>
        <p:spPr>
          <a:xfrm>
            <a:off x="3156155" y="3636095"/>
            <a:ext cx="7098890" cy="2992486"/>
          </a:xfrm>
          <a:prstGeom prst="rect">
            <a:avLst/>
          </a:prstGeom>
          <a:noFill/>
        </p:spPr>
        <p:txBody>
          <a:bodyPr wrap="square" rtlCol="0">
            <a:spAutoFit/>
          </a:bodyPr>
          <a:lstStyle/>
          <a:p>
            <a:pPr>
              <a:lnSpc>
                <a:spcPct val="107000"/>
              </a:lnSpc>
              <a:buNone/>
            </a:pPr>
            <a:r>
              <a:rPr lang="en-US" dirty="0"/>
              <a:t> </a:t>
            </a:r>
            <a:r>
              <a:rPr lang="en-IN" kern="100" dirty="0">
                <a:effectLst/>
                <a:ea typeface="Calibri" panose="020F0502020204030204" pitchFamily="34" charset="0"/>
                <a:cs typeface="Calibri" panose="020F0502020204030204" pitchFamily="34" charset="0"/>
              </a:rPr>
              <a:t>Protocol          Admin Distance default</a:t>
            </a:r>
            <a:endParaRPr lang="en-IN" kern="100" dirty="0">
              <a:effectLst/>
              <a:ea typeface="Calibri" panose="020F0502020204030204" pitchFamily="34" charset="0"/>
              <a:cs typeface="Times New Roman" panose="02020603050405020304" pitchFamily="18" charset="0"/>
            </a:endParaRPr>
          </a:p>
          <a:p>
            <a:pPr>
              <a:lnSpc>
                <a:spcPct val="120000"/>
              </a:lnSpc>
              <a:buNone/>
            </a:pPr>
            <a:r>
              <a:rPr lang="en-IN" kern="100" dirty="0">
                <a:effectLst/>
                <a:ea typeface="Calibri" panose="020F0502020204030204" pitchFamily="34" charset="0"/>
                <a:cs typeface="Calibri" panose="020F0502020204030204" pitchFamily="34" charset="0"/>
              </a:rPr>
              <a:t>Connected      	0</a:t>
            </a:r>
            <a:endParaRPr lang="en-IN" kern="100" dirty="0">
              <a:effectLst/>
              <a:ea typeface="Calibri" panose="020F0502020204030204" pitchFamily="34" charset="0"/>
              <a:cs typeface="Times New Roman" panose="02020603050405020304" pitchFamily="18" charset="0"/>
            </a:endParaRPr>
          </a:p>
          <a:p>
            <a:pPr>
              <a:lnSpc>
                <a:spcPct val="120000"/>
              </a:lnSpc>
              <a:buNone/>
            </a:pPr>
            <a:r>
              <a:rPr lang="en-IN" kern="100" dirty="0">
                <a:effectLst/>
                <a:ea typeface="Calibri" panose="020F0502020204030204" pitchFamily="34" charset="0"/>
                <a:cs typeface="Calibri" panose="020F0502020204030204" pitchFamily="34" charset="0"/>
              </a:rPr>
              <a:t>Static         	1</a:t>
            </a:r>
            <a:endParaRPr lang="en-IN" kern="100" dirty="0">
              <a:effectLst/>
              <a:ea typeface="Calibri" panose="020F0502020204030204" pitchFamily="34" charset="0"/>
              <a:cs typeface="Times New Roman" panose="02020603050405020304" pitchFamily="18" charset="0"/>
            </a:endParaRPr>
          </a:p>
          <a:p>
            <a:pPr>
              <a:lnSpc>
                <a:spcPct val="120000"/>
              </a:lnSpc>
              <a:buNone/>
            </a:pPr>
            <a:r>
              <a:rPr lang="en-IN" kern="100" dirty="0">
                <a:effectLst/>
                <a:ea typeface="Calibri" panose="020F0502020204030204" pitchFamily="34" charset="0"/>
                <a:cs typeface="Calibri" panose="020F0502020204030204" pitchFamily="34" charset="0"/>
              </a:rPr>
              <a:t>eBGP          	20</a:t>
            </a:r>
            <a:endParaRPr lang="en-IN" kern="100" dirty="0">
              <a:effectLst/>
              <a:ea typeface="Calibri" panose="020F0502020204030204" pitchFamily="34" charset="0"/>
              <a:cs typeface="Times New Roman" panose="02020603050405020304" pitchFamily="18" charset="0"/>
            </a:endParaRPr>
          </a:p>
          <a:p>
            <a:pPr>
              <a:lnSpc>
                <a:spcPct val="120000"/>
              </a:lnSpc>
              <a:buNone/>
            </a:pPr>
            <a:r>
              <a:rPr lang="en-IN" kern="100" dirty="0">
                <a:effectLst/>
                <a:ea typeface="Calibri" panose="020F0502020204030204" pitchFamily="34" charset="0"/>
                <a:cs typeface="Calibri" panose="020F0502020204030204" pitchFamily="34" charset="0"/>
              </a:rPr>
              <a:t>OSPF           	110</a:t>
            </a:r>
            <a:endParaRPr lang="en-IN" kern="100" dirty="0">
              <a:effectLst/>
              <a:ea typeface="Calibri" panose="020F0502020204030204" pitchFamily="34" charset="0"/>
              <a:cs typeface="Times New Roman" panose="02020603050405020304" pitchFamily="18" charset="0"/>
            </a:endParaRPr>
          </a:p>
          <a:p>
            <a:pPr>
              <a:lnSpc>
                <a:spcPct val="120000"/>
              </a:lnSpc>
              <a:buNone/>
            </a:pPr>
            <a:r>
              <a:rPr lang="en-IN" kern="100" dirty="0">
                <a:effectLst/>
                <a:ea typeface="Calibri" panose="020F0502020204030204" pitchFamily="34" charset="0"/>
                <a:cs typeface="Calibri" panose="020F0502020204030204" pitchFamily="34" charset="0"/>
              </a:rPr>
              <a:t>IS-IS          	115</a:t>
            </a:r>
            <a:endParaRPr lang="en-IN" kern="100" dirty="0">
              <a:effectLst/>
              <a:ea typeface="Calibri" panose="020F0502020204030204" pitchFamily="34" charset="0"/>
              <a:cs typeface="Times New Roman" panose="02020603050405020304" pitchFamily="18" charset="0"/>
            </a:endParaRPr>
          </a:p>
          <a:p>
            <a:pPr>
              <a:lnSpc>
                <a:spcPct val="120000"/>
              </a:lnSpc>
              <a:buNone/>
            </a:pPr>
            <a:r>
              <a:rPr lang="en-IN" kern="100" dirty="0">
                <a:effectLst/>
                <a:ea typeface="Calibri" panose="020F0502020204030204" pitchFamily="34" charset="0"/>
                <a:cs typeface="Calibri" panose="020F0502020204030204" pitchFamily="34" charset="0"/>
              </a:rPr>
              <a:t>RIP            	120</a:t>
            </a:r>
            <a:endParaRPr lang="en-IN" kern="100" dirty="0">
              <a:effectLst/>
              <a:ea typeface="Calibri" panose="020F0502020204030204" pitchFamily="34" charset="0"/>
              <a:cs typeface="Times New Roman" panose="02020603050405020304" pitchFamily="18" charset="0"/>
            </a:endParaRPr>
          </a:p>
          <a:p>
            <a:pPr marL="0" indent="0">
              <a:lnSpc>
                <a:spcPct val="120000"/>
              </a:lnSpc>
              <a:buNone/>
            </a:pPr>
            <a:r>
              <a:rPr lang="en-IN" kern="100" dirty="0">
                <a:ea typeface="Calibri" panose="020F0502020204030204" pitchFamily="34" charset="0"/>
                <a:cs typeface="Calibri" panose="020F0502020204030204" pitchFamily="34" charset="0"/>
              </a:rPr>
              <a:t>i</a:t>
            </a:r>
            <a:r>
              <a:rPr lang="en-IN" kern="100" dirty="0">
                <a:effectLst/>
                <a:ea typeface="Calibri" panose="020F0502020204030204" pitchFamily="34" charset="0"/>
                <a:cs typeface="Calibri" panose="020F0502020204030204" pitchFamily="34" charset="0"/>
              </a:rPr>
              <a:t>BGP           	200</a:t>
            </a:r>
            <a:endParaRPr lang="en-IN" kern="100" dirty="0">
              <a:effectLs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696282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D3789-327F-D5CE-9140-794DE13F3385}"/>
              </a:ext>
            </a:extLst>
          </p:cNvPr>
          <p:cNvSpPr>
            <a:spLocks noGrp="1"/>
          </p:cNvSpPr>
          <p:nvPr>
            <p:ph type="title"/>
          </p:nvPr>
        </p:nvSpPr>
        <p:spPr>
          <a:xfrm>
            <a:off x="395748" y="112097"/>
            <a:ext cx="10515600" cy="568940"/>
          </a:xfrm>
        </p:spPr>
        <p:txBody>
          <a:bodyPr>
            <a:normAutofit fontScale="90000"/>
          </a:bodyPr>
          <a:lstStyle/>
          <a:p>
            <a:r>
              <a:rPr lang="en-US" b="1" dirty="0">
                <a:solidFill>
                  <a:schemeClr val="accent1"/>
                </a:solidFill>
              </a:rPr>
              <a:t>BGP ERRORS MAY COME</a:t>
            </a:r>
            <a:endParaRPr lang="en-IN" b="1" dirty="0">
              <a:solidFill>
                <a:schemeClr val="accent1"/>
              </a:solidFill>
            </a:endParaRPr>
          </a:p>
        </p:txBody>
      </p:sp>
      <p:sp>
        <p:nvSpPr>
          <p:cNvPr id="3" name="Content Placeholder 2">
            <a:extLst>
              <a:ext uri="{FF2B5EF4-FFF2-40B4-BE49-F238E27FC236}">
                <a16:creationId xmlns:a16="http://schemas.microsoft.com/office/drawing/2014/main" id="{6AC7151D-56F2-DA2D-30BA-8DC3AC5423E7}"/>
              </a:ext>
            </a:extLst>
          </p:cNvPr>
          <p:cNvSpPr>
            <a:spLocks noGrp="1"/>
          </p:cNvSpPr>
          <p:nvPr>
            <p:ph idx="1"/>
          </p:nvPr>
        </p:nvSpPr>
        <p:spPr>
          <a:xfrm>
            <a:off x="995516" y="681037"/>
            <a:ext cx="10515600" cy="4351338"/>
          </a:xfrm>
        </p:spPr>
        <p:txBody>
          <a:bodyPr>
            <a:normAutofit/>
          </a:bodyPr>
          <a:lstStyle/>
          <a:p>
            <a:pPr marL="0" indent="0">
              <a:buNone/>
            </a:pPr>
            <a:r>
              <a:rPr lang="en-IN" sz="1600" b="1" dirty="0">
                <a:highlight>
                  <a:srgbClr val="FFFF00"/>
                </a:highlight>
              </a:rPr>
              <a:t>When there is </a:t>
            </a:r>
            <a:r>
              <a:rPr lang="en-IN" sz="1600" b="1" dirty="0" err="1">
                <a:highlight>
                  <a:srgbClr val="FFFF00"/>
                </a:highlight>
              </a:rPr>
              <a:t>neighbor</a:t>
            </a:r>
            <a:r>
              <a:rPr lang="en-IN" sz="1600" b="1" dirty="0">
                <a:highlight>
                  <a:srgbClr val="FFFF00"/>
                </a:highlight>
              </a:rPr>
              <a:t> mismatch,     typed wrong autonomous system</a:t>
            </a:r>
            <a:br>
              <a:rPr lang="en-IN" sz="1200" dirty="0"/>
            </a:br>
            <a:r>
              <a:rPr lang="en-IN" sz="1200" dirty="0"/>
              <a:t>*May 29 14:10:53.069: %BGP-3-NOTIFICATION: sent to </a:t>
            </a:r>
            <a:r>
              <a:rPr lang="en-IN" sz="1200" dirty="0" err="1"/>
              <a:t>neighbor</a:t>
            </a:r>
            <a:r>
              <a:rPr lang="en-IN" sz="1200" dirty="0"/>
              <a:t> 12.0.0.2 active 2/2 (peer in wrong AS) 2 bytes FFFE</a:t>
            </a:r>
          </a:p>
          <a:p>
            <a:pPr marL="0" indent="0">
              <a:buNone/>
            </a:pPr>
            <a:r>
              <a:rPr lang="en-IN" sz="1200" dirty="0"/>
              <a:t>*May 29 14:10:53.069: %BGP-4-MSGDUMP: unsupported or mal-formatted message received from 12.0.0.2:</a:t>
            </a:r>
          </a:p>
          <a:p>
            <a:pPr marL="0" indent="0">
              <a:buNone/>
            </a:pPr>
            <a:r>
              <a:rPr lang="en-IN" sz="1200" dirty="0"/>
              <a:t>FFFF </a:t>
            </a:r>
            <a:r>
              <a:rPr lang="en-IN" sz="1200" dirty="0" err="1"/>
              <a:t>FFFF</a:t>
            </a:r>
            <a:r>
              <a:rPr lang="en-IN" sz="1200" dirty="0"/>
              <a:t> </a:t>
            </a:r>
            <a:r>
              <a:rPr lang="en-IN" sz="1200" dirty="0" err="1"/>
              <a:t>FFFF</a:t>
            </a:r>
            <a:r>
              <a:rPr lang="en-IN" sz="1200" dirty="0"/>
              <a:t> </a:t>
            </a:r>
            <a:r>
              <a:rPr lang="en-IN" sz="1200" dirty="0" err="1"/>
              <a:t>FFFF</a:t>
            </a:r>
            <a:r>
              <a:rPr lang="en-IN" sz="1200" dirty="0"/>
              <a:t> </a:t>
            </a:r>
            <a:r>
              <a:rPr lang="en-IN" sz="1200" dirty="0" err="1"/>
              <a:t>FFFF</a:t>
            </a:r>
            <a:r>
              <a:rPr lang="en-IN" sz="1200" dirty="0"/>
              <a:t> </a:t>
            </a:r>
            <a:r>
              <a:rPr lang="en-IN" sz="1200" dirty="0" err="1"/>
              <a:t>FFFF</a:t>
            </a:r>
            <a:r>
              <a:rPr lang="en-IN" sz="1200" dirty="0"/>
              <a:t> </a:t>
            </a:r>
            <a:r>
              <a:rPr lang="en-IN" sz="1200" dirty="0" err="1"/>
              <a:t>FFFF</a:t>
            </a:r>
            <a:r>
              <a:rPr lang="en-IN" sz="1200" dirty="0"/>
              <a:t> </a:t>
            </a:r>
            <a:r>
              <a:rPr lang="en-IN" sz="1200" dirty="0" err="1"/>
              <a:t>FFFF</a:t>
            </a:r>
            <a:r>
              <a:rPr lang="en-IN" sz="1200" dirty="0"/>
              <a:t> 0039 0104 FFFE 00B4 1700 0002 1C02 0601</a:t>
            </a:r>
          </a:p>
          <a:p>
            <a:pPr marL="0" indent="0">
              <a:buNone/>
            </a:pPr>
            <a:r>
              <a:rPr lang="en-IN" sz="1200" dirty="0"/>
              <a:t>0400 0100 0102 0280 0002 0202 0002 0246 0002 0641 0400 00FF FE</a:t>
            </a:r>
          </a:p>
          <a:p>
            <a:pPr marL="0" indent="0">
              <a:buNone/>
            </a:pPr>
            <a:r>
              <a:rPr lang="en-IN" sz="1200" dirty="0"/>
              <a:t>*May 29 14:10:58.159: %BGP-5-NBR_RESET: </a:t>
            </a:r>
            <a:r>
              <a:rPr lang="en-IN" sz="1200" dirty="0" err="1"/>
              <a:t>Neighbor</a:t>
            </a:r>
            <a:r>
              <a:rPr lang="en-IN" sz="1200" dirty="0"/>
              <a:t> 12.0.0.2 active reset (BGP Notification sent)</a:t>
            </a:r>
          </a:p>
          <a:p>
            <a:pPr marL="0" indent="0">
              <a:buNone/>
            </a:pPr>
            <a:endParaRPr lang="en-IN" sz="1200" dirty="0"/>
          </a:p>
        </p:txBody>
      </p:sp>
    </p:spTree>
    <p:extLst>
      <p:ext uri="{BB962C8B-B14F-4D97-AF65-F5344CB8AC3E}">
        <p14:creationId xmlns:p14="http://schemas.microsoft.com/office/powerpoint/2010/main" val="2306153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2812</TotalTime>
  <Words>3764</Words>
  <Application>Microsoft Office PowerPoint</Application>
  <PresentationFormat>Widescreen</PresentationFormat>
  <Paragraphs>254</Paragraphs>
  <Slides>52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Calibri </vt:lpstr>
      <vt:lpstr>Calibri Header</vt:lpstr>
      <vt:lpstr>Calibri Light</vt:lpstr>
      <vt:lpstr>DeepSeek-CJK-patch</vt:lpstr>
      <vt:lpstr>Wingdings</vt:lpstr>
      <vt:lpstr>Office Theme</vt:lpstr>
      <vt:lpstr>PowerPoint Presentation</vt:lpstr>
      <vt:lpstr>Introduction</vt:lpstr>
      <vt:lpstr>PowerPoint Presentation</vt:lpstr>
      <vt:lpstr>BGP PEER MESSAGES</vt:lpstr>
      <vt:lpstr>BGP PEER STATES</vt:lpstr>
      <vt:lpstr>BGP PEER STATES</vt:lpstr>
      <vt:lpstr>When do you use BGP??</vt:lpstr>
      <vt:lpstr>When do you use BGP??</vt:lpstr>
      <vt:lpstr>BGP PEERS??</vt:lpstr>
      <vt:lpstr>BGP ATTRIBUTES</vt:lpstr>
      <vt:lpstr>PowerPoint Presentation</vt:lpstr>
      <vt:lpstr>BGP ATTRIBUTES</vt:lpstr>
      <vt:lpstr>IPV4:</vt:lpstr>
      <vt:lpstr>commands</vt:lpstr>
      <vt:lpstr>PowerPoint Presentation</vt:lpstr>
      <vt:lpstr>IOS NX-OS</vt:lpstr>
      <vt:lpstr>AS PATH  </vt:lpstr>
      <vt:lpstr>PowerPoint Presentation</vt:lpstr>
      <vt:lpstr>BGP TABLES:</vt:lpstr>
      <vt:lpstr>PowerPoint Presentation</vt:lpstr>
      <vt:lpstr>PowerPoint Presentation</vt:lpstr>
      <vt:lpstr>IPV6:</vt:lpstr>
      <vt:lpstr>PowerPoint Presentation</vt:lpstr>
      <vt:lpstr>PowerPoint Presentation</vt:lpstr>
      <vt:lpstr>Reminders</vt:lpstr>
      <vt:lpstr>BGP Path Attributes</vt:lpstr>
      <vt:lpstr>BGP Path Attributes</vt:lpstr>
      <vt:lpstr>WEIGHT</vt:lpstr>
      <vt:lpstr>ORIGIN TYPE</vt:lpstr>
      <vt:lpstr>PATH CHANGING</vt:lpstr>
      <vt:lpstr>PowerPoint Presentation</vt:lpstr>
      <vt:lpstr>ADVANCED BGP</vt:lpstr>
      <vt:lpstr>If IPV4 DEACTIVATED</vt:lpstr>
      <vt:lpstr>PowerPoint Presentation</vt:lpstr>
      <vt:lpstr>PowerPoint Presentation</vt:lpstr>
      <vt:lpstr> 🧠 Why All BGP Routers Within a Single AS Must Be Fully Meshed (in iBGP): </vt:lpstr>
      <vt:lpstr>BGP Route Reflector</vt:lpstr>
      <vt:lpstr>Why route reflector</vt:lpstr>
      <vt:lpstr>PowerPoint Presentation</vt:lpstr>
      <vt:lpstr>BGP Confederation</vt:lpstr>
      <vt:lpstr>PowerPoint Presentation</vt:lpstr>
      <vt:lpstr>BGP COMMUNITY</vt:lpstr>
      <vt:lpstr>PowerPoint Presentation</vt:lpstr>
      <vt:lpstr>Dynamic Route Summarization With Aggregation Tag</vt:lpstr>
      <vt:lpstr>BGP Atomic Aggregate</vt:lpstr>
      <vt:lpstr>BGP PEER Group</vt:lpstr>
      <vt:lpstr>BGP PEER GROUP</vt:lpstr>
      <vt:lpstr>Conditional Route Selection</vt:lpstr>
      <vt:lpstr>PowerPoint Presentation</vt:lpstr>
      <vt:lpstr>PowerPoint Presentation</vt:lpstr>
      <vt:lpstr>BGP QUESTIONS</vt:lpstr>
      <vt:lpstr>BGP ERRORS MAY 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Shankar Pradhan</dc:creator>
  <cp:lastModifiedBy>Shankar Pradhan</cp:lastModifiedBy>
  <cp:revision>113</cp:revision>
  <dcterms:created xsi:type="dcterms:W3CDTF">2025-05-24T15:25:36Z</dcterms:created>
  <dcterms:modified xsi:type="dcterms:W3CDTF">2025-07-28T11:58:39Z</dcterms:modified>
</cp:coreProperties>
</file>